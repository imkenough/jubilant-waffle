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56" r:id="rId2"/>
    <p:sldId id="1530" r:id="rId3"/>
    <p:sldId id="1531" r:id="rId4"/>
    <p:sldId id="1532" r:id="rId5"/>
    <p:sldId id="1533" r:id="rId6"/>
    <p:sldId id="1536" r:id="rId7"/>
    <p:sldId id="1534" r:id="rId8"/>
    <p:sldId id="1535" r:id="rId9"/>
    <p:sldId id="1537" r:id="rId10"/>
    <p:sldId id="1538" r:id="rId11"/>
    <p:sldId id="1539" r:id="rId12"/>
    <p:sldId id="1540" r:id="rId13"/>
    <p:sldId id="1541" r:id="rId14"/>
    <p:sldId id="1542" r:id="rId15"/>
    <p:sldId id="1543" r:id="rId16"/>
    <p:sldId id="1544" r:id="rId17"/>
    <p:sldId id="1545" r:id="rId18"/>
    <p:sldId id="1546" r:id="rId19"/>
    <p:sldId id="1547" r:id="rId20"/>
    <p:sldId id="1548" r:id="rId21"/>
    <p:sldId id="1549" r:id="rId22"/>
    <p:sldId id="1550" r:id="rId23"/>
    <p:sldId id="1551" r:id="rId24"/>
    <p:sldId id="1552" r:id="rId25"/>
    <p:sldId id="1553" r:id="rId26"/>
    <p:sldId id="1554" r:id="rId27"/>
    <p:sldId id="1555" r:id="rId28"/>
    <p:sldId id="1556" r:id="rId29"/>
    <p:sldId id="1597" r:id="rId30"/>
    <p:sldId id="1557" r:id="rId31"/>
    <p:sldId id="1558" r:id="rId32"/>
    <p:sldId id="1561" r:id="rId33"/>
    <p:sldId id="1562" r:id="rId34"/>
    <p:sldId id="1559" r:id="rId35"/>
    <p:sldId id="1560" r:id="rId36"/>
    <p:sldId id="1563" r:id="rId37"/>
    <p:sldId id="1564" r:id="rId38"/>
    <p:sldId id="1565" r:id="rId39"/>
    <p:sldId id="1568" r:id="rId40"/>
    <p:sldId id="1567" r:id="rId41"/>
    <p:sldId id="1569" r:id="rId42"/>
    <p:sldId id="1570" r:id="rId43"/>
    <p:sldId id="1571" r:id="rId44"/>
    <p:sldId id="1572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9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7990CF-7752-4769-BF0B-961D726DFBAC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5B93A-1BC1-485C-BEA4-47D8D5453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437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0E0A10-93E9-4822-9A22-1842A4F3BE1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6146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</a:t>
            </a:r>
            <a:r>
              <a:rPr lang="en-US" dirty="0"/>
              <a:t>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0E0A10-93E9-4822-9A22-1842A4F3BE1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2808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0E0A10-93E9-4822-9A22-1842A4F3BE1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8926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0E0A10-93E9-4822-9A22-1842A4F3BE1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044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0E0A10-93E9-4822-9A22-1842A4F3BE1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4484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0E0A10-93E9-4822-9A22-1842A4F3BE1E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7502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0E0A10-93E9-4822-9A22-1842A4F3BE1E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4222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0E0A10-93E9-4822-9A22-1842A4F3BE1E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5837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0E0A10-93E9-4822-9A22-1842A4F3BE1E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016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72F10-E074-2A95-A7FB-C1094E9FC5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4E170C-11AB-B5E5-D5A1-CD398C5D7F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D7BA4-6936-9CDE-D4AF-B8039984A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7D0E4-73D2-4DB0-83D0-C20F19DF4EDC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B8AD5-6BF5-44D3-0507-21469E2D8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0119E-9A7E-B7F4-7612-8BE418D96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F8672-EA4A-442A-87FE-C00D7F1C8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254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49DD8-136B-4006-79BC-35604E8CA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EB875-F5CE-E719-176A-3C549BD6D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E5B25-8C61-8866-EFF2-C4E140267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7D0E4-73D2-4DB0-83D0-C20F19DF4EDC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605A9-AEFA-4CC3-1DEA-5A5BCF888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F386A-254D-402C-52F3-614E692C0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F8672-EA4A-442A-87FE-C00D7F1C8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01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D5343-7149-9CB1-62A4-E042E0F81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12F265-8759-3335-CA7F-084AC5A6E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AC38D-8B86-F2EF-EA88-85385B5EB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7D0E4-73D2-4DB0-83D0-C20F19DF4EDC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0F8F4F-3893-1F7E-802C-C320C59E4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3F53A-B208-F3F4-4C84-6C5F75961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F8672-EA4A-442A-87FE-C00D7F1C8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612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A5826-8348-DE32-4E1B-BF3F1FB35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F2970-CE01-7E81-490B-EEDEE9448D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E739B-94E9-72FE-9DDE-EAE6158C8D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869668-F282-50D0-D09C-0E189BF53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7D0E4-73D2-4DB0-83D0-C20F19DF4EDC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75B4A0-1C06-D83A-E887-F4C8D6CBF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0AF08A-07AA-F643-9B5B-E3BA637C8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F8672-EA4A-442A-87FE-C00D7F1C8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555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7D74F-617D-D6AF-E344-68469E772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86B6CB-2856-889F-E677-5A1C7F206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978D03-E525-4B42-10BE-46D26F530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8219C1-673A-3E38-9344-A8C3D13694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BF39E5-2355-F503-703C-66A694F54F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C8A8FB-7C40-6EFC-E6F9-D0D1010A6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7D0E4-73D2-4DB0-83D0-C20F19DF4EDC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C52E5A-03B8-07A8-255E-08C39F53B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3FCA4F-D5B7-6E52-D51A-263530AF3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F8672-EA4A-442A-87FE-C00D7F1C8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67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CCE9F-A5D2-A983-15D4-3B8ACB9CC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359250-CE09-8BDE-1846-4C5941BA6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7D0E4-73D2-4DB0-83D0-C20F19DF4EDC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88BD29-5F91-BBAF-B2FF-2EA0E5879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9FD51F-583D-A49C-F7BC-F13EE588B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F8672-EA4A-442A-87FE-C00D7F1C8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390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892230-1FFF-69B3-6FF5-8A2A7B3DD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7D0E4-73D2-4DB0-83D0-C20F19DF4EDC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C3DD3E-F986-9906-4599-21FFCB39B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B9BA15-E501-2F85-4D2B-BAFCF1B77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F8672-EA4A-442A-87FE-C00D7F1C8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611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99D6B-11C5-5A7B-D50C-E61B8CB0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DEDD0-5E2B-448B-EDD7-424D8F721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1BD816-F2A9-F33F-7041-158D743309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002367-4109-341F-C133-4EAD940AD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7D0E4-73D2-4DB0-83D0-C20F19DF4EDC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DA4A1E-B293-1017-53CB-73B01063B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4472BE-9678-C1E1-F397-6BACD6175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F8672-EA4A-442A-87FE-C00D7F1C8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678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A59CA-4A73-84F2-F6A0-032071F15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E347EF-F555-B78B-A676-A162BF347A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967F1-58AC-F29D-0EF4-EC95784060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6BE391-FE50-5E77-9EFA-AA5AA01B7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7D0E4-73D2-4DB0-83D0-C20F19DF4EDC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C8419B-20BA-3330-3B64-0E03F58A0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DE13D2-2CF7-E04E-9073-8F69F606E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F8672-EA4A-442A-87FE-C00D7F1C8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875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9529E-F940-CA4C-634F-F5F9827E6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6F51A0-01F1-9C20-CCF4-2974E1383A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39FA0-8844-73E3-BCE2-63CD9FC36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7D0E4-73D2-4DB0-83D0-C20F19DF4EDC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CF839-DA44-4276-DD2C-FACF7F2E7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C9C42-456D-184B-2E5C-0F955CDAD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F8672-EA4A-442A-87FE-C00D7F1C8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986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6054E1-D7A7-EC7D-5E71-533BCD6F7A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BDBA87-84F3-6E51-57AE-B0AE85D9E0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5BB2A-5DD8-BF8D-027D-04A236581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7D0E4-73D2-4DB0-83D0-C20F19DF4EDC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BDA55-1163-4948-7146-6B5B1F345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0A5EC-74B7-022D-468A-6CB66F59D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F8672-EA4A-442A-87FE-C00D7F1C8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935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4C6079-9889-42E9-9D89-3EF70FE2E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24CDF-5198-2F74-9C6C-2E0F92093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21A4D-5D16-FA57-0951-6D54D12327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47D0E4-73D2-4DB0-83D0-C20F19DF4EDC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B49D7-CFE2-A180-5E4B-DCFD427C80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E6CFD-212A-F95C-A7E8-BAF8716194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0F8672-EA4A-442A-87FE-C00D7F1C8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33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nalyticsvidhya.com/blog/2021/05/in-depth-understanding-of-confusion-matrix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geeksforgeeks.org/data-analysis/techniques-to-evaluate-accuracy-of-classifier-in-data-mining/" TargetMode="Externa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geeksforgeeks.org/r-language/precision-recall-and-f1-score-using-r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35BD-E90F-0386-8884-28ECE917FF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B752EE-EE09-FB84-3AD2-1E66CBC236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575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FFC7E-1134-D9F4-0646-579931ED4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909EF7-E577-CA88-C3D7-BF8C9DC8A17D}"/>
              </a:ext>
            </a:extLst>
          </p:cNvPr>
          <p:cNvSpPr txBox="1"/>
          <p:nvPr/>
        </p:nvSpPr>
        <p:spPr>
          <a:xfrm>
            <a:off x="3921512" y="29874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b="1" u="sng" dirty="0">
                <a:solidFill>
                  <a:srgbClr val="1F497D"/>
                </a:solidFill>
                <a:highlight>
                  <a:srgbClr val="FF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BCE757-1964-077C-31AC-F6AF8F6D17AE}"/>
              </a:ext>
            </a:extLst>
          </p:cNvPr>
          <p:cNvSpPr txBox="1"/>
          <p:nvPr/>
        </p:nvSpPr>
        <p:spPr>
          <a:xfrm>
            <a:off x="2159619" y="1293076"/>
            <a:ext cx="831881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confusion matrix is a </a:t>
            </a:r>
            <a:r>
              <a:rPr lang="en-US" sz="3200" b="1" u="sng" dirty="0">
                <a:solidFill>
                  <a:srgbClr val="0D6EF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 </a:t>
            </a:r>
            <a:r>
              <a:rPr lang="en-US" sz="3200" b="1" u="sng" dirty="0">
                <a:solidFill>
                  <a:srgbClr val="0D6EFD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tool</a:t>
            </a:r>
            <a:r>
              <a:rPr lang="en-US" sz="3200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in machine learning,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representing the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 of a classification model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8C3934-8E8E-BCD5-1C26-CAFAB5904146}"/>
              </a:ext>
            </a:extLst>
          </p:cNvPr>
          <p:cNvSpPr txBox="1"/>
          <p:nvPr/>
        </p:nvSpPr>
        <p:spPr>
          <a:xfrm>
            <a:off x="2240465" y="3947531"/>
            <a:ext cx="810136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compares the predictions made by the model with the actual results and shows where the model was right or wrong. 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806679-0A69-3B14-2CCA-BE29EF968F68}"/>
              </a:ext>
            </a:extLst>
          </p:cNvPr>
          <p:cNvSpPr txBox="1"/>
          <p:nvPr/>
        </p:nvSpPr>
        <p:spPr>
          <a:xfrm>
            <a:off x="2338040" y="5649311"/>
            <a:ext cx="790621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breaks down the predictions into four categories: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3F500C-3653-DC49-29C6-828A0D59B2E4}"/>
              </a:ext>
            </a:extLst>
          </p:cNvPr>
          <p:cNvSpPr txBox="1"/>
          <p:nvPr/>
        </p:nvSpPr>
        <p:spPr>
          <a:xfrm>
            <a:off x="2159619" y="3093122"/>
            <a:ext cx="70921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Confusion matrix is an </a:t>
            </a:r>
            <a:r>
              <a:rPr lang="en-US" sz="32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 x N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matrix.</a:t>
            </a:r>
          </a:p>
        </p:txBody>
      </p:sp>
    </p:spTree>
    <p:extLst>
      <p:ext uri="{BB962C8B-B14F-4D97-AF65-F5344CB8AC3E}">
        <p14:creationId xmlns:p14="http://schemas.microsoft.com/office/powerpoint/2010/main" val="797682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4717A-D659-19BE-368E-AB601C085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7CAC09E-0401-D509-D146-B8AEA6397A19}"/>
              </a:ext>
            </a:extLst>
          </p:cNvPr>
          <p:cNvSpPr txBox="1"/>
          <p:nvPr/>
        </p:nvSpPr>
        <p:spPr>
          <a:xfrm>
            <a:off x="1602059" y="-74392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u="sng" dirty="0">
                <a:solidFill>
                  <a:schemeClr val="tx2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Four categories of CM: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BB576D-0BDC-C2D2-A379-5DDED5C7CA90}"/>
              </a:ext>
            </a:extLst>
          </p:cNvPr>
          <p:cNvSpPr txBox="1"/>
          <p:nvPr/>
        </p:nvSpPr>
        <p:spPr>
          <a:xfrm>
            <a:off x="5100753" y="361795"/>
            <a:ext cx="530240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spcAft>
                <a:spcPts val="1800"/>
              </a:spcAft>
            </a:pP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model correctly predicted a positive outcome </a:t>
            </a:r>
            <a:r>
              <a:rPr lang="en-US" sz="28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actual outcome was positive.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853B1C-59CF-BEA2-C825-1DD481362CC3}"/>
              </a:ext>
            </a:extLst>
          </p:cNvPr>
          <p:cNvSpPr txBox="1"/>
          <p:nvPr/>
        </p:nvSpPr>
        <p:spPr>
          <a:xfrm>
            <a:off x="1869688" y="638485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 Positive (TP):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F2B6EA-B4FA-9FA9-74BE-2CAC2717DB88}"/>
              </a:ext>
            </a:extLst>
          </p:cNvPr>
          <p:cNvSpPr txBox="1"/>
          <p:nvPr/>
        </p:nvSpPr>
        <p:spPr>
          <a:xfrm>
            <a:off x="1869688" y="1837881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 Negative (TN):</a:t>
            </a: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C96B71-791E-2B09-F931-B62DAF831047}"/>
              </a:ext>
            </a:extLst>
          </p:cNvPr>
          <p:cNvSpPr txBox="1"/>
          <p:nvPr/>
        </p:nvSpPr>
        <p:spPr>
          <a:xfrm>
            <a:off x="5100753" y="1696483"/>
            <a:ext cx="538882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correctly predicted a negative outcome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actual outcome was negative.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6A86F1-4D4F-BF81-2DC7-4EF6C8E2240C}"/>
              </a:ext>
            </a:extLst>
          </p:cNvPr>
          <p:cNvSpPr txBox="1"/>
          <p:nvPr/>
        </p:nvSpPr>
        <p:spPr>
          <a:xfrm>
            <a:off x="1958896" y="3043985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 Positive (FP):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51FE50-0C3F-0EFC-DAC9-F2564EBD0F5A}"/>
              </a:ext>
            </a:extLst>
          </p:cNvPr>
          <p:cNvSpPr txBox="1"/>
          <p:nvPr/>
        </p:nvSpPr>
        <p:spPr>
          <a:xfrm>
            <a:off x="5100753" y="3081477"/>
            <a:ext cx="532470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model incorrectly predicted a positive outcome </a:t>
            </a:r>
            <a:r>
              <a:rPr lang="en-US" sz="28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actual outcome was negative. It is also known as a Type I error.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0F67CA-E030-4B8C-8BA2-364F5FC664FB}"/>
              </a:ext>
            </a:extLst>
          </p:cNvPr>
          <p:cNvSpPr txBox="1"/>
          <p:nvPr/>
        </p:nvSpPr>
        <p:spPr>
          <a:xfrm>
            <a:off x="1958896" y="4952200"/>
            <a:ext cx="46333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 Negative (FN):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FA4987-5FB5-62FE-E216-B8B4B7F3CD5B}"/>
              </a:ext>
            </a:extLst>
          </p:cNvPr>
          <p:cNvSpPr txBox="1"/>
          <p:nvPr/>
        </p:nvSpPr>
        <p:spPr>
          <a:xfrm>
            <a:off x="5220631" y="4897359"/>
            <a:ext cx="520483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incorrectly predicted a negative outcome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actual outcome was positive. It is also known as a Type II error.</a:t>
            </a:r>
          </a:p>
        </p:txBody>
      </p:sp>
    </p:spTree>
    <p:extLst>
      <p:ext uri="{BB962C8B-B14F-4D97-AF65-F5344CB8AC3E}">
        <p14:creationId xmlns:p14="http://schemas.microsoft.com/office/powerpoint/2010/main" val="2070404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  <p:bldP spid="15" grpId="0"/>
      <p:bldP spid="17" grpId="0"/>
      <p:bldP spid="19" grpId="0"/>
      <p:bldP spid="21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616DF-455B-3B11-965F-C8A1F18BF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1A3742-86C5-7FAF-A299-09A8ABADE939}"/>
              </a:ext>
            </a:extLst>
          </p:cNvPr>
          <p:cNvSpPr txBox="1"/>
          <p:nvPr/>
        </p:nvSpPr>
        <p:spPr>
          <a:xfrm>
            <a:off x="2259981" y="164926"/>
            <a:ext cx="7883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b="1" u="sng" dirty="0">
                <a:solidFill>
                  <a:srgbClr val="1F497D"/>
                </a:solidFill>
                <a:highlight>
                  <a:srgbClr val="FF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 of Confusion Matrix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6EB3AA-3112-BB47-D4AE-6E5124A07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3172" y="1333383"/>
            <a:ext cx="4970888" cy="47919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0842D9-63E4-5717-F3ED-3EA5FD47397B}"/>
              </a:ext>
            </a:extLst>
          </p:cNvPr>
          <p:cNvSpPr txBox="1"/>
          <p:nvPr/>
        </p:nvSpPr>
        <p:spPr>
          <a:xfrm>
            <a:off x="1668966" y="1188418"/>
            <a:ext cx="246442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Confusion matrix is an </a:t>
            </a:r>
            <a:r>
              <a:rPr lang="en-US" sz="32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 x N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AC704E-9DD5-15DA-12F0-7AA728DF10FD}"/>
              </a:ext>
            </a:extLst>
          </p:cNvPr>
          <p:cNvSpPr txBox="1"/>
          <p:nvPr/>
        </p:nvSpPr>
        <p:spPr>
          <a:xfrm>
            <a:off x="1668965" y="3047396"/>
            <a:ext cx="321155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Here,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200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No. of Classes in CLA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35A677-ECE2-7863-7E17-48A93F8FE9B8}"/>
              </a:ext>
            </a:extLst>
          </p:cNvPr>
          <p:cNvSpPr txBox="1"/>
          <p:nvPr/>
        </p:nvSpPr>
        <p:spPr>
          <a:xfrm>
            <a:off x="1524000" y="4413932"/>
            <a:ext cx="385832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solidFill>
                  <a:srgbClr val="383838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Binary classification </a:t>
            </a:r>
            <a:r>
              <a:rPr lang="en-US" sz="3200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problem, we would have a </a:t>
            </a:r>
            <a:r>
              <a:rPr lang="en-US" sz="3200" b="1" dirty="0">
                <a:solidFill>
                  <a:srgbClr val="383838"/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 x 2 matrix.</a:t>
            </a:r>
            <a:endParaRPr lang="en-US" sz="3200" dirty="0">
              <a:highlight>
                <a:srgbClr val="00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EFC151-24BD-B4F6-51EE-2FB835564A9B}"/>
              </a:ext>
            </a:extLst>
          </p:cNvPr>
          <p:cNvSpPr txBox="1"/>
          <p:nvPr/>
        </p:nvSpPr>
        <p:spPr>
          <a:xfrm>
            <a:off x="7618141" y="6239774"/>
            <a:ext cx="46500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 x 2 matrix</a:t>
            </a:r>
            <a:endParaRPr lang="en-US" dirty="0">
              <a:solidFill>
                <a:schemeClr val="bg1"/>
              </a:solidFill>
              <a:highlight>
                <a:srgbClr val="000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826387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D0561-0E98-5A4B-AFC2-0DF11BD26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4C5522-3C74-5BA9-F24F-36397391BFFD}"/>
              </a:ext>
            </a:extLst>
          </p:cNvPr>
          <p:cNvSpPr txBox="1"/>
          <p:nvPr/>
        </p:nvSpPr>
        <p:spPr>
          <a:xfrm>
            <a:off x="2014654" y="1613118"/>
            <a:ext cx="834111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helps to calculate key measures like 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en-US" sz="3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  <a:r>
              <a:rPr lang="en-US" sz="3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r>
              <a:rPr lang="en-US" sz="3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which give a better idea of performance especially when the data is imbalanced.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3EC93C-3D51-1297-658D-B321B12DF272}"/>
              </a:ext>
            </a:extLst>
          </p:cNvPr>
          <p:cNvSpPr txBox="1"/>
          <p:nvPr/>
        </p:nvSpPr>
        <p:spPr>
          <a:xfrm>
            <a:off x="2170772" y="544848"/>
            <a:ext cx="81849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sz="3600" b="1" u="sng" dirty="0">
                <a:solidFill>
                  <a:schemeClr val="tx2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Metrics based on Confusion Matrix Data</a:t>
            </a:r>
          </a:p>
        </p:txBody>
      </p:sp>
    </p:spTree>
    <p:extLst>
      <p:ext uri="{BB962C8B-B14F-4D97-AF65-F5344CB8AC3E}">
        <p14:creationId xmlns:p14="http://schemas.microsoft.com/office/powerpoint/2010/main" val="1067437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114D1-CB41-7377-026B-CB5EC59B0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60AB9AE-B209-357B-FA0F-B6A3872936F6}"/>
              </a:ext>
            </a:extLst>
          </p:cNvPr>
          <p:cNvSpPr txBox="1"/>
          <p:nvPr/>
        </p:nvSpPr>
        <p:spPr>
          <a:xfrm>
            <a:off x="1964472" y="1077884"/>
            <a:ext cx="834111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Accuracy</a:t>
            </a: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shows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many predictions the model got right out of all the predictions</a:t>
            </a: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endParaRPr lang="en-US" sz="2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gives idea of overall performance, but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can be misleading when one class is more dominant over the other.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C8EE6C-FF3F-E938-B583-964123859921}"/>
              </a:ext>
            </a:extLst>
          </p:cNvPr>
          <p:cNvSpPr txBox="1"/>
          <p:nvPr/>
        </p:nvSpPr>
        <p:spPr>
          <a:xfrm>
            <a:off x="1702419" y="234545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7FBB80-8DD4-3DCE-9BAF-64AED18575A9}"/>
              </a:ext>
            </a:extLst>
          </p:cNvPr>
          <p:cNvSpPr txBox="1"/>
          <p:nvPr/>
        </p:nvSpPr>
        <p:spPr>
          <a:xfrm>
            <a:off x="1964473" y="4014105"/>
            <a:ext cx="86198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 can be calculated using the below formula: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1AA512-94AE-633D-567A-BC45347599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99042" y="5123529"/>
            <a:ext cx="5793917" cy="1046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86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878FD-5C0C-9CB3-E7A4-F454A4F80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A2EFC6C-E1CA-2661-14B8-B5C741B5B9D0}"/>
              </a:ext>
            </a:extLst>
          </p:cNvPr>
          <p:cNvSpPr txBox="1"/>
          <p:nvPr/>
        </p:nvSpPr>
        <p:spPr>
          <a:xfrm>
            <a:off x="1661992" y="535239"/>
            <a:ext cx="45887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1800"/>
              </a:spcBef>
              <a:spcAft>
                <a:spcPts val="1800"/>
              </a:spcAft>
            </a:pPr>
            <a:r>
              <a:rPr lang="en-US" sz="3200" b="1" dirty="0">
                <a:solidFill>
                  <a:schemeClr val="bg1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5AD4406-9186-C9C9-8CAC-8F9EE7FD5F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99729" y="2107974"/>
            <a:ext cx="4316452" cy="126130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1C281DD-B177-5461-1EFE-BC2F9D0267FF}"/>
              </a:ext>
            </a:extLst>
          </p:cNvPr>
          <p:cNvSpPr txBox="1"/>
          <p:nvPr/>
        </p:nvSpPr>
        <p:spPr>
          <a:xfrm>
            <a:off x="2007193" y="1204328"/>
            <a:ext cx="848705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Precision tells us how many of the correctly predicted cases turned out to be positive.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7D26EB-D057-8F77-3083-2F4E4B521AD5}"/>
              </a:ext>
            </a:extLst>
          </p:cNvPr>
          <p:cNvSpPr txBox="1"/>
          <p:nvPr/>
        </p:nvSpPr>
        <p:spPr>
          <a:xfrm>
            <a:off x="1924471" y="3583994"/>
            <a:ext cx="835323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Precision is a useful metric in cases where False Positive is a higher concern than False Negatives.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16AB48-4F91-A68C-135A-309A69081D3C}"/>
              </a:ext>
            </a:extLst>
          </p:cNvPr>
          <p:cNvSpPr txBox="1"/>
          <p:nvPr/>
        </p:nvSpPr>
        <p:spPr>
          <a:xfrm>
            <a:off x="1874805" y="4597402"/>
            <a:ext cx="840290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Precision is important in music or video recommendation systems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e-commerce websites, etc. </a:t>
            </a:r>
          </a:p>
          <a:p>
            <a:pPr algn="just"/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Wrong results could lead to customer churn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be harmful to the business.</a:t>
            </a:r>
          </a:p>
        </p:txBody>
      </p:sp>
    </p:spTree>
    <p:extLst>
      <p:ext uri="{BB962C8B-B14F-4D97-AF65-F5344CB8AC3E}">
        <p14:creationId xmlns:p14="http://schemas.microsoft.com/office/powerpoint/2010/main" val="3580738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B4FDA-A9A3-F232-F5B4-B2941513A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AAAE84-1413-C87D-9A40-48C930359F91}"/>
              </a:ext>
            </a:extLst>
          </p:cNvPr>
          <p:cNvSpPr txBox="1"/>
          <p:nvPr/>
        </p:nvSpPr>
        <p:spPr>
          <a:xfrm>
            <a:off x="1813932" y="166598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1800"/>
              </a:spcBef>
              <a:spcAft>
                <a:spcPts val="1800"/>
              </a:spcAft>
            </a:pPr>
            <a:r>
              <a:rPr lang="en-US" sz="3200" b="1" dirty="0">
                <a:solidFill>
                  <a:schemeClr val="bg1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9E01D4-737B-3B23-59D6-0421B3622E67}"/>
              </a:ext>
            </a:extLst>
          </p:cNvPr>
          <p:cNvSpPr txBox="1"/>
          <p:nvPr/>
        </p:nvSpPr>
        <p:spPr>
          <a:xfrm>
            <a:off x="2326887" y="926663"/>
            <a:ext cx="768319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 tells us how 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of the actual positive cases we were able to predict correctly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our model.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EFBD0B-F232-7E6A-786D-32C9D7A9715B}"/>
              </a:ext>
            </a:extLst>
          </p:cNvPr>
          <p:cNvSpPr txBox="1"/>
          <p:nvPr/>
        </p:nvSpPr>
        <p:spPr>
          <a:xfrm>
            <a:off x="2326887" y="3966700"/>
            <a:ext cx="787276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 is a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useful metric in cases where False Negative trumps False Positive</a:t>
            </a:r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4C811B-0594-AA72-9337-82DF9083567F}"/>
              </a:ext>
            </a:extLst>
          </p:cNvPr>
          <p:cNvSpPr txBox="1"/>
          <p:nvPr/>
        </p:nvSpPr>
        <p:spPr>
          <a:xfrm>
            <a:off x="2326887" y="5306409"/>
            <a:ext cx="787276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 is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in medical cases</a:t>
            </a:r>
            <a:r>
              <a:rPr lang="en-US" sz="2800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where it doesn’t matter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whether we raise a false alarm, but the actual positive cases should not go undetected!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77404B-7B7F-3FE6-97C4-C9FAF0208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3025" y="2131440"/>
            <a:ext cx="4125951" cy="129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864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90F9D-2E1D-5510-C6B1-9889EB602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BB81A8-BAC0-2D32-9302-76E8F91B9948}"/>
              </a:ext>
            </a:extLst>
          </p:cNvPr>
          <p:cNvSpPr txBox="1"/>
          <p:nvPr/>
        </p:nvSpPr>
        <p:spPr>
          <a:xfrm>
            <a:off x="1713571" y="289262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1800"/>
              </a:spcBef>
              <a:spcAft>
                <a:spcPts val="1800"/>
              </a:spcAft>
            </a:pPr>
            <a:r>
              <a:rPr lang="en-US" sz="3200" b="1" dirty="0">
                <a:solidFill>
                  <a:schemeClr val="bg1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F1-Score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EB287C-1C8F-4DE2-8A20-48E1F13D1D12}"/>
              </a:ext>
            </a:extLst>
          </p:cNvPr>
          <p:cNvSpPr txBox="1"/>
          <p:nvPr/>
        </p:nvSpPr>
        <p:spPr>
          <a:xfrm>
            <a:off x="1981200" y="1004821"/>
            <a:ext cx="822960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F1-score is a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harmonic mean of Precision and Recall</a:t>
            </a:r>
            <a:r>
              <a:rPr lang="en-US" sz="2800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which</a:t>
            </a:r>
            <a:r>
              <a:rPr lang="en-US" sz="2800" u="sng" dirty="0">
                <a:solidFill>
                  <a:srgbClr val="35796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 </a:t>
            </a:r>
            <a:r>
              <a:rPr lang="en-US" sz="28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combines precision and recall into a single metric to balance their trade-off.</a:t>
            </a:r>
          </a:p>
          <a:p>
            <a:pPr algn="just"/>
            <a:r>
              <a:rPr lang="en-US" sz="28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a better sense of a model’s overall performance particularly for imbalanced datasets</a:t>
            </a:r>
            <a:r>
              <a:rPr lang="en-US" sz="28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27686A-AB88-5CDA-56DD-9BFF1ACE5D9B}"/>
              </a:ext>
            </a:extLst>
          </p:cNvPr>
          <p:cNvSpPr txBox="1"/>
          <p:nvPr/>
        </p:nvSpPr>
        <p:spPr>
          <a:xfrm>
            <a:off x="2148468" y="3725018"/>
            <a:ext cx="814039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helpful when both false positives and false negatives are important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EF92DC-F1ED-430E-0B9D-770595837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5324" y="5152554"/>
            <a:ext cx="6153613" cy="108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960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EB1C8-80B9-5664-5488-23F07B41B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onfusion matrix in machine learning">
            <a:extLst>
              <a:ext uri="{FF2B5EF4-FFF2-40B4-BE49-F238E27FC236}">
                <a16:creationId xmlns:a16="http://schemas.microsoft.com/office/drawing/2014/main" id="{CC0DCB5F-89A3-5327-137D-42E7D3564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5675" y="129865"/>
            <a:ext cx="3271423" cy="3103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DAB5C1-C7EB-1919-AE75-CA04AA918225}"/>
              </a:ext>
            </a:extLst>
          </p:cNvPr>
          <p:cNvSpPr txBox="1"/>
          <p:nvPr/>
        </p:nvSpPr>
        <p:spPr>
          <a:xfrm>
            <a:off x="1791629" y="631670"/>
            <a:ext cx="5408342" cy="3760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400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different values of the Confusion matrix would be as follows:</a:t>
            </a:r>
          </a:p>
          <a:p>
            <a:pPr algn="just">
              <a:lnSpc>
                <a:spcPts val="2700"/>
              </a:lnSpc>
            </a:pPr>
            <a:endParaRPr lang="en-US" sz="2400" dirty="0">
              <a:solidFill>
                <a:srgbClr val="38383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2700"/>
              </a:lnSpc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 Positive </a:t>
            </a:r>
            <a:r>
              <a:rPr lang="en-US" sz="2400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(TP) = 560, meaning the model correctly classified 560 positive class data points.</a:t>
            </a:r>
          </a:p>
          <a:p>
            <a:pPr algn="just">
              <a:lnSpc>
                <a:spcPts val="2700"/>
              </a:lnSpc>
              <a:spcAft>
                <a:spcPts val="75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38383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2700"/>
              </a:lnSpc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 Negative </a:t>
            </a:r>
            <a:r>
              <a:rPr lang="en-US" sz="2400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(TN) = 330, meaning the model correctly classified 330 negative class data points.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A50A68-D19A-1063-A30C-278EEDB5A2B1}"/>
              </a:ext>
            </a:extLst>
          </p:cNvPr>
          <p:cNvSpPr txBox="1"/>
          <p:nvPr/>
        </p:nvSpPr>
        <p:spPr>
          <a:xfrm>
            <a:off x="1747025" y="4759456"/>
            <a:ext cx="8697951" cy="2028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457200">
              <a:lnSpc>
                <a:spcPts val="2700"/>
              </a:lnSpc>
              <a:spcAft>
                <a:spcPts val="750"/>
              </a:spcAft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 Positive </a:t>
            </a:r>
            <a:r>
              <a:rPr lang="en-US" sz="2400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(FP) = 60, meaning the model incorrectly classified 60 negative class data points as belonging to the positive class.</a:t>
            </a:r>
          </a:p>
          <a:p>
            <a:pPr algn="just" defTabSz="457200">
              <a:lnSpc>
                <a:spcPts val="2700"/>
              </a:lnSpc>
              <a:spcAft>
                <a:spcPts val="750"/>
              </a:spcAft>
              <a:defRPr/>
            </a:pPr>
            <a:endParaRPr lang="en-US" sz="2400" dirty="0">
              <a:solidFill>
                <a:srgbClr val="38383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457200">
              <a:lnSpc>
                <a:spcPts val="2700"/>
              </a:lnSpc>
              <a:spcAft>
                <a:spcPts val="750"/>
              </a:spcAft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 Negative </a:t>
            </a:r>
            <a:r>
              <a:rPr lang="en-US" sz="2400" dirty="0">
                <a:solidFill>
                  <a:srgbClr val="3838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(FN) = 50, meaning the model incorrectly classified 50 positive class data points as belonging to the negative class.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F21F4E-E8BD-67F0-7AB3-1D4F9F57DEEB}"/>
              </a:ext>
            </a:extLst>
          </p:cNvPr>
          <p:cNvSpPr txBox="1"/>
          <p:nvPr/>
        </p:nvSpPr>
        <p:spPr>
          <a:xfrm>
            <a:off x="1813932" y="166598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1800"/>
              </a:spcBef>
              <a:spcAft>
                <a:spcPts val="1800"/>
              </a:spcAft>
            </a:pPr>
            <a:r>
              <a:rPr lang="en-US" sz="3200" b="1" dirty="0">
                <a:solidFill>
                  <a:schemeClr val="bg1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3547479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5E067-3F42-6CD3-CBDA-B5F637C6F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3D43C5-ACA6-A027-A11A-C17522227928}"/>
              </a:ext>
            </a:extLst>
          </p:cNvPr>
          <p:cNvSpPr txBox="1"/>
          <p:nvPr/>
        </p:nvSpPr>
        <p:spPr>
          <a:xfrm>
            <a:off x="1919867" y="1503266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A3B03E-E686-B525-397C-581346EF11AA}"/>
              </a:ext>
            </a:extLst>
          </p:cNvPr>
          <p:cNvSpPr txBox="1"/>
          <p:nvPr/>
        </p:nvSpPr>
        <p:spPr>
          <a:xfrm>
            <a:off x="1919867" y="3718460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1800"/>
              </a:spcBef>
              <a:spcAft>
                <a:spcPts val="1800"/>
              </a:spcAft>
            </a:pPr>
            <a:r>
              <a:rPr lang="en-US" sz="3200" b="1" dirty="0">
                <a:solidFill>
                  <a:schemeClr val="bg1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F1-Score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EECFE8-5BCB-9527-5A99-06EA80955A71}"/>
              </a:ext>
            </a:extLst>
          </p:cNvPr>
          <p:cNvSpPr txBox="1"/>
          <p:nvPr/>
        </p:nvSpPr>
        <p:spPr>
          <a:xfrm>
            <a:off x="1919867" y="2848664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1800"/>
              </a:spcBef>
              <a:spcAft>
                <a:spcPts val="1800"/>
              </a:spcAft>
            </a:pPr>
            <a:r>
              <a:rPr lang="en-US" sz="3200" b="1" dirty="0">
                <a:solidFill>
                  <a:schemeClr val="bg1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39177C-8E4D-DC1F-A3AD-A14BA3AE652B}"/>
              </a:ext>
            </a:extLst>
          </p:cNvPr>
          <p:cNvSpPr txBox="1"/>
          <p:nvPr/>
        </p:nvSpPr>
        <p:spPr>
          <a:xfrm>
            <a:off x="1903141" y="2146657"/>
            <a:ext cx="45887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1800"/>
              </a:spcBef>
              <a:spcAft>
                <a:spcPts val="1800"/>
              </a:spcAft>
            </a:pPr>
            <a:r>
              <a:rPr lang="en-US" sz="3200" b="1" dirty="0">
                <a:solidFill>
                  <a:schemeClr val="bg1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8" name="Slide Zoom 7">
                <a:extLst>
                  <a:ext uri="{FF2B5EF4-FFF2-40B4-BE49-F238E27FC236}">
                    <a16:creationId xmlns:a16="http://schemas.microsoft.com/office/drawing/2014/main" id="{2D9D5D1F-FCCF-E987-FF47-E23A8B2EADB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904784" y="195225"/>
              <a:ext cx="6763216" cy="5072412"/>
            </p:xfrm>
            <a:graphic>
              <a:graphicData uri="http://schemas.microsoft.com/office/powerpoint/2016/slidezoom">
                <pslz:sldZm>
                  <pslz:sldZmObj sldId="1540" cId="1100345379">
                    <pslz:zmPr id="{D65FEEA7-E0DB-40A9-91E4-5737A6FF9EA3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763216" cy="507241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8" name="Slide Zoom 7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2D9D5D1F-FCCF-E987-FF47-E23A8B2EADB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904784" y="195225"/>
                <a:ext cx="6763216" cy="507241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85B265F-4FCC-38C5-CE9E-E04434B73FEE}"/>
              </a:ext>
            </a:extLst>
          </p:cNvPr>
          <p:cNvSpPr txBox="1"/>
          <p:nvPr/>
        </p:nvSpPr>
        <p:spPr>
          <a:xfrm>
            <a:off x="1903141" y="448914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1800"/>
              </a:spcBef>
              <a:spcAft>
                <a:spcPts val="1800"/>
              </a:spcAft>
            </a:pPr>
            <a:r>
              <a:rPr lang="en-US" sz="3200" b="1" dirty="0">
                <a:solidFill>
                  <a:srgbClr val="FFFF00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Find…????</a:t>
            </a:r>
          </a:p>
        </p:txBody>
      </p:sp>
    </p:spTree>
    <p:extLst>
      <p:ext uri="{BB962C8B-B14F-4D97-AF65-F5344CB8AC3E}">
        <p14:creationId xmlns:p14="http://schemas.microsoft.com/office/powerpoint/2010/main" val="1209798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A2CF6-F181-0FB0-385A-A51F6A70A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9B2CFB-41B9-2590-009E-69A1BAD37B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48158" y="782937"/>
            <a:ext cx="7744575" cy="5292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345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B70C1-2D1A-C4CB-A8A5-0B0616875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D36170-BFF4-0800-E631-30263C977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0430" y="448912"/>
            <a:ext cx="7044203" cy="50643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D4158A-B0D3-A56E-6EC5-767BB4D49CBB}"/>
              </a:ext>
            </a:extLst>
          </p:cNvPr>
          <p:cNvSpPr txBox="1"/>
          <p:nvPr/>
        </p:nvSpPr>
        <p:spPr>
          <a:xfrm>
            <a:off x="1527368" y="156526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1800"/>
              </a:spcBef>
              <a:spcAft>
                <a:spcPts val="1800"/>
              </a:spcAft>
            </a:pPr>
            <a:r>
              <a:rPr lang="en-US" sz="3200" b="1" dirty="0">
                <a:solidFill>
                  <a:srgbClr val="FFFF00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Find…????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D0FBAB-570D-653A-044A-F6EBB3834313}"/>
              </a:ext>
            </a:extLst>
          </p:cNvPr>
          <p:cNvSpPr txBox="1"/>
          <p:nvPr/>
        </p:nvSpPr>
        <p:spPr>
          <a:xfrm>
            <a:off x="1919867" y="1503266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1. Accuracy</a:t>
            </a: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C2BA73-5093-24A1-BE98-F7342553C00F}"/>
              </a:ext>
            </a:extLst>
          </p:cNvPr>
          <p:cNvSpPr txBox="1"/>
          <p:nvPr/>
        </p:nvSpPr>
        <p:spPr>
          <a:xfrm>
            <a:off x="1919867" y="3718460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1800"/>
              </a:spcBef>
              <a:spcAft>
                <a:spcPts val="1800"/>
              </a:spcAft>
            </a:pPr>
            <a:r>
              <a:rPr lang="en-US" sz="3200" b="1" dirty="0">
                <a:solidFill>
                  <a:schemeClr val="bg1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4. F1-Score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29A26F-B899-FC7F-A185-1440DAA2656C}"/>
              </a:ext>
            </a:extLst>
          </p:cNvPr>
          <p:cNvSpPr txBox="1"/>
          <p:nvPr/>
        </p:nvSpPr>
        <p:spPr>
          <a:xfrm>
            <a:off x="1919867" y="2848664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1800"/>
              </a:spcBef>
              <a:spcAft>
                <a:spcPts val="1800"/>
              </a:spcAft>
            </a:pPr>
            <a:r>
              <a:rPr lang="en-US" sz="3200" b="1" dirty="0">
                <a:solidFill>
                  <a:schemeClr val="bg1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3. Recall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1807B9-DA8E-053D-F067-92EDF04432F4}"/>
              </a:ext>
            </a:extLst>
          </p:cNvPr>
          <p:cNvSpPr txBox="1"/>
          <p:nvPr/>
        </p:nvSpPr>
        <p:spPr>
          <a:xfrm>
            <a:off x="1903141" y="2146657"/>
            <a:ext cx="45887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1800"/>
              </a:spcBef>
              <a:spcAft>
                <a:spcPts val="1800"/>
              </a:spcAft>
            </a:pPr>
            <a:r>
              <a:rPr lang="en-US" sz="3200" b="1" dirty="0">
                <a:solidFill>
                  <a:schemeClr val="bg1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2. Precision</a:t>
            </a:r>
          </a:p>
        </p:txBody>
      </p:sp>
    </p:spTree>
    <p:extLst>
      <p:ext uri="{BB962C8B-B14F-4D97-AF65-F5344CB8AC3E}">
        <p14:creationId xmlns:p14="http://schemas.microsoft.com/office/powerpoint/2010/main" val="3450349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39AB4-F646-649B-5AEF-E39EB586A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7406E8-F30A-6202-3EE6-FCF78B4F3317}"/>
              </a:ext>
            </a:extLst>
          </p:cNvPr>
          <p:cNvSpPr txBox="1"/>
          <p:nvPr/>
        </p:nvSpPr>
        <p:spPr>
          <a:xfrm>
            <a:off x="1524000" y="57281"/>
            <a:ext cx="860874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quote-cjk-patch"/>
              </a:rPr>
              <a:t>Question : Support Calculation &amp; Itemset Pruning</a:t>
            </a:r>
            <a:br>
              <a:rPr lang="en-US" sz="2800" dirty="0">
                <a:solidFill>
                  <a:srgbClr val="FF0000"/>
                </a:solidFill>
              </a:rPr>
            </a:br>
            <a:r>
              <a:rPr lang="en-US" sz="2800" dirty="0">
                <a:solidFill>
                  <a:srgbClr val="FF0000"/>
                </a:solidFill>
                <a:latin typeface="quote-cjk-patch"/>
              </a:rPr>
              <a:t>Given the following transaction database:</a:t>
            </a:r>
            <a:endParaRPr lang="en-US" sz="2800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476A99-04FE-5C82-1317-3F7B29C69E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96000" y="1128713"/>
            <a:ext cx="4514850" cy="46005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6A98DE-D67B-03D5-A40E-AFE2AEF5CA8E}"/>
              </a:ext>
            </a:extLst>
          </p:cNvPr>
          <p:cNvSpPr txBox="1"/>
          <p:nvPr/>
        </p:nvSpPr>
        <p:spPr>
          <a:xfrm>
            <a:off x="1680117" y="1182004"/>
            <a:ext cx="4316916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dirty="0">
                <a:solidFill>
                  <a:srgbClr val="0F1115"/>
                </a:solidFill>
                <a:highlight>
                  <a:srgbClr val="00FF00"/>
                </a:highlight>
                <a:latin typeface="quote-cjk-patch"/>
              </a:rPr>
              <a:t>Assume a minimum support threshold (</a:t>
            </a:r>
            <a:r>
              <a:rPr lang="en-US" b="1" dirty="0" err="1">
                <a:solidFill>
                  <a:srgbClr val="0F1115"/>
                </a:solidFill>
                <a:highlight>
                  <a:srgbClr val="00FF00"/>
                </a:highlight>
                <a:latin typeface="quote-cjk-patch"/>
              </a:rPr>
              <a:t>min_sup</a:t>
            </a:r>
            <a:r>
              <a:rPr lang="en-US" dirty="0">
                <a:solidFill>
                  <a:srgbClr val="0F1115"/>
                </a:solidFill>
                <a:highlight>
                  <a:srgbClr val="00FF00"/>
                </a:highlight>
                <a:latin typeface="quote-cjk-patch"/>
              </a:rPr>
              <a:t>) of </a:t>
            </a:r>
            <a:r>
              <a:rPr lang="en-US" b="1" dirty="0">
                <a:solidFill>
                  <a:srgbClr val="0F1115"/>
                </a:solidFill>
                <a:highlight>
                  <a:srgbClr val="00FF00"/>
                </a:highlight>
                <a:latin typeface="quote-cjk-patch"/>
              </a:rPr>
              <a:t>50%</a:t>
            </a:r>
            <a:r>
              <a:rPr lang="en-US" dirty="0">
                <a:solidFill>
                  <a:srgbClr val="0F1115"/>
                </a:solidFill>
                <a:highlight>
                  <a:srgbClr val="00FF00"/>
                </a:highlight>
                <a:latin typeface="quote-cjk-patch"/>
              </a:rPr>
              <a:t> (or </a:t>
            </a:r>
            <a:r>
              <a:rPr lang="en-US" b="1" dirty="0">
                <a:solidFill>
                  <a:srgbClr val="0F1115"/>
                </a:solidFill>
                <a:highlight>
                  <a:srgbClr val="00FF00"/>
                </a:highlight>
                <a:latin typeface="quote-cjk-patch"/>
              </a:rPr>
              <a:t>0.5</a:t>
            </a:r>
            <a:r>
              <a:rPr lang="en-US" dirty="0">
                <a:solidFill>
                  <a:srgbClr val="0F1115"/>
                </a:solidFill>
                <a:highlight>
                  <a:srgbClr val="00FF00"/>
                </a:highlight>
                <a:latin typeface="quote-cjk-patch"/>
              </a:rPr>
              <a:t>).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dirty="0">
                <a:solidFill>
                  <a:srgbClr val="0F1115"/>
                </a:solidFill>
                <a:highlight>
                  <a:srgbClr val="FF00FF"/>
                </a:highlight>
                <a:latin typeface="quote-cjk-patch"/>
              </a:rPr>
              <a:t>a) 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Calculate the support for each individual item (1-itemset): {Milk}, {Bread}, {Butter}, {Eggs}.</a:t>
            </a:r>
            <a:br>
              <a:rPr lang="en-US" dirty="0">
                <a:solidFill>
                  <a:srgbClr val="0F1115"/>
                </a:solidFill>
                <a:latin typeface="quote-cjk-patch"/>
              </a:rPr>
            </a:br>
            <a:r>
              <a:rPr lang="en-US" dirty="0">
                <a:solidFill>
                  <a:srgbClr val="0F1115"/>
                </a:solidFill>
                <a:highlight>
                  <a:srgbClr val="FF00FF"/>
                </a:highlight>
                <a:latin typeface="quote-cjk-patch"/>
              </a:rPr>
              <a:t>b) 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Which 1-itemsets are 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frequent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? Create the set L₁.</a:t>
            </a:r>
            <a:br>
              <a:rPr lang="en-US" dirty="0">
                <a:solidFill>
                  <a:srgbClr val="0F1115"/>
                </a:solidFill>
                <a:latin typeface="quote-cjk-patch"/>
              </a:rPr>
            </a:br>
            <a:r>
              <a:rPr lang="en-US" dirty="0">
                <a:solidFill>
                  <a:srgbClr val="0F1115"/>
                </a:solidFill>
                <a:highlight>
                  <a:srgbClr val="FF00FF"/>
                </a:highlight>
                <a:latin typeface="quote-cjk-patch"/>
              </a:rPr>
              <a:t>c) 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Generate all possible candidate 2-itemsets, C₂, from the frequent 1-itemsets.</a:t>
            </a:r>
            <a:br>
              <a:rPr lang="en-US" dirty="0">
                <a:solidFill>
                  <a:srgbClr val="0F1115"/>
                </a:solidFill>
                <a:latin typeface="quote-cjk-patch"/>
              </a:rPr>
            </a:br>
            <a:r>
              <a:rPr lang="en-US" dirty="0">
                <a:solidFill>
                  <a:srgbClr val="0F1115"/>
                </a:solidFill>
                <a:latin typeface="quote-cjk-patch"/>
              </a:rPr>
              <a:t>d) Calculate the support for each candidate in C₂.</a:t>
            </a:r>
            <a:br>
              <a:rPr lang="en-US" dirty="0">
                <a:solidFill>
                  <a:srgbClr val="0F1115"/>
                </a:solidFill>
                <a:latin typeface="quote-cjk-patch"/>
              </a:rPr>
            </a:br>
            <a:r>
              <a:rPr lang="en-US" dirty="0">
                <a:solidFill>
                  <a:srgbClr val="0F1115"/>
                </a:solidFill>
                <a:highlight>
                  <a:srgbClr val="FF00FF"/>
                </a:highlight>
                <a:latin typeface="quote-cjk-patch"/>
              </a:rPr>
              <a:t>e) 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Which 2-itemsets are frequent? Create the set L₂.</a:t>
            </a:r>
            <a:br>
              <a:rPr lang="en-US" dirty="0">
                <a:solidFill>
                  <a:srgbClr val="0F1115"/>
                </a:solidFill>
                <a:latin typeface="quote-cjk-patch"/>
              </a:rPr>
            </a:br>
            <a:r>
              <a:rPr lang="en-US" dirty="0">
                <a:solidFill>
                  <a:srgbClr val="0F1115"/>
                </a:solidFill>
                <a:highlight>
                  <a:srgbClr val="FF00FF"/>
                </a:highlight>
                <a:latin typeface="quote-cjk-patch"/>
              </a:rPr>
              <a:t>f) 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Generate the candidate 3-itemsets, C₃, using the join step from L₂. </a:t>
            </a:r>
            <a:r>
              <a:rPr lang="en-US" i="1" dirty="0">
                <a:solidFill>
                  <a:srgbClr val="0F1115"/>
                </a:solidFill>
                <a:latin typeface="quote-cjk-patch"/>
              </a:rPr>
              <a:t>Hint: Remember the </a:t>
            </a:r>
            <a:r>
              <a:rPr lang="en-US" i="1" dirty="0" err="1">
                <a:solidFill>
                  <a:srgbClr val="0F1115"/>
                </a:solidFill>
                <a:latin typeface="quote-cjk-patch"/>
              </a:rPr>
              <a:t>Apriori</a:t>
            </a:r>
            <a:r>
              <a:rPr lang="en-US" i="1" dirty="0">
                <a:solidFill>
                  <a:srgbClr val="0F1115"/>
                </a:solidFill>
                <a:latin typeface="quote-cjk-patch"/>
              </a:rPr>
              <a:t> principle for pruning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.</a:t>
            </a:r>
            <a:br>
              <a:rPr lang="en-US" dirty="0">
                <a:solidFill>
                  <a:srgbClr val="0F1115"/>
                </a:solidFill>
                <a:latin typeface="quote-cjk-patch"/>
              </a:rPr>
            </a:br>
            <a:r>
              <a:rPr lang="en-US" b="1" dirty="0">
                <a:solidFill>
                  <a:srgbClr val="0F1115"/>
                </a:solidFill>
                <a:highlight>
                  <a:srgbClr val="FF00FF"/>
                </a:highlight>
                <a:latin typeface="quote-cjk-patch"/>
              </a:rPr>
              <a:t>g) 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Calculate the support for the candidates in C₃. Create the frequent 3-itemsets L₃.</a:t>
            </a:r>
          </a:p>
        </p:txBody>
      </p:sp>
    </p:spTree>
    <p:extLst>
      <p:ext uri="{BB962C8B-B14F-4D97-AF65-F5344CB8AC3E}">
        <p14:creationId xmlns:p14="http://schemas.microsoft.com/office/powerpoint/2010/main" val="1749576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DA9B4-7FD2-0608-FA53-30E3DE2BB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9880B0-3A15-FDCF-F9DF-A383D8C95470}"/>
              </a:ext>
            </a:extLst>
          </p:cNvPr>
          <p:cNvSpPr txBox="1"/>
          <p:nvPr/>
        </p:nvSpPr>
        <p:spPr>
          <a:xfrm>
            <a:off x="2014653" y="28926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Gain Ratio</a:t>
            </a:r>
          </a:p>
        </p:txBody>
      </p:sp>
    </p:spTree>
    <p:extLst>
      <p:ext uri="{BB962C8B-B14F-4D97-AF65-F5344CB8AC3E}">
        <p14:creationId xmlns:p14="http://schemas.microsoft.com/office/powerpoint/2010/main" val="34618846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C8315-BD6C-1B9B-C66C-BF6B66DA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F5D10D2-F08E-3D10-66F5-0735A26132D9}"/>
              </a:ext>
            </a:extLst>
          </p:cNvPr>
          <p:cNvSpPr txBox="1">
            <a:spLocks noChangeArrowheads="1"/>
          </p:cNvSpPr>
          <p:nvPr/>
        </p:nvSpPr>
        <p:spPr>
          <a:xfrm>
            <a:off x="782676" y="-21141"/>
            <a:ext cx="11029950" cy="978710"/>
          </a:xfrm>
          <a:prstGeom prst="rect">
            <a:avLst/>
          </a:prstGeom>
          <a:noFill/>
        </p:spPr>
        <p:txBody>
          <a:bodyPr vert="horz" lIns="92075" tIns="46038" rIns="92075" bIns="46038" rtlCol="0" anchor="ctr">
            <a:normAutofit/>
          </a:bodyPr>
          <a:lstStyle>
            <a:lvl1pPr algn="ctr" defTabSz="914354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kern="1200" spc="-51" baseline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US" altLang="en-US" sz="3200" u="sng" dirty="0">
                <a:solidFill>
                  <a:srgbClr val="FF0000"/>
                </a:solidFill>
              </a:rPr>
              <a:t>Classification</a:t>
            </a:r>
            <a:r>
              <a:rPr lang="en-US" altLang="en-US" sz="3200" dirty="0">
                <a:solidFill>
                  <a:srgbClr val="000000"/>
                </a:solidFill>
              </a:rPr>
              <a:t>: </a:t>
            </a:r>
            <a:r>
              <a:rPr lang="en-US" altLang="en-US" sz="3200" dirty="0">
                <a:solidFill>
                  <a:schemeClr val="accent1"/>
                </a:solidFill>
              </a:rPr>
              <a:t>Naïve</a:t>
            </a:r>
            <a:r>
              <a:rPr lang="en-US" altLang="en-US" sz="3200" dirty="0">
                <a:solidFill>
                  <a:srgbClr val="000000"/>
                </a:solidFill>
              </a:rPr>
              <a:t> </a:t>
            </a:r>
            <a:r>
              <a:rPr lang="en-US" altLang="en-US" sz="3200" dirty="0">
                <a:solidFill>
                  <a:schemeClr val="accent1"/>
                </a:solidFill>
              </a:rPr>
              <a:t>Bayes’ Classifier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0E57B0-A5E4-402C-8C5C-B54425909174}"/>
              </a:ext>
            </a:extLst>
          </p:cNvPr>
          <p:cNvSpPr txBox="1"/>
          <p:nvPr/>
        </p:nvSpPr>
        <p:spPr>
          <a:xfrm>
            <a:off x="2140106" y="1073409"/>
            <a:ext cx="800378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Naive Bayes is a </a:t>
            </a:r>
            <a:r>
              <a:rPr lang="en-US" sz="2800" b="1" u="sng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probabilistic classification 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algorithms based on applying 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Bayes' Theorem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a strong (naive) assumption of independence between every pair of features.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574029-F826-2E79-20BC-AFAEF2E50532}"/>
              </a:ext>
            </a:extLst>
          </p:cNvPr>
          <p:cNvSpPr txBox="1"/>
          <p:nvPr/>
        </p:nvSpPr>
        <p:spPr>
          <a:xfrm>
            <a:off x="2140105" y="3060770"/>
            <a:ext cx="800378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Probabilistic</a:t>
            </a: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It calculates the probability of a data point belonging to each possible class and then assigns the class with the highest probability.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675905-1833-11B7-209D-7F45D355F465}"/>
              </a:ext>
            </a:extLst>
          </p:cNvPr>
          <p:cNvSpPr txBox="1"/>
          <p:nvPr/>
        </p:nvSpPr>
        <p:spPr>
          <a:xfrm>
            <a:off x="2140105" y="4607202"/>
            <a:ext cx="800378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Naive</a:t>
            </a: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It "naively" assumes that all features (e.g., words in an email, symptoms of a disease) contribute </a:t>
            </a: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independently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to the probability of the class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0195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17483-6955-70D7-8A4C-A8034ADFD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7384E2-BCC3-9996-4AC3-F1FD1E8BAB8D}"/>
              </a:ext>
            </a:extLst>
          </p:cNvPr>
          <p:cNvSpPr txBox="1"/>
          <p:nvPr/>
        </p:nvSpPr>
        <p:spPr>
          <a:xfrm>
            <a:off x="1624362" y="375700"/>
            <a:ext cx="6501161" cy="390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3200" spc="-51" dirty="0"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The Foundation: Bayes' Theorem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7DBFA4-1EAB-9B61-BF3A-77AB1939D21E}"/>
              </a:ext>
            </a:extLst>
          </p:cNvPr>
          <p:cNvSpPr txBox="1"/>
          <p:nvPr/>
        </p:nvSpPr>
        <p:spPr>
          <a:xfrm>
            <a:off x="1758176" y="857081"/>
            <a:ext cx="831880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Bayes' Theorem describes the probability of an event, based on prior knowledge of conditions that might be related to the event.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909CBC-7F8E-1A6F-0D15-63F6FD3B9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434" y="4460632"/>
            <a:ext cx="8257132" cy="22993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672D6B-0EEF-F60E-23C6-A87CBAFF7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8175" y="2201813"/>
            <a:ext cx="3638210" cy="12278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10BF3CF-08F2-4B49-5250-950A1320E0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6347" y="2457745"/>
            <a:ext cx="3686175" cy="714375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B8252FBE-B784-71F7-2B54-3937ED95C4F6}"/>
              </a:ext>
            </a:extLst>
          </p:cNvPr>
          <p:cNvSpPr/>
          <p:nvPr/>
        </p:nvSpPr>
        <p:spPr>
          <a:xfrm>
            <a:off x="5672254" y="2769182"/>
            <a:ext cx="657922" cy="23934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1A32CC-61E8-998C-5CAB-A7B2D6A7B85E}"/>
              </a:ext>
            </a:extLst>
          </p:cNvPr>
          <p:cNvSpPr txBox="1"/>
          <p:nvPr/>
        </p:nvSpPr>
        <p:spPr>
          <a:xfrm>
            <a:off x="1445942" y="3429001"/>
            <a:ext cx="790621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eaLnBrk="1" hangingPunct="1"/>
            <a:r>
              <a:rPr lang="en-US" alt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 </a:t>
            </a:r>
            <a:r>
              <a:rPr lang="en-US" alt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Sample/</a:t>
            </a:r>
            <a:r>
              <a:rPr lang="en-US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(“evidence”)</a:t>
            </a:r>
          </a:p>
          <a:p>
            <a:pPr lvl="1" eaLnBrk="1" hangingPunct="1"/>
            <a:r>
              <a:rPr lang="en-US" alt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2800" b="1" baseline="-250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belongs to class C</a:t>
            </a:r>
          </a:p>
        </p:txBody>
      </p:sp>
    </p:spTree>
    <p:extLst>
      <p:ext uri="{BB962C8B-B14F-4D97-AF65-F5344CB8AC3E}">
        <p14:creationId xmlns:p14="http://schemas.microsoft.com/office/powerpoint/2010/main" val="1259280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40DB0-9C05-1480-004B-51E436063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FBFC6B-1307-5EF6-553A-6D559119B4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06726" y="501805"/>
            <a:ext cx="4512148" cy="15228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0E4589-7FFC-83AD-786D-53770632D201}"/>
              </a:ext>
            </a:extLst>
          </p:cNvPr>
          <p:cNvSpPr txBox="1"/>
          <p:nvPr/>
        </p:nvSpPr>
        <p:spPr>
          <a:xfrm>
            <a:off x="1723265" y="2288830"/>
            <a:ext cx="8665955" cy="4624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28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|X) 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 </a:t>
            </a: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Posterior Probability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The probability of 			  event </a:t>
            </a:r>
            <a:r>
              <a:rPr lang="en-US" alt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2800" b="1" baseline="-250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800" i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given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that event X has                                                      			  occurred. (This is what we want to calculate).</a:t>
            </a:r>
          </a:p>
          <a:p>
            <a:pPr algn="just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P(X|</a:t>
            </a:r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28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 </a:t>
            </a: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Likelihood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The probability of event   	    	           X </a:t>
            </a:r>
            <a:r>
              <a:rPr lang="en-US" sz="2800" i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given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that event </a:t>
            </a:r>
            <a:r>
              <a:rPr lang="en-US" alt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2800" b="1" baseline="-250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true.</a:t>
            </a:r>
          </a:p>
          <a:p>
            <a:pPr algn="just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28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is the </a:t>
            </a: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 Probability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The initial probability of 		   event </a:t>
            </a:r>
            <a:r>
              <a:rPr lang="en-US" alt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2800" b="1" baseline="-250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P(X)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is the </a:t>
            </a: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Evidence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The total probability of event.</a:t>
            </a:r>
          </a:p>
        </p:txBody>
      </p:sp>
    </p:spTree>
    <p:extLst>
      <p:ext uri="{BB962C8B-B14F-4D97-AF65-F5344CB8AC3E}">
        <p14:creationId xmlns:p14="http://schemas.microsoft.com/office/powerpoint/2010/main" val="3873229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31AE7-2693-9FBF-F157-E2AD4C71E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4BDFDF-B16F-15FD-5D44-BFDE9AF326EC}"/>
              </a:ext>
            </a:extLst>
          </p:cNvPr>
          <p:cNvSpPr txBox="1"/>
          <p:nvPr/>
        </p:nvSpPr>
        <p:spPr>
          <a:xfrm>
            <a:off x="1769327" y="270807"/>
            <a:ext cx="8474927" cy="390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Applying Bayes' Theorem to Classification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58F88D-F456-373B-377C-3B808DF350B9}"/>
              </a:ext>
            </a:extLst>
          </p:cNvPr>
          <p:cNvSpPr txBox="1"/>
          <p:nvPr/>
        </p:nvSpPr>
        <p:spPr>
          <a:xfrm>
            <a:off x="1769327" y="935098"/>
            <a:ext cx="847492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Bayes' Theorem for classification problem with features and a class.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12D0C5-D4D5-A357-1BB2-541645340093}"/>
              </a:ext>
            </a:extLst>
          </p:cNvPr>
          <p:cNvSpPr txBox="1"/>
          <p:nvPr/>
        </p:nvSpPr>
        <p:spPr>
          <a:xfrm>
            <a:off x="1769327" y="1889205"/>
            <a:ext cx="8597590" cy="1910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have:</a:t>
            </a:r>
          </a:p>
          <a:p>
            <a:pPr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data point with multiple features: </a:t>
            </a:r>
            <a:r>
              <a:rPr lang="en-US" sz="2800" b="1" dirty="0">
                <a:solidFill>
                  <a:srgbClr val="0F1115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X = (x₁, x₂, x₃, ..., xₙ)</a:t>
            </a:r>
            <a:endParaRPr lang="en-US" sz="2800" dirty="0">
              <a:solidFill>
                <a:srgbClr val="0F1115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set of possible classes: </a:t>
            </a:r>
            <a:r>
              <a:rPr lang="en-US" sz="2800" b="1" dirty="0">
                <a:solidFill>
                  <a:srgbClr val="0F1115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 = (C₁, C₂, ..., Cₖ)</a:t>
            </a:r>
            <a:endParaRPr lang="en-US" sz="2800" dirty="0">
              <a:solidFill>
                <a:srgbClr val="0F1115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7E17C8-0C17-8791-334D-ECA22C0919CF}"/>
              </a:ext>
            </a:extLst>
          </p:cNvPr>
          <p:cNvSpPr txBox="1"/>
          <p:nvPr/>
        </p:nvSpPr>
        <p:spPr>
          <a:xfrm>
            <a:off x="1825083" y="4230133"/>
            <a:ext cx="859759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spcAft>
                <a:spcPts val="1200"/>
              </a:spcAft>
              <a:tabLst>
                <a:tab pos="7883525" algn="l"/>
              </a:tabLst>
            </a:pP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Bayes' Theorem, </a:t>
            </a: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want to find the class </a:t>
            </a: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Cᵢ</a:t>
            </a: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for which the probability </a:t>
            </a:r>
            <a:r>
              <a:rPr lang="en-US" sz="2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P(Cᵢ | X)</a:t>
            </a:r>
            <a:r>
              <a:rPr lang="en-US" sz="2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 highest-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P(Cᵢ | X) = [ P(X | Cᵢ) * P(Cᵢ) ] / P(X)</a:t>
            </a:r>
            <a:endParaRPr lang="en-US" sz="2800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674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F7F5F-103C-80FE-941E-090940E4A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5FC925-37E2-DDF9-334F-4CC9A379F59B}"/>
              </a:ext>
            </a:extLst>
          </p:cNvPr>
          <p:cNvSpPr txBox="1"/>
          <p:nvPr/>
        </p:nvSpPr>
        <p:spPr>
          <a:xfrm>
            <a:off x="1805569" y="544206"/>
            <a:ext cx="4572000" cy="946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b="1" dirty="0">
                <a:solidFill>
                  <a:srgbClr val="0F1115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Algorithm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Phase:</a:t>
            </a: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B49193-DA37-BE55-72B6-9EBDF7A8E8B1}"/>
              </a:ext>
            </a:extLst>
          </p:cNvPr>
          <p:cNvSpPr txBox="1"/>
          <p:nvPr/>
        </p:nvSpPr>
        <p:spPr>
          <a:xfrm>
            <a:off x="2538761" y="1905504"/>
            <a:ext cx="717023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 </a:t>
            </a: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 Probability, P(Cᵢ)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for each class.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E25409-A63F-68FC-E892-5219F5978FD4}"/>
              </a:ext>
            </a:extLst>
          </p:cNvPr>
          <p:cNvSpPr txBox="1"/>
          <p:nvPr/>
        </p:nvSpPr>
        <p:spPr>
          <a:xfrm>
            <a:off x="2658637" y="3324109"/>
            <a:ext cx="717023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P(Cᵢ) 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(Number of data points in class Cᵢ)          	                 (Total number of data points)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64279F-8D0F-12C9-E2C8-AFA55B16223D}"/>
              </a:ext>
            </a:extLst>
          </p:cNvPr>
          <p:cNvSpPr txBox="1"/>
          <p:nvPr/>
        </p:nvSpPr>
        <p:spPr>
          <a:xfrm>
            <a:off x="2098288" y="4693100"/>
            <a:ext cx="829093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Calculate the </a:t>
            </a: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Likelihood, P(Xⱼ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Cᵢ)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for each    	feature Xⱼ given each class Cᵢ. This is done for 	every 	feature and every possible value of that feature.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9DB910-E424-8EEE-5DD9-60DB5654D6CB}"/>
              </a:ext>
            </a:extLst>
          </p:cNvPr>
          <p:cNvCxnSpPr/>
          <p:nvPr/>
        </p:nvCxnSpPr>
        <p:spPr>
          <a:xfrm>
            <a:off x="4334107" y="3813716"/>
            <a:ext cx="537488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1403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6F5BC-D4A9-8E3A-FFCA-52B306B1B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A08C7B-8017-B209-C688-83619DD2101C}"/>
              </a:ext>
            </a:extLst>
          </p:cNvPr>
          <p:cNvSpPr txBox="1"/>
          <p:nvPr/>
        </p:nvSpPr>
        <p:spPr>
          <a:xfrm>
            <a:off x="1719145" y="190934"/>
            <a:ext cx="8948855" cy="4965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32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b="1" dirty="0">
                <a:solidFill>
                  <a:srgbClr val="FF0000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Prediction Phase:</a:t>
            </a:r>
            <a:endParaRPr lang="en-US" sz="3200" dirty="0">
              <a:solidFill>
                <a:srgbClr val="FF0000"/>
              </a:solidFill>
              <a:highlight>
                <a:srgbClr val="00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a new, unseen data point with features </a:t>
            </a:r>
          </a:p>
          <a:p>
            <a:pPr lvl="1">
              <a:spcBef>
                <a:spcPts val="300"/>
              </a:spcBef>
            </a:pPr>
            <a:r>
              <a:rPr lang="en-US" sz="3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</a:t>
            </a:r>
            <a:r>
              <a:rPr lang="en-US" sz="32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= (x₁, x₂, ..., xₙ)</a:t>
            </a:r>
            <a:r>
              <a:rPr lang="en-US" sz="3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each class Cᵢ:</a:t>
            </a:r>
          </a:p>
          <a:p>
            <a:pPr marL="1200150" lvl="2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 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Posterior Numerator</a:t>
            </a:r>
            <a:r>
              <a:rPr lang="en-US" sz="3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</a:p>
          <a:p>
            <a:pPr lvl="2">
              <a:spcBef>
                <a:spcPts val="300"/>
              </a:spcBef>
            </a:pPr>
            <a:endParaRPr lang="en-US" sz="3200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spcBef>
                <a:spcPts val="300"/>
              </a:spcBef>
            </a:pPr>
            <a:r>
              <a:rPr lang="en-US" sz="3200" b="1" dirty="0">
                <a:solidFill>
                  <a:srgbClr val="0070C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=P(</a:t>
            </a:r>
            <a:r>
              <a:rPr lang="en-US" sz="3200" b="1" dirty="0"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b="1" baseline="-25000" dirty="0"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200" b="1" dirty="0">
                <a:solidFill>
                  <a:srgbClr val="0070C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 * P(x₁ </a:t>
            </a:r>
            <a:r>
              <a:rPr lang="en-US" sz="32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sz="3200" b="1" dirty="0">
                <a:solidFill>
                  <a:srgbClr val="0070C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b="1" baseline="-25000" dirty="0"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200" b="1" dirty="0">
                <a:solidFill>
                  <a:srgbClr val="0070C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3200" b="1" dirty="0">
                <a:solidFill>
                  <a:srgbClr val="0070C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P(x₂ </a:t>
            </a:r>
            <a:r>
              <a:rPr lang="en-US" sz="32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sz="3200" b="1" dirty="0">
                <a:solidFill>
                  <a:srgbClr val="0070C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b="1" baseline="-25000" dirty="0"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200" b="1" dirty="0">
                <a:solidFill>
                  <a:srgbClr val="0070C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* ... * </a:t>
            </a:r>
            <a:r>
              <a:rPr lang="en-US" sz="3200" b="1" dirty="0">
                <a:solidFill>
                  <a:srgbClr val="0070C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P(xₙ </a:t>
            </a:r>
            <a:r>
              <a:rPr lang="en-US" sz="32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sz="3200" b="1" dirty="0">
                <a:solidFill>
                  <a:srgbClr val="0070C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b="1" baseline="-25000" dirty="0"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200" b="1" dirty="0">
                <a:solidFill>
                  <a:srgbClr val="0070C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3200" b="1" dirty="0">
                <a:solidFill>
                  <a:srgbClr val="0070C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sz="3200" b="1" dirty="0"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b="1" baseline="-25000" dirty="0"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200" b="1" dirty="0">
                <a:solidFill>
                  <a:srgbClr val="0070C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 * </a:t>
            </a:r>
            <a:r>
              <a:rPr lang="el-GR" sz="66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l-GR" sz="6600" b="1" dirty="0">
                <a:solidFill>
                  <a:srgbClr val="0070C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>
                <a:solidFill>
                  <a:srgbClr val="0070C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3200" b="1" dirty="0">
                <a:solidFill>
                  <a:srgbClr val="0070C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P(x</a:t>
            </a:r>
            <a:r>
              <a:rPr lang="en-US" sz="2000" b="1" dirty="0">
                <a:solidFill>
                  <a:srgbClr val="0070C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b="1" dirty="0">
                <a:solidFill>
                  <a:srgbClr val="0070C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sz="3200" b="1" dirty="0">
                <a:solidFill>
                  <a:srgbClr val="0070C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b="1" baseline="-25000" dirty="0"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3200" b="1" dirty="0">
                <a:solidFill>
                  <a:srgbClr val="0070C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6600" b="1" dirty="0">
                <a:solidFill>
                  <a:srgbClr val="0070C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3200" b="1" dirty="0">
                <a:solidFill>
                  <a:srgbClr val="0070C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….. </a:t>
            </a:r>
            <a:r>
              <a:rPr lang="en-US" sz="2800" b="1" dirty="0">
                <a:solidFill>
                  <a:srgbClr val="0070C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For All k=1 to </a:t>
            </a:r>
            <a:r>
              <a:rPr lang="en-US" sz="3200" b="1" dirty="0">
                <a:solidFill>
                  <a:srgbClr val="0070C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en-US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52C7B3-FBCC-3F7D-45DA-2F1AF076490B}"/>
              </a:ext>
            </a:extLst>
          </p:cNvPr>
          <p:cNvSpPr txBox="1"/>
          <p:nvPr/>
        </p:nvSpPr>
        <p:spPr>
          <a:xfrm>
            <a:off x="1719145" y="5396754"/>
            <a:ext cx="9740592" cy="1141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3275" lvl="1" indent="-346075" defTabSz="457200">
              <a:spcBef>
                <a:spcPts val="450"/>
              </a:spcBef>
              <a:buFont typeface="Arial" panose="020B0604020202020204" pitchFamily="34" charset="0"/>
              <a:buChar char="•"/>
              <a:defRPr/>
            </a:pPr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class with 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highest Posterior Numerator </a:t>
            </a:r>
          </a:p>
          <a:p>
            <a:pPr lvl="1" defTabSz="457200">
              <a:spcBef>
                <a:spcPts val="450"/>
              </a:spcBef>
              <a:defRPr/>
            </a:pPr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is the Predicted Class.</a:t>
            </a:r>
            <a:endParaRPr lang="en-US" sz="3200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199258-2B0D-760D-F26A-5264287B89B6}"/>
              </a:ext>
            </a:extLst>
          </p:cNvPr>
          <p:cNvSpPr txBox="1"/>
          <p:nvPr/>
        </p:nvSpPr>
        <p:spPr>
          <a:xfrm>
            <a:off x="4309018" y="4787065"/>
            <a:ext cx="4711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i</a:t>
            </a:r>
            <a:r>
              <a:rPr lang="en-US" b="1" dirty="0"/>
              <a:t>=1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4E7274-4788-9BE1-349D-8A8264F7401B}"/>
              </a:ext>
            </a:extLst>
          </p:cNvPr>
          <p:cNvSpPr txBox="1"/>
          <p:nvPr/>
        </p:nvSpPr>
        <p:spPr>
          <a:xfrm>
            <a:off x="4309017" y="4177374"/>
            <a:ext cx="4711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696411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1A9DA-E0F8-FFA5-EAEB-371E6BE2F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870D0F-CED0-270A-99FF-18BD0D5CB3B5}"/>
              </a:ext>
            </a:extLst>
          </p:cNvPr>
          <p:cNvSpPr txBox="1"/>
          <p:nvPr/>
        </p:nvSpPr>
        <p:spPr>
          <a:xfrm>
            <a:off x="1646662" y="165920"/>
            <a:ext cx="8106938" cy="397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sz="2800" b="1" dirty="0">
                <a:solidFill>
                  <a:srgbClr val="0F1115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Solved Example: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475323C-55FB-2854-7477-2523B055119C}"/>
              </a:ext>
            </a:extLst>
          </p:cNvPr>
          <p:cNvGraphicFramePr>
            <a:graphicFrameLocks noGrp="1"/>
          </p:cNvGraphicFramePr>
          <p:nvPr/>
        </p:nvGraphicFramePr>
        <p:xfrm>
          <a:off x="3358887" y="1011909"/>
          <a:ext cx="6673494" cy="4376283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12249">
                  <a:extLst>
                    <a:ext uri="{9D8B030D-6E8A-4147-A177-3AD203B41FA5}">
                      <a16:colId xmlns:a16="http://schemas.microsoft.com/office/drawing/2014/main" val="1907451810"/>
                    </a:ext>
                  </a:extLst>
                </a:gridCol>
                <a:gridCol w="981454">
                  <a:extLst>
                    <a:ext uri="{9D8B030D-6E8A-4147-A177-3AD203B41FA5}">
                      <a16:colId xmlns:a16="http://schemas.microsoft.com/office/drawing/2014/main" val="2155729818"/>
                    </a:ext>
                  </a:extLst>
                </a:gridCol>
                <a:gridCol w="1243044">
                  <a:extLst>
                    <a:ext uri="{9D8B030D-6E8A-4147-A177-3AD203B41FA5}">
                      <a16:colId xmlns:a16="http://schemas.microsoft.com/office/drawing/2014/main" val="3513197614"/>
                    </a:ext>
                  </a:extLst>
                </a:gridCol>
                <a:gridCol w="1112249">
                  <a:extLst>
                    <a:ext uri="{9D8B030D-6E8A-4147-A177-3AD203B41FA5}">
                      <a16:colId xmlns:a16="http://schemas.microsoft.com/office/drawing/2014/main" val="3495831743"/>
                    </a:ext>
                  </a:extLst>
                </a:gridCol>
                <a:gridCol w="1112249">
                  <a:extLst>
                    <a:ext uri="{9D8B030D-6E8A-4147-A177-3AD203B41FA5}">
                      <a16:colId xmlns:a16="http://schemas.microsoft.com/office/drawing/2014/main" val="2607476739"/>
                    </a:ext>
                  </a:extLst>
                </a:gridCol>
                <a:gridCol w="1112249">
                  <a:extLst>
                    <a:ext uri="{9D8B030D-6E8A-4147-A177-3AD203B41FA5}">
                      <a16:colId xmlns:a16="http://schemas.microsoft.com/office/drawing/2014/main" val="3433937146"/>
                    </a:ext>
                  </a:extLst>
                </a:gridCol>
              </a:tblGrid>
              <a:tr h="3834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</a:t>
                      </a:r>
                    </a:p>
                  </a:txBody>
                  <a:tcPr marL="71841" marR="71841" marT="35920" marB="3592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Outlook</a:t>
                      </a:r>
                    </a:p>
                  </a:txBody>
                  <a:tcPr marL="71841" marR="71841" marT="35920" marB="3592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Temperature</a:t>
                      </a:r>
                    </a:p>
                  </a:txBody>
                  <a:tcPr marL="71841" marR="71841" marT="35920" marB="3592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Humidity</a:t>
                      </a:r>
                    </a:p>
                  </a:txBody>
                  <a:tcPr marL="71841" marR="71841" marT="35920" marB="3592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Windy</a:t>
                      </a:r>
                    </a:p>
                  </a:txBody>
                  <a:tcPr marL="71841" marR="71841" marT="35920" marB="3592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PlayCricket</a:t>
                      </a:r>
                      <a:endParaRPr lang="en-US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841" marR="71841" marT="35920" marB="3592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354071"/>
                  </a:ext>
                </a:extLst>
              </a:tr>
              <a:tr h="2382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D1</a:t>
                      </a:r>
                    </a:p>
                  </a:txBody>
                  <a:tcPr marL="71841" marR="71841" marT="35920" marB="3592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71841" marR="71841" marT="35920" marB="3592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841060"/>
                  </a:ext>
                </a:extLst>
              </a:tr>
              <a:tr h="2382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D2</a:t>
                      </a:r>
                    </a:p>
                  </a:txBody>
                  <a:tcPr marL="71841" marR="71841" marT="35920" marB="3592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71841" marR="71841" marT="35920" marB="3592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6125116"/>
                  </a:ext>
                </a:extLst>
              </a:tr>
              <a:tr h="2382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D3</a:t>
                      </a:r>
                    </a:p>
                  </a:txBody>
                  <a:tcPr marL="71841" marR="71841" marT="35920" marB="3592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Overcast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4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841" marR="71841" marT="35920" marB="3592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8955273"/>
                  </a:ext>
                </a:extLst>
              </a:tr>
              <a:tr h="2382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D4</a:t>
                      </a:r>
                    </a:p>
                  </a:txBody>
                  <a:tcPr marL="71841" marR="71841" marT="35920" marB="3592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71841" marR="71841" marT="35920" marB="3592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285374"/>
                  </a:ext>
                </a:extLst>
              </a:tr>
              <a:tr h="2382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D5</a:t>
                      </a:r>
                    </a:p>
                  </a:txBody>
                  <a:tcPr marL="71841" marR="71841" marT="35920" marB="3592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Cool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71841" marR="71841" marT="35920" marB="3592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538279"/>
                  </a:ext>
                </a:extLst>
              </a:tr>
              <a:tr h="2382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D6</a:t>
                      </a:r>
                    </a:p>
                  </a:txBody>
                  <a:tcPr marL="71841" marR="71841" marT="35920" marB="3592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Cool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71841" marR="71841" marT="35920" marB="3592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9704350"/>
                  </a:ext>
                </a:extLst>
              </a:tr>
              <a:tr h="2382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D7</a:t>
                      </a:r>
                    </a:p>
                  </a:txBody>
                  <a:tcPr marL="71841" marR="71841" marT="35920" marB="3592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Overcast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Cool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4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841" marR="71841" marT="35920" marB="3592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279367"/>
                  </a:ext>
                </a:extLst>
              </a:tr>
              <a:tr h="2382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D8</a:t>
                      </a:r>
                    </a:p>
                  </a:txBody>
                  <a:tcPr marL="71841" marR="71841" marT="35920" marB="3592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71841" marR="71841" marT="35920" marB="3592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512303"/>
                  </a:ext>
                </a:extLst>
              </a:tr>
              <a:tr h="2382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D9</a:t>
                      </a:r>
                    </a:p>
                  </a:txBody>
                  <a:tcPr marL="71841" marR="71841" marT="35920" marB="3592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Cool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4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841" marR="71841" marT="35920" marB="3592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791522"/>
                  </a:ext>
                </a:extLst>
              </a:tr>
              <a:tr h="2382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D10</a:t>
                      </a:r>
                    </a:p>
                  </a:txBody>
                  <a:tcPr marL="71841" marR="71841" marT="35920" marB="3592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4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841" marR="71841" marT="35920" marB="3592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3157826"/>
                  </a:ext>
                </a:extLst>
              </a:tr>
              <a:tr h="2382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D11</a:t>
                      </a:r>
                    </a:p>
                  </a:txBody>
                  <a:tcPr marL="71841" marR="71841" marT="35920" marB="3592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4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841" marR="71841" marT="35920" marB="3592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665584"/>
                  </a:ext>
                </a:extLst>
              </a:tr>
              <a:tr h="2382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D12</a:t>
                      </a:r>
                    </a:p>
                  </a:txBody>
                  <a:tcPr marL="71841" marR="71841" marT="35920" marB="3592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Overcast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4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841" marR="71841" marT="35920" marB="3592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293207"/>
                  </a:ext>
                </a:extLst>
              </a:tr>
              <a:tr h="2382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D13</a:t>
                      </a:r>
                    </a:p>
                  </a:txBody>
                  <a:tcPr marL="71841" marR="71841" marT="35920" marB="3592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Overcast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4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841" marR="71841" marT="35920" marB="3592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811979"/>
                  </a:ext>
                </a:extLst>
              </a:tr>
              <a:tr h="2382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D14</a:t>
                      </a:r>
                    </a:p>
                  </a:txBody>
                  <a:tcPr marL="71841" marR="71841" marT="35920" marB="3592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71841" marR="71841" marT="35920" marB="3592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62513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6602228-AB1B-8D4B-9757-84716C926456}"/>
              </a:ext>
            </a:extLst>
          </p:cNvPr>
          <p:cNvSpPr txBox="1"/>
          <p:nvPr/>
        </p:nvSpPr>
        <p:spPr>
          <a:xfrm>
            <a:off x="1613207" y="5552438"/>
            <a:ext cx="92109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sz="24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Classify a new day with the features: </a:t>
            </a:r>
          </a:p>
          <a:p>
            <a:r>
              <a:rPr 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Outlook</a:t>
            </a:r>
            <a:r>
              <a:rPr lang="en-US" sz="24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=Sunny, </a:t>
            </a:r>
            <a:r>
              <a:rPr 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Temperature</a:t>
            </a:r>
            <a:r>
              <a:rPr lang="en-US" sz="24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=Cool, </a:t>
            </a:r>
            <a:r>
              <a:rPr 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Humidity</a:t>
            </a:r>
            <a:r>
              <a:rPr lang="en-US" sz="24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=High, </a:t>
            </a:r>
            <a:r>
              <a:rPr 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</a:t>
            </a:r>
            <a:r>
              <a:rPr lang="en-US" sz="24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=Strong</a:t>
            </a:r>
            <a:r>
              <a:rPr lang="en-US" sz="24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b="1" dirty="0">
                <a:solidFill>
                  <a:srgbClr val="0F1115"/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Will we play Cricket?</a:t>
            </a:r>
            <a:endParaRPr lang="en-US" sz="2400" b="1" dirty="0">
              <a:highlight>
                <a:srgbClr val="00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8BF9AF-C249-41E8-9F24-D0A596408A4C}"/>
              </a:ext>
            </a:extLst>
          </p:cNvPr>
          <p:cNvSpPr txBox="1"/>
          <p:nvPr/>
        </p:nvSpPr>
        <p:spPr>
          <a:xfrm>
            <a:off x="1646662" y="465578"/>
            <a:ext cx="73486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Weather and Playing Cricket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190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1FFF8-C820-6BAB-9390-A9B269DBF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1BCE38-6576-DB0E-7F72-9C12CE064676}"/>
              </a:ext>
            </a:extLst>
          </p:cNvPr>
          <p:cNvSpPr txBox="1"/>
          <p:nvPr/>
        </p:nvSpPr>
        <p:spPr>
          <a:xfrm>
            <a:off x="2003503" y="406506"/>
            <a:ext cx="8575287" cy="390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3200" b="1" dirty="0">
                <a:solidFill>
                  <a:srgbClr val="0F1115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Step 1: </a:t>
            </a:r>
            <a:r>
              <a:rPr lang="en-US" sz="3200" b="1" dirty="0">
                <a:solidFill>
                  <a:srgbClr val="0F1115"/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Calculate Prior Probabilities </a:t>
            </a:r>
            <a:r>
              <a:rPr lang="en-US" sz="3200" b="1" dirty="0">
                <a:solidFill>
                  <a:srgbClr val="FF0000"/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P(Cᵢ)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AE8D33-791D-CA7D-1F8A-0050D0AE7FFC}"/>
              </a:ext>
            </a:extLst>
          </p:cNvPr>
          <p:cNvSpPr txBox="1"/>
          <p:nvPr/>
        </p:nvSpPr>
        <p:spPr>
          <a:xfrm>
            <a:off x="2549912" y="1112540"/>
            <a:ext cx="75605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1200"/>
              </a:spcBef>
              <a:spcAft>
                <a:spcPts val="1200"/>
              </a:spcAft>
              <a:defRPr/>
            </a:pPr>
            <a:r>
              <a:rPr lang="en-US" sz="3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have two classes: </a:t>
            </a:r>
            <a:r>
              <a:rPr lang="en-US" sz="3200" b="1" dirty="0">
                <a:solidFill>
                  <a:srgbClr val="0F1115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r>
              <a:rPr lang="en-US" sz="3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sz="3200" b="1" dirty="0">
                <a:solidFill>
                  <a:srgbClr val="0F1115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3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019493-AEC7-55D8-B542-2D2D5D225845}"/>
              </a:ext>
            </a:extLst>
          </p:cNvPr>
          <p:cNvSpPr txBox="1"/>
          <p:nvPr/>
        </p:nvSpPr>
        <p:spPr>
          <a:xfrm>
            <a:off x="3101894" y="1787265"/>
            <a:ext cx="5447374" cy="2005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3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Total days: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  <a:p>
            <a:pPr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3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Days with "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r>
              <a:rPr lang="en-US" sz="3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": → </a:t>
            </a:r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sz="3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3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Days with "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3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": → </a:t>
            </a:r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3200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EC7F80-750A-C621-9624-2452B8A818AE}"/>
              </a:ext>
            </a:extLst>
          </p:cNvPr>
          <p:cNvSpPr txBox="1"/>
          <p:nvPr/>
        </p:nvSpPr>
        <p:spPr>
          <a:xfrm>
            <a:off x="2510882" y="4215056"/>
            <a:ext cx="7560527" cy="1295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3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Probability of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 </a:t>
            </a:r>
            <a:r>
              <a:rPr lang="en-US" sz="32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P(Yes) = 9/14</a:t>
            </a:r>
          </a:p>
          <a:p>
            <a:pPr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3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Probability of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 </a:t>
            </a:r>
            <a:r>
              <a:rPr lang="en-US" sz="32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P(No) = 5/14</a:t>
            </a:r>
            <a:endParaRPr lang="en-US" sz="3200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804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3B245-61CC-81BB-933F-72AA19A09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36C7EA-CB0B-11A5-A3C9-634A41F1DF80}"/>
              </a:ext>
            </a:extLst>
          </p:cNvPr>
          <p:cNvSpPr txBox="1"/>
          <p:nvPr/>
        </p:nvSpPr>
        <p:spPr>
          <a:xfrm>
            <a:off x="1674541" y="208349"/>
            <a:ext cx="7638585" cy="390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3200" b="1" dirty="0">
                <a:solidFill>
                  <a:srgbClr val="0F1115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Step 2: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n-US" sz="3200" b="1" dirty="0">
                <a:solidFill>
                  <a:srgbClr val="0F1115"/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Calculate Likelihoods P(xⱼ | Cᵢ)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B0BF52-759A-F8A6-E3DE-7CA3FA1E01C8}"/>
              </a:ext>
            </a:extLst>
          </p:cNvPr>
          <p:cNvSpPr txBox="1"/>
          <p:nvPr/>
        </p:nvSpPr>
        <p:spPr>
          <a:xfrm>
            <a:off x="2237678" y="728169"/>
            <a:ext cx="801772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sz="3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likelihood for each feature w.r.t the given class in CLA.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B74FAE-46AA-8A17-B179-7E0C69FC999C}"/>
              </a:ext>
            </a:extLst>
          </p:cNvPr>
          <p:cNvSpPr txBox="1"/>
          <p:nvPr/>
        </p:nvSpPr>
        <p:spPr>
          <a:xfrm>
            <a:off x="1670360" y="1654918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>
                <a:solidFill>
                  <a:srgbClr val="0F1115"/>
                </a:solidFill>
                <a:highlight>
                  <a:srgbClr val="FF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For Class </a:t>
            </a:r>
            <a:r>
              <a:rPr lang="en-US" sz="3200" u="sng" dirty="0">
                <a:solidFill>
                  <a:srgbClr val="0F1115"/>
                </a:solidFill>
                <a:highlight>
                  <a:srgbClr val="FF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3200" b="1" u="sng" dirty="0">
                <a:highlight>
                  <a:srgbClr val="FF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r>
              <a:rPr lang="en-US" sz="3200" u="sng" dirty="0">
                <a:solidFill>
                  <a:srgbClr val="0F1115"/>
                </a:solidFill>
                <a:highlight>
                  <a:srgbClr val="FF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768E81-8C77-9159-808E-422BC58305B1}"/>
              </a:ext>
            </a:extLst>
          </p:cNvPr>
          <p:cNvSpPr txBox="1"/>
          <p:nvPr/>
        </p:nvSpPr>
        <p:spPr>
          <a:xfrm>
            <a:off x="1674540" y="2249097"/>
            <a:ext cx="8997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6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Outlook=Sunny </a:t>
            </a:r>
            <a:r>
              <a:rPr lang="en-US" sz="26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r>
              <a:rPr lang="en-US" sz="26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 = (Number of "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r>
              <a:rPr lang="en-US" sz="26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days with Sunny)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0AD32C-6282-CC98-7772-725F9F0DE3E9}"/>
              </a:ext>
            </a:extLst>
          </p:cNvPr>
          <p:cNvSpPr txBox="1"/>
          <p:nvPr/>
        </p:nvSpPr>
        <p:spPr>
          <a:xfrm>
            <a:off x="5900854" y="2888819"/>
            <a:ext cx="457757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(Total "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r>
              <a:rPr lang="en-US" sz="26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days)</a:t>
            </a:r>
            <a:endParaRPr lang="en-US" sz="26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6766931-80A0-5979-2123-C7A72BB1507E}"/>
              </a:ext>
            </a:extLst>
          </p:cNvPr>
          <p:cNvCxnSpPr/>
          <p:nvPr/>
        </p:nvCxnSpPr>
        <p:spPr>
          <a:xfrm>
            <a:off x="5804675" y="2772317"/>
            <a:ext cx="442703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D0A7EF2-6FD4-A663-1EEC-1FEB52D29285}"/>
              </a:ext>
            </a:extLst>
          </p:cNvPr>
          <p:cNvSpPr txBox="1"/>
          <p:nvPr/>
        </p:nvSpPr>
        <p:spPr>
          <a:xfrm>
            <a:off x="5173237" y="3186376"/>
            <a:ext cx="45775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= </a:t>
            </a:r>
            <a:r>
              <a:rPr lang="en-US" sz="2800" b="1" dirty="0">
                <a:solidFill>
                  <a:srgbClr val="0F1115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2/9</a:t>
            </a:r>
            <a:endParaRPr lang="en-US" sz="2800" b="1" dirty="0">
              <a:highlight>
                <a:srgbClr val="00FF00"/>
              </a:highlight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EE69DF-47EA-A22C-A8C1-6C109D114708}"/>
              </a:ext>
            </a:extLst>
          </p:cNvPr>
          <p:cNvSpPr txBox="1"/>
          <p:nvPr/>
        </p:nvSpPr>
        <p:spPr>
          <a:xfrm>
            <a:off x="1609027" y="5325250"/>
            <a:ext cx="8997640" cy="1172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50"/>
              </a:spcBef>
              <a:spcAft>
                <a:spcPts val="1200"/>
              </a:spcAft>
            </a:pPr>
            <a:r>
              <a:rPr lang="en-US" sz="2800" dirty="0">
                <a:solidFill>
                  <a:srgbClr val="FFFF00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sz="2800" b="1" dirty="0">
                <a:solidFill>
                  <a:srgbClr val="FFFF00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Temperature=Cool </a:t>
            </a:r>
            <a:r>
              <a:rPr lang="en-US" sz="2800" dirty="0">
                <a:solidFill>
                  <a:srgbClr val="FFFF00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sz="2800" b="1" dirty="0">
                <a:solidFill>
                  <a:srgbClr val="FF0000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r>
              <a:rPr lang="en-US" sz="2800" dirty="0">
                <a:solidFill>
                  <a:srgbClr val="FFFF00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 </a:t>
            </a:r>
            <a:r>
              <a:rPr lang="en-US" sz="2800" b="1" dirty="0">
                <a:solidFill>
                  <a:srgbClr val="0F1115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3/9</a:t>
            </a:r>
            <a:endParaRPr lang="en-US" sz="2800" dirty="0">
              <a:solidFill>
                <a:srgbClr val="0F1115"/>
              </a:solidFill>
              <a:highlight>
                <a:srgbClr val="00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50"/>
              </a:spcBef>
              <a:spcAft>
                <a:spcPts val="1200"/>
              </a:spcAft>
            </a:pPr>
            <a:r>
              <a:rPr lang="en-US" sz="2800" b="1" dirty="0">
                <a:solidFill>
                  <a:srgbClr val="FFFF00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P(Humidity=High | </a:t>
            </a:r>
            <a:r>
              <a:rPr lang="en-US" sz="2800" b="1" dirty="0">
                <a:solidFill>
                  <a:srgbClr val="FF0000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r>
              <a:rPr lang="en-US" sz="2800" b="1" dirty="0">
                <a:solidFill>
                  <a:srgbClr val="FFFF00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 </a:t>
            </a:r>
            <a:r>
              <a:rPr lang="en-US" sz="2800" b="1" dirty="0">
                <a:solidFill>
                  <a:srgbClr val="0F1115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3/9</a:t>
            </a: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  <a:r>
              <a:rPr lang="en-US" sz="2800" b="1" dirty="0">
                <a:solidFill>
                  <a:srgbClr val="FFFF00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P(Wind=Strong | </a:t>
            </a:r>
            <a:r>
              <a:rPr lang="en-US" sz="2800" b="1" dirty="0">
                <a:solidFill>
                  <a:srgbClr val="FF0000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r>
              <a:rPr lang="en-US" sz="2800" b="1" dirty="0">
                <a:solidFill>
                  <a:srgbClr val="FFFF00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 </a:t>
            </a:r>
            <a:r>
              <a:rPr lang="en-US" sz="2800" b="1" dirty="0">
                <a:solidFill>
                  <a:srgbClr val="0F1115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3/9</a:t>
            </a:r>
            <a:endParaRPr lang="en-US" sz="2800" dirty="0">
              <a:solidFill>
                <a:srgbClr val="0F1115"/>
              </a:solidFill>
              <a:highlight>
                <a:srgbClr val="00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867FDD-2275-63B8-1AC5-C7BB5686003F}"/>
              </a:ext>
            </a:extLst>
          </p:cNvPr>
          <p:cNvSpPr txBox="1"/>
          <p:nvPr/>
        </p:nvSpPr>
        <p:spPr>
          <a:xfrm>
            <a:off x="1609028" y="3795319"/>
            <a:ext cx="880388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u="sng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As per the Problem Calculate Probability of given Feature for class</a:t>
            </a:r>
            <a:r>
              <a:rPr lang="en-US" sz="2400" b="1" u="sng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“YES”-</a:t>
            </a:r>
          </a:p>
          <a:p>
            <a:pPr algn="just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Temperature</a:t>
            </a:r>
            <a:r>
              <a:rPr lang="en-US" sz="24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=Cool, </a:t>
            </a:r>
            <a:r>
              <a:rPr 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Humidity</a:t>
            </a:r>
            <a:r>
              <a:rPr lang="en-US" sz="24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=High, </a:t>
            </a:r>
            <a:r>
              <a:rPr 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</a:t>
            </a:r>
            <a:r>
              <a:rPr lang="en-US" sz="24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=Strong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994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7" grpId="0"/>
      <p:bldP spid="19" grpId="0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5B5E8-1B15-6814-DB21-85EFEA2E9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47F563-22FC-05CA-BF20-151BF84C7CB8}"/>
              </a:ext>
            </a:extLst>
          </p:cNvPr>
          <p:cNvSpPr txBox="1"/>
          <p:nvPr/>
        </p:nvSpPr>
        <p:spPr>
          <a:xfrm>
            <a:off x="1735873" y="180039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>
                <a:solidFill>
                  <a:srgbClr val="0F1115"/>
                </a:solidFill>
                <a:highlight>
                  <a:srgbClr val="FF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For Class </a:t>
            </a:r>
            <a:r>
              <a:rPr lang="en-US" sz="3200" u="sng" dirty="0">
                <a:solidFill>
                  <a:srgbClr val="0F1115"/>
                </a:solidFill>
                <a:highlight>
                  <a:srgbClr val="FF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3200" b="1" u="sng" dirty="0">
                <a:highlight>
                  <a:srgbClr val="FF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3200" u="sng" dirty="0">
                <a:highlight>
                  <a:srgbClr val="FF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DAF9B6-85E9-29DB-44A9-C35321467A79}"/>
              </a:ext>
            </a:extLst>
          </p:cNvPr>
          <p:cNvSpPr txBox="1"/>
          <p:nvPr/>
        </p:nvSpPr>
        <p:spPr>
          <a:xfrm>
            <a:off x="1740053" y="774218"/>
            <a:ext cx="8997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6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Outlook=Sunny </a:t>
            </a:r>
            <a:r>
              <a:rPr lang="en-US" sz="26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26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 = (Number of “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26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days with Sunny)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912FA6-3389-B329-0815-1661BE964A90}"/>
              </a:ext>
            </a:extLst>
          </p:cNvPr>
          <p:cNvSpPr txBox="1"/>
          <p:nvPr/>
        </p:nvSpPr>
        <p:spPr>
          <a:xfrm>
            <a:off x="1809053" y="4650057"/>
            <a:ext cx="8422656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50"/>
              </a:spcBef>
              <a:spcAft>
                <a:spcPts val="1200"/>
              </a:spcAft>
            </a:pPr>
            <a:r>
              <a:rPr lang="en-US" sz="2800" dirty="0">
                <a:solidFill>
                  <a:srgbClr val="FFFF00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sz="2800" b="1" dirty="0">
                <a:solidFill>
                  <a:srgbClr val="FFFF00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Temperature=Cool </a:t>
            </a:r>
            <a:r>
              <a:rPr lang="en-US" sz="2800" dirty="0">
                <a:solidFill>
                  <a:srgbClr val="FFFF00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sz="2800" b="1" dirty="0">
                <a:solidFill>
                  <a:srgbClr val="FF0000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2800" dirty="0">
                <a:solidFill>
                  <a:srgbClr val="FFFF00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 </a:t>
            </a:r>
            <a:r>
              <a:rPr lang="en-US" sz="2800" b="1" dirty="0">
                <a:solidFill>
                  <a:srgbClr val="0F1115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1/5</a:t>
            </a:r>
            <a:endParaRPr lang="en-US" sz="2800" dirty="0">
              <a:solidFill>
                <a:srgbClr val="0F1115"/>
              </a:solidFill>
              <a:highlight>
                <a:srgbClr val="00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50"/>
              </a:spcBef>
              <a:spcAft>
                <a:spcPts val="1200"/>
              </a:spcAft>
            </a:pPr>
            <a:r>
              <a:rPr lang="en-US" sz="2800" b="1" dirty="0">
                <a:solidFill>
                  <a:srgbClr val="FFFF00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P(Humidity=High | </a:t>
            </a:r>
            <a:r>
              <a:rPr lang="en-US" sz="2800" b="1" dirty="0">
                <a:solidFill>
                  <a:srgbClr val="FF0000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2800" b="1" dirty="0">
                <a:solidFill>
                  <a:srgbClr val="FFFF00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 </a:t>
            </a:r>
            <a:r>
              <a:rPr lang="en-US" sz="2800" b="1" dirty="0">
                <a:solidFill>
                  <a:srgbClr val="0F1115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4/5</a:t>
            </a: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pPr>
              <a:spcBef>
                <a:spcPts val="450"/>
              </a:spcBef>
              <a:spcAft>
                <a:spcPts val="1200"/>
              </a:spcAft>
            </a:pPr>
            <a:r>
              <a:rPr lang="en-US" sz="2800" b="1" dirty="0">
                <a:solidFill>
                  <a:srgbClr val="FFFF00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P(Wind=Strong | </a:t>
            </a:r>
            <a:r>
              <a:rPr lang="en-US" sz="2800" b="1" dirty="0">
                <a:solidFill>
                  <a:srgbClr val="FF0000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2800" b="1" dirty="0">
                <a:solidFill>
                  <a:srgbClr val="FFFF00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 </a:t>
            </a:r>
            <a:r>
              <a:rPr lang="en-US" sz="2800" b="1" dirty="0">
                <a:solidFill>
                  <a:srgbClr val="0F1115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3/5</a:t>
            </a:r>
            <a:endParaRPr lang="en-US" sz="2800" dirty="0">
              <a:solidFill>
                <a:srgbClr val="0F1115"/>
              </a:solidFill>
              <a:highlight>
                <a:srgbClr val="00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86A892-CE3C-8E6E-1613-A7F035155763}"/>
              </a:ext>
            </a:extLst>
          </p:cNvPr>
          <p:cNvSpPr txBox="1"/>
          <p:nvPr/>
        </p:nvSpPr>
        <p:spPr>
          <a:xfrm>
            <a:off x="1694056" y="2583932"/>
            <a:ext cx="880388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u="sng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As per the Problem Calculate Probability of given Feature for class</a:t>
            </a:r>
            <a:r>
              <a:rPr lang="en-US" sz="2400" b="1" u="sng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“No”-</a:t>
            </a:r>
          </a:p>
          <a:p>
            <a:pPr algn="just"/>
            <a:endParaRPr lang="en-US" sz="2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Temperature</a:t>
            </a: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=Cool, </a:t>
            </a:r>
            <a:r>
              <a:rPr lang="en-US" sz="2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Humidity</a:t>
            </a: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=High, </a:t>
            </a:r>
            <a:r>
              <a:rPr lang="en-US" sz="2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</a:t>
            </a: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=Strong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CBE6A5B-1B1C-0B1C-9958-FD7B5F0A8203}"/>
              </a:ext>
            </a:extLst>
          </p:cNvPr>
          <p:cNvCxnSpPr/>
          <p:nvPr/>
        </p:nvCxnSpPr>
        <p:spPr>
          <a:xfrm>
            <a:off x="5804675" y="1297438"/>
            <a:ext cx="442703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533A701-B9C3-661C-57C9-C73EE9B950F9}"/>
              </a:ext>
            </a:extLst>
          </p:cNvPr>
          <p:cNvSpPr txBox="1"/>
          <p:nvPr/>
        </p:nvSpPr>
        <p:spPr>
          <a:xfrm>
            <a:off x="5804675" y="1328216"/>
            <a:ext cx="457757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(Total “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26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days)</a:t>
            </a:r>
            <a:endParaRPr lang="en-US" sz="2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5F193D-4EE7-9326-5FCF-2004D205AA56}"/>
              </a:ext>
            </a:extLst>
          </p:cNvPr>
          <p:cNvSpPr txBox="1"/>
          <p:nvPr/>
        </p:nvSpPr>
        <p:spPr>
          <a:xfrm>
            <a:off x="5095178" y="1723849"/>
            <a:ext cx="45775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= </a:t>
            </a:r>
            <a:r>
              <a:rPr lang="en-US" sz="2800" b="1" dirty="0">
                <a:solidFill>
                  <a:srgbClr val="0F1115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3/5</a:t>
            </a:r>
            <a:endParaRPr lang="en-US" sz="2800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13595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CB830-1E8E-2883-1109-4306977C7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9504E4-7F97-1F59-205D-AC79D90CB053}"/>
              </a:ext>
            </a:extLst>
          </p:cNvPr>
          <p:cNvSpPr txBox="1"/>
          <p:nvPr/>
        </p:nvSpPr>
        <p:spPr>
          <a:xfrm>
            <a:off x="1635512" y="238234"/>
            <a:ext cx="8564136" cy="378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2800" b="1" dirty="0">
                <a:solidFill>
                  <a:srgbClr val="0F1115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Step 3:</a:t>
            </a: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F1115"/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Make a Prediction for the New Day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8A35D4-7E80-0EE7-702B-F74DF8B900A9}"/>
              </a:ext>
            </a:extLst>
          </p:cNvPr>
          <p:cNvSpPr txBox="1"/>
          <p:nvPr/>
        </p:nvSpPr>
        <p:spPr>
          <a:xfrm>
            <a:off x="1713572" y="648537"/>
            <a:ext cx="869795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new data point is: 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4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= (Outlook=Sunny, Temperature=Cool, Humidity=High, 		  	   Wind=Strong)</a:t>
            </a:r>
            <a:endParaRPr lang="en-US" sz="2400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calculate the posterior numerator for both classes.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800" b="1" dirty="0">
                <a:solidFill>
                  <a:srgbClr val="0F1115"/>
                </a:solidFill>
                <a:highlight>
                  <a:srgbClr val="FF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For Class = Yes:</a:t>
            </a:r>
            <a:endParaRPr lang="en-US" sz="2800" dirty="0">
              <a:solidFill>
                <a:srgbClr val="0F1115"/>
              </a:solidFill>
              <a:highlight>
                <a:srgbClr val="FF00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0BC6A8-64A8-2946-B4BE-407A80B4CFDE}"/>
              </a:ext>
            </a:extLst>
          </p:cNvPr>
          <p:cNvSpPr txBox="1"/>
          <p:nvPr/>
        </p:nvSpPr>
        <p:spPr>
          <a:xfrm>
            <a:off x="1713570" y="3890666"/>
            <a:ext cx="9144001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3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P(Yes) * P(Sunny | Yes) * P(Cool | Yes) * P(High | Yes) * P(Strong | Yes)</a:t>
            </a:r>
            <a:br>
              <a:rPr lang="en-US" sz="23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300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(9/14) * (2/9) * (3/9) * (3/9) * (3/9)</a:t>
            </a:r>
          </a:p>
          <a:p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0.642 * 0.222 * 0.333  * 0.333 * 0.333</a:t>
            </a:r>
          </a:p>
          <a:p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≈ 0.0053</a:t>
            </a:r>
          </a:p>
        </p:txBody>
      </p:sp>
    </p:spTree>
    <p:extLst>
      <p:ext uri="{BB962C8B-B14F-4D97-AF65-F5344CB8AC3E}">
        <p14:creationId xmlns:p14="http://schemas.microsoft.com/office/powerpoint/2010/main" val="3580759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3798F-277A-250D-48BA-9C011411C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089EB5-2A39-1654-DF81-7F4F10827CCB}"/>
              </a:ext>
            </a:extLst>
          </p:cNvPr>
          <p:cNvSpPr txBox="1"/>
          <p:nvPr/>
        </p:nvSpPr>
        <p:spPr>
          <a:xfrm>
            <a:off x="1958898" y="241754"/>
            <a:ext cx="8352263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F1115"/>
                </a:solidFill>
                <a:highlight>
                  <a:srgbClr val="FF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For Class = No:</a:t>
            </a:r>
            <a:br>
              <a:rPr lang="en-US" sz="2800" b="1" dirty="0">
                <a:solidFill>
                  <a:srgbClr val="0F1115"/>
                </a:solidFill>
                <a:highlight>
                  <a:srgbClr val="FF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2C0FD-A5F8-E4FC-002F-1CFFDA967862}"/>
              </a:ext>
            </a:extLst>
          </p:cNvPr>
          <p:cNvSpPr txBox="1"/>
          <p:nvPr/>
        </p:nvSpPr>
        <p:spPr>
          <a:xfrm>
            <a:off x="1769327" y="940642"/>
            <a:ext cx="8798312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3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P(No) * P(Sunny | No) * P(Cool | No) * P(High | No) * P(Strong | No)</a:t>
            </a:r>
            <a:endParaRPr lang="en-US" sz="2800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9F568D-7EDD-DB3C-2AD3-3FD3481B6ED4}"/>
              </a:ext>
            </a:extLst>
          </p:cNvPr>
          <p:cNvSpPr txBox="1"/>
          <p:nvPr/>
        </p:nvSpPr>
        <p:spPr>
          <a:xfrm>
            <a:off x="3007112" y="1494918"/>
            <a:ext cx="59770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(5/14) * (3/5) * (1/5) * (4/5) * (3/5)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7658D4-A7EF-5748-A6D7-696A35C44CF5}"/>
              </a:ext>
            </a:extLst>
          </p:cNvPr>
          <p:cNvSpPr txBox="1"/>
          <p:nvPr/>
        </p:nvSpPr>
        <p:spPr>
          <a:xfrm>
            <a:off x="3007112" y="2154550"/>
            <a:ext cx="59770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800" dirty="0">
                <a:solidFill>
                  <a:srgbClr val="0F1115"/>
                </a:solidFill>
                <a:latin typeface="quote-cjk-patch"/>
              </a:rPr>
              <a:t>0.357 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sz="2800" dirty="0">
                <a:solidFill>
                  <a:srgbClr val="0F1115"/>
                </a:solidFill>
                <a:latin typeface="quote-cjk-patch"/>
              </a:rPr>
              <a:t>0.6 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en-US" sz="2800" dirty="0">
                <a:solidFill>
                  <a:srgbClr val="0F1115"/>
                </a:solidFill>
                <a:latin typeface="quote-cjk-patch"/>
              </a:rPr>
              <a:t>0.2 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sz="2800" dirty="0">
                <a:solidFill>
                  <a:srgbClr val="0F1115"/>
                </a:solidFill>
                <a:latin typeface="quote-cjk-patch"/>
              </a:rPr>
              <a:t>0.8 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sz="2800" dirty="0">
                <a:solidFill>
                  <a:srgbClr val="0F1115"/>
                </a:solidFill>
                <a:latin typeface="quote-cjk-patch"/>
              </a:rPr>
              <a:t>0.6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E17B9B-7EE3-17CB-BE8D-C63E2EB6DF75}"/>
              </a:ext>
            </a:extLst>
          </p:cNvPr>
          <p:cNvSpPr txBox="1"/>
          <p:nvPr/>
        </p:nvSpPr>
        <p:spPr>
          <a:xfrm>
            <a:off x="3007112" y="2685794"/>
            <a:ext cx="59770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800" b="1" dirty="0">
                <a:solidFill>
                  <a:srgbClr val="0F1115"/>
                </a:solidFill>
                <a:latin typeface="quote-cjk-patch"/>
              </a:rPr>
              <a:t>0.0205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7F0B04-6770-9B41-EB66-B81C946304ED}"/>
              </a:ext>
            </a:extLst>
          </p:cNvPr>
          <p:cNvSpPr txBox="1"/>
          <p:nvPr/>
        </p:nvSpPr>
        <p:spPr>
          <a:xfrm>
            <a:off x="2159619" y="3518664"/>
            <a:ext cx="7961971" cy="1595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2800" b="1" dirty="0">
                <a:solidFill>
                  <a:srgbClr val="0F1115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Step 4:</a:t>
            </a:r>
            <a:r>
              <a:rPr lang="en-US" sz="2800" b="1" dirty="0">
                <a:solidFill>
                  <a:srgbClr val="0F1115"/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Compare and Conclude</a:t>
            </a:r>
          </a:p>
          <a:p>
            <a:pPr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Posterior Numerator for "Yes" </a:t>
            </a: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≈ 0.0053</a:t>
            </a:r>
            <a:endParaRPr lang="en-US" sz="2800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Posterior Numerator for "No" </a:t>
            </a: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≈ 0.0205</a:t>
            </a:r>
            <a:endParaRPr lang="en-US" sz="2800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D825B5-67BA-A365-72CC-CB2FF324202B}"/>
              </a:ext>
            </a:extLst>
          </p:cNvPr>
          <p:cNvSpPr txBox="1"/>
          <p:nvPr/>
        </p:nvSpPr>
        <p:spPr>
          <a:xfrm>
            <a:off x="1858537" y="5632202"/>
            <a:ext cx="870910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Since </a:t>
            </a:r>
            <a:r>
              <a:rPr lang="en-US" sz="2800" b="1" dirty="0">
                <a:solidFill>
                  <a:srgbClr val="0F1115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0.0205 &gt; 0.0053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model predicts that we should 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play Cricket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this day.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2658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7" grpId="0"/>
      <p:bldP spid="1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F1737-D065-9AD7-BB06-EF79D5AB1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2FACF95-28E2-FCDA-70BD-F92AB692B03B}"/>
              </a:ext>
            </a:extLst>
          </p:cNvPr>
          <p:cNvSpPr txBox="1"/>
          <p:nvPr/>
        </p:nvSpPr>
        <p:spPr>
          <a:xfrm>
            <a:off x="4679795" y="0"/>
            <a:ext cx="63115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Self Exercise Question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9A8613-7D3E-2E3A-D448-47F4226DB452}"/>
              </a:ext>
            </a:extLst>
          </p:cNvPr>
          <p:cNvSpPr txBox="1"/>
          <p:nvPr/>
        </p:nvSpPr>
        <p:spPr>
          <a:xfrm>
            <a:off x="1652242" y="788202"/>
            <a:ext cx="850837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600" b="1" dirty="0">
                <a:solidFill>
                  <a:prstClr val="black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Apply Naïve Base Classifier on  </a:t>
            </a:r>
            <a:r>
              <a:rPr lang="en-US" sz="3600" b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Customer Database.</a:t>
            </a:r>
          </a:p>
          <a:p>
            <a:pPr>
              <a:defRPr/>
            </a:pPr>
            <a:endParaRPr lang="en-US" sz="3600" b="1" dirty="0">
              <a:highlight>
                <a:srgbClr val="00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sz="3600" b="1" dirty="0">
              <a:highlight>
                <a:srgbClr val="00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3600" b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Query:</a:t>
            </a:r>
          </a:p>
          <a:p>
            <a:pPr>
              <a:defRPr/>
            </a:pPr>
            <a:r>
              <a:rPr lang="en-US" sz="3600" b="1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</a:p>
          <a:p>
            <a:pPr defTabSz="457200">
              <a:defRPr/>
            </a:pPr>
            <a:r>
              <a:rPr lang="en-US" sz="3600" b="1" dirty="0">
                <a:solidFill>
                  <a:prstClr val="black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1B2A73E-5A6C-EFFD-2D59-A642A4D42586}"/>
              </a:ext>
            </a:extLst>
          </p:cNvPr>
          <p:cNvGraphicFramePr>
            <a:graphicFrameLocks noGrp="1"/>
          </p:cNvGraphicFramePr>
          <p:nvPr/>
        </p:nvGraphicFramePr>
        <p:xfrm>
          <a:off x="1652241" y="4275285"/>
          <a:ext cx="8764860" cy="426106"/>
        </p:xfrm>
        <a:graphic>
          <a:graphicData uri="http://schemas.openxmlformats.org/drawingml/2006/table">
            <a:tbl>
              <a:tblPr/>
              <a:tblGrid>
                <a:gridCol w="1987511">
                  <a:extLst>
                    <a:ext uri="{9D8B030D-6E8A-4147-A177-3AD203B41FA5}">
                      <a16:colId xmlns:a16="http://schemas.microsoft.com/office/drawing/2014/main" val="662973767"/>
                    </a:ext>
                  </a:extLst>
                </a:gridCol>
                <a:gridCol w="1797399">
                  <a:extLst>
                    <a:ext uri="{9D8B030D-6E8A-4147-A177-3AD203B41FA5}">
                      <a16:colId xmlns:a16="http://schemas.microsoft.com/office/drawing/2014/main" val="1149720845"/>
                    </a:ext>
                  </a:extLst>
                </a:gridCol>
                <a:gridCol w="1764419">
                  <a:extLst>
                    <a:ext uri="{9D8B030D-6E8A-4147-A177-3AD203B41FA5}">
                      <a16:colId xmlns:a16="http://schemas.microsoft.com/office/drawing/2014/main" val="289901475"/>
                    </a:ext>
                  </a:extLst>
                </a:gridCol>
                <a:gridCol w="3215531">
                  <a:extLst>
                    <a:ext uri="{9D8B030D-6E8A-4147-A177-3AD203B41FA5}">
                      <a16:colId xmlns:a16="http://schemas.microsoft.com/office/drawing/2014/main" val="2422035337"/>
                    </a:ext>
                  </a:extLst>
                </a:gridCol>
              </a:tblGrid>
              <a:tr h="1575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Age (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Senior</a:t>
                      </a:r>
                      <a:r>
                        <a:rPr lang="en-US" sz="24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)</a:t>
                      </a:r>
                      <a:endParaRPr lang="en-US" sz="24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Income(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High</a:t>
                      </a:r>
                      <a:r>
                        <a:rPr lang="en-US" sz="24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)</a:t>
                      </a:r>
                      <a:endParaRPr lang="en-US" sz="24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Student(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No</a:t>
                      </a:r>
                      <a:r>
                        <a:rPr lang="en-US" sz="24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)</a:t>
                      </a:r>
                      <a:endParaRPr lang="en-US" sz="24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Credit_Rating</a:t>
                      </a:r>
                      <a:r>
                        <a:rPr lang="en-US" sz="24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(Fair)</a:t>
                      </a:r>
                      <a:endParaRPr lang="en-US" sz="24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46" marR="60346" marT="30173" marB="30173" anchor="ctr"/>
                </a:tc>
                <a:extLst>
                  <a:ext uri="{0D108BD9-81ED-4DB2-BD59-A6C34878D82A}">
                    <a16:rowId xmlns:a16="http://schemas.microsoft.com/office/drawing/2014/main" val="369679874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08626BF-D8CF-CB5A-5900-5F552C709818}"/>
              </a:ext>
            </a:extLst>
          </p:cNvPr>
          <p:cNvSpPr txBox="1"/>
          <p:nvPr/>
        </p:nvSpPr>
        <p:spPr>
          <a:xfrm>
            <a:off x="1652241" y="5198262"/>
            <a:ext cx="87648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prstClr val="black"/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Then,</a:t>
            </a:r>
          </a:p>
          <a:p>
            <a:r>
              <a:rPr lang="en-US" sz="3600" b="1" dirty="0">
                <a:solidFill>
                  <a:prstClr val="black"/>
                </a:solidFill>
                <a:highlight>
                  <a:srgbClr val="FF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Will a Customer Buy a Computer or, Not??</a:t>
            </a:r>
            <a:endParaRPr lang="en-US" dirty="0">
              <a:highlight>
                <a:srgbClr val="FF00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131751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24AA8-A2E1-3ED6-7A6A-47037F92B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AD8EA27-B89E-9F37-C081-61378F7152AF}"/>
              </a:ext>
            </a:extLst>
          </p:cNvPr>
          <p:cNvGraphicFramePr>
            <a:graphicFrameLocks noGrp="1"/>
          </p:cNvGraphicFramePr>
          <p:nvPr/>
        </p:nvGraphicFramePr>
        <p:xfrm>
          <a:off x="1579756" y="1092820"/>
          <a:ext cx="9032488" cy="5963506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830443">
                  <a:extLst>
                    <a:ext uri="{9D8B030D-6E8A-4147-A177-3AD203B41FA5}">
                      <a16:colId xmlns:a16="http://schemas.microsoft.com/office/drawing/2014/main" val="1538283686"/>
                    </a:ext>
                  </a:extLst>
                </a:gridCol>
                <a:gridCol w="1344045">
                  <a:extLst>
                    <a:ext uri="{9D8B030D-6E8A-4147-A177-3AD203B41FA5}">
                      <a16:colId xmlns:a16="http://schemas.microsoft.com/office/drawing/2014/main" val="3714145427"/>
                    </a:ext>
                  </a:extLst>
                </a:gridCol>
                <a:gridCol w="1215483">
                  <a:extLst>
                    <a:ext uri="{9D8B030D-6E8A-4147-A177-3AD203B41FA5}">
                      <a16:colId xmlns:a16="http://schemas.microsoft.com/office/drawing/2014/main" val="191973128"/>
                    </a:ext>
                  </a:extLst>
                </a:gridCol>
                <a:gridCol w="1193180">
                  <a:extLst>
                    <a:ext uri="{9D8B030D-6E8A-4147-A177-3AD203B41FA5}">
                      <a16:colId xmlns:a16="http://schemas.microsoft.com/office/drawing/2014/main" val="4226386550"/>
                    </a:ext>
                  </a:extLst>
                </a:gridCol>
                <a:gridCol w="2174488">
                  <a:extLst>
                    <a:ext uri="{9D8B030D-6E8A-4147-A177-3AD203B41FA5}">
                      <a16:colId xmlns:a16="http://schemas.microsoft.com/office/drawing/2014/main" val="1107847719"/>
                    </a:ext>
                  </a:extLst>
                </a:gridCol>
                <a:gridCol w="2274849">
                  <a:extLst>
                    <a:ext uri="{9D8B030D-6E8A-4147-A177-3AD203B41FA5}">
                      <a16:colId xmlns:a16="http://schemas.microsoft.com/office/drawing/2014/main" val="3276055217"/>
                    </a:ext>
                  </a:extLst>
                </a:gridCol>
              </a:tblGrid>
              <a:tr h="1575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RID</a:t>
                      </a:r>
                      <a:endParaRPr lang="en-US" sz="24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Age</a:t>
                      </a:r>
                      <a:endParaRPr lang="en-US" sz="24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Income</a:t>
                      </a:r>
                      <a:endParaRPr lang="en-US" sz="24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Student</a:t>
                      </a:r>
                      <a:endParaRPr lang="en-US" sz="24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Credit_Rating</a:t>
                      </a:r>
                      <a:endParaRPr lang="en-US" sz="24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highlight>
                            <a:srgbClr val="00FF00"/>
                          </a:highlight>
                        </a:rPr>
                        <a:t>Buys_Computer</a:t>
                      </a:r>
                      <a:endParaRPr lang="en-US" sz="24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highlight>
                          <a:srgbClr val="00FF00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46" marR="60346" marT="30173" marB="30173" anchor="ctr"/>
                </a:tc>
                <a:extLst>
                  <a:ext uri="{0D108BD9-81ED-4DB2-BD59-A6C34878D82A}">
                    <a16:rowId xmlns:a16="http://schemas.microsoft.com/office/drawing/2014/main" val="3847526286"/>
                  </a:ext>
                </a:extLst>
              </a:tr>
              <a:tr h="2627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R1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youth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fair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0346" marR="60346" marT="30173" marB="30173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015326"/>
                  </a:ext>
                </a:extLst>
              </a:tr>
              <a:tr h="2627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R2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youth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excellent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0346" marR="60346" marT="30173" marB="30173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570193"/>
                  </a:ext>
                </a:extLst>
              </a:tr>
              <a:tr h="4562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R3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middle_aged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fair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0346" marR="60346" marT="30173" marB="30173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113844"/>
                  </a:ext>
                </a:extLst>
              </a:tr>
              <a:tr h="2627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R4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senior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fair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0346" marR="60346" marT="30173" marB="30173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19964"/>
                  </a:ext>
                </a:extLst>
              </a:tr>
              <a:tr h="2627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R5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senior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fair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0346" marR="60346" marT="30173" marB="30173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126885"/>
                  </a:ext>
                </a:extLst>
              </a:tr>
              <a:tr h="2627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R6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senior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excellent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0346" marR="60346" marT="30173" marB="30173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456387"/>
                  </a:ext>
                </a:extLst>
              </a:tr>
              <a:tr h="4562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R7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middle_aged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excellent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0346" marR="60346" marT="30173" marB="30173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784934"/>
                  </a:ext>
                </a:extLst>
              </a:tr>
              <a:tr h="2627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R8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youth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fair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0346" marR="60346" marT="30173" marB="30173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0151328"/>
                  </a:ext>
                </a:extLst>
              </a:tr>
              <a:tr h="2627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R9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youth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fair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0346" marR="60346" marT="30173" marB="30173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454783"/>
                  </a:ext>
                </a:extLst>
              </a:tr>
              <a:tr h="2627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R10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senior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fair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0346" marR="60346" marT="30173" marB="30173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800824"/>
                  </a:ext>
                </a:extLst>
              </a:tr>
              <a:tr h="2627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R11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youth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excellent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0346" marR="60346" marT="30173" marB="30173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445750"/>
                  </a:ext>
                </a:extLst>
              </a:tr>
              <a:tr h="4562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R12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middle_aged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excellent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0346" marR="60346" marT="30173" marB="30173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443188"/>
                  </a:ext>
                </a:extLst>
              </a:tr>
              <a:tr h="4562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R13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middle_aged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fair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0346" marR="60346" marT="30173" marB="30173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8270"/>
                  </a:ext>
                </a:extLst>
              </a:tr>
              <a:tr h="2627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R14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senior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excellent</a:t>
                      </a:r>
                    </a:p>
                  </a:txBody>
                  <a:tcPr marL="60346" marR="60346" marT="30173" marB="30173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0346" marR="60346" marT="30173" marB="30173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163563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A2BBBEA-19C2-2841-2F6E-D6451F580BD7}"/>
              </a:ext>
            </a:extLst>
          </p:cNvPr>
          <p:cNvSpPr txBox="1"/>
          <p:nvPr/>
        </p:nvSpPr>
        <p:spPr>
          <a:xfrm>
            <a:off x="1524001" y="1"/>
            <a:ext cx="69360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600" b="1" dirty="0">
                <a:solidFill>
                  <a:prstClr val="black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NBC: </a:t>
            </a:r>
            <a:r>
              <a:rPr lang="en-US" sz="3600" b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Customer Database</a:t>
            </a:r>
            <a:r>
              <a:rPr lang="en-US" sz="3600" b="1" dirty="0">
                <a:solidFill>
                  <a:prstClr val="black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CD73A5-787F-853F-BB65-2478436E15FE}"/>
              </a:ext>
            </a:extLst>
          </p:cNvPr>
          <p:cNvSpPr txBox="1"/>
          <p:nvPr/>
        </p:nvSpPr>
        <p:spPr>
          <a:xfrm>
            <a:off x="9207190" y="167435"/>
            <a:ext cx="46389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CLA</a:t>
            </a: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8A1C66E-F0DA-C4B1-FB12-BEEE5EEE199E}"/>
              </a:ext>
            </a:extLst>
          </p:cNvPr>
          <p:cNvCxnSpPr/>
          <p:nvPr/>
        </p:nvCxnSpPr>
        <p:spPr>
          <a:xfrm>
            <a:off x="9519424" y="546858"/>
            <a:ext cx="0" cy="5232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16671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59D4C-082C-0B32-A5E9-4D4AD8E4F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837AEE-EA2E-3B8A-1D6F-64F7C64155A5}"/>
              </a:ext>
            </a:extLst>
          </p:cNvPr>
          <p:cNvSpPr txBox="1"/>
          <p:nvPr/>
        </p:nvSpPr>
        <p:spPr>
          <a:xfrm>
            <a:off x="2795239" y="215443"/>
            <a:ext cx="76274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>
                <a:solidFill>
                  <a:schemeClr val="bg1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K-Nearest Neighbor (KNN) Classifier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C86E5C-9D1B-B8FB-9BC5-99FE07CA1A85}"/>
              </a:ext>
            </a:extLst>
          </p:cNvPr>
          <p:cNvSpPr txBox="1"/>
          <p:nvPr/>
        </p:nvSpPr>
        <p:spPr>
          <a:xfrm>
            <a:off x="1825083" y="2814120"/>
            <a:ext cx="810693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K-Nearest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Neighbour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(KNN)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one of the simplest and most popular </a:t>
            </a:r>
            <a:r>
              <a:rPr lang="en-US" sz="32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supervised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b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Distance-based, </a:t>
            </a:r>
            <a:r>
              <a:rPr lang="en-US" sz="3200" b="1" dirty="0">
                <a:highlight>
                  <a:srgbClr val="FF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non-parametric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b="1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lazy Learner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learning algorithm.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9BBC11-8C2C-910C-B9E4-10951D0858A9}"/>
              </a:ext>
            </a:extLst>
          </p:cNvPr>
          <p:cNvSpPr txBox="1"/>
          <p:nvPr/>
        </p:nvSpPr>
        <p:spPr>
          <a:xfrm>
            <a:off x="1825082" y="1022338"/>
            <a:ext cx="797869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for both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tasks, However, it is mostly used for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58294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F2DE7-9706-208B-DC70-032A12F6E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F4FE055-641C-EE66-8055-84E9C64E9381}"/>
              </a:ext>
            </a:extLst>
          </p:cNvPr>
          <p:cNvSpPr txBox="1"/>
          <p:nvPr/>
        </p:nvSpPr>
        <p:spPr>
          <a:xfrm>
            <a:off x="1657813" y="51887"/>
            <a:ext cx="88763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</a:t>
            </a:r>
            <a:r>
              <a:rPr lang="en-US" sz="2800" b="1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It </a:t>
            </a:r>
            <a:r>
              <a:rPr lang="en-US" sz="2800" b="1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requires a labeled dataset </a:t>
            </a:r>
            <a:r>
              <a:rPr lang="en-US" sz="280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learn from.</a:t>
            </a:r>
            <a:endParaRPr lang="en-US" sz="2800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Lightbox">
            <a:extLst>
              <a:ext uri="{FF2B5EF4-FFF2-40B4-BE49-F238E27FC236}">
                <a16:creationId xmlns:a16="http://schemas.microsoft.com/office/drawing/2014/main" id="{6BEEFA77-C982-10FA-9F3B-A4E480A1DD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8601" y="2173742"/>
            <a:ext cx="5325584" cy="4074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A2691B-7778-8C5B-C163-A26E9290BB24}"/>
              </a:ext>
            </a:extLst>
          </p:cNvPr>
          <p:cNvSpPr txBox="1"/>
          <p:nvPr/>
        </p:nvSpPr>
        <p:spPr>
          <a:xfrm>
            <a:off x="1657812" y="609381"/>
            <a:ext cx="857529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0513" indent="-290513" algn="just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Distance-based</a:t>
            </a: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6075" indent="-346075" algn="just"/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To classify the </a:t>
            </a: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data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KNN finds minimum distance among </a:t>
            </a:r>
            <a:r>
              <a:rPr lang="en-US" sz="2800" b="1" dirty="0">
                <a:solidFill>
                  <a:srgbClr val="0F1115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K-nearest data points 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Training data set.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2B6F9E-F983-3AE8-AAF9-A6210C07310F}"/>
              </a:ext>
            </a:extLst>
          </p:cNvPr>
          <p:cNvSpPr txBox="1"/>
          <p:nvPr/>
        </p:nvSpPr>
        <p:spPr>
          <a:xfrm>
            <a:off x="1657812" y="2410688"/>
            <a:ext cx="3450412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are Three Ways to Measure the    Distance function in KNN</a:t>
            </a: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514350" indent="-514350" algn="just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US" sz="2800" b="1" dirty="0">
                <a:solidFill>
                  <a:schemeClr val="bg1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Euclidian</a:t>
            </a: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Dist.</a:t>
            </a:r>
          </a:p>
          <a:p>
            <a:pPr marL="514350" indent="-514350" algn="just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US" sz="2800" b="1" dirty="0">
                <a:solidFill>
                  <a:schemeClr val="bg1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Manhattan</a:t>
            </a: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Dist.</a:t>
            </a:r>
          </a:p>
          <a:p>
            <a:pPr marL="514350" indent="-514350" algn="just">
              <a:spcBef>
                <a:spcPts val="1200"/>
              </a:spcBef>
              <a:spcAft>
                <a:spcPts val="1200"/>
              </a:spcAft>
              <a:buAutoNum type="arabicPeriod"/>
            </a:pPr>
            <a:r>
              <a:rPr lang="en-US" sz="2800" b="1" dirty="0">
                <a:solidFill>
                  <a:schemeClr val="bg1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Mankowski</a:t>
            </a: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Dist.</a:t>
            </a:r>
          </a:p>
        </p:txBody>
      </p:sp>
    </p:spTree>
    <p:extLst>
      <p:ext uri="{BB962C8B-B14F-4D97-AF65-F5344CB8AC3E}">
        <p14:creationId xmlns:p14="http://schemas.microsoft.com/office/powerpoint/2010/main" val="3347763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70497-2B21-98F8-511C-94D4847CA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E58330-6D23-EC28-12C3-29160B2BB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1" y="239518"/>
            <a:ext cx="5291487" cy="50121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ACF228-429D-DC59-CCE5-378BD2CEA7A3}"/>
              </a:ext>
            </a:extLst>
          </p:cNvPr>
          <p:cNvSpPr txBox="1"/>
          <p:nvPr/>
        </p:nvSpPr>
        <p:spPr>
          <a:xfrm>
            <a:off x="6319024" y="1239028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When </a:t>
            </a:r>
            <a:r>
              <a:rPr lang="en-US" sz="2800" b="1" dirty="0">
                <a:solidFill>
                  <a:srgbClr val="FF0000"/>
                </a:solidFill>
              </a:rPr>
              <a:t>q =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CF5991-0B52-7007-5FC7-860DFED76DEB}"/>
              </a:ext>
            </a:extLst>
          </p:cNvPr>
          <p:cNvSpPr txBox="1"/>
          <p:nvPr/>
        </p:nvSpPr>
        <p:spPr>
          <a:xfrm>
            <a:off x="6319024" y="2684498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When </a:t>
            </a:r>
            <a:r>
              <a:rPr lang="en-US" sz="2800" b="1" dirty="0">
                <a:solidFill>
                  <a:srgbClr val="FF0000"/>
                </a:solidFill>
              </a:rPr>
              <a:t>q =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14FD78-9005-BD5A-F496-9B8448A27E5B}"/>
              </a:ext>
            </a:extLst>
          </p:cNvPr>
          <p:cNvSpPr txBox="1"/>
          <p:nvPr/>
        </p:nvSpPr>
        <p:spPr>
          <a:xfrm>
            <a:off x="6319024" y="4435112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When </a:t>
            </a:r>
            <a:r>
              <a:rPr lang="en-US" sz="2800" b="1" dirty="0">
                <a:solidFill>
                  <a:srgbClr val="FF0000"/>
                </a:solidFill>
              </a:rPr>
              <a:t>q = Random Variable</a:t>
            </a:r>
          </a:p>
        </p:txBody>
      </p:sp>
    </p:spTree>
    <p:extLst>
      <p:ext uri="{BB962C8B-B14F-4D97-AF65-F5344CB8AC3E}">
        <p14:creationId xmlns:p14="http://schemas.microsoft.com/office/powerpoint/2010/main" val="19815760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03FAE-2B64-D5B4-2775-5E5BD64DA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B732C3-4C9C-08C6-9EB7-1D5A48199064}"/>
              </a:ext>
            </a:extLst>
          </p:cNvPr>
          <p:cNvSpPr txBox="1"/>
          <p:nvPr/>
        </p:nvSpPr>
        <p:spPr>
          <a:xfrm>
            <a:off x="1524001" y="57416"/>
            <a:ext cx="8837341" cy="160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6075" indent="-346075" algn="just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Non-parametric: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346075" indent="-346075" algn="just">
              <a:spcBef>
                <a:spcPts val="450"/>
              </a:spcBef>
              <a:spcAft>
                <a:spcPts val="1200"/>
              </a:spcAft>
            </a:pP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Lazy learning algorithms like K-NN are useful when the data is noisy or has a complex structure.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CE393E-A8B6-278F-EAAE-A52CD23CF1DD}"/>
              </a:ext>
            </a:extLst>
          </p:cNvPr>
          <p:cNvSpPr txBox="1"/>
          <p:nvPr/>
        </p:nvSpPr>
        <p:spPr>
          <a:xfrm>
            <a:off x="1780013" y="1968493"/>
            <a:ext cx="3747275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Algorithms like KNN are considered as </a:t>
            </a:r>
            <a:r>
              <a:rPr lang="en-US" sz="2800" b="1" dirty="0">
                <a:solidFill>
                  <a:srgbClr val="1F497D">
                    <a:lumMod val="50000"/>
                  </a:srgbClr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non-parametric when It doesn't make any assumptions about the underlying data distribution.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(e.g., it doesn't assume data is normally distributed). This makes it very flexible.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32E0BB5-0E4A-9D22-ACA4-9021CEE9A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2798" y="1679003"/>
            <a:ext cx="4366683" cy="388545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2B90B83-4855-4504-4CE5-404CA7D14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9100" y="3768226"/>
            <a:ext cx="878463" cy="9487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546A6D8-C05A-21B0-007C-B2F1B1183034}"/>
              </a:ext>
            </a:extLst>
          </p:cNvPr>
          <p:cNvSpPr txBox="1"/>
          <p:nvPr/>
        </p:nvSpPr>
        <p:spPr>
          <a:xfrm>
            <a:off x="6017942" y="5624692"/>
            <a:ext cx="385832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Random Distribution of Data</a:t>
            </a:r>
          </a:p>
        </p:txBody>
      </p:sp>
    </p:spTree>
    <p:extLst>
      <p:ext uri="{BB962C8B-B14F-4D97-AF65-F5344CB8AC3E}">
        <p14:creationId xmlns:p14="http://schemas.microsoft.com/office/powerpoint/2010/main" val="2453507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9F756-6D23-3067-CAD4-8063EF500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AFE63181-C86B-62A8-CBB1-1DFFA876003C}"/>
              </a:ext>
            </a:extLst>
          </p:cNvPr>
          <p:cNvSpPr txBox="1"/>
          <p:nvPr/>
        </p:nvSpPr>
        <p:spPr>
          <a:xfrm>
            <a:off x="1669432" y="40640"/>
            <a:ext cx="8798313" cy="3326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6075" indent="-346075" algn="just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Lazy Learner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401638" indent="-401638" algn="just">
              <a:spcBef>
                <a:spcPts val="450"/>
              </a:spcBef>
              <a:spcAft>
                <a:spcPts val="1200"/>
              </a:spcAft>
              <a:defRPr/>
            </a:pP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K-Nearest Neighbors (KNN) is called a lazy learner because </a:t>
            </a:r>
            <a:r>
              <a:rPr lang="en-US" sz="2800" b="1" dirty="0">
                <a:solidFill>
                  <a:srgbClr val="0F1115"/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it doesn’t build any model during training</a:t>
            </a:r>
            <a:r>
              <a:rPr lang="en-US" sz="2800" dirty="0">
                <a:solidFill>
                  <a:srgbClr val="0F1115"/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800" b="1" dirty="0">
                <a:solidFill>
                  <a:srgbClr val="0F1115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just stores all the training data, and when a new sample appears</a:t>
            </a:r>
            <a:r>
              <a:rPr lang="en-US" sz="2800" dirty="0">
                <a:solidFill>
                  <a:srgbClr val="0F1115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finds the K nearest points from the stored data and assigns the class that most of those neighbors belong to.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FB4B61F-2BB7-79C5-8D84-92237400B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4820" y="3614156"/>
            <a:ext cx="2438400" cy="295275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9A63205-0965-39BA-3B80-C393DFD1AC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5104" y="3614156"/>
            <a:ext cx="2371725" cy="30861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69967E5-2FC1-227E-2819-3A85809B1C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3644" y="3693556"/>
            <a:ext cx="2193536" cy="316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57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93B1F-B3E8-3320-CC73-78B7329F3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279D8D-7E58-BA4C-36C3-4EF6451340B2}"/>
              </a:ext>
            </a:extLst>
          </p:cNvPr>
          <p:cNvSpPr txBox="1"/>
          <p:nvPr/>
        </p:nvSpPr>
        <p:spPr>
          <a:xfrm>
            <a:off x="1891989" y="3626759"/>
            <a:ext cx="856413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solidFill>
                  <a:schemeClr val="bg1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Step 1:</a:t>
            </a: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F1115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Load the Data and Choose K.</a:t>
            </a:r>
          </a:p>
          <a:p>
            <a:pPr algn="just"/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a value for K, which is the number of nearest 	 	neighbors to consider.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65C42E-A708-DB4B-F279-FD0030B00701}"/>
              </a:ext>
            </a:extLst>
          </p:cNvPr>
          <p:cNvSpPr txBox="1"/>
          <p:nvPr/>
        </p:nvSpPr>
        <p:spPr>
          <a:xfrm>
            <a:off x="1724722" y="315538"/>
            <a:ext cx="7103327" cy="397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sz="2800" b="1" u="sng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How the K-NN Algorithm Works: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DA112A-E99C-73E8-F781-37D71579A146}"/>
              </a:ext>
            </a:extLst>
          </p:cNvPr>
          <p:cNvSpPr txBox="1"/>
          <p:nvPr/>
        </p:nvSpPr>
        <p:spPr>
          <a:xfrm>
            <a:off x="1891989" y="713211"/>
            <a:ext cx="8564137" cy="2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executes in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simple 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steps. 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Let's assume we have a training dataset with </a:t>
            </a:r>
            <a:r>
              <a:rPr lang="en-US" sz="2800" b="1" i="1" dirty="0">
                <a:solidFill>
                  <a:srgbClr val="0F1115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lang="en-US" sz="2800" b="1" i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like </a:t>
            </a:r>
            <a:r>
              <a:rPr lang="en-US" sz="2800" b="1" i="1" dirty="0">
                <a:solidFill>
                  <a:srgbClr val="0F1115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(Feature 1, Feature 2,…)</a:t>
            </a:r>
            <a:r>
              <a:rPr lang="en-US" sz="2800" b="1" dirty="0">
                <a:solidFill>
                  <a:srgbClr val="0F1115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a </a:t>
            </a:r>
            <a:r>
              <a:rPr lang="en-US" sz="2800" b="1" i="1" dirty="0">
                <a:solidFill>
                  <a:srgbClr val="0F1115"/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Class label</a:t>
            </a:r>
            <a:r>
              <a:rPr lang="en-US" sz="2800" b="1" i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like </a:t>
            </a:r>
            <a:r>
              <a:rPr lang="en-US" sz="2800" b="1" i="1" dirty="0">
                <a:solidFill>
                  <a:srgbClr val="0F1115"/>
                </a:solidFill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(Category A , Category B,..).</a:t>
            </a:r>
            <a:endParaRPr lang="en-US" sz="2800" b="1" i="1" dirty="0">
              <a:highlight>
                <a:srgbClr val="00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85F5AB-2562-2676-4211-7E79E797D056}"/>
              </a:ext>
            </a:extLst>
          </p:cNvPr>
          <p:cNvSpPr txBox="1"/>
          <p:nvPr/>
        </p:nvSpPr>
        <p:spPr>
          <a:xfrm>
            <a:off x="2312949" y="5157469"/>
            <a:ext cx="803166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 of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is very Sensitive and Crucial </a:t>
            </a: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results optimization.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585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931EC-0520-CB76-CD1E-7DCA79312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50A227D-B84F-A757-25AA-A32C1787CFDA}"/>
              </a:ext>
            </a:extLst>
          </p:cNvPr>
          <p:cNvSpPr txBox="1"/>
          <p:nvPr/>
        </p:nvSpPr>
        <p:spPr>
          <a:xfrm>
            <a:off x="1813933" y="146390"/>
            <a:ext cx="836341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solidFill>
                  <a:schemeClr val="bg1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Step 2:</a:t>
            </a: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0F1115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Distance</a:t>
            </a: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800" b="1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/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new, unlabeled data point (the ".query point") comes in, the algorithm calculates the distance between this new point and 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single point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 the training dataset.</a:t>
            </a:r>
          </a:p>
          <a:p>
            <a:pPr marL="457200" indent="-457200"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E815FF-B2CF-F111-60DA-1E3EAE9B0A46}"/>
              </a:ext>
            </a:extLst>
          </p:cNvPr>
          <p:cNvSpPr txBox="1"/>
          <p:nvPr/>
        </p:nvSpPr>
        <p:spPr>
          <a:xfrm>
            <a:off x="2165196" y="2990533"/>
            <a:ext cx="786160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solidFill>
                  <a:srgbClr val="1F4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Euclidean  Distance Metrics</a:t>
            </a:r>
            <a:r>
              <a:rPr lang="en-US" sz="28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to calculate the distance among data points.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539EA6-20CC-FB6E-7E7B-FA7B28EEA7D7}"/>
              </a:ext>
            </a:extLst>
          </p:cNvPr>
          <p:cNvSpPr txBox="1"/>
          <p:nvPr/>
        </p:nvSpPr>
        <p:spPr>
          <a:xfrm>
            <a:off x="2064835" y="4806199"/>
            <a:ext cx="8363413" cy="864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spcBef>
                <a:spcPts val="300"/>
              </a:spcBef>
            </a:pPr>
            <a:r>
              <a:rPr lang="en-US" sz="3200" b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Formula (2D): </a:t>
            </a:r>
          </a:p>
          <a:p>
            <a:pPr>
              <a:lnSpc>
                <a:spcPts val="1650"/>
              </a:lnSpc>
              <a:spcBef>
                <a:spcPts val="300"/>
              </a:spcBef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650"/>
              </a:lnSpc>
              <a:spcBef>
                <a:spcPts val="300"/>
              </a:spcBef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3200" b="1" dirty="0"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Distance =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highlight>
                  <a:srgbClr val="FF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√[(x₂ - x₁)² + (y₂ - y₁)²]</a:t>
            </a:r>
          </a:p>
        </p:txBody>
      </p:sp>
    </p:spTree>
    <p:extLst>
      <p:ext uri="{BB962C8B-B14F-4D97-AF65-F5344CB8AC3E}">
        <p14:creationId xmlns:p14="http://schemas.microsoft.com/office/powerpoint/2010/main" val="3474556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71829-44B3-105E-05A5-21FB004DA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A77178-AC4A-8C7A-F83A-44765B3309DE}"/>
              </a:ext>
            </a:extLst>
          </p:cNvPr>
          <p:cNvSpPr txBox="1"/>
          <p:nvPr/>
        </p:nvSpPr>
        <p:spPr>
          <a:xfrm>
            <a:off x="2036956" y="1056337"/>
            <a:ext cx="832996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Sorts all the training data points by their distance to the new point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(from smallest to largest).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AA9617-5D67-ED37-B313-3131E42D8B51}"/>
              </a:ext>
            </a:extLst>
          </p:cNvPr>
          <p:cNvSpPr txBox="1"/>
          <p:nvPr/>
        </p:nvSpPr>
        <p:spPr>
          <a:xfrm>
            <a:off x="1747024" y="255808"/>
            <a:ext cx="77835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sz="3200" b="1" dirty="0">
                <a:solidFill>
                  <a:schemeClr val="bg1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Step 3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3200" b="1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n-US" sz="3200" b="1" dirty="0">
                <a:solidFill>
                  <a:srgbClr val="0F1115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Identify Neighbors and Vote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EF8D8A-E161-0F78-FD5E-D2ABF79288AD}"/>
              </a:ext>
            </a:extLst>
          </p:cNvPr>
          <p:cNvSpPr txBox="1"/>
          <p:nvPr/>
        </p:nvSpPr>
        <p:spPr>
          <a:xfrm>
            <a:off x="2092711" y="2528730"/>
            <a:ext cx="827420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 defTabSz="457200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Picks the top K points 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this sorted list. </a:t>
            </a:r>
            <a:r>
              <a:rPr lang="en-US" sz="3200" b="1" dirty="0">
                <a:solidFill>
                  <a:srgbClr val="1F4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are the "K-Nearest Neighbors."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A13EC3-781A-DFF1-181B-DFCA410D4A91}"/>
              </a:ext>
            </a:extLst>
          </p:cNvPr>
          <p:cNvSpPr txBox="1"/>
          <p:nvPr/>
        </p:nvSpPr>
        <p:spPr>
          <a:xfrm>
            <a:off x="2036955" y="3634707"/>
            <a:ext cx="827420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 defTabSz="457200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Finally, </a:t>
            </a:r>
            <a:r>
              <a:rPr lang="en-US" sz="3200" b="1" dirty="0">
                <a:solidFill>
                  <a:prstClr val="black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Note the class labels of these K neighbors</a:t>
            </a:r>
            <a:r>
              <a:rPr lang="en-US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55FE6B-663D-094E-485B-071FFB37B73A}"/>
              </a:ext>
            </a:extLst>
          </p:cNvPr>
          <p:cNvSpPr txBox="1"/>
          <p:nvPr/>
        </p:nvSpPr>
        <p:spPr>
          <a:xfrm>
            <a:off x="2092711" y="5032533"/>
            <a:ext cx="821844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 defTabSz="457200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new data point is Classify to the class that has the majority vote among its K neighbors</a:t>
            </a:r>
            <a:r>
              <a:rPr lang="en-US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98594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78E2B-B808-ECBE-5AB8-F09C62F5D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843C2A-EE17-E730-5E9E-440E24C33340}"/>
              </a:ext>
            </a:extLst>
          </p:cNvPr>
          <p:cNvSpPr txBox="1"/>
          <p:nvPr/>
        </p:nvSpPr>
        <p:spPr>
          <a:xfrm>
            <a:off x="1780478" y="186336"/>
            <a:ext cx="6980663" cy="4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sz="3200" b="1" dirty="0">
                <a:solidFill>
                  <a:srgbClr val="0F1115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KNN Example</a:t>
            </a:r>
            <a:r>
              <a:rPr lang="en-US" sz="3200" b="1" dirty="0">
                <a:solidFill>
                  <a:schemeClr val="bg1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: Classifying Fruits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290862-0251-26C5-F8E4-920A3958F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94980" y="1086780"/>
            <a:ext cx="6622367" cy="51750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843003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F4806-EF94-01F5-C596-ABDCB1456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A7C6A5-EE43-0B5B-9479-39D8D01C9241}"/>
              </a:ext>
            </a:extLst>
          </p:cNvPr>
          <p:cNvSpPr txBox="1"/>
          <p:nvPr/>
        </p:nvSpPr>
        <p:spPr>
          <a:xfrm>
            <a:off x="1735875" y="1006120"/>
            <a:ext cx="36576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800" b="1" dirty="0">
                <a:solidFill>
                  <a:srgbClr val="0F1115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Visualizing the Data:</a:t>
            </a:r>
            <a:br>
              <a:rPr lang="en-US" sz="2800" dirty="0">
                <a:solidFill>
                  <a:srgbClr val="0F1115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(Imagine this plot)</a:t>
            </a:r>
          </a:p>
          <a:p>
            <a:pPr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X-axis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Y-axis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Diameter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BFF1FF14-8F6D-8FAC-6B68-CEC7AF6701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2979" y="1"/>
            <a:ext cx="5494299" cy="4476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30423E-0882-2803-9ABD-8A4A98DFC74E}"/>
              </a:ext>
            </a:extLst>
          </p:cNvPr>
          <p:cNvSpPr txBox="1"/>
          <p:nvPr/>
        </p:nvSpPr>
        <p:spPr>
          <a:xfrm>
            <a:off x="1735876" y="4679764"/>
            <a:ext cx="9378175" cy="1172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800" b="1" dirty="0">
                <a:solidFill>
                  <a:srgbClr val="1F4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Oranges are clustered in the top-right (heavier, larger).</a:t>
            </a:r>
          </a:p>
          <a:p>
            <a:pPr defTabSz="457200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/>
            </a:pPr>
            <a:r>
              <a:rPr lang="en-US" sz="2800" b="1" dirty="0">
                <a:solidFill>
                  <a:srgbClr val="1F4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Lemons are clustered in the bottom-left (lighter, smaller).</a:t>
            </a:r>
          </a:p>
        </p:txBody>
      </p:sp>
    </p:spTree>
    <p:extLst>
      <p:ext uri="{BB962C8B-B14F-4D97-AF65-F5344CB8AC3E}">
        <p14:creationId xmlns:p14="http://schemas.microsoft.com/office/powerpoint/2010/main" val="1893547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5393A-C02C-5994-CC16-FE33C196D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FD962DA-63BF-4156-6E11-3C387D1BC271}"/>
              </a:ext>
            </a:extLst>
          </p:cNvPr>
          <p:cNvSpPr txBox="1"/>
          <p:nvPr/>
        </p:nvSpPr>
        <p:spPr>
          <a:xfrm>
            <a:off x="1524000" y="94544"/>
            <a:ext cx="8162692" cy="2772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800" b="1" dirty="0">
                <a:solidFill>
                  <a:schemeClr val="bg1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  <a:br>
              <a:rPr lang="en-US" sz="2800" dirty="0">
                <a:solidFill>
                  <a:schemeClr val="bg1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have a new fruit with:</a:t>
            </a:r>
          </a:p>
          <a:p>
            <a:pPr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 = 140 gm</a:t>
            </a:r>
            <a:endParaRPr lang="en-US" sz="2800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Diameter = 7.5 cm</a:t>
            </a:r>
            <a:b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21C298D2-4C1E-D50C-B1BB-0BBF42A19C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2888" y="1752967"/>
            <a:ext cx="6055112" cy="4933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9DFEE52A-2BAF-A01E-0BF0-F0C20FEC1DF7}"/>
              </a:ext>
            </a:extLst>
          </p:cNvPr>
          <p:cNvSpPr/>
          <p:nvPr/>
        </p:nvSpPr>
        <p:spPr>
          <a:xfrm>
            <a:off x="7640445" y="3700766"/>
            <a:ext cx="301083" cy="329978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574D6F-3C4F-B3CA-75F3-4FF192D44A76}"/>
              </a:ext>
            </a:extLst>
          </p:cNvPr>
          <p:cNvSpPr txBox="1"/>
          <p:nvPr/>
        </p:nvSpPr>
        <p:spPr>
          <a:xfrm>
            <a:off x="7949890" y="4633645"/>
            <a:ext cx="1524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New Fruit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6522870-A79B-52F7-4F8E-CE242F79B7E4}"/>
              </a:ext>
            </a:extLst>
          </p:cNvPr>
          <p:cNvCxnSpPr/>
          <p:nvPr/>
        </p:nvCxnSpPr>
        <p:spPr>
          <a:xfrm flipH="1" flipV="1">
            <a:off x="7949890" y="4056467"/>
            <a:ext cx="462776" cy="4906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0D87786-227D-73AD-B1DA-93A9A12E97AB}"/>
              </a:ext>
            </a:extLst>
          </p:cNvPr>
          <p:cNvSpPr txBox="1"/>
          <p:nvPr/>
        </p:nvSpPr>
        <p:spPr>
          <a:xfrm>
            <a:off x="5817220" y="331084"/>
            <a:ext cx="472811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it, an </a:t>
            </a:r>
            <a:r>
              <a:rPr 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Orange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a </a:t>
            </a:r>
            <a:r>
              <a:rPr lang="en-US" sz="3200" b="1" dirty="0">
                <a:solidFill>
                  <a:srgbClr val="FFFF00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Lemon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???</a:t>
            </a:r>
            <a:endParaRPr lang="en-US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909DD6-5FAC-3FE7-CD34-EFB74BC964F9}"/>
              </a:ext>
            </a:extLst>
          </p:cNvPr>
          <p:cNvSpPr txBox="1"/>
          <p:nvPr/>
        </p:nvSpPr>
        <p:spPr>
          <a:xfrm>
            <a:off x="1886415" y="2921512"/>
            <a:ext cx="258150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 Plot this New Fruit at (X,Y)- Coordinates</a:t>
            </a:r>
          </a:p>
        </p:txBody>
      </p:sp>
    </p:spTree>
    <p:extLst>
      <p:ext uri="{BB962C8B-B14F-4D97-AF65-F5344CB8AC3E}">
        <p14:creationId xmlns:p14="http://schemas.microsoft.com/office/powerpoint/2010/main" val="2927332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7" grpId="0"/>
      <p:bldP spid="1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E63FE-5A7E-DAA2-A8FF-1CF38B6EA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DB0AB9-6FE0-590C-AC04-9F0E63CA05B5}"/>
              </a:ext>
            </a:extLst>
          </p:cNvPr>
          <p:cNvSpPr txBox="1"/>
          <p:nvPr/>
        </p:nvSpPr>
        <p:spPr>
          <a:xfrm>
            <a:off x="1802781" y="310591"/>
            <a:ext cx="4572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Step 1: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n-US" sz="2800" b="1" dirty="0">
                <a:solidFill>
                  <a:srgbClr val="0F1115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Choose K</a:t>
            </a:r>
          </a:p>
          <a:p>
            <a:br>
              <a:rPr lang="en-US" sz="2800" b="1" dirty="0">
                <a:solidFill>
                  <a:srgbClr val="0F1115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Let's start with K = 3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336CA5-9420-61F4-F335-CE8192534E38}"/>
              </a:ext>
            </a:extLst>
          </p:cNvPr>
          <p:cNvSpPr txBox="1"/>
          <p:nvPr/>
        </p:nvSpPr>
        <p:spPr>
          <a:xfrm>
            <a:off x="1802781" y="1981561"/>
            <a:ext cx="8296508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200" b="1" dirty="0">
                <a:solidFill>
                  <a:srgbClr val="FFFF00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Step 2: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n-US" sz="2800" b="1" dirty="0">
                <a:solidFill>
                  <a:srgbClr val="0F1115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Calculate Euclidean Distance</a:t>
            </a:r>
            <a:br>
              <a:rPr lang="en-US" dirty="0">
                <a:solidFill>
                  <a:srgbClr val="0F1115"/>
                </a:solidFill>
                <a:latin typeface="quote-cjk-patch"/>
              </a:rPr>
            </a:b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calculate the distance from our new point (140, 7.5) to every point in the training set.</a:t>
            </a:r>
            <a:endParaRPr lang="en-US" sz="2000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US" dirty="0">
                <a:solidFill>
                  <a:srgbClr val="0F1115"/>
                </a:solidFill>
                <a:latin typeface="quote-cjk-patch"/>
              </a:rPr>
            </a:b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24CC29-E3ED-4991-6C18-17653C817C09}"/>
              </a:ext>
            </a:extLst>
          </p:cNvPr>
          <p:cNvSpPr txBox="1"/>
          <p:nvPr/>
        </p:nvSpPr>
        <p:spPr>
          <a:xfrm>
            <a:off x="1646664" y="3556309"/>
            <a:ext cx="5319132" cy="318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 to </a:t>
            </a:r>
          </a:p>
          <a:p>
            <a:pPr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Orange 1 (150, 8):</a:t>
            </a:r>
          </a:p>
          <a:p>
            <a:pPr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</a:pPr>
            <a:b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[(140-150)² + (7.5-8)²] </a:t>
            </a:r>
          </a:p>
          <a:p>
            <a:pPr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√[(-10)² + (-0.5)²] </a:t>
            </a:r>
          </a:p>
          <a:p>
            <a:pPr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√[100 + 0.25]</a:t>
            </a:r>
          </a:p>
          <a:p>
            <a:pPr>
              <a:lnSpc>
                <a:spcPts val="165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√100.25 ≈ </a:t>
            </a:r>
            <a:r>
              <a:rPr lang="en-US" sz="2800" b="1" dirty="0">
                <a:solidFill>
                  <a:srgbClr val="FF0000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10.01</a:t>
            </a:r>
            <a:endParaRPr lang="en-US" sz="2000" b="1" dirty="0">
              <a:solidFill>
                <a:srgbClr val="FF0000"/>
              </a:solidFill>
              <a:highlight>
                <a:srgbClr val="00008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D9D21A-B20B-44E3-B51D-0D04F206520A}"/>
              </a:ext>
            </a:extLst>
          </p:cNvPr>
          <p:cNvSpPr txBox="1"/>
          <p:nvPr/>
        </p:nvSpPr>
        <p:spPr>
          <a:xfrm>
            <a:off x="6653561" y="3780730"/>
            <a:ext cx="4572000" cy="2738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 to </a:t>
            </a:r>
          </a:p>
          <a:p>
            <a:pPr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Orange 2 (160, 8.5):</a:t>
            </a:r>
          </a:p>
          <a:p>
            <a:pPr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</a:pPr>
            <a:br>
              <a:rPr lang="en-US" sz="20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√[(140-160)² + (7.5-8.5)²] </a:t>
            </a:r>
          </a:p>
          <a:p>
            <a:pPr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</a:pP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√[(-20)² + (-1)²] </a:t>
            </a:r>
          </a:p>
          <a:p>
            <a:pPr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</a:pP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√[400 + 1] </a:t>
            </a:r>
          </a:p>
          <a:p>
            <a:pPr>
              <a:lnSpc>
                <a:spcPts val="1650"/>
              </a:lnSpc>
              <a:spcBef>
                <a:spcPts val="450"/>
              </a:spcBef>
              <a:spcAft>
                <a:spcPts val="1200"/>
              </a:spcAft>
            </a:pP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√401 ≈ </a:t>
            </a:r>
            <a:r>
              <a:rPr lang="en-US" sz="2800" b="1" dirty="0">
                <a:solidFill>
                  <a:srgbClr val="FF0000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20.02</a:t>
            </a:r>
          </a:p>
        </p:txBody>
      </p:sp>
    </p:spTree>
    <p:extLst>
      <p:ext uri="{BB962C8B-B14F-4D97-AF65-F5344CB8AC3E}">
        <p14:creationId xmlns:p14="http://schemas.microsoft.com/office/powerpoint/2010/main" val="3622935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5F937-742A-28C8-B0F2-6A8FAD434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553072-F904-8666-4624-B69B2803C25D}"/>
              </a:ext>
            </a:extLst>
          </p:cNvPr>
          <p:cNvSpPr txBox="1"/>
          <p:nvPr/>
        </p:nvSpPr>
        <p:spPr>
          <a:xfrm>
            <a:off x="1981200" y="411925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calculated distances: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880045A-E738-7E3D-B9A3-27560F03FF6C}"/>
              </a:ext>
            </a:extLst>
          </p:cNvPr>
          <p:cNvGraphicFramePr>
            <a:graphicFrameLocks noGrp="1"/>
          </p:cNvGraphicFramePr>
          <p:nvPr/>
        </p:nvGraphicFramePr>
        <p:xfrm>
          <a:off x="1981200" y="1514457"/>
          <a:ext cx="8229600" cy="3656017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660698">
                  <a:extLst>
                    <a:ext uri="{9D8B030D-6E8A-4147-A177-3AD203B41FA5}">
                      <a16:colId xmlns:a16="http://schemas.microsoft.com/office/drawing/2014/main" val="896003362"/>
                    </a:ext>
                  </a:extLst>
                </a:gridCol>
                <a:gridCol w="2784451">
                  <a:extLst>
                    <a:ext uri="{9D8B030D-6E8A-4147-A177-3AD203B41FA5}">
                      <a16:colId xmlns:a16="http://schemas.microsoft.com/office/drawing/2014/main" val="2677169627"/>
                    </a:ext>
                  </a:extLst>
                </a:gridCol>
                <a:gridCol w="2784451">
                  <a:extLst>
                    <a:ext uri="{9D8B030D-6E8A-4147-A177-3AD203B41FA5}">
                      <a16:colId xmlns:a16="http://schemas.microsoft.com/office/drawing/2014/main" val="7686634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Fruit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Distance to </a:t>
                      </a:r>
                    </a:p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(140, 7.5)</a:t>
                      </a: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1797729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Orange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10.01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168264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Orange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20.02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947376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Orange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30.04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133417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Orange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40.01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1468696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Lemon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41.11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1344624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Lemon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50.02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3624058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Lemon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20.62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722958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4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Lemon</a:t>
                      </a: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10.31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384376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5464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75151-A379-D9D4-3741-B396E05FF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A73D3E-5C84-0BB8-ACE8-F5F5AB5997F7}"/>
              </a:ext>
            </a:extLst>
          </p:cNvPr>
          <p:cNvSpPr txBox="1"/>
          <p:nvPr/>
        </p:nvSpPr>
        <p:spPr>
          <a:xfrm>
            <a:off x="1568604" y="115561"/>
            <a:ext cx="76274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Step 3: </a:t>
            </a:r>
            <a:r>
              <a:rPr lang="en-US" sz="2800" b="1" dirty="0">
                <a:solidFill>
                  <a:srgbClr val="0F1115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Find Nearest Neighbors and Vote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2BE7BF-83FF-3B21-18E4-D3F638DF8279}"/>
              </a:ext>
            </a:extLst>
          </p:cNvPr>
          <p:cNvSpPr txBox="1"/>
          <p:nvPr/>
        </p:nvSpPr>
        <p:spPr>
          <a:xfrm>
            <a:off x="1813933" y="871890"/>
            <a:ext cx="86421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Now, we sort the data by distance (ascending order) and pick the top K=3 neighbors.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4E5CF7-8124-32D0-63C3-DCBEDF023CFE}"/>
              </a:ext>
            </a:extLst>
          </p:cNvPr>
          <p:cNvSpPr txBox="1"/>
          <p:nvPr/>
        </p:nvSpPr>
        <p:spPr>
          <a:xfrm>
            <a:off x="1813933" y="2166535"/>
            <a:ext cx="864219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3-Nearest </a:t>
            </a:r>
            <a:r>
              <a:rPr lang="en-US" sz="2800" dirty="0" err="1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Neighbours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are: </a:t>
            </a: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Fruit 1 (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Orange</a:t>
            </a: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Fruit 8 (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Lemon</a:t>
            </a: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Fruit 7 (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Lemon</a:t>
            </a: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200FD7-81B9-EA89-DDC6-343626D26D28}"/>
              </a:ext>
            </a:extLst>
          </p:cNvPr>
          <p:cNvSpPr txBox="1"/>
          <p:nvPr/>
        </p:nvSpPr>
        <p:spPr>
          <a:xfrm>
            <a:off x="1925444" y="3429001"/>
            <a:ext cx="4572000" cy="1910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Now, </a:t>
            </a:r>
            <a:r>
              <a:rPr lang="en-US" sz="2800" dirty="0">
                <a:solidFill>
                  <a:schemeClr val="bg1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we take a vote:</a:t>
            </a:r>
          </a:p>
          <a:p>
            <a:pPr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Orange</a:t>
            </a: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vote</a:t>
            </a:r>
          </a:p>
          <a:p>
            <a:pPr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Lemon</a:t>
            </a: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votes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43C400-6E47-EE42-B99D-1655699663E3}"/>
              </a:ext>
            </a:extLst>
          </p:cNvPr>
          <p:cNvSpPr txBox="1"/>
          <p:nvPr/>
        </p:nvSpPr>
        <p:spPr>
          <a:xfrm>
            <a:off x="1925443" y="5422085"/>
            <a:ext cx="834111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solidFill>
                  <a:srgbClr val="FFFF00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majority vote, the new fruit (140, 7.5) is classified as a 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Lemon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9881C2-7152-1D28-F383-5B9F310DC2E1}"/>
              </a:ext>
            </a:extLst>
          </p:cNvPr>
          <p:cNvSpPr txBox="1"/>
          <p:nvPr/>
        </p:nvSpPr>
        <p:spPr>
          <a:xfrm>
            <a:off x="3988420" y="6376192"/>
            <a:ext cx="7270595" cy="378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2800" b="1" dirty="0">
                <a:solidFill>
                  <a:srgbClr val="FFFF00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What if we change K? Let's try K=5</a:t>
            </a:r>
          </a:p>
        </p:txBody>
      </p:sp>
    </p:spTree>
    <p:extLst>
      <p:ext uri="{BB962C8B-B14F-4D97-AF65-F5344CB8AC3E}">
        <p14:creationId xmlns:p14="http://schemas.microsoft.com/office/powerpoint/2010/main" val="673917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  <p:bldP spid="1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374AF-8B09-3AA5-5A0D-318D3BA4F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DEC3BED-29B4-C9DD-D111-2C9F000E22D6}"/>
              </a:ext>
            </a:extLst>
          </p:cNvPr>
          <p:cNvGraphicFramePr>
            <a:graphicFrameLocks noGrp="1"/>
          </p:cNvGraphicFramePr>
          <p:nvPr/>
        </p:nvGraphicFramePr>
        <p:xfrm>
          <a:off x="1981200" y="2554028"/>
          <a:ext cx="8229600" cy="21945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182260457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241725975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53037083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3270812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Person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Income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Buys Car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9082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2720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34517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3204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9698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032976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7801696-7A49-ED1F-49B8-6CD65D76F69F}"/>
              </a:ext>
            </a:extLst>
          </p:cNvPr>
          <p:cNvSpPr txBox="1"/>
          <p:nvPr/>
        </p:nvSpPr>
        <p:spPr>
          <a:xfrm>
            <a:off x="1919868" y="889700"/>
            <a:ext cx="8229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below has two features: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 (in ₹ thousands)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(in years)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task is to predict if a person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buy a car (Yes/No)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937708-7F75-9020-1CA0-B494E8A77D02}"/>
              </a:ext>
            </a:extLst>
          </p:cNvPr>
          <p:cNvSpPr txBox="1"/>
          <p:nvPr/>
        </p:nvSpPr>
        <p:spPr>
          <a:xfrm>
            <a:off x="2070409" y="4851670"/>
            <a:ext cx="792851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new person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P(Income = 40, Age = 30)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wants to be classified using: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= 3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Euclidean distance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Z-score normalization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each feature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97BD7C-330F-2463-9703-580A2DC2FDF1}"/>
              </a:ext>
            </a:extLst>
          </p:cNvPr>
          <p:cNvSpPr txBox="1"/>
          <p:nvPr/>
        </p:nvSpPr>
        <p:spPr>
          <a:xfrm>
            <a:off x="1724721" y="175965"/>
            <a:ext cx="77277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  <a:highlight>
                  <a:srgbClr val="00008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Self Exercise Question: KNN Classifier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737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3013</Words>
  <Application>Microsoft Office PowerPoint</Application>
  <PresentationFormat>Widescreen</PresentationFormat>
  <Paragraphs>485</Paragraphs>
  <Slides>44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Aptos</vt:lpstr>
      <vt:lpstr>Aptos Display</vt:lpstr>
      <vt:lpstr>Arial</vt:lpstr>
      <vt:lpstr>quote-cjk-patch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Neeraj Kumar Verma [MU - Jaipur]</dc:creator>
  <cp:lastModifiedBy>Dr. Neeraj Kumar Verma [MU - Jaipur]</cp:lastModifiedBy>
  <cp:revision>1</cp:revision>
  <dcterms:created xsi:type="dcterms:W3CDTF">2025-11-25T07:26:54Z</dcterms:created>
  <dcterms:modified xsi:type="dcterms:W3CDTF">2025-11-25T07:28:31Z</dcterms:modified>
</cp:coreProperties>
</file>