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59"/>
  </p:notesMasterIdLst>
  <p:sldIdLst>
    <p:sldId id="418" r:id="rId2"/>
    <p:sldId id="370" r:id="rId3"/>
    <p:sldId id="372" r:id="rId4"/>
    <p:sldId id="481" r:id="rId5"/>
    <p:sldId id="484" r:id="rId6"/>
    <p:sldId id="405" r:id="rId7"/>
    <p:sldId id="483" r:id="rId8"/>
    <p:sldId id="488" r:id="rId9"/>
    <p:sldId id="489" r:id="rId10"/>
    <p:sldId id="549" r:id="rId11"/>
    <p:sldId id="487" r:id="rId12"/>
    <p:sldId id="486" r:id="rId13"/>
    <p:sldId id="550" r:id="rId14"/>
    <p:sldId id="491" r:id="rId15"/>
    <p:sldId id="389" r:id="rId16"/>
    <p:sldId id="390" r:id="rId17"/>
    <p:sldId id="394" r:id="rId18"/>
    <p:sldId id="398" r:id="rId19"/>
    <p:sldId id="397" r:id="rId20"/>
    <p:sldId id="485" r:id="rId21"/>
    <p:sldId id="493" r:id="rId22"/>
    <p:sldId id="494" r:id="rId23"/>
    <p:sldId id="406" r:id="rId24"/>
    <p:sldId id="407" r:id="rId25"/>
    <p:sldId id="492" r:id="rId26"/>
    <p:sldId id="408" r:id="rId27"/>
    <p:sldId id="410" r:id="rId28"/>
    <p:sldId id="411" r:id="rId29"/>
    <p:sldId id="417" r:id="rId30"/>
    <p:sldId id="496" r:id="rId31"/>
    <p:sldId id="552" r:id="rId32"/>
    <p:sldId id="495" r:id="rId33"/>
    <p:sldId id="553" r:id="rId34"/>
    <p:sldId id="497" r:id="rId35"/>
    <p:sldId id="554" r:id="rId36"/>
    <p:sldId id="498" r:id="rId37"/>
    <p:sldId id="555" r:id="rId38"/>
    <p:sldId id="499" r:id="rId39"/>
    <p:sldId id="556" r:id="rId40"/>
    <p:sldId id="557" r:id="rId41"/>
    <p:sldId id="558" r:id="rId42"/>
    <p:sldId id="559" r:id="rId43"/>
    <p:sldId id="560" r:id="rId44"/>
    <p:sldId id="500" r:id="rId45"/>
    <p:sldId id="561" r:id="rId46"/>
    <p:sldId id="502" r:id="rId47"/>
    <p:sldId id="551" r:id="rId48"/>
    <p:sldId id="420" r:id="rId49"/>
    <p:sldId id="503" r:id="rId50"/>
    <p:sldId id="421" r:id="rId51"/>
    <p:sldId id="422" r:id="rId52"/>
    <p:sldId id="423" r:id="rId53"/>
    <p:sldId id="424" r:id="rId54"/>
    <p:sldId id="429" r:id="rId55"/>
    <p:sldId id="425" r:id="rId56"/>
    <p:sldId id="426" r:id="rId57"/>
    <p:sldId id="504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8511"/>
    <a:srgbClr val="0DDEE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14" autoAdjust="0"/>
    <p:restoredTop sz="94676" autoAdjust="0"/>
  </p:normalViewPr>
  <p:slideViewPr>
    <p:cSldViewPr>
      <p:cViewPr varScale="1">
        <p:scale>
          <a:sx n="61" d="100"/>
          <a:sy n="61" d="100"/>
        </p:scale>
        <p:origin x="144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EA21D-F609-4883-9BF2-C2257D2F3E11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ABF5E-119C-40D0-9F75-E2458688F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56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0C9ACB-7A00-4B3F-979D-E4C6E26A417C}" type="slidenum">
              <a:rPr lang="en-US"/>
              <a:pPr/>
              <a:t>36</a:t>
            </a:fld>
            <a:endParaRPr lang="en-US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059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5AC3B2-67C6-4685-8FDA-F7ADC9850F2F}" type="slidenum">
              <a:rPr lang="en-US"/>
              <a:pPr/>
              <a:t>38</a:t>
            </a:fld>
            <a:endParaRPr lang="en-US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52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8C901B-536F-470A-97BE-E6E6F0CDDCBE}" type="slidenum">
              <a:rPr lang="en-US"/>
              <a:pPr/>
              <a:t>44</a:t>
            </a:fld>
            <a:endParaRPr 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70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8C901B-536F-470A-97BE-E6E6F0CDDCBE}" type="slidenum">
              <a:rPr lang="en-US"/>
              <a:pPr/>
              <a:t>45</a:t>
            </a:fld>
            <a:endParaRPr 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97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CC1D49-22FC-43D1-9AEF-4D339032ED74}" type="slidenum">
              <a:rPr lang="en-US"/>
              <a:pPr/>
              <a:t>46</a:t>
            </a:fld>
            <a:endParaRPr lang="en-US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61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 dirty="0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CS-409: </a:t>
            </a:r>
            <a:r>
              <a:rPr lang="el-GR" dirty="0" err="1"/>
              <a:t>Αντικειμενοστρεφής</a:t>
            </a:r>
            <a:r>
              <a:rPr lang="el-GR" dirty="0"/>
              <a:t> </a:t>
            </a:r>
            <a:r>
              <a:rPr lang="el-GR" dirty="0" err="1"/>
              <a:t>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0DD7E345-9BD5-414F-9B98-BE3DCAA5A9BF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l-GR" dirty="0" err="1"/>
              <a:t>Αντικειμενοστρεφής</a:t>
            </a:r>
            <a:r>
              <a:rPr lang="el-GR" dirty="0"/>
              <a:t> Προγραμματισμός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AND DISTANCE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1AD66-394F-0093-41F6-CFB121646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446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and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For many different problems we need to quantify how </a:t>
            </a:r>
            <a:r>
              <a:rPr lang="en-US" dirty="0">
                <a:solidFill>
                  <a:srgbClr val="FF0000"/>
                </a:solidFill>
              </a:rPr>
              <a:t>close</a:t>
            </a:r>
            <a:r>
              <a:rPr lang="en-US" dirty="0"/>
              <a:t> two </a:t>
            </a:r>
            <a:r>
              <a:rPr lang="en-US" dirty="0">
                <a:solidFill>
                  <a:srgbClr val="0070C0"/>
                </a:solidFill>
              </a:rPr>
              <a:t>objects</a:t>
            </a:r>
            <a:r>
              <a:rPr lang="en-US" dirty="0"/>
              <a:t> are.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For an item bought by a customer, find other </a:t>
            </a:r>
            <a:r>
              <a:rPr lang="en-US" dirty="0">
                <a:solidFill>
                  <a:srgbClr val="0070C0"/>
                </a:solidFill>
              </a:rPr>
              <a:t>similar</a:t>
            </a:r>
            <a:r>
              <a:rPr lang="en-US" dirty="0"/>
              <a:t> items</a:t>
            </a:r>
          </a:p>
          <a:p>
            <a:pPr lvl="1"/>
            <a:r>
              <a:rPr lang="en-US" dirty="0"/>
              <a:t>Group together the customers of a site so that </a:t>
            </a:r>
            <a:r>
              <a:rPr lang="en-US" dirty="0">
                <a:solidFill>
                  <a:srgbClr val="0070C0"/>
                </a:solidFill>
              </a:rPr>
              <a:t>similar</a:t>
            </a:r>
            <a:r>
              <a:rPr lang="en-US" dirty="0"/>
              <a:t> customers are shown the same ad.</a:t>
            </a:r>
          </a:p>
          <a:p>
            <a:pPr lvl="1"/>
            <a:r>
              <a:rPr lang="en-US" dirty="0"/>
              <a:t>Group together web documents so that you can </a:t>
            </a:r>
            <a:r>
              <a:rPr lang="en-US" dirty="0">
                <a:solidFill>
                  <a:srgbClr val="0070C0"/>
                </a:solidFill>
              </a:rPr>
              <a:t>separate</a:t>
            </a:r>
            <a:r>
              <a:rPr lang="en-US" dirty="0"/>
              <a:t> the ones that talk about politics and the ones that talk about sports.</a:t>
            </a:r>
          </a:p>
          <a:p>
            <a:pPr lvl="1"/>
            <a:r>
              <a:rPr lang="en-US" dirty="0"/>
              <a:t>Find all the </a:t>
            </a:r>
            <a:r>
              <a:rPr lang="en-US" dirty="0">
                <a:solidFill>
                  <a:srgbClr val="0070C0"/>
                </a:solidFill>
              </a:rPr>
              <a:t>near-duplicate</a:t>
            </a:r>
            <a:r>
              <a:rPr lang="en-US" dirty="0"/>
              <a:t> mirrored web documents.</a:t>
            </a:r>
          </a:p>
          <a:p>
            <a:pPr lvl="1"/>
            <a:r>
              <a:rPr lang="en-US" dirty="0"/>
              <a:t>Find credit card transactions that are very </a:t>
            </a:r>
            <a:r>
              <a:rPr lang="en-US" dirty="0">
                <a:solidFill>
                  <a:srgbClr val="0070C0"/>
                </a:solidFill>
              </a:rPr>
              <a:t>different</a:t>
            </a:r>
            <a:r>
              <a:rPr lang="en-US" dirty="0"/>
              <a:t> from previous transactions.</a:t>
            </a:r>
          </a:p>
          <a:p>
            <a:r>
              <a:rPr lang="en-US" dirty="0"/>
              <a:t>To solve these problems we need a definition of </a:t>
            </a:r>
            <a:r>
              <a:rPr lang="en-US" dirty="0">
                <a:solidFill>
                  <a:srgbClr val="FF0000"/>
                </a:solidFill>
              </a:rPr>
              <a:t>similarity,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distance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definition depends on the </a:t>
            </a:r>
            <a:r>
              <a:rPr lang="en-US" dirty="0">
                <a:solidFill>
                  <a:srgbClr val="0070C0"/>
                </a:solidFill>
              </a:rPr>
              <a:t>type of data </a:t>
            </a:r>
            <a:r>
              <a:rPr lang="en-US" dirty="0"/>
              <a:t>that we have</a:t>
            </a:r>
          </a:p>
        </p:txBody>
      </p:sp>
    </p:spTree>
    <p:extLst>
      <p:ext uri="{BB962C8B-B14F-4D97-AF65-F5344CB8AC3E}">
        <p14:creationId xmlns:p14="http://schemas.microsoft.com/office/powerpoint/2010/main" val="2132325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</a:t>
            </a:r>
          </a:p>
        </p:txBody>
      </p:sp>
      <p:sp>
        <p:nvSpPr>
          <p:cNvPr id="87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Numerical measure of how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alike</a:t>
            </a:r>
            <a:r>
              <a:rPr lang="en-US" dirty="0"/>
              <a:t> two data objects are.</a:t>
            </a:r>
          </a:p>
          <a:p>
            <a:pPr lvl="1"/>
            <a:r>
              <a:rPr lang="en-US" dirty="0"/>
              <a:t>A function that maps pairs of objects to real values</a:t>
            </a:r>
          </a:p>
          <a:p>
            <a:pPr lvl="1"/>
            <a:r>
              <a:rPr lang="en-US" dirty="0"/>
              <a:t>Higher when objects are more alike.</a:t>
            </a:r>
          </a:p>
          <a:p>
            <a:r>
              <a:rPr lang="en-US" dirty="0"/>
              <a:t>Often falls in the range [0,1], sometimes in [-1,1]</a:t>
            </a:r>
          </a:p>
          <a:p>
            <a:pPr lvl="1"/>
            <a:endParaRPr lang="en-US" dirty="0"/>
          </a:p>
          <a:p>
            <a:r>
              <a:rPr lang="en-US" dirty="0"/>
              <a:t>Desirable properties for similarity</a:t>
            </a:r>
          </a:p>
          <a:p>
            <a:pPr marL="788670" lvl="1" indent="-514350">
              <a:buFont typeface="+mj-lt"/>
              <a:buAutoNum type="arabicPeriod"/>
            </a:pPr>
            <a:r>
              <a:rPr lang="en-US" dirty="0"/>
              <a:t>s(p, q) = 1 (or maximum similarity) only if p = q. 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Identity</a:t>
            </a:r>
            <a:r>
              <a:rPr lang="en-US" dirty="0"/>
              <a:t>)</a:t>
            </a:r>
          </a:p>
          <a:p>
            <a:pPr marL="788670" lvl="1" indent="-514350">
              <a:buFont typeface="+mj-lt"/>
              <a:buAutoNum type="arabicPeriod"/>
            </a:pPr>
            <a:r>
              <a:rPr lang="en-US" dirty="0"/>
              <a:t>s(p, q) = s(q, p)   for all p and q.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Symmetry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1068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between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documents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Which ones are more similar?</a:t>
            </a:r>
          </a:p>
          <a:p>
            <a:endParaRPr lang="en-US" dirty="0"/>
          </a:p>
          <a:p>
            <a:r>
              <a:rPr lang="en-US" dirty="0"/>
              <a:t>How would you quantify their similarity?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88325"/>
            <a:ext cx="1295400" cy="1015663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apple releases new </a:t>
            </a:r>
            <a:r>
              <a:rPr lang="en-US" sz="2000" dirty="0" err="1"/>
              <a:t>ipod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3581400" y="2388325"/>
            <a:ext cx="1295400" cy="101566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apple releases new </a:t>
            </a:r>
            <a:r>
              <a:rPr lang="en-US" sz="2000" dirty="0" err="1"/>
              <a:t>ipad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715000" y="2388325"/>
            <a:ext cx="1219200" cy="1015663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new apple pie recipe</a:t>
            </a:r>
          </a:p>
        </p:txBody>
      </p:sp>
    </p:spTree>
    <p:extLst>
      <p:ext uri="{BB962C8B-B14F-4D97-AF65-F5344CB8AC3E}">
        <p14:creationId xmlns:p14="http://schemas.microsoft.com/office/powerpoint/2010/main" val="3534448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Similarity: 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of words in common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Sim</a:t>
            </a:r>
            <a:r>
              <a:rPr lang="en-US" dirty="0"/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</a:t>
            </a:r>
            <a:r>
              <a:rPr lang="en-US" dirty="0"/>
              <a:t>,</a:t>
            </a:r>
            <a:r>
              <a:rPr lang="en-US" dirty="0">
                <a:solidFill>
                  <a:srgbClr val="C00000"/>
                </a:solidFill>
              </a:rPr>
              <a:t>D</a:t>
            </a:r>
            <a:r>
              <a:rPr lang="en-US" dirty="0"/>
              <a:t>) = 3, </a:t>
            </a:r>
            <a:r>
              <a:rPr lang="en-US" dirty="0" err="1"/>
              <a:t>Sim</a:t>
            </a:r>
            <a:r>
              <a:rPr lang="en-US" dirty="0"/>
              <a:t>(</a:t>
            </a:r>
            <a:r>
              <a:rPr lang="en-US" dirty="0">
                <a:solidFill>
                  <a:srgbClr val="C00000"/>
                </a:solidFill>
              </a:rPr>
              <a:t>D</a:t>
            </a:r>
            <a:r>
              <a:rPr lang="en-US" dirty="0"/>
              <a:t>,</a:t>
            </a:r>
            <a:r>
              <a:rPr lang="en-US" dirty="0">
                <a:solidFill>
                  <a:srgbClr val="0070C0"/>
                </a:solidFill>
              </a:rPr>
              <a:t>D</a:t>
            </a:r>
            <a:r>
              <a:rPr lang="en-US" dirty="0"/>
              <a:t>) = </a:t>
            </a:r>
            <a:r>
              <a:rPr lang="en-US" dirty="0" err="1"/>
              <a:t>Sim</a:t>
            </a:r>
            <a:r>
              <a:rPr lang="en-US" dirty="0"/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</a:t>
            </a:r>
            <a:r>
              <a:rPr lang="en-US" dirty="0"/>
              <a:t>,</a:t>
            </a:r>
            <a:r>
              <a:rPr lang="en-US" dirty="0">
                <a:solidFill>
                  <a:srgbClr val="0070C0"/>
                </a:solidFill>
              </a:rPr>
              <a:t>D</a:t>
            </a:r>
            <a:r>
              <a:rPr lang="en-US" dirty="0"/>
              <a:t>)  =2</a:t>
            </a:r>
          </a:p>
          <a:p>
            <a:r>
              <a:rPr lang="en-US" dirty="0"/>
              <a:t>What about this document?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Sim</a:t>
            </a:r>
            <a:r>
              <a:rPr lang="en-US" dirty="0"/>
              <a:t>(</a:t>
            </a:r>
            <a:r>
              <a:rPr lang="en-US" dirty="0">
                <a:solidFill>
                  <a:srgbClr val="C00000"/>
                </a:solidFill>
              </a:rPr>
              <a:t>D</a:t>
            </a:r>
            <a:r>
              <a:rPr lang="en-US" dirty="0"/>
              <a:t>,</a:t>
            </a:r>
            <a:r>
              <a:rPr lang="en-US" dirty="0">
                <a:solidFill>
                  <a:srgbClr val="00B050"/>
                </a:solidFill>
              </a:rPr>
              <a:t>D</a:t>
            </a:r>
            <a:r>
              <a:rPr lang="en-US" dirty="0"/>
              <a:t>) = </a:t>
            </a:r>
            <a:r>
              <a:rPr lang="en-US" dirty="0" err="1"/>
              <a:t>Sim</a:t>
            </a:r>
            <a:r>
              <a:rPr lang="en-US" dirty="0"/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</a:t>
            </a:r>
            <a:r>
              <a:rPr lang="en-US" dirty="0"/>
              <a:t>,</a:t>
            </a:r>
            <a:r>
              <a:rPr lang="en-US" dirty="0">
                <a:solidFill>
                  <a:srgbClr val="00B050"/>
                </a:solidFill>
              </a:rPr>
              <a:t>D</a:t>
            </a:r>
            <a:r>
              <a:rPr lang="en-US" dirty="0"/>
              <a:t>) 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88325"/>
            <a:ext cx="1295400" cy="1015663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apple releases new </a:t>
            </a:r>
            <a:r>
              <a:rPr lang="en-US" sz="2000" dirty="0" err="1"/>
              <a:t>ipod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3581400" y="2388325"/>
            <a:ext cx="1295400" cy="101566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apple releases new </a:t>
            </a:r>
            <a:r>
              <a:rPr lang="en-US" sz="2000" dirty="0" err="1"/>
              <a:t>ipad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715000" y="2388325"/>
            <a:ext cx="1219200" cy="1015663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new apple pie recipe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3600" y="4876800"/>
            <a:ext cx="3352800" cy="707886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2000" dirty="0" err="1"/>
              <a:t>Vefa</a:t>
            </a:r>
            <a:r>
              <a:rPr lang="en-US" sz="2000" dirty="0"/>
              <a:t> </a:t>
            </a:r>
            <a:r>
              <a:rPr lang="en-US" sz="2000" dirty="0" err="1"/>
              <a:t>rereases</a:t>
            </a:r>
            <a:r>
              <a:rPr lang="en-US" sz="2000" dirty="0"/>
              <a:t> new book with apple pie recipes</a:t>
            </a:r>
          </a:p>
        </p:txBody>
      </p:sp>
    </p:spTree>
    <p:extLst>
      <p:ext uri="{BB962C8B-B14F-4D97-AF65-F5344CB8AC3E}">
        <p14:creationId xmlns:p14="http://schemas.microsoft.com/office/powerpoint/2010/main" val="31402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4BD3-4510-418C-8AF9-A60F99FB8858}" type="slidenum">
              <a:rPr lang="en-US"/>
              <a:pPr/>
              <a:t>6</a:t>
            </a:fld>
            <a:endParaRPr lang="en-US"/>
          </a:p>
        </p:txBody>
      </p:sp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Jaccard</a:t>
            </a:r>
            <a:r>
              <a:rPr lang="en-US" dirty="0">
                <a:solidFill>
                  <a:schemeClr val="tx1"/>
                </a:solidFill>
              </a:rPr>
              <a:t> Similarity</a:t>
            </a:r>
            <a:endParaRPr lang="en-US" dirty="0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70000" lnSpcReduction="20000"/>
          </a:bodyPr>
          <a:lstStyle/>
          <a:p>
            <a:r>
              <a:rPr lang="en-US" sz="3400" dirty="0"/>
              <a:t>The </a:t>
            </a:r>
            <a:r>
              <a:rPr lang="en-US" sz="3400" dirty="0" err="1">
                <a:solidFill>
                  <a:srgbClr val="FF0000"/>
                </a:solidFill>
              </a:rPr>
              <a:t>Jaccard</a:t>
            </a:r>
            <a:r>
              <a:rPr lang="en-US" sz="3400" dirty="0">
                <a:solidFill>
                  <a:srgbClr val="FF0000"/>
                </a:solidFill>
              </a:rPr>
              <a:t> similarity (</a:t>
            </a:r>
            <a:r>
              <a:rPr lang="en-US" sz="3400" dirty="0" err="1">
                <a:solidFill>
                  <a:srgbClr val="0070C0"/>
                </a:solidFill>
              </a:rPr>
              <a:t>Jaccard</a:t>
            </a:r>
            <a:r>
              <a:rPr lang="en-US" sz="3400" dirty="0">
                <a:solidFill>
                  <a:srgbClr val="0070C0"/>
                </a:solidFill>
              </a:rPr>
              <a:t> coefficient</a:t>
            </a:r>
            <a:r>
              <a:rPr lang="en-US" sz="3400" dirty="0">
                <a:solidFill>
                  <a:srgbClr val="FF0000"/>
                </a:solidFill>
              </a:rPr>
              <a:t>) </a:t>
            </a:r>
            <a:r>
              <a:rPr lang="en-US" sz="3400" dirty="0"/>
              <a:t>of two sets </a:t>
            </a:r>
            <a:r>
              <a:rPr lang="en-US" sz="3400" dirty="0">
                <a:solidFill>
                  <a:srgbClr val="00B050"/>
                </a:solidFill>
              </a:rPr>
              <a:t>S</a:t>
            </a:r>
            <a:r>
              <a:rPr lang="en-US" sz="3400" baseline="-25000" dirty="0">
                <a:solidFill>
                  <a:srgbClr val="00B050"/>
                </a:solidFill>
              </a:rPr>
              <a:t>1</a:t>
            </a:r>
            <a:r>
              <a:rPr lang="en-US" sz="3400" dirty="0">
                <a:solidFill>
                  <a:srgbClr val="00B050"/>
                </a:solidFill>
              </a:rPr>
              <a:t>, S</a:t>
            </a:r>
            <a:r>
              <a:rPr lang="en-US" sz="3400" baseline="-25000" dirty="0">
                <a:solidFill>
                  <a:srgbClr val="00B050"/>
                </a:solidFill>
              </a:rPr>
              <a:t>2</a:t>
            </a:r>
            <a:r>
              <a:rPr lang="en-US" sz="3400" dirty="0">
                <a:solidFill>
                  <a:srgbClr val="00B050"/>
                </a:solidFill>
              </a:rPr>
              <a:t> </a:t>
            </a:r>
            <a:r>
              <a:rPr lang="en-US" sz="3400" dirty="0"/>
              <a:t>is the size of their </a:t>
            </a:r>
            <a:r>
              <a:rPr lang="en-US" sz="3400" dirty="0">
                <a:solidFill>
                  <a:srgbClr val="00B0F0"/>
                </a:solidFill>
              </a:rPr>
              <a:t>intersection </a:t>
            </a:r>
            <a:r>
              <a:rPr lang="en-US" sz="3400" dirty="0"/>
              <a:t>divided by the size of their </a:t>
            </a:r>
            <a:r>
              <a:rPr lang="en-US" sz="3400" dirty="0">
                <a:solidFill>
                  <a:schemeClr val="accent6">
                    <a:lumMod val="75000"/>
                  </a:schemeClr>
                </a:solidFill>
              </a:rPr>
              <a:t>union</a:t>
            </a:r>
            <a:r>
              <a:rPr lang="en-US" sz="3400" dirty="0"/>
              <a:t>.</a:t>
            </a:r>
          </a:p>
          <a:p>
            <a:pPr lvl="1"/>
            <a:r>
              <a:rPr lang="en-US" sz="3200" dirty="0" err="1">
                <a:solidFill>
                  <a:srgbClr val="FF0000"/>
                </a:solidFill>
              </a:rPr>
              <a:t>JSim</a:t>
            </a:r>
            <a:r>
              <a:rPr lang="en-US" sz="3200" i="1" dirty="0"/>
              <a:t> </a:t>
            </a:r>
            <a:r>
              <a:rPr lang="en-US" sz="3200" dirty="0"/>
              <a:t>(</a:t>
            </a:r>
            <a:r>
              <a:rPr lang="en-US" sz="3200" dirty="0" err="1"/>
              <a:t>C</a:t>
            </a:r>
            <a:r>
              <a:rPr lang="en-US" sz="3200" baseline="-25000" dirty="0" err="1"/>
              <a:t>1</a:t>
            </a:r>
            <a:r>
              <a:rPr lang="en-US" sz="3200" dirty="0"/>
              <a:t>, </a:t>
            </a:r>
            <a:r>
              <a:rPr lang="en-US" sz="3200" dirty="0" err="1"/>
              <a:t>C</a:t>
            </a:r>
            <a:r>
              <a:rPr lang="en-US" sz="3200" baseline="-25000" dirty="0" err="1"/>
              <a:t>2</a:t>
            </a:r>
            <a:r>
              <a:rPr lang="en-US" sz="3200" dirty="0"/>
              <a:t>) = </a:t>
            </a:r>
            <a:r>
              <a:rPr lang="en-US" sz="3200" dirty="0">
                <a:solidFill>
                  <a:srgbClr val="00B0F0"/>
                </a:solidFill>
              </a:rPr>
              <a:t>|C</a:t>
            </a:r>
            <a:r>
              <a:rPr lang="en-US" sz="3200" baseline="-25000" dirty="0">
                <a:solidFill>
                  <a:srgbClr val="00B0F0"/>
                </a:solidFill>
              </a:rPr>
              <a:t>1</a:t>
            </a:r>
            <a:r>
              <a:rPr lang="en-US" sz="3200" dirty="0">
                <a:solidFill>
                  <a:srgbClr val="00B0F0"/>
                </a:solidFill>
                <a:sym typeface="Symbol" pitchFamily="18" charset="2"/>
              </a:rPr>
              <a:t>C</a:t>
            </a:r>
            <a:r>
              <a:rPr lang="en-US" sz="3200" baseline="-25000" dirty="0">
                <a:solidFill>
                  <a:srgbClr val="00B0F0"/>
                </a:solidFill>
                <a:sym typeface="Symbol" pitchFamily="18" charset="2"/>
              </a:rPr>
              <a:t>2</a:t>
            </a:r>
            <a:r>
              <a:rPr lang="en-US" sz="3200" dirty="0">
                <a:solidFill>
                  <a:srgbClr val="00B0F0"/>
                </a:solidFill>
                <a:sym typeface="Symbol" pitchFamily="18" charset="2"/>
              </a:rPr>
              <a:t>| </a:t>
            </a:r>
            <a:r>
              <a:rPr lang="en-US" sz="3200" dirty="0">
                <a:sym typeface="Symbol" pitchFamily="18" charset="2"/>
              </a:rPr>
              <a:t>/ 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|C</a:t>
            </a:r>
            <a:r>
              <a:rPr lang="en-US" sz="3200" baseline="-2500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1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C</a:t>
            </a:r>
            <a:r>
              <a:rPr lang="en-US" sz="3200" baseline="-2500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2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|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lvl="1"/>
            <a:endParaRPr lang="en-US" sz="3200" dirty="0">
              <a:solidFill>
                <a:srgbClr val="00B050"/>
              </a:solidFill>
            </a:endParaRPr>
          </a:p>
          <a:p>
            <a:pPr lvl="1"/>
            <a:endParaRPr lang="en-US" sz="3200" dirty="0">
              <a:solidFill>
                <a:srgbClr val="00B050"/>
              </a:solidFill>
            </a:endParaRPr>
          </a:p>
          <a:p>
            <a:pPr lvl="1"/>
            <a:endParaRPr lang="en-US" sz="3200" dirty="0">
              <a:solidFill>
                <a:srgbClr val="00B050"/>
              </a:solidFill>
            </a:endParaRPr>
          </a:p>
          <a:p>
            <a:pPr lvl="1"/>
            <a:endParaRPr lang="en-US" sz="3200" dirty="0">
              <a:solidFill>
                <a:srgbClr val="00B050"/>
              </a:solidFill>
            </a:endParaRPr>
          </a:p>
          <a:p>
            <a:pPr lvl="1"/>
            <a:endParaRPr lang="en-US" sz="3200" dirty="0">
              <a:solidFill>
                <a:srgbClr val="00B050"/>
              </a:solidFill>
            </a:endParaRPr>
          </a:p>
          <a:p>
            <a:pPr lvl="1"/>
            <a:endParaRPr lang="en-US" sz="3200" dirty="0"/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Extreme behavior:</a:t>
            </a:r>
          </a:p>
          <a:p>
            <a:pPr lvl="2"/>
            <a:r>
              <a:rPr lang="en-US" sz="2800" dirty="0" err="1"/>
              <a:t>Jsim</a:t>
            </a:r>
            <a:r>
              <a:rPr lang="en-US" sz="2800" dirty="0"/>
              <a:t>(X,Y) = 1, </a:t>
            </a:r>
            <a:r>
              <a:rPr lang="en-US" sz="2800" dirty="0" err="1"/>
              <a:t>iff</a:t>
            </a:r>
            <a:r>
              <a:rPr lang="en-US" sz="2800" dirty="0"/>
              <a:t> X = Y</a:t>
            </a:r>
          </a:p>
          <a:p>
            <a:pPr lvl="2"/>
            <a:r>
              <a:rPr lang="en-US" sz="2800" dirty="0" err="1"/>
              <a:t>Jsim</a:t>
            </a:r>
            <a:r>
              <a:rPr lang="en-US" sz="2800" dirty="0"/>
              <a:t>(X,Y) = 0 </a:t>
            </a:r>
            <a:r>
              <a:rPr lang="en-US" sz="2800" dirty="0" err="1"/>
              <a:t>iff</a:t>
            </a:r>
            <a:r>
              <a:rPr lang="en-US" sz="2800" dirty="0"/>
              <a:t> X,Y have no elements in common</a:t>
            </a:r>
          </a:p>
          <a:p>
            <a:pPr lvl="1"/>
            <a:r>
              <a:rPr lang="en-US" sz="3200" dirty="0" err="1"/>
              <a:t>JSim</a:t>
            </a:r>
            <a:r>
              <a:rPr lang="en-US" sz="3200" dirty="0"/>
              <a:t> is symmetric</a:t>
            </a:r>
          </a:p>
          <a:p>
            <a:pPr lvl="1"/>
            <a:endParaRPr lang="en-US" sz="3200" dirty="0"/>
          </a:p>
          <a:p>
            <a:pPr lvl="1"/>
            <a:endParaRPr lang="en-US" sz="3200" dirty="0"/>
          </a:p>
          <a:p>
            <a:pPr lvl="1"/>
            <a:endParaRPr lang="en-US" sz="3200" dirty="0"/>
          </a:p>
          <a:p>
            <a:pPr lvl="1"/>
            <a:endParaRPr lang="en-US" sz="3200" dirty="0"/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2731407" y="3048000"/>
            <a:ext cx="1981200" cy="1905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2045607" y="3048000"/>
            <a:ext cx="1981200" cy="1905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2426607" y="3505200"/>
            <a:ext cx="76200" cy="762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2426607" y="4343400"/>
            <a:ext cx="76200" cy="762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3036207" y="3810000"/>
            <a:ext cx="76200" cy="762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8"/>
          <p:cNvSpPr>
            <a:spLocks noChangeArrowheads="1"/>
          </p:cNvSpPr>
          <p:nvPr/>
        </p:nvSpPr>
        <p:spPr bwMode="auto">
          <a:xfrm>
            <a:off x="3645807" y="4114800"/>
            <a:ext cx="76200" cy="762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3493407" y="3505200"/>
            <a:ext cx="76200" cy="762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Oval 10"/>
          <p:cNvSpPr>
            <a:spLocks noChangeArrowheads="1"/>
          </p:cNvSpPr>
          <p:nvPr/>
        </p:nvSpPr>
        <p:spPr bwMode="auto">
          <a:xfrm>
            <a:off x="4255407" y="3886200"/>
            <a:ext cx="76200" cy="762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Oval 11"/>
          <p:cNvSpPr>
            <a:spLocks noChangeArrowheads="1"/>
          </p:cNvSpPr>
          <p:nvPr/>
        </p:nvSpPr>
        <p:spPr bwMode="auto">
          <a:xfrm>
            <a:off x="4255407" y="4572000"/>
            <a:ext cx="76200" cy="762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Oval 12"/>
          <p:cNvSpPr>
            <a:spLocks noChangeArrowheads="1"/>
          </p:cNvSpPr>
          <p:nvPr/>
        </p:nvSpPr>
        <p:spPr bwMode="auto">
          <a:xfrm>
            <a:off x="4179207" y="3429000"/>
            <a:ext cx="76200" cy="762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5289550" y="3381374"/>
            <a:ext cx="24828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3 in intersection.</a:t>
            </a:r>
          </a:p>
          <a:p>
            <a:r>
              <a:rPr lang="en-US" dirty="0"/>
              <a:t>8 in union.</a:t>
            </a:r>
          </a:p>
          <a:p>
            <a:r>
              <a:rPr lang="en-US" dirty="0" err="1"/>
              <a:t>Jaccard</a:t>
            </a:r>
            <a:r>
              <a:rPr lang="en-US" dirty="0"/>
              <a:t> similarity</a:t>
            </a:r>
          </a:p>
          <a:p>
            <a:r>
              <a:rPr lang="en-US" dirty="0"/>
              <a:t>   = 3/8</a:t>
            </a:r>
          </a:p>
        </p:txBody>
      </p:sp>
    </p:spTree>
    <p:extLst>
      <p:ext uri="{BB962C8B-B14F-4D97-AF65-F5344CB8AC3E}">
        <p14:creationId xmlns:p14="http://schemas.microsoft.com/office/powerpoint/2010/main" val="3458333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Jaccard</a:t>
            </a:r>
            <a:r>
              <a:rPr lang="en-US" dirty="0"/>
              <a:t> Similarity between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distance for the documents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JSim</a:t>
            </a:r>
            <a:r>
              <a:rPr lang="en-US" dirty="0"/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</a:t>
            </a:r>
            <a:r>
              <a:rPr lang="en-US" dirty="0"/>
              <a:t>,</a:t>
            </a:r>
            <a:r>
              <a:rPr lang="en-US" dirty="0">
                <a:solidFill>
                  <a:srgbClr val="C00000"/>
                </a:solidFill>
              </a:rPr>
              <a:t>D</a:t>
            </a:r>
            <a:r>
              <a:rPr lang="en-US" dirty="0"/>
              <a:t>) = 3/5 </a:t>
            </a:r>
          </a:p>
          <a:p>
            <a:r>
              <a:rPr lang="en-US" dirty="0" err="1"/>
              <a:t>JSim</a:t>
            </a:r>
            <a:r>
              <a:rPr lang="en-US" dirty="0"/>
              <a:t>(</a:t>
            </a:r>
            <a:r>
              <a:rPr lang="en-US" dirty="0">
                <a:solidFill>
                  <a:srgbClr val="C00000"/>
                </a:solidFill>
              </a:rPr>
              <a:t>D</a:t>
            </a:r>
            <a:r>
              <a:rPr lang="en-US" dirty="0"/>
              <a:t>,</a:t>
            </a:r>
            <a:r>
              <a:rPr lang="en-US" dirty="0">
                <a:solidFill>
                  <a:srgbClr val="0070C0"/>
                </a:solidFill>
              </a:rPr>
              <a:t>D</a:t>
            </a:r>
            <a:r>
              <a:rPr lang="en-US" dirty="0"/>
              <a:t>) = </a:t>
            </a:r>
            <a:r>
              <a:rPr lang="en-US" dirty="0" err="1"/>
              <a:t>JSim</a:t>
            </a:r>
            <a:r>
              <a:rPr lang="en-US" dirty="0"/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</a:t>
            </a:r>
            <a:r>
              <a:rPr lang="en-US" dirty="0"/>
              <a:t>,</a:t>
            </a:r>
            <a:r>
              <a:rPr lang="en-US" dirty="0">
                <a:solidFill>
                  <a:srgbClr val="0070C0"/>
                </a:solidFill>
              </a:rPr>
              <a:t>D</a:t>
            </a:r>
            <a:r>
              <a:rPr lang="en-US" dirty="0"/>
              <a:t>)  = 2/6</a:t>
            </a:r>
          </a:p>
          <a:p>
            <a:r>
              <a:rPr lang="en-US" dirty="0" err="1"/>
              <a:t>JSim</a:t>
            </a:r>
            <a:r>
              <a:rPr lang="en-US" dirty="0"/>
              <a:t>(</a:t>
            </a:r>
            <a:r>
              <a:rPr lang="en-US" dirty="0">
                <a:solidFill>
                  <a:srgbClr val="C00000"/>
                </a:solidFill>
              </a:rPr>
              <a:t>D</a:t>
            </a:r>
            <a:r>
              <a:rPr lang="en-US" dirty="0"/>
              <a:t>,</a:t>
            </a:r>
            <a:r>
              <a:rPr lang="en-US" dirty="0">
                <a:solidFill>
                  <a:srgbClr val="00B050"/>
                </a:solidFill>
              </a:rPr>
              <a:t>D</a:t>
            </a:r>
            <a:r>
              <a:rPr lang="en-US" dirty="0"/>
              <a:t>) = </a:t>
            </a:r>
            <a:r>
              <a:rPr lang="en-US" dirty="0" err="1"/>
              <a:t>JSim</a:t>
            </a:r>
            <a:r>
              <a:rPr lang="en-US" dirty="0"/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</a:t>
            </a:r>
            <a:r>
              <a:rPr lang="en-US" dirty="0"/>
              <a:t>,</a:t>
            </a:r>
            <a:r>
              <a:rPr lang="en-US" dirty="0">
                <a:solidFill>
                  <a:srgbClr val="00B050"/>
                </a:solidFill>
              </a:rPr>
              <a:t>D</a:t>
            </a:r>
            <a:r>
              <a:rPr lang="en-US" dirty="0"/>
              <a:t>)  = 3/9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2386145"/>
            <a:ext cx="1295400" cy="1015663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apple releases new </a:t>
            </a:r>
            <a:r>
              <a:rPr lang="en-US" sz="2000" dirty="0" err="1"/>
              <a:t>ipod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2830286" y="2386146"/>
            <a:ext cx="1295400" cy="101566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apple releases new </a:t>
            </a:r>
            <a:r>
              <a:rPr lang="en-US" sz="2000" dirty="0" err="1"/>
              <a:t>ipad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495800" y="2388324"/>
            <a:ext cx="1219200" cy="1015663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new apple pie recipe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2386146"/>
            <a:ext cx="1828800" cy="1317486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2000" dirty="0" err="1"/>
              <a:t>Vefa</a:t>
            </a:r>
            <a:r>
              <a:rPr lang="en-US" sz="2000" dirty="0"/>
              <a:t> </a:t>
            </a:r>
            <a:r>
              <a:rPr lang="en-US" sz="2000" dirty="0" err="1"/>
              <a:t>rereases</a:t>
            </a:r>
            <a:r>
              <a:rPr lang="en-US" sz="2000" dirty="0"/>
              <a:t> new book with apple pie recipes</a:t>
            </a:r>
          </a:p>
        </p:txBody>
      </p:sp>
    </p:spTree>
    <p:extLst>
      <p:ext uri="{BB962C8B-B14F-4D97-AF65-F5344CB8AC3E}">
        <p14:creationId xmlns:p14="http://schemas.microsoft.com/office/powerpoint/2010/main" val="1728145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between vectors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552830"/>
              </p:ext>
            </p:extLst>
          </p:nvPr>
        </p:nvGraphicFramePr>
        <p:xfrm>
          <a:off x="593736" y="2362200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6134" y="1762035"/>
            <a:ext cx="79448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Documents (and sets in general) can also be represented as </a:t>
            </a:r>
            <a:r>
              <a:rPr lang="en-US" sz="2000" dirty="0">
                <a:solidFill>
                  <a:srgbClr val="0070C0"/>
                </a:solidFill>
              </a:rPr>
              <a:t>vectors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508" y="4355369"/>
            <a:ext cx="7772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How do we measure the similarity of two vectors?</a:t>
            </a:r>
          </a:p>
          <a:p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We could view them as sets of words. </a:t>
            </a:r>
            <a:r>
              <a:rPr lang="en-US" sz="2000" dirty="0" err="1"/>
              <a:t>Jaccard</a:t>
            </a:r>
            <a:r>
              <a:rPr lang="en-US" sz="2000" dirty="0"/>
              <a:t> Similarity will show that D4 is different form the rest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But all pairs of the other three documents are equally similar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119" y="6073745"/>
            <a:ext cx="671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We want to capture how well the two vectors are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aligned</a:t>
            </a:r>
          </a:p>
        </p:txBody>
      </p:sp>
    </p:spTree>
    <p:extLst>
      <p:ext uri="{BB962C8B-B14F-4D97-AF65-F5344CB8AC3E}">
        <p14:creationId xmlns:p14="http://schemas.microsoft.com/office/powerpoint/2010/main" val="2417149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3" y="4448183"/>
            <a:ext cx="48782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Documents </a:t>
            </a:r>
            <a:r>
              <a:rPr lang="en-US" dirty="0" err="1"/>
              <a:t>D1</a:t>
            </a:r>
            <a:r>
              <a:rPr lang="en-US" dirty="0"/>
              <a:t>, </a:t>
            </a:r>
            <a:r>
              <a:rPr lang="en-US" dirty="0" err="1"/>
              <a:t>D2</a:t>
            </a:r>
            <a:r>
              <a:rPr lang="en-US" dirty="0"/>
              <a:t> are in the “</a:t>
            </a:r>
            <a:r>
              <a:rPr lang="en-US" dirty="0">
                <a:solidFill>
                  <a:srgbClr val="EF8511"/>
                </a:solidFill>
              </a:rPr>
              <a:t>same direction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Document D3 is on the </a:t>
            </a:r>
            <a:r>
              <a:rPr lang="en-US" dirty="0">
                <a:solidFill>
                  <a:srgbClr val="0070C0"/>
                </a:solidFill>
              </a:rPr>
              <a:t>same plane </a:t>
            </a:r>
            <a:r>
              <a:rPr lang="en-US" dirty="0"/>
              <a:t>as D1, D2</a:t>
            </a:r>
          </a:p>
          <a:p>
            <a:endParaRPr lang="en-US" dirty="0"/>
          </a:p>
          <a:p>
            <a:r>
              <a:rPr lang="en-US" dirty="0"/>
              <a:t>Document D3 is </a:t>
            </a:r>
            <a:r>
              <a:rPr lang="en-US" dirty="0">
                <a:solidFill>
                  <a:srgbClr val="EF8511"/>
                </a:solidFill>
              </a:rPr>
              <a:t>orthogonal</a:t>
            </a:r>
            <a:r>
              <a:rPr lang="en-US" dirty="0"/>
              <a:t> to the rest</a:t>
            </a:r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4541116"/>
              </p:ext>
            </p:extLst>
          </p:nvPr>
        </p:nvGraphicFramePr>
        <p:xfrm>
          <a:off x="469545" y="1981200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00B050"/>
                          </a:solidFill>
                        </a:rPr>
                        <a:t>D1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D2</a:t>
                      </a:r>
                      <a:endPara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/>
          <p:nvPr/>
        </p:nvCxnSpPr>
        <p:spPr>
          <a:xfrm flipH="1" flipV="1">
            <a:off x="6248397" y="4299466"/>
            <a:ext cx="5" cy="1339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248400" y="5638800"/>
            <a:ext cx="1295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5562600" y="5638800"/>
            <a:ext cx="68580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41268" y="4114800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740845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microsoft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638043" y="6248400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{Obama, election}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6248400" y="5105400"/>
            <a:ext cx="1219200" cy="53340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6248399" y="5448301"/>
            <a:ext cx="408145" cy="19049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6248398" y="4484132"/>
            <a:ext cx="546973" cy="115466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5951674" y="5638799"/>
            <a:ext cx="296721" cy="2867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11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3" y="4448183"/>
            <a:ext cx="48782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Documents </a:t>
            </a:r>
            <a:r>
              <a:rPr lang="en-US" dirty="0" err="1"/>
              <a:t>D1</a:t>
            </a:r>
            <a:r>
              <a:rPr lang="en-US" dirty="0"/>
              <a:t>, </a:t>
            </a:r>
            <a:r>
              <a:rPr lang="en-US" dirty="0" err="1"/>
              <a:t>D2</a:t>
            </a:r>
            <a:r>
              <a:rPr lang="en-US" dirty="0"/>
              <a:t> are in the “</a:t>
            </a:r>
            <a:r>
              <a:rPr lang="en-US" dirty="0">
                <a:solidFill>
                  <a:srgbClr val="EF8511"/>
                </a:solidFill>
              </a:rPr>
              <a:t>same direction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Document D3 is on the </a:t>
            </a:r>
            <a:r>
              <a:rPr lang="en-US" dirty="0">
                <a:solidFill>
                  <a:srgbClr val="0070C0"/>
                </a:solidFill>
              </a:rPr>
              <a:t>same plane </a:t>
            </a:r>
            <a:r>
              <a:rPr lang="en-US" dirty="0"/>
              <a:t>as D1, D2</a:t>
            </a:r>
          </a:p>
          <a:p>
            <a:endParaRPr lang="en-US" dirty="0"/>
          </a:p>
          <a:p>
            <a:r>
              <a:rPr lang="en-US" dirty="0"/>
              <a:t>Document D3 is </a:t>
            </a:r>
            <a:r>
              <a:rPr lang="en-US" dirty="0">
                <a:solidFill>
                  <a:srgbClr val="EF8511"/>
                </a:solidFill>
              </a:rPr>
              <a:t>orthogonal</a:t>
            </a:r>
            <a:r>
              <a:rPr lang="en-US" dirty="0"/>
              <a:t> to the rest</a:t>
            </a:r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8947735"/>
              </p:ext>
            </p:extLst>
          </p:nvPr>
        </p:nvGraphicFramePr>
        <p:xfrm>
          <a:off x="469545" y="1981200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00B050"/>
                          </a:solidFill>
                        </a:rPr>
                        <a:t>D1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D2</a:t>
                      </a:r>
                      <a:endPara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2/3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/>
          <p:nvPr/>
        </p:nvCxnSpPr>
        <p:spPr>
          <a:xfrm flipH="1" flipV="1">
            <a:off x="6248397" y="4299466"/>
            <a:ext cx="5" cy="1339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248400" y="5638800"/>
            <a:ext cx="1295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5562600" y="5638800"/>
            <a:ext cx="68580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41268" y="4114800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740845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microsoft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638043" y="6248400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{Obama, election}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6248400" y="5448301"/>
            <a:ext cx="457200" cy="19050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6248399" y="5448301"/>
            <a:ext cx="408145" cy="19049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6248398" y="5257800"/>
            <a:ext cx="228602" cy="3810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5951674" y="5638799"/>
            <a:ext cx="296721" cy="2867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974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52800"/>
            <a:ext cx="8153400" cy="3124200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Sim</a:t>
            </a:r>
            <a:r>
              <a:rPr lang="en-US" dirty="0"/>
              <a:t>(X,Y) = </a:t>
            </a:r>
            <a:r>
              <a:rPr lang="en-US" dirty="0" err="1"/>
              <a:t>cos</a:t>
            </a:r>
            <a:r>
              <a:rPr lang="en-US" dirty="0"/>
              <a:t>(X,Y)</a:t>
            </a:r>
          </a:p>
          <a:p>
            <a:pPr lvl="1"/>
            <a:r>
              <a:rPr lang="en-US" sz="2600" dirty="0"/>
              <a:t>The cosine of the angle between X and 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the vectors are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aligned (correlated) </a:t>
            </a:r>
            <a:r>
              <a:rPr lang="en-US" dirty="0"/>
              <a:t>angle is </a:t>
            </a:r>
            <a:r>
              <a:rPr lang="en-US" dirty="0">
                <a:solidFill>
                  <a:srgbClr val="0070C0"/>
                </a:solidFill>
              </a:rPr>
              <a:t>zero degrees </a:t>
            </a:r>
            <a:r>
              <a:rPr lang="en-US" dirty="0"/>
              <a:t>and </a:t>
            </a:r>
            <a:r>
              <a:rPr lang="en-US" dirty="0" err="1"/>
              <a:t>cos</a:t>
            </a:r>
            <a:r>
              <a:rPr lang="en-US" dirty="0"/>
              <a:t>(X,Y)=1</a:t>
            </a:r>
          </a:p>
          <a:p>
            <a:r>
              <a:rPr lang="en-US" dirty="0"/>
              <a:t>If the vectors are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orthogonal </a:t>
            </a:r>
            <a:r>
              <a:rPr lang="en-US" dirty="0"/>
              <a:t>(no common coordinates) angle is </a:t>
            </a:r>
            <a:r>
              <a:rPr lang="en-US" dirty="0">
                <a:solidFill>
                  <a:srgbClr val="0070C0"/>
                </a:solidFill>
              </a:rPr>
              <a:t>90 degrees </a:t>
            </a:r>
            <a:r>
              <a:rPr lang="en-US" dirty="0"/>
              <a:t>and </a:t>
            </a:r>
            <a:r>
              <a:rPr lang="en-US" dirty="0" err="1"/>
              <a:t>cos</a:t>
            </a:r>
            <a:r>
              <a:rPr lang="en-US" dirty="0"/>
              <a:t>(X,Y) = 0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Cosine is commonly used for comparing </a:t>
            </a:r>
            <a:r>
              <a:rPr lang="en-US" dirty="0">
                <a:solidFill>
                  <a:srgbClr val="0070C0"/>
                </a:solidFill>
              </a:rPr>
              <a:t>documents</a:t>
            </a:r>
            <a:r>
              <a:rPr lang="en-US" dirty="0"/>
              <a:t>, where we assume that the vectors are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normalized </a:t>
            </a:r>
            <a:r>
              <a:rPr lang="en-US" dirty="0"/>
              <a:t>by the document length.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7975" y="1219200"/>
            <a:ext cx="5026025" cy="228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7375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280400" cy="914400"/>
          </a:xfrm>
        </p:spPr>
        <p:txBody>
          <a:bodyPr>
            <a:normAutofit/>
          </a:bodyPr>
          <a:lstStyle/>
          <a:p>
            <a:r>
              <a:rPr lang="en-US" dirty="0"/>
              <a:t>Cosine Similarity - math</a:t>
            </a:r>
          </a:p>
        </p:txBody>
      </p:sp>
      <p:sp>
        <p:nvSpPr>
          <p:cNvPr id="89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674812"/>
            <a:ext cx="8001000" cy="4725988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cs typeface="Times New Roman" pitchFamily="18" charset="0"/>
              </a:rPr>
              <a:t> If </a:t>
            </a:r>
            <a:r>
              <a:rPr lang="en-US" sz="2000" i="1" dirty="0" err="1">
                <a:cs typeface="Times New Roman" pitchFamily="18" charset="0"/>
              </a:rPr>
              <a:t>d</a:t>
            </a:r>
            <a:r>
              <a:rPr lang="en-US" sz="2000" i="1" baseline="-30000" dirty="0" err="1">
                <a:cs typeface="Times New Roman" pitchFamily="18" charset="0"/>
              </a:rPr>
              <a:t>1</a:t>
            </a:r>
            <a:r>
              <a:rPr lang="en-US" sz="2000" dirty="0">
                <a:cs typeface="Times New Roman" pitchFamily="18" charset="0"/>
              </a:rPr>
              <a:t> and </a:t>
            </a:r>
            <a:r>
              <a:rPr lang="en-US" sz="2000" i="1" dirty="0" err="1">
                <a:cs typeface="Times New Roman" pitchFamily="18" charset="0"/>
              </a:rPr>
              <a:t>d</a:t>
            </a:r>
            <a:r>
              <a:rPr lang="en-US" sz="2000" i="1" baseline="-30000" dirty="0" err="1">
                <a:cs typeface="Times New Roman" pitchFamily="18" charset="0"/>
              </a:rPr>
              <a:t>2</a:t>
            </a:r>
            <a:r>
              <a:rPr lang="en-US" sz="2000" dirty="0">
                <a:cs typeface="Times New Roman" pitchFamily="18" charset="0"/>
              </a:rPr>
              <a:t> are two vectors, then</a:t>
            </a:r>
          </a:p>
          <a:p>
            <a:pPr marL="0" indent="0" algn="just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cs typeface="Times New Roman" pitchFamily="18" charset="0"/>
              </a:rPr>
              <a:t>             </a:t>
            </a:r>
            <a:r>
              <a:rPr lang="en-US" sz="2000" dirty="0" err="1">
                <a:solidFill>
                  <a:srgbClr val="0070C0"/>
                </a:solidFill>
                <a:cs typeface="Times New Roman" pitchFamily="18" charset="0"/>
              </a:rPr>
              <a:t>cos</a:t>
            </a:r>
            <a:r>
              <a:rPr lang="en-US" sz="2000" dirty="0">
                <a:solidFill>
                  <a:srgbClr val="0070C0"/>
                </a:solidFill>
                <a:cs typeface="Times New Roman" pitchFamily="18" charset="0"/>
              </a:rPr>
              <a:t>( </a:t>
            </a:r>
            <a:r>
              <a:rPr lang="en-US" sz="2000" i="1" dirty="0" err="1">
                <a:solidFill>
                  <a:srgbClr val="0070C0"/>
                </a:solidFill>
                <a:cs typeface="Times New Roman" pitchFamily="18" charset="0"/>
              </a:rPr>
              <a:t>d</a:t>
            </a:r>
            <a:r>
              <a:rPr lang="en-US" sz="2000" i="1" baseline="-30000" dirty="0" err="1">
                <a:solidFill>
                  <a:srgbClr val="0070C0"/>
                </a:solidFill>
                <a:cs typeface="Times New Roman" pitchFamily="18" charset="0"/>
              </a:rPr>
              <a:t>1</a:t>
            </a:r>
            <a:r>
              <a:rPr lang="en-US" sz="2000" i="1" dirty="0">
                <a:solidFill>
                  <a:srgbClr val="0070C0"/>
                </a:solidFill>
                <a:cs typeface="Times New Roman" pitchFamily="18" charset="0"/>
              </a:rPr>
              <a:t>, </a:t>
            </a:r>
            <a:r>
              <a:rPr lang="en-US" sz="2000" i="1" dirty="0" err="1">
                <a:solidFill>
                  <a:srgbClr val="0070C0"/>
                </a:solidFill>
                <a:cs typeface="Times New Roman" pitchFamily="18" charset="0"/>
              </a:rPr>
              <a:t>d</a:t>
            </a:r>
            <a:r>
              <a:rPr lang="en-US" sz="2000" i="1" baseline="-30000" dirty="0" err="1">
                <a:solidFill>
                  <a:srgbClr val="0070C0"/>
                </a:solidFill>
                <a:cs typeface="Times New Roman" pitchFamily="18" charset="0"/>
              </a:rPr>
              <a:t>2</a:t>
            </a:r>
            <a:r>
              <a:rPr lang="en-US" sz="2000" dirty="0">
                <a:solidFill>
                  <a:srgbClr val="0070C0"/>
                </a:solidFill>
                <a:cs typeface="Times New Roman" pitchFamily="18" charset="0"/>
              </a:rPr>
              <a:t> ) =  (</a:t>
            </a:r>
            <a:r>
              <a:rPr lang="en-US" sz="2000" i="1" dirty="0" err="1">
                <a:solidFill>
                  <a:srgbClr val="0070C0"/>
                </a:solidFill>
                <a:cs typeface="Times New Roman" pitchFamily="18" charset="0"/>
              </a:rPr>
              <a:t>d</a:t>
            </a:r>
            <a:r>
              <a:rPr lang="en-US" sz="2000" i="1" baseline="-30000" dirty="0" err="1">
                <a:solidFill>
                  <a:srgbClr val="0070C0"/>
                </a:solidFill>
                <a:cs typeface="Times New Roman" pitchFamily="18" charset="0"/>
              </a:rPr>
              <a:t>1</a:t>
            </a:r>
            <a:r>
              <a:rPr lang="en-US" sz="2000" dirty="0">
                <a:solidFill>
                  <a:srgbClr val="0070C0"/>
                </a:solidFill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000" dirty="0">
                <a:solidFill>
                  <a:srgbClr val="0070C0"/>
                </a:solidFill>
                <a:cs typeface="Times New Roman" pitchFamily="18" charset="0"/>
              </a:rPr>
              <a:t> </a:t>
            </a:r>
            <a:r>
              <a:rPr lang="en-US" sz="2000" i="1" dirty="0" err="1">
                <a:solidFill>
                  <a:srgbClr val="0070C0"/>
                </a:solidFill>
                <a:cs typeface="Times New Roman" pitchFamily="18" charset="0"/>
              </a:rPr>
              <a:t>d</a:t>
            </a:r>
            <a:r>
              <a:rPr lang="en-US" sz="2000" i="1" baseline="-30000" dirty="0" err="1">
                <a:solidFill>
                  <a:srgbClr val="0070C0"/>
                </a:solidFill>
                <a:cs typeface="Times New Roman" pitchFamily="18" charset="0"/>
              </a:rPr>
              <a:t>2</a:t>
            </a:r>
            <a:r>
              <a:rPr lang="en-US" sz="2000" dirty="0">
                <a:solidFill>
                  <a:srgbClr val="0070C0"/>
                </a:solidFill>
                <a:cs typeface="Times New Roman" pitchFamily="18" charset="0"/>
              </a:rPr>
              <a:t>) / ||</a:t>
            </a:r>
            <a:r>
              <a:rPr lang="en-US" sz="2000" i="1" dirty="0" err="1">
                <a:solidFill>
                  <a:srgbClr val="0070C0"/>
                </a:solidFill>
                <a:cs typeface="Times New Roman" pitchFamily="18" charset="0"/>
              </a:rPr>
              <a:t>d</a:t>
            </a:r>
            <a:r>
              <a:rPr lang="en-US" sz="2000" i="1" baseline="-30000" dirty="0" err="1">
                <a:solidFill>
                  <a:srgbClr val="0070C0"/>
                </a:solidFill>
                <a:cs typeface="Times New Roman" pitchFamily="18" charset="0"/>
              </a:rPr>
              <a:t>1</a:t>
            </a:r>
            <a:r>
              <a:rPr lang="en-US" sz="2000" dirty="0">
                <a:solidFill>
                  <a:srgbClr val="0070C0"/>
                </a:solidFill>
                <a:cs typeface="Times New Roman" pitchFamily="18" charset="0"/>
              </a:rPr>
              <a:t>|| ||</a:t>
            </a:r>
            <a:r>
              <a:rPr lang="en-US" sz="2000" i="1" dirty="0" err="1">
                <a:solidFill>
                  <a:srgbClr val="0070C0"/>
                </a:solidFill>
                <a:cs typeface="Times New Roman" pitchFamily="18" charset="0"/>
              </a:rPr>
              <a:t>d</a:t>
            </a:r>
            <a:r>
              <a:rPr lang="en-US" sz="2000" i="1" baseline="-30000" dirty="0" err="1">
                <a:solidFill>
                  <a:srgbClr val="0070C0"/>
                </a:solidFill>
                <a:cs typeface="Times New Roman" pitchFamily="18" charset="0"/>
              </a:rPr>
              <a:t>2</a:t>
            </a:r>
            <a:r>
              <a:rPr lang="en-US" sz="2000" dirty="0">
                <a:solidFill>
                  <a:srgbClr val="0070C0"/>
                </a:solidFill>
                <a:cs typeface="Times New Roman" pitchFamily="18" charset="0"/>
              </a:rPr>
              <a:t>|| </a:t>
            </a:r>
            <a:r>
              <a:rPr lang="en-US" sz="2000" dirty="0">
                <a:cs typeface="Times New Roman" pitchFamily="18" charset="0"/>
              </a:rPr>
              <a:t>, </a:t>
            </a:r>
          </a:p>
          <a:p>
            <a:pPr marL="0" indent="0" algn="just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r>
              <a:rPr lang="en-US" sz="1600" dirty="0">
                <a:cs typeface="Times New Roman" pitchFamily="18" charset="0"/>
              </a:rPr>
              <a:t>   </a:t>
            </a:r>
            <a:r>
              <a:rPr lang="en-US" sz="1800" dirty="0">
                <a:cs typeface="Times New Roman" pitchFamily="18" charset="0"/>
              </a:rPr>
              <a:t>where 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1800" dirty="0">
                <a:cs typeface="Times New Roman" pitchFamily="18" charset="0"/>
              </a:rPr>
              <a:t> indicates vector dot product and || </a:t>
            </a:r>
            <a:r>
              <a:rPr lang="en-US" sz="1800" i="1" dirty="0">
                <a:cs typeface="Times New Roman" pitchFamily="18" charset="0"/>
              </a:rPr>
              <a:t>d </a:t>
            </a:r>
            <a:r>
              <a:rPr lang="en-US" sz="1800" dirty="0">
                <a:cs typeface="Times New Roman" pitchFamily="18" charset="0"/>
              </a:rPr>
              <a:t>|| is  the   length of vector </a:t>
            </a:r>
            <a:r>
              <a:rPr lang="en-US" sz="1800" i="1" dirty="0">
                <a:cs typeface="Times New Roman" pitchFamily="18" charset="0"/>
              </a:rPr>
              <a:t>d</a:t>
            </a:r>
            <a:r>
              <a:rPr lang="en-US" sz="1800" dirty="0">
                <a:cs typeface="Times New Roman" pitchFamily="18" charset="0"/>
              </a:rPr>
              <a:t>.</a:t>
            </a:r>
            <a:r>
              <a:rPr lang="en-US" sz="2400" dirty="0">
                <a:cs typeface="Times New Roman" pitchFamily="18" charset="0"/>
              </a:rPr>
              <a:t>  </a:t>
            </a:r>
          </a:p>
          <a:p>
            <a:pPr marL="2514600" lvl="4" indent="-342900" algn="just">
              <a:lnSpc>
                <a:spcPct val="90000"/>
              </a:lnSpc>
            </a:pPr>
            <a:endParaRPr lang="en-US" sz="1600" dirty="0">
              <a:cs typeface="Times New Roman" pitchFamily="18" charset="0"/>
            </a:endParaRPr>
          </a:p>
          <a:p>
            <a:pPr marL="0" indent="0" algn="just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cs typeface="Times New Roman" pitchFamily="18" charset="0"/>
              </a:rPr>
              <a:t> Example: </a:t>
            </a:r>
          </a:p>
          <a:p>
            <a:pPr marL="0" indent="0" algn="just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sz="1000" dirty="0"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i="1" dirty="0">
                <a:cs typeface="Times New Roman" pitchFamily="18" charset="0"/>
              </a:rPr>
              <a:t>  	</a:t>
            </a:r>
            <a:r>
              <a:rPr lang="en-US" sz="1800" i="1" dirty="0" err="1">
                <a:solidFill>
                  <a:schemeClr val="accent6">
                    <a:lumMod val="75000"/>
                  </a:schemeClr>
                </a:solidFill>
                <a:cs typeface="Times New Roman" pitchFamily="18" charset="0"/>
              </a:rPr>
              <a:t>d</a:t>
            </a:r>
            <a:r>
              <a:rPr lang="en-US" sz="1800" i="1" baseline="-30000" dirty="0" err="1">
                <a:solidFill>
                  <a:schemeClr val="accent6">
                    <a:lumMod val="75000"/>
                  </a:schemeClr>
                </a:solidFill>
                <a:cs typeface="Times New Roman" pitchFamily="18" charset="0"/>
              </a:rPr>
              <a:t>1</a:t>
            </a:r>
            <a:r>
              <a:rPr lang="en-US" sz="1800" i="1" dirty="0">
                <a:solidFill>
                  <a:schemeClr val="accent6">
                    <a:lumMod val="75000"/>
                  </a:schemeClr>
                </a:solidFill>
                <a:cs typeface="Times New Roman" pitchFamily="18" charset="0"/>
              </a:rPr>
              <a:t>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cs typeface="Times New Roman" pitchFamily="18" charset="0"/>
              </a:rPr>
              <a:t>=  3 2 0 5 0 0 0 2 0 0 	</a:t>
            </a:r>
            <a:endParaRPr lang="en-US" sz="1800" dirty="0">
              <a:solidFill>
                <a:schemeClr val="accent6">
                  <a:lumMod val="75000"/>
                </a:schemeClr>
              </a:solidFill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r>
              <a:rPr lang="en-US" sz="1800" i="1" dirty="0">
                <a:solidFill>
                  <a:schemeClr val="accent6">
                    <a:lumMod val="75000"/>
                  </a:schemeClr>
                </a:solidFill>
                <a:cs typeface="Times New Roman" pitchFamily="18" charset="0"/>
              </a:rPr>
              <a:t>   	</a:t>
            </a:r>
            <a:r>
              <a:rPr lang="en-US" sz="1800" i="1" dirty="0" err="1">
                <a:solidFill>
                  <a:schemeClr val="accent6">
                    <a:lumMod val="75000"/>
                  </a:schemeClr>
                </a:solidFill>
                <a:cs typeface="Times New Roman" pitchFamily="18" charset="0"/>
              </a:rPr>
              <a:t>d</a:t>
            </a:r>
            <a:r>
              <a:rPr lang="en-US" sz="1800" i="1" baseline="-30000" dirty="0" err="1">
                <a:solidFill>
                  <a:schemeClr val="accent6">
                    <a:lumMod val="75000"/>
                  </a:schemeClr>
                </a:solidFill>
                <a:cs typeface="Times New Roman" pitchFamily="18" charset="0"/>
              </a:rPr>
              <a:t>2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cs typeface="Times New Roman" pitchFamily="18" charset="0"/>
              </a:rPr>
              <a:t> =  1 0 0 0 0 0 0 1 0 2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cs typeface="Times New Roman" pitchFamily="18" charset="0"/>
              </a:rPr>
              <a:t> 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sz="1800" dirty="0"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r>
              <a:rPr lang="en-US" sz="1600" i="1" dirty="0">
                <a:cs typeface="Times New Roman" pitchFamily="18" charset="0"/>
              </a:rPr>
              <a:t>    </a:t>
            </a:r>
            <a:r>
              <a:rPr lang="en-US" sz="1600" i="1" dirty="0" err="1">
                <a:solidFill>
                  <a:srgbClr val="0070C0"/>
                </a:solidFill>
                <a:cs typeface="Times New Roman" pitchFamily="18" charset="0"/>
              </a:rPr>
              <a:t>d</a:t>
            </a:r>
            <a:r>
              <a:rPr lang="en-US" sz="1600" i="1" baseline="-30000" dirty="0" err="1">
                <a:solidFill>
                  <a:srgbClr val="0070C0"/>
                </a:solidFill>
                <a:cs typeface="Times New Roman" pitchFamily="18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cs typeface="Times New Roman" pitchFamily="18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1600" dirty="0">
                <a:solidFill>
                  <a:srgbClr val="0070C0"/>
                </a:solidFill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0070C0"/>
                </a:solidFill>
                <a:cs typeface="Times New Roman" pitchFamily="18" charset="0"/>
              </a:rPr>
              <a:t>d</a:t>
            </a:r>
            <a:r>
              <a:rPr lang="en-US" sz="1600" i="1" baseline="-30000" dirty="0" err="1">
                <a:solidFill>
                  <a:srgbClr val="0070C0"/>
                </a:solidFill>
                <a:cs typeface="Times New Roman" pitchFamily="18" charset="0"/>
              </a:rPr>
              <a:t>2</a:t>
            </a:r>
            <a:r>
              <a:rPr lang="en-US" sz="1600" dirty="0">
                <a:solidFill>
                  <a:srgbClr val="0070C0"/>
                </a:solidFill>
                <a:cs typeface="Times New Roman" pitchFamily="18" charset="0"/>
              </a:rPr>
              <a:t>=  3*1 + 2*0 + 0*0 + 5*0 + 0*0 + 0*0 + 0*0 + 2*1 + 0*0 + 0*2 = 5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solidFill>
                  <a:srgbClr val="0070C0"/>
                </a:solidFill>
                <a:cs typeface="Times New Roman" pitchFamily="18" charset="0"/>
              </a:rPr>
              <a:t>   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solidFill>
                  <a:srgbClr val="0070C0"/>
                </a:solidFill>
                <a:cs typeface="Times New Roman" pitchFamily="18" charset="0"/>
              </a:rPr>
              <a:t>   </a:t>
            </a:r>
            <a:r>
              <a:rPr lang="en-US" sz="1600" dirty="0">
                <a:solidFill>
                  <a:srgbClr val="0070C0"/>
                </a:solidFill>
                <a:cs typeface="Times New Roman" pitchFamily="18" charset="0"/>
              </a:rPr>
              <a:t>||</a:t>
            </a:r>
            <a:r>
              <a:rPr lang="en-US" sz="1600" i="1" dirty="0" err="1">
                <a:solidFill>
                  <a:srgbClr val="0070C0"/>
                </a:solidFill>
                <a:cs typeface="Times New Roman" pitchFamily="18" charset="0"/>
              </a:rPr>
              <a:t>d</a:t>
            </a:r>
            <a:r>
              <a:rPr lang="en-US" sz="1600" i="1" baseline="-30000" dirty="0" err="1">
                <a:solidFill>
                  <a:srgbClr val="0070C0"/>
                </a:solidFill>
                <a:cs typeface="Times New Roman" pitchFamily="18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cs typeface="Times New Roman" pitchFamily="18" charset="0"/>
              </a:rPr>
              <a:t>|| = (3*3+2*2+0*0+5*5+0*0+0*0+0*0+2*2+0*0+0*0)</a:t>
            </a:r>
            <a:r>
              <a:rPr lang="en-US" sz="1600" b="1" baseline="30000" dirty="0">
                <a:solidFill>
                  <a:srgbClr val="0070C0"/>
                </a:solidFill>
                <a:cs typeface="Times New Roman" pitchFamily="18" charset="0"/>
              </a:rPr>
              <a:t>0.5</a:t>
            </a:r>
            <a:r>
              <a:rPr lang="en-US" sz="1600" dirty="0">
                <a:solidFill>
                  <a:srgbClr val="0070C0"/>
                </a:solidFill>
                <a:cs typeface="Times New Roman" pitchFamily="18" charset="0"/>
              </a:rPr>
              <a:t> =  (42) </a:t>
            </a:r>
            <a:r>
              <a:rPr lang="en-US" sz="1600" b="1" baseline="30000" dirty="0">
                <a:solidFill>
                  <a:srgbClr val="0070C0"/>
                </a:solidFill>
                <a:cs typeface="Times New Roman" pitchFamily="18" charset="0"/>
              </a:rPr>
              <a:t>0.5</a:t>
            </a:r>
            <a:r>
              <a:rPr lang="en-US" sz="1600" dirty="0">
                <a:solidFill>
                  <a:srgbClr val="0070C0"/>
                </a:solidFill>
                <a:cs typeface="Times New Roman" pitchFamily="18" charset="0"/>
              </a:rPr>
              <a:t> = 6.481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r>
              <a:rPr lang="en-US" sz="1600" dirty="0">
                <a:solidFill>
                  <a:srgbClr val="0070C0"/>
                </a:solidFill>
                <a:cs typeface="Times New Roman" pitchFamily="18" charset="0"/>
              </a:rPr>
              <a:t>    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r>
              <a:rPr lang="en-US" sz="1600" dirty="0">
                <a:solidFill>
                  <a:srgbClr val="0070C0"/>
                </a:solidFill>
                <a:cs typeface="Times New Roman" pitchFamily="18" charset="0"/>
              </a:rPr>
              <a:t>    ||</a:t>
            </a:r>
            <a:r>
              <a:rPr lang="en-US" sz="1600" i="1" dirty="0" err="1">
                <a:solidFill>
                  <a:srgbClr val="0070C0"/>
                </a:solidFill>
                <a:cs typeface="Times New Roman" pitchFamily="18" charset="0"/>
              </a:rPr>
              <a:t>d</a:t>
            </a:r>
            <a:r>
              <a:rPr lang="en-US" sz="1600" i="1" baseline="-30000" dirty="0" err="1">
                <a:solidFill>
                  <a:srgbClr val="0070C0"/>
                </a:solidFill>
                <a:cs typeface="Times New Roman" pitchFamily="18" charset="0"/>
              </a:rPr>
              <a:t>2</a:t>
            </a:r>
            <a:r>
              <a:rPr lang="en-US" sz="1600" dirty="0">
                <a:solidFill>
                  <a:srgbClr val="0070C0"/>
                </a:solidFill>
                <a:cs typeface="Times New Roman" pitchFamily="18" charset="0"/>
              </a:rPr>
              <a:t>|| = (1*1+0*0+0*0+0*0+0*0+0*0+0*0+1*1+0*0+2*2)</a:t>
            </a:r>
            <a:r>
              <a:rPr lang="en-US" sz="1600" baseline="30000" dirty="0">
                <a:solidFill>
                  <a:srgbClr val="0070C0"/>
                </a:solidFill>
                <a:cs typeface="Times New Roman" pitchFamily="18" charset="0"/>
              </a:rPr>
              <a:t> </a:t>
            </a:r>
            <a:r>
              <a:rPr lang="en-US" sz="1600" b="1" baseline="30000" dirty="0">
                <a:solidFill>
                  <a:srgbClr val="0070C0"/>
                </a:solidFill>
                <a:cs typeface="Times New Roman" pitchFamily="18" charset="0"/>
              </a:rPr>
              <a:t>0.5</a:t>
            </a:r>
            <a:r>
              <a:rPr lang="en-US" sz="1600" baseline="30000" dirty="0">
                <a:solidFill>
                  <a:srgbClr val="0070C0"/>
                </a:solidFill>
                <a:cs typeface="Times New Roman" pitchFamily="18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cs typeface="Times New Roman" pitchFamily="18" charset="0"/>
              </a:rPr>
              <a:t>= (6) </a:t>
            </a:r>
            <a:r>
              <a:rPr lang="en-US" sz="1600" b="1" baseline="30000" dirty="0">
                <a:solidFill>
                  <a:srgbClr val="0070C0"/>
                </a:solidFill>
                <a:cs typeface="Times New Roman" pitchFamily="18" charset="0"/>
              </a:rPr>
              <a:t>0.5</a:t>
            </a:r>
            <a:r>
              <a:rPr lang="en-US" sz="1600" dirty="0">
                <a:solidFill>
                  <a:srgbClr val="0070C0"/>
                </a:solidFill>
                <a:cs typeface="Times New Roman" pitchFamily="18" charset="0"/>
              </a:rPr>
              <a:t> = 2.245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sz="1600" dirty="0">
              <a:solidFill>
                <a:srgbClr val="0070C0"/>
              </a:solidFill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r>
              <a:rPr lang="en-US" sz="1800" dirty="0">
                <a:solidFill>
                  <a:srgbClr val="0070C0"/>
                </a:solidFill>
                <a:cs typeface="Times New Roman" pitchFamily="18" charset="0"/>
              </a:rPr>
              <a:t>    	</a:t>
            </a:r>
            <a:r>
              <a:rPr lang="en-US" sz="1800" dirty="0" err="1">
                <a:solidFill>
                  <a:srgbClr val="0070C0"/>
                </a:solidFill>
                <a:cs typeface="Times New Roman" pitchFamily="18" charset="0"/>
              </a:rPr>
              <a:t>cos</a:t>
            </a:r>
            <a:r>
              <a:rPr lang="en-US" sz="1800" dirty="0">
                <a:solidFill>
                  <a:srgbClr val="0070C0"/>
                </a:solidFill>
                <a:cs typeface="Times New Roman" pitchFamily="18" charset="0"/>
              </a:rPr>
              <a:t>( </a:t>
            </a:r>
            <a:r>
              <a:rPr lang="en-US" sz="1800" i="1" dirty="0" err="1">
                <a:solidFill>
                  <a:srgbClr val="0070C0"/>
                </a:solidFill>
                <a:cs typeface="Times New Roman" pitchFamily="18" charset="0"/>
              </a:rPr>
              <a:t>d</a:t>
            </a:r>
            <a:r>
              <a:rPr lang="en-US" sz="1800" i="1" baseline="-30000" dirty="0" err="1">
                <a:solidFill>
                  <a:srgbClr val="0070C0"/>
                </a:solidFill>
                <a:cs typeface="Times New Roman" pitchFamily="18" charset="0"/>
              </a:rPr>
              <a:t>1</a:t>
            </a:r>
            <a:r>
              <a:rPr lang="en-US" sz="1800" i="1" dirty="0">
                <a:solidFill>
                  <a:srgbClr val="0070C0"/>
                </a:solidFill>
                <a:cs typeface="Times New Roman" pitchFamily="18" charset="0"/>
              </a:rPr>
              <a:t>, </a:t>
            </a:r>
            <a:r>
              <a:rPr lang="en-US" sz="1800" i="1" dirty="0" err="1">
                <a:solidFill>
                  <a:srgbClr val="0070C0"/>
                </a:solidFill>
                <a:cs typeface="Times New Roman" pitchFamily="18" charset="0"/>
              </a:rPr>
              <a:t>d</a:t>
            </a:r>
            <a:r>
              <a:rPr lang="en-US" sz="1800" i="1" baseline="-30000" dirty="0" err="1">
                <a:solidFill>
                  <a:srgbClr val="0070C0"/>
                </a:solidFill>
                <a:cs typeface="Times New Roman" pitchFamily="18" charset="0"/>
              </a:rPr>
              <a:t>2</a:t>
            </a:r>
            <a:r>
              <a:rPr lang="en-US" sz="1800" dirty="0">
                <a:solidFill>
                  <a:srgbClr val="0070C0"/>
                </a:solidFill>
                <a:cs typeface="Times New Roman" pitchFamily="18" charset="0"/>
              </a:rPr>
              <a:t> ) = .3150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sz="1800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08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</p:nvPr>
        </p:nvGraphicFramePr>
        <p:xfrm>
          <a:off x="469545" y="1981200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00B050"/>
                          </a:solidFill>
                        </a:rPr>
                        <a:t>D1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D2</a:t>
                      </a:r>
                      <a:endPara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/>
          <p:nvPr/>
        </p:nvCxnSpPr>
        <p:spPr>
          <a:xfrm flipH="1" flipV="1">
            <a:off x="6248397" y="4299466"/>
            <a:ext cx="5" cy="1339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248400" y="5638800"/>
            <a:ext cx="1295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5562600" y="5638800"/>
            <a:ext cx="68580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41268" y="4114800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740845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microsoft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638043" y="6248400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{Obama, election}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6248400" y="5105400"/>
            <a:ext cx="1219200" cy="53340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6248399" y="5448301"/>
            <a:ext cx="408145" cy="19049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6248398" y="4484132"/>
            <a:ext cx="546973" cy="115466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5951674" y="5638799"/>
            <a:ext cx="296721" cy="2867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4572000"/>
            <a:ext cx="475643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Cos(D1,D2) = 1</a:t>
            </a:r>
          </a:p>
          <a:p>
            <a:endParaRPr lang="en-US" dirty="0"/>
          </a:p>
          <a:p>
            <a:r>
              <a:rPr lang="en-US" dirty="0"/>
              <a:t>Cos (D3,D1) = Cos(D3,D2) = 4/5</a:t>
            </a:r>
          </a:p>
          <a:p>
            <a:endParaRPr lang="en-US" dirty="0"/>
          </a:p>
          <a:p>
            <a:r>
              <a:rPr lang="en-US" dirty="0"/>
              <a:t>Cos(D4,D1) = Cos(D4,D2) = Cos(D4,D3) = 0</a:t>
            </a:r>
          </a:p>
        </p:txBody>
      </p:sp>
    </p:spTree>
    <p:extLst>
      <p:ext uri="{BB962C8B-B14F-4D97-AF65-F5344CB8AC3E}">
        <p14:creationId xmlns:p14="http://schemas.microsoft.com/office/powerpoint/2010/main" val="2587572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</a:t>
            </a:r>
          </a:p>
        </p:txBody>
      </p:sp>
      <p:sp>
        <p:nvSpPr>
          <p:cNvPr id="87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Numerical measure of how </a:t>
            </a:r>
            <a:r>
              <a:rPr lang="en-US" dirty="0">
                <a:solidFill>
                  <a:srgbClr val="0070C0"/>
                </a:solidFill>
              </a:rPr>
              <a:t>different</a:t>
            </a:r>
            <a:r>
              <a:rPr lang="en-US" dirty="0"/>
              <a:t> two data objects are</a:t>
            </a:r>
          </a:p>
          <a:p>
            <a:pPr lvl="1"/>
            <a:r>
              <a:rPr lang="en-US" dirty="0"/>
              <a:t>A function that maps pairs of objects to real values</a:t>
            </a:r>
          </a:p>
          <a:p>
            <a:pPr lvl="1"/>
            <a:r>
              <a:rPr lang="en-US" dirty="0"/>
              <a:t>Lower when objects are more alike</a:t>
            </a:r>
          </a:p>
          <a:p>
            <a:pPr lvl="1"/>
            <a:r>
              <a:rPr lang="en-US" dirty="0"/>
              <a:t>Higher when two objects are different</a:t>
            </a:r>
          </a:p>
          <a:p>
            <a:r>
              <a:rPr lang="en-US" dirty="0"/>
              <a:t>Minimum distance is 0, when comparing an object with itself.</a:t>
            </a:r>
          </a:p>
          <a:p>
            <a:r>
              <a:rPr lang="en-US" dirty="0"/>
              <a:t>Upper limit varies</a:t>
            </a:r>
          </a:p>
        </p:txBody>
      </p:sp>
    </p:spTree>
    <p:extLst>
      <p:ext uri="{BB962C8B-B14F-4D97-AF65-F5344CB8AC3E}">
        <p14:creationId xmlns:p14="http://schemas.microsoft.com/office/powerpoint/2010/main" val="2514934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Metric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distance function </a:t>
            </a:r>
            <a:r>
              <a:rPr lang="en-US" dirty="0">
                <a:solidFill>
                  <a:srgbClr val="0070C0"/>
                </a:solidFill>
              </a:rPr>
              <a:t>d</a:t>
            </a:r>
            <a:r>
              <a:rPr lang="en-US" dirty="0"/>
              <a:t>  is a </a:t>
            </a:r>
            <a:r>
              <a:rPr lang="en-US" dirty="0">
                <a:solidFill>
                  <a:srgbClr val="FF0000"/>
                </a:solidFill>
              </a:rPr>
              <a:t>distance metric </a:t>
            </a:r>
            <a:r>
              <a:rPr lang="en-US" dirty="0"/>
              <a:t>if it is a function from pairs of objects to real numbers such that: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dirty="0"/>
              <a:t>d(</a:t>
            </a:r>
            <a:r>
              <a:rPr lang="en-US" dirty="0" err="1"/>
              <a:t>x,y</a:t>
            </a:r>
            <a:r>
              <a:rPr lang="en-US" dirty="0"/>
              <a:t>) </a:t>
            </a:r>
            <a:r>
              <a:rPr lang="en-US" u="sng" dirty="0"/>
              <a:t>&gt;</a:t>
            </a:r>
            <a:r>
              <a:rPr lang="en-US" dirty="0"/>
              <a:t> 0.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non-negativity</a:t>
            </a:r>
            <a:r>
              <a:rPr lang="en-US" dirty="0"/>
              <a:t>)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dirty="0"/>
              <a:t>d(</a:t>
            </a:r>
            <a:r>
              <a:rPr lang="en-US" dirty="0" err="1"/>
              <a:t>x,y</a:t>
            </a:r>
            <a:r>
              <a:rPr lang="en-US" dirty="0"/>
              <a:t>) = 0 </a:t>
            </a:r>
            <a:r>
              <a:rPr lang="en-US" dirty="0" err="1"/>
              <a:t>iff</a:t>
            </a:r>
            <a:r>
              <a:rPr lang="en-US" dirty="0"/>
              <a:t> x = y.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identity</a:t>
            </a:r>
            <a:r>
              <a:rPr lang="en-US" dirty="0"/>
              <a:t>)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dirty="0"/>
              <a:t>d(</a:t>
            </a:r>
            <a:r>
              <a:rPr lang="en-US" dirty="0" err="1"/>
              <a:t>x,y</a:t>
            </a:r>
            <a:r>
              <a:rPr lang="en-US" dirty="0"/>
              <a:t>) = d(</a:t>
            </a:r>
            <a:r>
              <a:rPr lang="en-US" dirty="0" err="1"/>
              <a:t>y,x</a:t>
            </a:r>
            <a:r>
              <a:rPr lang="en-US" dirty="0"/>
              <a:t>).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symmetry</a:t>
            </a:r>
            <a:r>
              <a:rPr lang="en-US" dirty="0"/>
              <a:t>)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dirty="0"/>
              <a:t>d(</a:t>
            </a:r>
            <a:r>
              <a:rPr lang="en-US" dirty="0" err="1"/>
              <a:t>x,y</a:t>
            </a:r>
            <a:r>
              <a:rPr lang="en-US" dirty="0"/>
              <a:t>) </a:t>
            </a:r>
            <a:r>
              <a:rPr lang="en-US" u="sng" dirty="0"/>
              <a:t>&lt;</a:t>
            </a:r>
            <a:r>
              <a:rPr lang="en-US" dirty="0"/>
              <a:t> d(</a:t>
            </a:r>
            <a:r>
              <a:rPr lang="en-US" dirty="0" err="1"/>
              <a:t>x,z</a:t>
            </a:r>
            <a:r>
              <a:rPr lang="en-US" dirty="0"/>
              <a:t>) + d(</a:t>
            </a:r>
            <a:r>
              <a:rPr lang="en-US" dirty="0" err="1"/>
              <a:t>z,y</a:t>
            </a:r>
            <a:r>
              <a:rPr lang="en-US" dirty="0"/>
              <a:t>)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triangle inequality 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86898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Inequality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Triangle inequality guarantees that the distance function is </a:t>
            </a:r>
            <a:r>
              <a:rPr lang="en-US" dirty="0">
                <a:solidFill>
                  <a:srgbClr val="EF8511"/>
                </a:solidFill>
              </a:rPr>
              <a:t>well-behaved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direct connection is the shortest distance</a:t>
            </a:r>
          </a:p>
          <a:p>
            <a:pPr lvl="1"/>
            <a:endParaRPr lang="en-US" dirty="0"/>
          </a:p>
          <a:p>
            <a:r>
              <a:rPr lang="en-US" dirty="0"/>
              <a:t>It is useful also for proving useful </a:t>
            </a:r>
            <a:r>
              <a:rPr lang="en-US" dirty="0">
                <a:solidFill>
                  <a:srgbClr val="0070C0"/>
                </a:solidFill>
              </a:rPr>
              <a:t>properties</a:t>
            </a:r>
            <a:r>
              <a:rPr lang="en-US" dirty="0"/>
              <a:t> about the data.</a:t>
            </a:r>
          </a:p>
        </p:txBody>
      </p:sp>
    </p:spTree>
    <p:extLst>
      <p:ext uri="{BB962C8B-B14F-4D97-AF65-F5344CB8AC3E}">
        <p14:creationId xmlns:p14="http://schemas.microsoft.com/office/powerpoint/2010/main" val="157366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Distances for real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Vectors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US" b="1" dirty="0" err="1">
                    <a:solidFill>
                      <a:srgbClr val="FF0000"/>
                    </a:solidFill>
                  </a:rPr>
                  <a:t>L</a:t>
                </a:r>
                <a:r>
                  <a:rPr lang="en-US" b="1" baseline="-25000" dirty="0" err="1">
                    <a:solidFill>
                      <a:srgbClr val="FF0000"/>
                    </a:solidFill>
                  </a:rPr>
                  <a:t>p</a:t>
                </a:r>
                <a:r>
                  <a:rPr lang="en-US" dirty="0"/>
                  <a:t> norms or </a:t>
                </a: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Minkowski</a:t>
                </a:r>
                <a:r>
                  <a:rPr lang="en-US" i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distance: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𝑝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+ ⋯+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𝑝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US" b="1" dirty="0" err="1">
                    <a:solidFill>
                      <a:srgbClr val="FF0000"/>
                    </a:solidFill>
                  </a:rPr>
                  <a:t>L</a:t>
                </a:r>
                <a:r>
                  <a:rPr lang="en-US" b="1" baseline="-25000" dirty="0" err="1">
                    <a:solidFill>
                      <a:srgbClr val="FF0000"/>
                    </a:solidFill>
                  </a:rPr>
                  <a:t>2</a:t>
                </a:r>
                <a:r>
                  <a:rPr lang="en-US" dirty="0"/>
                  <a:t> norm: </a:t>
                </a:r>
                <a:r>
                  <a:rPr lang="en-US" dirty="0">
                    <a:solidFill>
                      <a:srgbClr val="0070C0"/>
                    </a:solidFill>
                  </a:rPr>
                  <a:t>Euclidean </a:t>
                </a:r>
                <a:r>
                  <a:rPr lang="en-US" dirty="0"/>
                  <a:t>distance: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 ⋯+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𝑑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  <a:p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US" b="1" dirty="0" err="1">
                    <a:solidFill>
                      <a:srgbClr val="FF0000"/>
                    </a:solidFill>
                  </a:rPr>
                  <a:t>L</a:t>
                </a:r>
                <a:r>
                  <a:rPr lang="en-US" b="1" baseline="-25000" dirty="0" err="1">
                    <a:solidFill>
                      <a:srgbClr val="FF0000"/>
                    </a:solidFill>
                  </a:rPr>
                  <a:t>1</a:t>
                </a:r>
                <a:r>
                  <a:rPr lang="en-US" dirty="0"/>
                  <a:t> norm: </a:t>
                </a:r>
                <a:r>
                  <a:rPr lang="en-US" dirty="0">
                    <a:solidFill>
                      <a:srgbClr val="0070C0"/>
                    </a:solidFill>
                  </a:rPr>
                  <a:t>Manhattan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distance: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+ ⋯+|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|</m:t>
                      </m:r>
                    </m:oMath>
                  </m:oMathPara>
                </a14:m>
                <a:endParaRPr lang="en-US" dirty="0">
                  <a:solidFill>
                    <a:prstClr val="black"/>
                  </a:solidFill>
                </a:endParaRPr>
              </a:p>
              <a:p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L</a:t>
                </a:r>
                <a14:m>
                  <m:oMath xmlns:m="http://schemas.openxmlformats.org/officeDocument/2006/math">
                    <m:r>
                      <a:rPr lang="en-US" b="1" baseline="-25000" dirty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dirty="0"/>
                  <a:t> norm: 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,…,|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|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The limit of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L</a:t>
                </a:r>
                <a:r>
                  <a:rPr lang="en-US" b="1" baseline="-25000" dirty="0" err="1">
                    <a:solidFill>
                      <a:srgbClr val="FF0000"/>
                    </a:solidFill>
                  </a:rPr>
                  <a:t>p</a:t>
                </a:r>
                <a:r>
                  <a:rPr lang="en-US" dirty="0"/>
                  <a:t> as </a:t>
                </a:r>
                <a:r>
                  <a:rPr lang="en-US" dirty="0">
                    <a:solidFill>
                      <a:srgbClr val="0070C0"/>
                    </a:solidFill>
                  </a:rPr>
                  <a:t>p</a:t>
                </a:r>
                <a:r>
                  <a:rPr lang="en-US" dirty="0"/>
                  <a:t> goes to infinity.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prstClr val="black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44" t="-2000" b="-1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582465" y="5301734"/>
            <a:ext cx="4583306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L</a:t>
            </a:r>
            <a:r>
              <a:rPr lang="en-US" baseline="-25000" dirty="0" err="1"/>
              <a:t>p</a:t>
            </a:r>
            <a:r>
              <a:rPr lang="en-US" dirty="0"/>
              <a:t> norms are known to be distance metrics</a:t>
            </a:r>
          </a:p>
        </p:txBody>
      </p:sp>
    </p:spTree>
    <p:extLst>
      <p:ext uri="{BB962C8B-B14F-4D97-AF65-F5344CB8AC3E}">
        <p14:creationId xmlns:p14="http://schemas.microsoft.com/office/powerpoint/2010/main" val="120916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1405A-8A81-4511-B9EE-142060F86931}" type="slidenum">
              <a:rPr lang="en-US"/>
              <a:pPr/>
              <a:t>18</a:t>
            </a:fld>
            <a:endParaRPr lang="en-US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1143000"/>
          </a:xfrm>
        </p:spPr>
        <p:txBody>
          <a:bodyPr/>
          <a:lstStyle/>
          <a:p>
            <a:r>
              <a:rPr lang="en-US" dirty="0">
                <a:solidFill>
                  <a:srgbClr val="33CC33"/>
                </a:solidFill>
              </a:rPr>
              <a:t>Example</a:t>
            </a:r>
            <a:r>
              <a:rPr lang="en-US" dirty="0"/>
              <a:t> of Distances</a:t>
            </a:r>
          </a:p>
        </p:txBody>
      </p:sp>
      <p:sp>
        <p:nvSpPr>
          <p:cNvPr id="13315" name="AutoShape 3"/>
          <p:cNvSpPr>
            <a:spLocks noChangeArrowheads="1"/>
          </p:cNvSpPr>
          <p:nvPr/>
        </p:nvSpPr>
        <p:spPr bwMode="auto">
          <a:xfrm flipH="1">
            <a:off x="2667000" y="2286000"/>
            <a:ext cx="2746375" cy="2284413"/>
          </a:xfrm>
          <a:prstGeom prst="rtTriangl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1812925" y="4605338"/>
            <a:ext cx="13211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x = (5,5)</a:t>
            </a: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5241925" y="1709738"/>
            <a:ext cx="13211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y = (9,8)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8" name="Text Box 6"/>
              <p:cNvSpPr txBox="1">
                <a:spLocks noChangeArrowheads="1"/>
              </p:cNvSpPr>
              <p:nvPr/>
            </p:nvSpPr>
            <p:spPr bwMode="auto">
              <a:xfrm>
                <a:off x="457200" y="1868488"/>
                <a:ext cx="3840163" cy="9089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sz="2400" dirty="0" err="1">
                    <a:solidFill>
                      <a:srgbClr val="CC3300"/>
                    </a:solidFill>
                  </a:rPr>
                  <a:t>L</a:t>
                </a:r>
                <a:r>
                  <a:rPr lang="en-US" sz="2400" baseline="-25000" dirty="0" err="1">
                    <a:solidFill>
                      <a:srgbClr val="CC3300"/>
                    </a:solidFill>
                  </a:rPr>
                  <a:t>2</a:t>
                </a:r>
                <a:r>
                  <a:rPr lang="en-US" sz="2400" dirty="0">
                    <a:solidFill>
                      <a:srgbClr val="CC3300"/>
                    </a:solidFill>
                  </a:rPr>
                  <a:t>-norm</a:t>
                </a:r>
                <a:r>
                  <a:rPr lang="en-US" sz="2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𝑑𝑖𝑠𝑡</m:t>
                      </m:r>
                      <m:r>
                        <a:rPr lang="en-US" sz="2400" i="1" dirty="0">
                          <a:latin typeface="Cambria Math"/>
                        </a:rPr>
                        <m:t>(</m:t>
                      </m:r>
                      <m:r>
                        <a:rPr lang="en-US" sz="2400" i="1" dirty="0" err="1">
                          <a:latin typeface="Cambria Math"/>
                        </a:rPr>
                        <m:t>𝑥</m:t>
                      </m:r>
                      <m:r>
                        <a:rPr lang="en-US" sz="2400" i="1" dirty="0" err="1">
                          <a:latin typeface="Cambria Math"/>
                        </a:rPr>
                        <m:t>,</m:t>
                      </m:r>
                      <m:r>
                        <a:rPr lang="en-US" sz="2400" i="1" dirty="0" err="1">
                          <a:latin typeface="Cambria Math"/>
                        </a:rPr>
                        <m:t>𝑦</m:t>
                      </m:r>
                      <m:r>
                        <a:rPr lang="en-US" sz="2400" i="1" dirty="0">
                          <a:latin typeface="Cambria Math"/>
                        </a:rPr>
                        <m:t>) =</m:t>
                      </m:r>
                      <m:rad>
                        <m:radPr>
                          <m:degHide m:val="on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i="1" dirty="0">
                              <a:latin typeface="Cambria Math"/>
                            </a:rPr>
                            <m:t>4</m:t>
                          </m:r>
                          <m:r>
                            <a:rPr lang="en-US" sz="2400" i="1" baseline="30000" dirty="0">
                              <a:latin typeface="Cambria Math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+3</m:t>
                          </m:r>
                          <m:r>
                            <a:rPr lang="en-US" sz="2400" i="1" baseline="30000" dirty="0">
                              <a:latin typeface="Cambria Math"/>
                            </a:rPr>
                            <m:t>2</m:t>
                          </m:r>
                        </m:e>
                      </m:rad>
                      <m:r>
                        <a:rPr lang="en-US" sz="2400" i="1" dirty="0" smtClean="0">
                          <a:latin typeface="Cambria Math"/>
                        </a:rPr>
                        <m:t>= 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318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868488"/>
                <a:ext cx="3840163" cy="908903"/>
              </a:xfrm>
              <a:prstGeom prst="rect">
                <a:avLst/>
              </a:prstGeom>
              <a:blipFill rotWithShape="1">
                <a:blip r:embed="rId2"/>
                <a:stretch>
                  <a:fillRect l="-2381" t="-469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19" name="Line 7"/>
          <p:cNvSpPr>
            <a:spLocks noChangeShapeType="1"/>
          </p:cNvSpPr>
          <p:nvPr/>
        </p:nvSpPr>
        <p:spPr bwMode="auto">
          <a:xfrm flipV="1">
            <a:off x="2590800" y="2209800"/>
            <a:ext cx="26670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3320" name="AutoShape 8"/>
          <p:cNvCxnSpPr>
            <a:cxnSpLocks noChangeShapeType="1"/>
          </p:cNvCxnSpPr>
          <p:nvPr/>
        </p:nvCxnSpPr>
        <p:spPr bwMode="auto">
          <a:xfrm flipV="1">
            <a:off x="2895600" y="2362200"/>
            <a:ext cx="2590800" cy="2286000"/>
          </a:xfrm>
          <a:prstGeom prst="bentConnector3">
            <a:avLst>
              <a:gd name="adj1" fmla="val 100306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321" name="Text Box 9"/>
              <p:cNvSpPr txBox="1">
                <a:spLocks noChangeArrowheads="1"/>
              </p:cNvSpPr>
              <p:nvPr/>
            </p:nvSpPr>
            <p:spPr bwMode="auto">
              <a:xfrm>
                <a:off x="5586257" y="3690938"/>
                <a:ext cx="3481543" cy="8309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sz="2400" dirty="0" err="1">
                    <a:solidFill>
                      <a:srgbClr val="CC3300"/>
                    </a:solidFill>
                  </a:rPr>
                  <a:t>L</a:t>
                </a:r>
                <a:r>
                  <a:rPr lang="en-US" sz="2400" baseline="-25000" dirty="0" err="1">
                    <a:solidFill>
                      <a:srgbClr val="CC3300"/>
                    </a:solidFill>
                  </a:rPr>
                  <a:t>1</a:t>
                </a:r>
                <a:r>
                  <a:rPr lang="en-US" sz="2400" dirty="0">
                    <a:solidFill>
                      <a:srgbClr val="CC3300"/>
                    </a:solidFill>
                  </a:rPr>
                  <a:t>-norm</a:t>
                </a:r>
                <a:r>
                  <a:rPr lang="en-US" sz="2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𝑑𝑖𝑠𝑡</m:t>
                      </m:r>
                      <m:r>
                        <a:rPr lang="en-US" sz="2400" i="1" dirty="0">
                          <a:latin typeface="Cambria Math"/>
                        </a:rPr>
                        <m:t>(</m:t>
                      </m:r>
                      <m:r>
                        <a:rPr lang="en-US" sz="2400" i="1" dirty="0" err="1">
                          <a:latin typeface="Cambria Math"/>
                        </a:rPr>
                        <m:t>𝑥</m:t>
                      </m:r>
                      <m:r>
                        <a:rPr lang="en-US" sz="2400" i="1" dirty="0" err="1">
                          <a:latin typeface="Cambria Math"/>
                        </a:rPr>
                        <m:t>,</m:t>
                      </m:r>
                      <m:r>
                        <a:rPr lang="en-US" sz="2400" i="1" dirty="0" err="1">
                          <a:latin typeface="Cambria Math"/>
                        </a:rPr>
                        <m:t>𝑦</m:t>
                      </m:r>
                      <m:r>
                        <a:rPr lang="en-US" sz="2400" i="1" dirty="0">
                          <a:latin typeface="Cambria Math"/>
                        </a:rPr>
                        <m:t>) </m:t>
                      </m:r>
                      <m:r>
                        <a:rPr lang="en-US" sz="2400" i="1" dirty="0" smtClean="0">
                          <a:latin typeface="Cambria Math"/>
                        </a:rPr>
                        <m:t>=4+3 </m:t>
                      </m:r>
                      <m:r>
                        <a:rPr lang="en-US" sz="2400" i="1" dirty="0">
                          <a:latin typeface="Cambria Math"/>
                        </a:rPr>
                        <m:t>= 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321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6257" y="3690938"/>
                <a:ext cx="3481543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2622" t="-5109" b="-1021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4022725" y="4148138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4</a:t>
            </a: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5089525" y="3386138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3</a:t>
            </a:r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3946525" y="3386138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9"/>
              <p:cNvSpPr txBox="1">
                <a:spLocks noChangeArrowheads="1"/>
              </p:cNvSpPr>
              <p:nvPr/>
            </p:nvSpPr>
            <p:spPr bwMode="auto">
              <a:xfrm>
                <a:off x="2667000" y="5334000"/>
                <a:ext cx="3856037" cy="8309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CC3300"/>
                    </a:solidFill>
                  </a:rPr>
                  <a:t>L</a:t>
                </a:r>
                <a14:m>
                  <m:oMath xmlns:m="http://schemas.openxmlformats.org/officeDocument/2006/math">
                    <m:r>
                      <a:rPr lang="en-US" sz="2400" i="1" baseline="-25000" dirty="0" smtClean="0">
                        <a:solidFill>
                          <a:srgbClr val="CC3300"/>
                        </a:solidFill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sz="2400" dirty="0">
                    <a:solidFill>
                      <a:srgbClr val="CC3300"/>
                    </a:solidFill>
                  </a:rPr>
                  <a:t>-norm</a:t>
                </a:r>
                <a:r>
                  <a:rPr lang="en-US" sz="2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𝑑𝑖𝑠𝑡</m:t>
                      </m:r>
                      <m:r>
                        <a:rPr lang="en-US" sz="2400" i="1" dirty="0">
                          <a:latin typeface="Cambria Math"/>
                        </a:rPr>
                        <m:t>(</m:t>
                      </m:r>
                      <m:r>
                        <a:rPr lang="en-US" sz="2400" i="1" dirty="0" err="1">
                          <a:latin typeface="Cambria Math"/>
                        </a:rPr>
                        <m:t>𝑥</m:t>
                      </m:r>
                      <m:r>
                        <a:rPr lang="en-US" sz="2400" i="1" dirty="0" err="1">
                          <a:latin typeface="Cambria Math"/>
                        </a:rPr>
                        <m:t>,</m:t>
                      </m:r>
                      <m:r>
                        <a:rPr lang="en-US" sz="2400" i="1" dirty="0" err="1">
                          <a:latin typeface="Cambria Math"/>
                        </a:rPr>
                        <m:t>𝑦</m:t>
                      </m:r>
                      <m:r>
                        <a:rPr lang="en-US" sz="2400" i="1" dirty="0">
                          <a:latin typeface="Cambria Math"/>
                        </a:rPr>
                        <m:t>) 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/>
                                </a:rPr>
                                <m:t>3,4</m:t>
                              </m:r>
                            </m:e>
                          </m:d>
                        </m:e>
                      </m:func>
                      <m:r>
                        <a:rPr lang="en-US" sz="2400" i="1" dirty="0" smtClean="0">
                          <a:latin typeface="Cambria Math"/>
                        </a:rPr>
                        <m:t>⁡= 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7000" y="5334000"/>
                <a:ext cx="3856037" cy="830997"/>
              </a:xfrm>
              <a:prstGeom prst="rect">
                <a:avLst/>
              </a:prstGeom>
              <a:blipFill rotWithShape="1">
                <a:blip r:embed="rId4"/>
                <a:stretch>
                  <a:fillRect l="-2532" t="-5147" b="-1102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2252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Oval 3"/>
          <p:cNvSpPr/>
          <p:nvPr/>
        </p:nvSpPr>
        <p:spPr>
          <a:xfrm>
            <a:off x="4780241" y="1525417"/>
            <a:ext cx="2157501" cy="21656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18928193">
            <a:off x="5090356" y="1842092"/>
            <a:ext cx="1520611" cy="149832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783277" y="1525417"/>
            <a:ext cx="2154465" cy="21656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>
            <a:stCxn id="10" idx="0"/>
            <a:endCxn id="10" idx="2"/>
          </p:cNvCxnSpPr>
          <p:nvPr/>
        </p:nvCxnSpPr>
        <p:spPr>
          <a:xfrm>
            <a:off x="5860510" y="1525417"/>
            <a:ext cx="0" cy="21656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783277" y="2591255"/>
            <a:ext cx="2134769" cy="16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824849" y="2591737"/>
            <a:ext cx="59129" cy="766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18" idx="1"/>
            <a:endCxn id="15" idx="5"/>
          </p:cNvCxnSpPr>
          <p:nvPr/>
        </p:nvCxnSpPr>
        <p:spPr>
          <a:xfrm flipH="1" flipV="1">
            <a:off x="5875319" y="2657189"/>
            <a:ext cx="1287481" cy="6107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162800" y="3083261"/>
                <a:ext cx="17747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= 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3083261"/>
                <a:ext cx="1774780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129649" y="220929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4572000"/>
            <a:ext cx="7369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Green</a:t>
            </a:r>
            <a:r>
              <a:rPr lang="en-US" sz="2400" dirty="0"/>
              <a:t>: All points y at distance </a:t>
            </a:r>
            <a:r>
              <a:rPr lang="en-US" sz="2400" dirty="0" err="1">
                <a:solidFill>
                  <a:srgbClr val="00B050"/>
                </a:solidFill>
              </a:rPr>
              <a:t>L</a:t>
            </a:r>
            <a:r>
              <a:rPr lang="en-US" sz="2400" baseline="-25000" dirty="0" err="1">
                <a:solidFill>
                  <a:srgbClr val="00B050"/>
                </a:solidFill>
              </a:rPr>
              <a:t>1</a:t>
            </a:r>
            <a:r>
              <a:rPr lang="en-US" sz="2400" dirty="0">
                <a:solidFill>
                  <a:srgbClr val="00B050"/>
                </a:solidFill>
              </a:rPr>
              <a:t>(</a:t>
            </a:r>
            <a:r>
              <a:rPr lang="en-US" sz="2400" dirty="0" err="1">
                <a:solidFill>
                  <a:srgbClr val="00B050"/>
                </a:solidFill>
              </a:rPr>
              <a:t>x,y</a:t>
            </a:r>
            <a:r>
              <a:rPr lang="en-US" sz="2400" dirty="0">
                <a:solidFill>
                  <a:srgbClr val="00B050"/>
                </a:solidFill>
              </a:rPr>
              <a:t>) = r </a:t>
            </a:r>
            <a:r>
              <a:rPr lang="en-US" sz="2400" dirty="0"/>
              <a:t>from point 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257800"/>
            <a:ext cx="7131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Blue</a:t>
            </a:r>
            <a:r>
              <a:rPr lang="en-US" sz="2400" dirty="0"/>
              <a:t>: All points y at distance </a:t>
            </a:r>
            <a:r>
              <a:rPr lang="en-US" sz="2400" dirty="0" err="1">
                <a:solidFill>
                  <a:srgbClr val="0070C0"/>
                </a:solidFill>
              </a:rPr>
              <a:t>L</a:t>
            </a:r>
            <a:r>
              <a:rPr lang="en-US" sz="2400" baseline="-25000" dirty="0" err="1">
                <a:solidFill>
                  <a:srgbClr val="0070C0"/>
                </a:solidFill>
              </a:rPr>
              <a:t>2</a:t>
            </a:r>
            <a:r>
              <a:rPr lang="en-US" sz="2400" dirty="0">
                <a:solidFill>
                  <a:srgbClr val="0070C0"/>
                </a:solidFill>
              </a:rPr>
              <a:t>(</a:t>
            </a:r>
            <a:r>
              <a:rPr lang="en-US" sz="2400" dirty="0" err="1">
                <a:solidFill>
                  <a:srgbClr val="0070C0"/>
                </a:solidFill>
              </a:rPr>
              <a:t>x,y</a:t>
            </a:r>
            <a:r>
              <a:rPr lang="en-US" sz="2400" dirty="0">
                <a:solidFill>
                  <a:srgbClr val="0070C0"/>
                </a:solidFill>
              </a:rPr>
              <a:t>) = r </a:t>
            </a:r>
            <a:r>
              <a:rPr lang="en-US" sz="2400" dirty="0"/>
              <a:t>from point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860263" y="5939135"/>
                <a:ext cx="71407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Red</a:t>
                </a:r>
                <a:r>
                  <a:rPr lang="en-US" sz="2400" dirty="0"/>
                  <a:t>: All points y at distance </a:t>
                </a:r>
                <a:r>
                  <a:rPr lang="en-US" sz="2400" dirty="0">
                    <a:solidFill>
                      <a:srgbClr val="FF0000"/>
                    </a:solidFill>
                  </a:rPr>
                  <a:t>L</a:t>
                </a:r>
                <a14:m>
                  <m:oMath xmlns:m="http://schemas.openxmlformats.org/officeDocument/2006/math">
                    <m:r>
                      <a:rPr lang="en-US" sz="2400" i="1" baseline="-25000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(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x,y</a:t>
                </a:r>
                <a:r>
                  <a:rPr lang="en-US" sz="2400" dirty="0">
                    <a:solidFill>
                      <a:srgbClr val="FF0000"/>
                    </a:solidFill>
                  </a:rPr>
                  <a:t>) = r </a:t>
                </a:r>
                <a:r>
                  <a:rPr lang="en-US" sz="2400" dirty="0"/>
                  <a:t>from point x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263" y="5939135"/>
                <a:ext cx="7140737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1280" t="-9211" r="-256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1366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</a:t>
            </a:r>
            <a:r>
              <a:rPr lang="en-US" baseline="-25000" dirty="0" err="1"/>
              <a:t>p</a:t>
            </a:r>
            <a:r>
              <a:rPr lang="en-US" dirty="0"/>
              <a:t> distances for sets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76800"/>
          </a:xfrm>
        </p:spPr>
        <p:txBody>
          <a:bodyPr/>
          <a:lstStyle/>
          <a:p>
            <a:r>
              <a:rPr lang="en-US" dirty="0"/>
              <a:t>We can apply all the </a:t>
            </a:r>
            <a:r>
              <a:rPr lang="en-US" dirty="0" err="1"/>
              <a:t>L</a:t>
            </a:r>
            <a:r>
              <a:rPr lang="en-US" baseline="-25000" dirty="0" err="1"/>
              <a:t>p</a:t>
            </a:r>
            <a:r>
              <a:rPr lang="en-US" dirty="0"/>
              <a:t> distances to the cases of sets of attributes, with or without counts, if we represent the sets as vectors</a:t>
            </a:r>
          </a:p>
          <a:p>
            <a:pPr lvl="1"/>
            <a:r>
              <a:rPr lang="en-US" dirty="0"/>
              <a:t>E.g., a transaction is a 0/1 vector</a:t>
            </a:r>
          </a:p>
          <a:p>
            <a:pPr lvl="1"/>
            <a:r>
              <a:rPr lang="en-US" dirty="0"/>
              <a:t>E.g., a document is a vector of counts.</a:t>
            </a:r>
          </a:p>
        </p:txBody>
      </p:sp>
    </p:spTree>
    <p:extLst>
      <p:ext uri="{BB962C8B-B14F-4D97-AF65-F5344CB8AC3E}">
        <p14:creationId xmlns:p14="http://schemas.microsoft.com/office/powerpoint/2010/main" val="3081181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Similarities into distances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Jaccard distance: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𝐽</m:t>
                      </m:r>
                      <m:r>
                        <a:rPr lang="en-US" b="0" i="1" dirty="0" smtClean="0">
                          <a:latin typeface="Cambria Math"/>
                        </a:rPr>
                        <m:t>𝐷</m:t>
                      </m:r>
                      <m:r>
                        <a:rPr lang="en-US" i="1" dirty="0" smtClean="0">
                          <a:latin typeface="Cambria Math"/>
                        </a:rPr>
                        <m:t>𝑖𝑠𝑡</m:t>
                      </m:r>
                      <m:r>
                        <a:rPr lang="en-US" i="1" dirty="0" smtClean="0">
                          <a:latin typeface="Cambria Math"/>
                        </a:rPr>
                        <m:t>(</m:t>
                      </m:r>
                      <m:r>
                        <a:rPr lang="en-US" i="1" dirty="0" smtClean="0">
                          <a:latin typeface="Cambria Math"/>
                        </a:rPr>
                        <m:t>𝑋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 smtClean="0">
                          <a:latin typeface="Cambria Math"/>
                        </a:rPr>
                        <m:t>𝑌</m:t>
                      </m:r>
                      <m:r>
                        <a:rPr lang="en-US" i="1" dirty="0" smtClean="0">
                          <a:latin typeface="Cambria Math"/>
                        </a:rPr>
                        <m:t>) = 1 – </m:t>
                      </m:r>
                      <m:r>
                        <a:rPr lang="en-US" i="1" dirty="0" err="1" smtClean="0">
                          <a:latin typeface="Cambria Math"/>
                        </a:rPr>
                        <m:t>𝐽𝑆𝑖𝑚</m:t>
                      </m:r>
                      <m:r>
                        <a:rPr lang="en-US" i="1" dirty="0" smtClean="0">
                          <a:latin typeface="Cambria Math"/>
                        </a:rPr>
                        <m:t>(</m:t>
                      </m:r>
                      <m:r>
                        <a:rPr lang="en-US" i="1" dirty="0" smtClean="0">
                          <a:latin typeface="Cambria Math"/>
                        </a:rPr>
                        <m:t>𝑋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 smtClean="0">
                          <a:latin typeface="Cambria Math"/>
                        </a:rPr>
                        <m:t>𝑌</m:t>
                      </m:r>
                      <m:r>
                        <a:rPr lang="en-US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 err="1"/>
                  <a:t>Jaccard</a:t>
                </a:r>
                <a:r>
                  <a:rPr lang="en-US" dirty="0"/>
                  <a:t> Distance is a metric</a:t>
                </a:r>
              </a:p>
              <a:p>
                <a:endParaRPr lang="en-US" dirty="0"/>
              </a:p>
              <a:p>
                <a:r>
                  <a:rPr lang="en-US" dirty="0"/>
                  <a:t>Cosine distance: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𝐷𝑖𝑠𝑡</m:t>
                      </m:r>
                      <m:r>
                        <a:rPr lang="en-US" i="1" dirty="0" smtClean="0">
                          <a:latin typeface="Cambria Math"/>
                        </a:rPr>
                        <m:t>(</m:t>
                      </m:r>
                      <m:r>
                        <a:rPr lang="en-US" i="1" dirty="0" smtClean="0">
                          <a:latin typeface="Cambria Math"/>
                        </a:rPr>
                        <m:t>𝑋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 smtClean="0">
                          <a:latin typeface="Cambria Math"/>
                        </a:rPr>
                        <m:t>𝑌</m:t>
                      </m:r>
                      <m:r>
                        <a:rPr lang="en-US" i="1" dirty="0" smtClean="0">
                          <a:latin typeface="Cambria Math"/>
                        </a:rPr>
                        <m:t>) = 1−</m:t>
                      </m:r>
                      <m:r>
                        <m:rPr>
                          <m:sty m:val="p"/>
                        </m:rPr>
                        <a:rPr lang="en-US" i="1" dirty="0" err="1" smtClean="0">
                          <a:latin typeface="Cambria Math"/>
                        </a:rPr>
                        <m:t>cos</m:t>
                      </m:r>
                      <m:r>
                        <a:rPr lang="en-US" i="1" dirty="0" smtClean="0">
                          <a:latin typeface="Cambria Math"/>
                        </a:rPr>
                        <m:t>⁡(</m:t>
                      </m:r>
                      <m:r>
                        <a:rPr lang="en-US" i="1" dirty="0" smtClean="0">
                          <a:latin typeface="Cambria Math"/>
                        </a:rPr>
                        <m:t>𝑋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 smtClean="0">
                          <a:latin typeface="Cambria Math"/>
                        </a:rPr>
                        <m:t>𝑌</m:t>
                      </m:r>
                      <m:r>
                        <a:rPr lang="en-US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Cosine distance is a metric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829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3704-7849-4E0C-BCE2-8C7D6B79E35D}" type="slidenum">
              <a:rPr lang="en-US"/>
              <a:pPr/>
              <a:t>22</a:t>
            </a:fld>
            <a:endParaRPr lang="en-US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848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Why </a:t>
            </a:r>
            <a:r>
              <a:rPr lang="en-US" dirty="0" err="1"/>
              <a:t>Jaccard</a:t>
            </a:r>
            <a:r>
              <a:rPr lang="en-US" dirty="0"/>
              <a:t> Distance Is a Distance Metric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0"/>
            <a:ext cx="7772400" cy="396240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JDist</a:t>
            </a:r>
            <a:r>
              <a:rPr lang="en-US" dirty="0"/>
              <a:t>(</a:t>
            </a:r>
            <a:r>
              <a:rPr lang="en-US" dirty="0" err="1"/>
              <a:t>x,x</a:t>
            </a:r>
            <a:r>
              <a:rPr lang="en-US" dirty="0"/>
              <a:t>) = 0 </a:t>
            </a:r>
          </a:p>
          <a:p>
            <a:pPr lvl="1"/>
            <a:r>
              <a:rPr lang="en-US" dirty="0"/>
              <a:t>since </a:t>
            </a:r>
            <a:r>
              <a:rPr lang="en-US" dirty="0" err="1"/>
              <a:t>JSim</a:t>
            </a:r>
            <a:r>
              <a:rPr lang="en-US" dirty="0"/>
              <a:t>(</a:t>
            </a:r>
            <a:r>
              <a:rPr lang="en-US" dirty="0" err="1"/>
              <a:t>x,x</a:t>
            </a:r>
            <a:r>
              <a:rPr lang="en-US" dirty="0"/>
              <a:t>) = 1</a:t>
            </a:r>
            <a:endParaRPr lang="en-US" dirty="0">
              <a:sym typeface="Symbol" pitchFamily="18" charset="2"/>
            </a:endParaRPr>
          </a:p>
          <a:p>
            <a:r>
              <a:rPr lang="en-US" dirty="0" err="1">
                <a:sym typeface="Symbol" pitchFamily="18" charset="2"/>
              </a:rPr>
              <a:t>JDist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dirty="0" err="1">
                <a:sym typeface="Symbol" pitchFamily="18" charset="2"/>
              </a:rPr>
              <a:t>x,y</a:t>
            </a:r>
            <a:r>
              <a:rPr lang="en-US" dirty="0">
                <a:sym typeface="Symbol" pitchFamily="18" charset="2"/>
              </a:rPr>
              <a:t>) = </a:t>
            </a:r>
            <a:r>
              <a:rPr lang="en-US" dirty="0" err="1">
                <a:sym typeface="Symbol" pitchFamily="18" charset="2"/>
              </a:rPr>
              <a:t>JDist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dirty="0" err="1">
                <a:sym typeface="Symbol" pitchFamily="18" charset="2"/>
              </a:rPr>
              <a:t>y,x</a:t>
            </a:r>
            <a:r>
              <a:rPr lang="en-US" dirty="0">
                <a:sym typeface="Symbol" pitchFamily="18" charset="2"/>
              </a:rPr>
              <a:t>) </a:t>
            </a:r>
          </a:p>
          <a:p>
            <a:pPr lvl="1"/>
            <a:r>
              <a:rPr lang="en-US" dirty="0">
                <a:sym typeface="Symbol" pitchFamily="18" charset="2"/>
              </a:rPr>
              <a:t>by symmetry of intersection</a:t>
            </a:r>
          </a:p>
          <a:p>
            <a:r>
              <a:rPr lang="en-US" dirty="0" err="1">
                <a:sym typeface="Symbol" pitchFamily="18" charset="2"/>
              </a:rPr>
              <a:t>JDist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dirty="0" err="1">
                <a:sym typeface="Symbol" pitchFamily="18" charset="2"/>
              </a:rPr>
              <a:t>x,y</a:t>
            </a:r>
            <a:r>
              <a:rPr lang="en-US" dirty="0">
                <a:sym typeface="Symbol" pitchFamily="18" charset="2"/>
              </a:rPr>
              <a:t>) </a:t>
            </a:r>
            <a:r>
              <a:rPr lang="en-US" u="sng" dirty="0">
                <a:sym typeface="Symbol" pitchFamily="18" charset="2"/>
              </a:rPr>
              <a:t>&gt;</a:t>
            </a:r>
            <a:r>
              <a:rPr lang="en-US" dirty="0">
                <a:sym typeface="Symbol" pitchFamily="18" charset="2"/>
              </a:rPr>
              <a:t> 0 </a:t>
            </a:r>
          </a:p>
          <a:p>
            <a:pPr lvl="1"/>
            <a:r>
              <a:rPr lang="en-US" dirty="0">
                <a:sym typeface="Symbol" pitchFamily="18" charset="2"/>
              </a:rPr>
              <a:t>since intersection of X,Y cannot be bigger than the union.</a:t>
            </a:r>
          </a:p>
          <a:p>
            <a:r>
              <a:rPr lang="en-US" dirty="0">
                <a:solidFill>
                  <a:srgbClr val="33CC33"/>
                </a:solidFill>
                <a:sym typeface="Symbol" pitchFamily="18" charset="2"/>
              </a:rPr>
              <a:t>Triangle inequality</a:t>
            </a:r>
            <a:r>
              <a:rPr lang="en-US" dirty="0">
                <a:sym typeface="Symbol" pitchFamily="18" charset="2"/>
              </a:rPr>
              <a:t>:</a:t>
            </a:r>
          </a:p>
          <a:p>
            <a:pPr lvl="1"/>
            <a:r>
              <a:rPr lang="en-US" dirty="0">
                <a:sym typeface="Symbol" pitchFamily="18" charset="2"/>
              </a:rPr>
              <a:t>Follows from the fact that </a:t>
            </a:r>
            <a:r>
              <a:rPr lang="en-US" dirty="0" err="1">
                <a:sym typeface="Symbol" pitchFamily="18" charset="2"/>
              </a:rPr>
              <a:t>JSim</a:t>
            </a:r>
            <a:r>
              <a:rPr lang="en-US" dirty="0">
                <a:sym typeface="Symbol" pitchFamily="18" charset="2"/>
              </a:rPr>
              <a:t>(X,Y) is the probability of randomly selected element from the union of X and Y to belong to the intersection</a:t>
            </a:r>
          </a:p>
        </p:txBody>
      </p:sp>
    </p:spTree>
    <p:extLst>
      <p:ext uri="{BB962C8B-B14F-4D97-AF65-F5344CB8AC3E}">
        <p14:creationId xmlns:p14="http://schemas.microsoft.com/office/powerpoint/2010/main" val="212501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1D48-1306-4584-BFBC-561347661645}" type="slidenum">
              <a:rPr lang="en-US"/>
              <a:pPr/>
              <a:t>23</a:t>
            </a:fld>
            <a:endParaRPr lang="en-US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57200"/>
            <a:ext cx="7467600" cy="1143000"/>
          </a:xfrm>
        </p:spPr>
        <p:txBody>
          <a:bodyPr/>
          <a:lstStyle/>
          <a:p>
            <a:r>
              <a:rPr lang="en-US" dirty="0"/>
              <a:t>Hamming Distance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077200" cy="48006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Hamming distance  </a:t>
            </a:r>
            <a:r>
              <a:rPr lang="en-US" dirty="0"/>
              <a:t>is the number of positions in which bit-vectors differ.</a:t>
            </a:r>
          </a:p>
          <a:p>
            <a:pPr lvl="1"/>
            <a:r>
              <a:rPr lang="en-US" dirty="0">
                <a:solidFill>
                  <a:srgbClr val="33CC33"/>
                </a:solidFill>
              </a:rPr>
              <a:t>Example</a:t>
            </a:r>
            <a:r>
              <a:rPr lang="en-US" dirty="0"/>
              <a:t>: </a:t>
            </a:r>
            <a:r>
              <a:rPr lang="en-US" dirty="0" err="1"/>
              <a:t>p</a:t>
            </a:r>
            <a:r>
              <a:rPr lang="en-US" baseline="-25000" dirty="0" err="1"/>
              <a:t>1</a:t>
            </a:r>
            <a:r>
              <a:rPr lang="en-US" dirty="0"/>
              <a:t> = 10101						          </a:t>
            </a:r>
            <a:r>
              <a:rPr lang="en-US" dirty="0" err="1"/>
              <a:t>p</a:t>
            </a:r>
            <a:r>
              <a:rPr lang="en-US" baseline="-25000" dirty="0" err="1"/>
              <a:t>2</a:t>
            </a:r>
            <a:r>
              <a:rPr lang="en-US" dirty="0"/>
              <a:t> = 10011.</a:t>
            </a:r>
          </a:p>
          <a:p>
            <a:pPr lvl="2"/>
            <a:r>
              <a:rPr lang="en-US" dirty="0"/>
              <a:t> d(</a:t>
            </a:r>
            <a:r>
              <a:rPr lang="en-US" dirty="0" err="1"/>
              <a:t>p</a:t>
            </a:r>
            <a:r>
              <a:rPr lang="en-US" baseline="-25000" dirty="0" err="1"/>
              <a:t>1</a:t>
            </a:r>
            <a:r>
              <a:rPr lang="en-US" dirty="0"/>
              <a:t>, </a:t>
            </a:r>
            <a:r>
              <a:rPr lang="en-US" dirty="0" err="1"/>
              <a:t>p</a:t>
            </a:r>
            <a:r>
              <a:rPr lang="en-US" baseline="-25000" dirty="0" err="1"/>
              <a:t>2</a:t>
            </a:r>
            <a:r>
              <a:rPr lang="en-US" dirty="0"/>
              <a:t>) = 2 because the bit-vectors differ in the 3</a:t>
            </a:r>
            <a:r>
              <a:rPr lang="en-US" baseline="30000" dirty="0"/>
              <a:t>rd</a:t>
            </a:r>
            <a:r>
              <a:rPr lang="en-US" dirty="0"/>
              <a:t> and 4</a:t>
            </a:r>
            <a:r>
              <a:rPr lang="en-US" baseline="30000" dirty="0"/>
              <a:t>th</a:t>
            </a:r>
            <a:r>
              <a:rPr lang="en-US" dirty="0"/>
              <a:t> positions.</a:t>
            </a:r>
          </a:p>
          <a:p>
            <a:pPr lvl="2"/>
            <a:r>
              <a:rPr lang="en-US" dirty="0"/>
              <a:t>The </a:t>
            </a:r>
            <a:r>
              <a:rPr lang="en-US" dirty="0" err="1"/>
              <a:t>L</a:t>
            </a:r>
            <a:r>
              <a:rPr lang="en-US" baseline="-25000" dirty="0" err="1"/>
              <a:t>1</a:t>
            </a:r>
            <a:r>
              <a:rPr lang="en-US" dirty="0"/>
              <a:t> norm for the binary vectors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Hamming distance </a:t>
            </a:r>
            <a:r>
              <a:rPr lang="en-US" dirty="0"/>
              <a:t>between two vectors of </a:t>
            </a:r>
            <a:r>
              <a:rPr lang="en-US" dirty="0">
                <a:solidFill>
                  <a:srgbClr val="0070C0"/>
                </a:solidFill>
              </a:rPr>
              <a:t>categorical attributes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the number of positions in which they differ.</a:t>
            </a:r>
          </a:p>
          <a:p>
            <a:pPr lvl="1"/>
            <a:r>
              <a:rPr lang="en-US" dirty="0">
                <a:solidFill>
                  <a:srgbClr val="33CC33"/>
                </a:solidFill>
              </a:rPr>
              <a:t>Example</a:t>
            </a:r>
            <a:r>
              <a:rPr lang="en-US" dirty="0"/>
              <a:t>: x = (married, low income, cheat),                    	          y = (single,    low income, not cheat)</a:t>
            </a:r>
          </a:p>
          <a:p>
            <a:pPr lvl="1"/>
            <a:r>
              <a:rPr lang="en-US" dirty="0"/>
              <a:t>                d(</a:t>
            </a:r>
            <a:r>
              <a:rPr lang="en-US" dirty="0" err="1"/>
              <a:t>x,y</a:t>
            </a:r>
            <a:r>
              <a:rPr lang="en-US" dirty="0"/>
              <a:t>) = 2</a:t>
            </a:r>
          </a:p>
        </p:txBody>
      </p:sp>
    </p:spTree>
    <p:extLst>
      <p:ext uri="{BB962C8B-B14F-4D97-AF65-F5344CB8AC3E}">
        <p14:creationId xmlns:p14="http://schemas.microsoft.com/office/powerpoint/2010/main" val="1709052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3704-7849-4E0C-BCE2-8C7D6B79E35D}" type="slidenum">
              <a:rPr lang="en-US"/>
              <a:pPr/>
              <a:t>24</a:t>
            </a:fld>
            <a:endParaRPr lang="en-US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848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Why Hamming Distance Is a Distance Metric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0"/>
            <a:ext cx="7772400" cy="3962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d(</a:t>
            </a:r>
            <a:r>
              <a:rPr lang="en-US" dirty="0" err="1"/>
              <a:t>x,x</a:t>
            </a:r>
            <a:r>
              <a:rPr lang="en-US" dirty="0"/>
              <a:t>) = 0 since no positions differ.</a:t>
            </a:r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d(</a:t>
            </a:r>
            <a:r>
              <a:rPr lang="en-US" dirty="0" err="1">
                <a:sym typeface="Symbol" pitchFamily="18" charset="2"/>
              </a:rPr>
              <a:t>x,y</a:t>
            </a:r>
            <a:r>
              <a:rPr lang="en-US" dirty="0">
                <a:sym typeface="Symbol" pitchFamily="18" charset="2"/>
              </a:rPr>
              <a:t>) = d(</a:t>
            </a:r>
            <a:r>
              <a:rPr lang="en-US" dirty="0" err="1">
                <a:sym typeface="Symbol" pitchFamily="18" charset="2"/>
              </a:rPr>
              <a:t>y,x</a:t>
            </a:r>
            <a:r>
              <a:rPr lang="en-US" dirty="0">
                <a:sym typeface="Symbol" pitchFamily="18" charset="2"/>
              </a:rPr>
              <a:t>) by symmetry of “different from.”</a:t>
            </a:r>
          </a:p>
          <a:p>
            <a:r>
              <a:rPr lang="en-US" dirty="0">
                <a:sym typeface="Symbol" pitchFamily="18" charset="2"/>
              </a:rPr>
              <a:t>d(</a:t>
            </a:r>
            <a:r>
              <a:rPr lang="en-US" dirty="0" err="1">
                <a:sym typeface="Symbol" pitchFamily="18" charset="2"/>
              </a:rPr>
              <a:t>x,y</a:t>
            </a:r>
            <a:r>
              <a:rPr lang="en-US" dirty="0">
                <a:sym typeface="Symbol" pitchFamily="18" charset="2"/>
              </a:rPr>
              <a:t>) </a:t>
            </a:r>
            <a:r>
              <a:rPr lang="en-US" u="sng" dirty="0">
                <a:sym typeface="Symbol" pitchFamily="18" charset="2"/>
              </a:rPr>
              <a:t>&gt;</a:t>
            </a:r>
            <a:r>
              <a:rPr lang="en-US" dirty="0">
                <a:sym typeface="Symbol" pitchFamily="18" charset="2"/>
              </a:rPr>
              <a:t> 0 since strings cannot differ in a negative number of positions.</a:t>
            </a:r>
          </a:p>
          <a:p>
            <a:r>
              <a:rPr lang="en-US" dirty="0">
                <a:solidFill>
                  <a:srgbClr val="33CC33"/>
                </a:solidFill>
                <a:sym typeface="Symbol" pitchFamily="18" charset="2"/>
              </a:rPr>
              <a:t>Triangle inequality</a:t>
            </a:r>
            <a:r>
              <a:rPr lang="en-US" dirty="0">
                <a:sym typeface="Symbol" pitchFamily="18" charset="2"/>
              </a:rPr>
              <a:t>: changing</a:t>
            </a:r>
            <a:r>
              <a:rPr lang="en-US" i="1" dirty="0">
                <a:sym typeface="Symbol" pitchFamily="18" charset="2"/>
              </a:rPr>
              <a:t> x</a:t>
            </a:r>
            <a:r>
              <a:rPr lang="en-US" dirty="0">
                <a:sym typeface="Symbol" pitchFamily="18" charset="2"/>
              </a:rPr>
              <a:t>  to </a:t>
            </a:r>
            <a:r>
              <a:rPr lang="en-US" i="1" dirty="0">
                <a:sym typeface="Symbol" pitchFamily="18" charset="2"/>
              </a:rPr>
              <a:t>z</a:t>
            </a:r>
            <a:r>
              <a:rPr lang="en-US" dirty="0">
                <a:sym typeface="Symbol" pitchFamily="18" charset="2"/>
              </a:rPr>
              <a:t> and then to </a:t>
            </a:r>
            <a:r>
              <a:rPr lang="en-US" i="1" dirty="0">
                <a:sym typeface="Symbol" pitchFamily="18" charset="2"/>
              </a:rPr>
              <a:t>y</a:t>
            </a:r>
            <a:r>
              <a:rPr lang="en-US" dirty="0">
                <a:sym typeface="Symbol" pitchFamily="18" charset="2"/>
              </a:rPr>
              <a:t>  is one way to change </a:t>
            </a:r>
            <a:r>
              <a:rPr lang="en-US" i="1" dirty="0">
                <a:sym typeface="Symbol" pitchFamily="18" charset="2"/>
              </a:rPr>
              <a:t>x</a:t>
            </a:r>
            <a:r>
              <a:rPr lang="en-US" dirty="0">
                <a:sym typeface="Symbol" pitchFamily="18" charset="2"/>
              </a:rPr>
              <a:t>  to </a:t>
            </a:r>
            <a:r>
              <a:rPr lang="en-US" i="1" dirty="0">
                <a:sym typeface="Symbol" pitchFamily="18" charset="2"/>
              </a:rPr>
              <a:t>y</a:t>
            </a:r>
            <a:r>
              <a:rPr lang="en-US" dirty="0">
                <a:sym typeface="Symbol" pitchFamily="18" charset="2"/>
              </a:rPr>
              <a:t>.</a:t>
            </a:r>
          </a:p>
          <a:p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For binary vectors if follows from the fact that </a:t>
            </a:r>
            <a:r>
              <a:rPr lang="en-US" dirty="0" err="1">
                <a:sym typeface="Symbol" pitchFamily="18" charset="2"/>
              </a:rPr>
              <a:t>L</a:t>
            </a:r>
            <a:r>
              <a:rPr lang="en-US" baseline="-25000" dirty="0" err="1"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norm is a metric</a:t>
            </a:r>
          </a:p>
        </p:txBody>
      </p:sp>
    </p:spTree>
    <p:extLst>
      <p:ext uri="{BB962C8B-B14F-4D97-AF65-F5344CB8AC3E}">
        <p14:creationId xmlns:p14="http://schemas.microsoft.com/office/powerpoint/2010/main" val="317269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between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define similarity between strings?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Important for recognizing and correcting typing errors and analyzing DNA sequences.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5600" y="2667000"/>
            <a:ext cx="36776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weird 		</a:t>
            </a:r>
            <a:r>
              <a:rPr lang="en-US" sz="2400" dirty="0" err="1">
                <a:solidFill>
                  <a:srgbClr val="0070C0"/>
                </a:solidFill>
              </a:rPr>
              <a:t>wierd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intelligent	unintelligent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Athena	</a:t>
            </a:r>
            <a:r>
              <a:rPr lang="en-US" sz="2400" dirty="0" err="1">
                <a:solidFill>
                  <a:srgbClr val="0070C0"/>
                </a:solidFill>
              </a:rPr>
              <a:t>Athina</a:t>
            </a:r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015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FF6F-C6D3-4E43-8286-5FA8EAD27972}" type="slidenum">
              <a:rPr lang="en-US"/>
              <a:pPr/>
              <a:t>26</a:t>
            </a:fld>
            <a:endParaRPr lang="en-US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1143000"/>
          </a:xfrm>
        </p:spPr>
        <p:txBody>
          <a:bodyPr>
            <a:normAutofit/>
          </a:bodyPr>
          <a:lstStyle/>
          <a:p>
            <a:r>
              <a:rPr lang="en-US" dirty="0"/>
              <a:t>Edit Distance for strings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229600" cy="4572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edit distance  </a:t>
            </a:r>
            <a:r>
              <a:rPr lang="en-US" dirty="0"/>
              <a:t>of two strings is the number of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inserts</a:t>
            </a:r>
            <a:r>
              <a:rPr lang="en-US" dirty="0"/>
              <a:t> and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deletes</a:t>
            </a:r>
            <a:r>
              <a:rPr lang="en-US" dirty="0"/>
              <a:t> of characters needed to turn one into the other. </a:t>
            </a:r>
          </a:p>
          <a:p>
            <a:r>
              <a:rPr lang="en-US" dirty="0"/>
              <a:t>Example: x = </a:t>
            </a:r>
            <a:r>
              <a:rPr lang="en-US" dirty="0" err="1">
                <a:solidFill>
                  <a:srgbClr val="0070C0"/>
                </a:solidFill>
              </a:rPr>
              <a:t>abcde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; y = </a:t>
            </a:r>
            <a:r>
              <a:rPr lang="en-US" dirty="0" err="1">
                <a:solidFill>
                  <a:srgbClr val="0070C0"/>
                </a:solidFill>
              </a:rPr>
              <a:t>bcduve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Turn </a:t>
            </a:r>
            <a:r>
              <a:rPr lang="en-US" i="1" dirty="0"/>
              <a:t>x</a:t>
            </a:r>
            <a:r>
              <a:rPr lang="en-US" dirty="0"/>
              <a:t>  into </a:t>
            </a:r>
            <a:r>
              <a:rPr lang="en-US" i="1" dirty="0"/>
              <a:t>y</a:t>
            </a:r>
            <a:r>
              <a:rPr lang="en-US" dirty="0"/>
              <a:t>  by deleting </a:t>
            </a:r>
            <a:r>
              <a:rPr lang="en-US" dirty="0">
                <a:solidFill>
                  <a:srgbClr val="0070C0"/>
                </a:solidFill>
              </a:rPr>
              <a:t>a</a:t>
            </a:r>
            <a:r>
              <a:rPr lang="en-US" dirty="0"/>
              <a:t>, then inserting </a:t>
            </a:r>
            <a:r>
              <a:rPr lang="en-US" dirty="0">
                <a:solidFill>
                  <a:srgbClr val="0070C0"/>
                </a:solidFill>
              </a:rPr>
              <a:t>u</a:t>
            </a:r>
            <a:r>
              <a:rPr lang="en-US" dirty="0"/>
              <a:t>  and </a:t>
            </a:r>
            <a:r>
              <a:rPr lang="en-US" dirty="0">
                <a:solidFill>
                  <a:srgbClr val="0070C0"/>
                </a:solidFill>
              </a:rPr>
              <a:t>v</a:t>
            </a:r>
            <a:r>
              <a:rPr lang="en-US" dirty="0"/>
              <a:t>  after </a:t>
            </a:r>
            <a:r>
              <a:rPr lang="en-US" dirty="0">
                <a:solidFill>
                  <a:srgbClr val="0070C0"/>
                </a:solidFill>
              </a:rPr>
              <a:t>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Edit distance = 3.</a:t>
            </a:r>
          </a:p>
          <a:p>
            <a:r>
              <a:rPr lang="en-US" dirty="0"/>
              <a:t> Minimum number of operations can be computed using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dynamic programming</a:t>
            </a:r>
          </a:p>
          <a:p>
            <a:r>
              <a:rPr lang="en-US" dirty="0"/>
              <a:t>Common distance measure for comparing DNA sequences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752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9998-BB8C-4FA4-A228-70C1EA74A75D}" type="slidenum">
              <a:rPr lang="en-US"/>
              <a:pPr/>
              <a:t>27</a:t>
            </a:fld>
            <a:endParaRPr 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85800"/>
            <a:ext cx="7848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Why Edit Distance Is a Distance Metric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772400" cy="4114800"/>
          </a:xfrm>
        </p:spPr>
        <p:txBody>
          <a:bodyPr/>
          <a:lstStyle/>
          <a:p>
            <a:r>
              <a:rPr lang="en-US" dirty="0"/>
              <a:t>d(</a:t>
            </a:r>
            <a:r>
              <a:rPr lang="en-US" dirty="0" err="1"/>
              <a:t>x,x</a:t>
            </a:r>
            <a:r>
              <a:rPr lang="en-US" dirty="0"/>
              <a:t>) = 0 because 0 edits suffice.</a:t>
            </a:r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d(</a:t>
            </a:r>
            <a:r>
              <a:rPr lang="en-US" dirty="0" err="1">
                <a:sym typeface="Symbol" pitchFamily="18" charset="2"/>
              </a:rPr>
              <a:t>x,y</a:t>
            </a:r>
            <a:r>
              <a:rPr lang="en-US" dirty="0">
                <a:sym typeface="Symbol" pitchFamily="18" charset="2"/>
              </a:rPr>
              <a:t>) = d(</a:t>
            </a:r>
            <a:r>
              <a:rPr lang="en-US" dirty="0" err="1">
                <a:sym typeface="Symbol" pitchFamily="18" charset="2"/>
              </a:rPr>
              <a:t>y,x</a:t>
            </a:r>
            <a:r>
              <a:rPr lang="en-US" dirty="0">
                <a:sym typeface="Symbol" pitchFamily="18" charset="2"/>
              </a:rPr>
              <a:t>) because insert/delete are inverses of each other.</a:t>
            </a:r>
          </a:p>
          <a:p>
            <a:r>
              <a:rPr lang="en-US" dirty="0">
                <a:sym typeface="Symbol" pitchFamily="18" charset="2"/>
              </a:rPr>
              <a:t>d(</a:t>
            </a:r>
            <a:r>
              <a:rPr lang="en-US" dirty="0" err="1">
                <a:sym typeface="Symbol" pitchFamily="18" charset="2"/>
              </a:rPr>
              <a:t>x,y</a:t>
            </a:r>
            <a:r>
              <a:rPr lang="en-US" dirty="0">
                <a:sym typeface="Symbol" pitchFamily="18" charset="2"/>
              </a:rPr>
              <a:t>) </a:t>
            </a:r>
            <a:r>
              <a:rPr lang="en-US" u="sng" dirty="0">
                <a:sym typeface="Symbol" pitchFamily="18" charset="2"/>
              </a:rPr>
              <a:t>&gt;</a:t>
            </a:r>
            <a:r>
              <a:rPr lang="en-US" dirty="0">
                <a:sym typeface="Symbol" pitchFamily="18" charset="2"/>
              </a:rPr>
              <a:t> 0: no notion of negative edits.</a:t>
            </a:r>
          </a:p>
          <a:p>
            <a:r>
              <a:rPr lang="en-US" dirty="0">
                <a:solidFill>
                  <a:srgbClr val="33CC33"/>
                </a:solidFill>
                <a:sym typeface="Symbol" pitchFamily="18" charset="2"/>
              </a:rPr>
              <a:t>Triangle inequality</a:t>
            </a:r>
            <a:r>
              <a:rPr lang="en-US" dirty="0">
                <a:sym typeface="Symbol" pitchFamily="18" charset="2"/>
              </a:rPr>
              <a:t>: changing</a:t>
            </a:r>
            <a:r>
              <a:rPr lang="en-US" i="1" dirty="0">
                <a:sym typeface="Symbol" pitchFamily="18" charset="2"/>
              </a:rPr>
              <a:t> x</a:t>
            </a:r>
            <a:r>
              <a:rPr lang="en-US" dirty="0">
                <a:sym typeface="Symbol" pitchFamily="18" charset="2"/>
              </a:rPr>
              <a:t>  to </a:t>
            </a:r>
            <a:r>
              <a:rPr lang="en-US" i="1" dirty="0">
                <a:sym typeface="Symbol" pitchFamily="18" charset="2"/>
              </a:rPr>
              <a:t>z</a:t>
            </a:r>
            <a:r>
              <a:rPr lang="en-US" dirty="0">
                <a:sym typeface="Symbol" pitchFamily="18" charset="2"/>
              </a:rPr>
              <a:t> and then to </a:t>
            </a:r>
            <a:r>
              <a:rPr lang="en-US" i="1" dirty="0">
                <a:sym typeface="Symbol" pitchFamily="18" charset="2"/>
              </a:rPr>
              <a:t>y</a:t>
            </a:r>
            <a:r>
              <a:rPr lang="en-US" dirty="0">
                <a:sym typeface="Symbol" pitchFamily="18" charset="2"/>
              </a:rPr>
              <a:t>  is one way to change </a:t>
            </a:r>
            <a:r>
              <a:rPr lang="en-US" i="1" dirty="0">
                <a:sym typeface="Symbol" pitchFamily="18" charset="2"/>
              </a:rPr>
              <a:t>x</a:t>
            </a:r>
            <a:r>
              <a:rPr lang="en-US" dirty="0">
                <a:sym typeface="Symbol" pitchFamily="18" charset="2"/>
              </a:rPr>
              <a:t>  to </a:t>
            </a:r>
            <a:r>
              <a:rPr lang="en-US" i="1" dirty="0">
                <a:sym typeface="Symbol" pitchFamily="18" charset="2"/>
              </a:rPr>
              <a:t>y</a:t>
            </a:r>
            <a:r>
              <a:rPr lang="en-US" dirty="0">
                <a:sym typeface="Symbol" pitchFamily="18" charset="2"/>
              </a:rPr>
              <a:t>. The minimum is no more than that</a:t>
            </a:r>
          </a:p>
        </p:txBody>
      </p:sp>
    </p:spTree>
    <p:extLst>
      <p:ext uri="{BB962C8B-B14F-4D97-AF65-F5344CB8AC3E}">
        <p14:creationId xmlns:p14="http://schemas.microsoft.com/office/powerpoint/2010/main" val="58888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0F1-C0C3-4D05-B569-A0059615EC90}" type="slidenum">
              <a:rPr lang="en-US"/>
              <a:pPr/>
              <a:t>28</a:t>
            </a:fld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Variant Edit Distances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01000" cy="4267200"/>
          </a:xfrm>
        </p:spPr>
        <p:txBody>
          <a:bodyPr/>
          <a:lstStyle/>
          <a:p>
            <a:r>
              <a:rPr lang="en-US" dirty="0"/>
              <a:t>Allow insert, delete, and </a:t>
            </a:r>
            <a:r>
              <a:rPr lang="en-US" dirty="0">
                <a:solidFill>
                  <a:srgbClr val="FF0000"/>
                </a:solidFill>
              </a:rPr>
              <a:t>mutate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Change one character into another.</a:t>
            </a:r>
          </a:p>
          <a:p>
            <a:r>
              <a:rPr lang="en-US" dirty="0"/>
              <a:t>Minimum number of inserts, deletes, and mutates also forms a distance measure.</a:t>
            </a:r>
          </a:p>
          <a:p>
            <a:endParaRPr lang="en-US" dirty="0"/>
          </a:p>
          <a:p>
            <a:r>
              <a:rPr lang="en-US" dirty="0"/>
              <a:t>Same for any set of operations on strings.</a:t>
            </a:r>
          </a:p>
          <a:p>
            <a:pPr lvl="1"/>
            <a:r>
              <a:rPr lang="en-US" dirty="0">
                <a:solidFill>
                  <a:srgbClr val="33CC33"/>
                </a:solidFill>
              </a:rPr>
              <a:t>Example</a:t>
            </a:r>
            <a:r>
              <a:rPr lang="en-US" dirty="0"/>
              <a:t>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substring reversal </a:t>
            </a:r>
            <a:r>
              <a:rPr lang="en-US" dirty="0"/>
              <a:t>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block transposition </a:t>
            </a:r>
            <a:r>
              <a:rPr lang="en-US" dirty="0"/>
              <a:t>OK for DNA sequences</a:t>
            </a:r>
          </a:p>
          <a:p>
            <a:pPr lvl="1"/>
            <a:r>
              <a:rPr lang="en-US" dirty="0">
                <a:solidFill>
                  <a:srgbClr val="33CC33"/>
                </a:solidFill>
              </a:rPr>
              <a:t>Example</a:t>
            </a:r>
            <a:r>
              <a:rPr lang="en-US" dirty="0"/>
              <a:t>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character transposition </a:t>
            </a:r>
            <a:r>
              <a:rPr lang="en-US" dirty="0"/>
              <a:t>is used for spelling</a:t>
            </a:r>
          </a:p>
        </p:txBody>
      </p:sp>
    </p:spTree>
    <p:extLst>
      <p:ext uri="{BB962C8B-B14F-4D97-AF65-F5344CB8AC3E}">
        <p14:creationId xmlns:p14="http://schemas.microsoft.com/office/powerpoint/2010/main" val="1050904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Distances between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0"/>
                <a:ext cx="8229600" cy="5257800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We can view a document as a distribution over the words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KL-divergence (</a:t>
                </a:r>
                <a:r>
                  <a:rPr lang="en-US" dirty="0" err="1">
                    <a:solidFill>
                      <a:srgbClr val="FF0000"/>
                    </a:solidFill>
                  </a:rPr>
                  <a:t>Kullback-Leibler</a:t>
                </a:r>
                <a:r>
                  <a:rPr lang="en-US" dirty="0">
                    <a:solidFill>
                      <a:srgbClr val="FF0000"/>
                    </a:solidFill>
                  </a:rPr>
                  <a:t>)</a:t>
                </a:r>
                <a:r>
                  <a:rPr lang="en-US" dirty="0"/>
                  <a:t> for distributions P,Q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begChr m:val="‖"/>
                              <m:endChr m:val="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d>
                        </m:e>
                      </m:d>
                      <m:r>
                        <a:rPr lang="en-US" b="0" i="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𝑞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KL-divergence is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asymmetric</a:t>
                </a:r>
                <a:r>
                  <a:rPr lang="en-US" dirty="0"/>
                  <a:t>. We can make it symmetric by taking the average of both sides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begChr m:val="‖"/>
                              <m:end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𝑄</m:t>
                              </m:r>
                            </m:e>
                          </m:d>
                        </m:e>
                      </m:d>
                      <m:r>
                        <m:rPr>
                          <m:nor/>
                        </m:rPr>
                        <a:rPr lang="en-US" dirty="0"/>
                        <m:t> +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𝑄</m:t>
                          </m:r>
                          <m:d>
                            <m:dPr>
                              <m:begChr m:val="‖"/>
                              <m:end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𝑃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JS-divergence (Jensen-Shannon) </a:t>
                </a:r>
              </a:p>
              <a:p>
                <a:pPr marL="0" indent="0">
                  <a:buNone/>
                </a:pPr>
                <a:r>
                  <a:rPr lang="en-US" b="0" dirty="0"/>
                  <a:t>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𝐽𝑆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  <m:d>
                          <m:dPr>
                            <m:begChr m:val="‖"/>
                            <m:endChr m:val="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  <m:d>
                          <m:dPr>
                            <m:begChr m:val="‖"/>
                            <m:endChr m:val="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0"/>
                <a:ext cx="8229600" cy="5257800"/>
              </a:xfrm>
              <a:blipFill rotWithShape="0">
                <a:blip r:embed="rId2"/>
                <a:stretch>
                  <a:fillRect l="-222" t="-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5290946"/>
              </p:ext>
            </p:extLst>
          </p:nvPr>
        </p:nvGraphicFramePr>
        <p:xfrm>
          <a:off x="1066800" y="1981200"/>
          <a:ext cx="7391400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en-US" sz="1600" dirty="0"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Obama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Election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600" dirty="0" err="1"/>
                        <a:t>D1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600" dirty="0" err="1"/>
                        <a:t>D2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600" dirty="0" err="1"/>
                        <a:t>D2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44733" y="6248400"/>
            <a:ext cx="2527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M: Average distribution</a:t>
            </a:r>
          </a:p>
        </p:txBody>
      </p:sp>
    </p:spTree>
    <p:extLst>
      <p:ext uri="{BB962C8B-B14F-4D97-AF65-F5344CB8AC3E}">
        <p14:creationId xmlns:p14="http://schemas.microsoft.com/office/powerpoint/2010/main" val="2208687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similarity important?	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saw many definitions of similarity and distance</a:t>
            </a:r>
          </a:p>
          <a:p>
            <a:r>
              <a:rPr lang="en-US" dirty="0"/>
              <a:t>How do we make use of similarity in practice?</a:t>
            </a:r>
          </a:p>
          <a:p>
            <a:r>
              <a:rPr lang="en-US" dirty="0"/>
              <a:t>What issues do we have to deal with?</a:t>
            </a:r>
          </a:p>
        </p:txBody>
      </p:sp>
    </p:spTree>
    <p:extLst>
      <p:ext uri="{BB962C8B-B14F-4D97-AF65-F5344CB8AC3E}">
        <p14:creationId xmlns:p14="http://schemas.microsoft.com/office/powerpoint/2010/main" val="49898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Applications of Similarity:</a:t>
            </a:r>
            <a:br>
              <a:rPr lang="en-US" dirty="0"/>
            </a:br>
            <a:r>
              <a:rPr lang="en-US" dirty="0"/>
              <a:t>Recommendation Systems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5046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important problem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Recommendation</a:t>
            </a:r>
            <a:r>
              <a:rPr lang="en-US" dirty="0"/>
              <a:t> systems</a:t>
            </a:r>
          </a:p>
          <a:p>
            <a:pPr lvl="1"/>
            <a:r>
              <a:rPr lang="en-US" dirty="0"/>
              <a:t>When a user buys an </a:t>
            </a:r>
            <a:r>
              <a:rPr lang="en-US" dirty="0">
                <a:solidFill>
                  <a:srgbClr val="0070C0"/>
                </a:solidFill>
              </a:rPr>
              <a:t>item</a:t>
            </a:r>
            <a:r>
              <a:rPr lang="en-US" dirty="0"/>
              <a:t> (initially books) we want to recommend other items that the user may like</a:t>
            </a:r>
          </a:p>
          <a:p>
            <a:pPr lvl="1"/>
            <a:r>
              <a:rPr lang="en-US" dirty="0"/>
              <a:t>When a user rates a </a:t>
            </a:r>
            <a:r>
              <a:rPr lang="en-US" dirty="0">
                <a:solidFill>
                  <a:srgbClr val="0070C0"/>
                </a:solidFill>
              </a:rPr>
              <a:t>movie</a:t>
            </a:r>
            <a:r>
              <a:rPr lang="en-US" dirty="0"/>
              <a:t>, we want to recommend movies that the user may like</a:t>
            </a:r>
          </a:p>
          <a:p>
            <a:pPr lvl="1"/>
            <a:r>
              <a:rPr lang="en-US" dirty="0"/>
              <a:t>When a user likes a </a:t>
            </a:r>
            <a:r>
              <a:rPr lang="en-US" dirty="0">
                <a:solidFill>
                  <a:srgbClr val="0070C0"/>
                </a:solidFill>
              </a:rPr>
              <a:t>song</a:t>
            </a:r>
            <a:r>
              <a:rPr lang="en-US" dirty="0"/>
              <a:t>, we want to recommend other songs that they may like</a:t>
            </a:r>
          </a:p>
          <a:p>
            <a:endParaRPr lang="en-US" dirty="0"/>
          </a:p>
          <a:p>
            <a:r>
              <a:rPr lang="en-US" dirty="0"/>
              <a:t>A big success of data mining</a:t>
            </a:r>
          </a:p>
          <a:p>
            <a:r>
              <a:rPr lang="en-US" dirty="0"/>
              <a:t>Exploits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long tail</a:t>
            </a:r>
          </a:p>
          <a:p>
            <a:pPr lvl="1"/>
            <a:r>
              <a:rPr lang="en-US" dirty="0"/>
              <a:t>How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Into Thin Air </a:t>
            </a:r>
            <a:r>
              <a:rPr lang="en-US" dirty="0"/>
              <a:t>made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Touching the Void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popular</a:t>
            </a:r>
          </a:p>
        </p:txBody>
      </p:sp>
    </p:spTree>
    <p:extLst>
      <p:ext uri="{BB962C8B-B14F-4D97-AF65-F5344CB8AC3E}">
        <p14:creationId xmlns:p14="http://schemas.microsoft.com/office/powerpoint/2010/main" val="33213987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(Preference) Matrix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6745689"/>
              </p:ext>
            </p:extLst>
          </p:nvPr>
        </p:nvGraphicFramePr>
        <p:xfrm>
          <a:off x="457200" y="2286000"/>
          <a:ext cx="8229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Twilight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</a:t>
                      </a:r>
                      <a:r>
                        <a:rPr lang="en-US" baseline="0" dirty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76400" y="5334000"/>
            <a:ext cx="6635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can we fill the empty entries of the matrix?</a:t>
            </a:r>
          </a:p>
        </p:txBody>
      </p:sp>
    </p:spTree>
    <p:extLst>
      <p:ext uri="{BB962C8B-B14F-4D97-AF65-F5344CB8AC3E}">
        <p14:creationId xmlns:p14="http://schemas.microsoft.com/office/powerpoint/2010/main" val="32995968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Content-based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Represent the items into a </a:t>
            </a:r>
            <a:r>
              <a:rPr lang="en-US" dirty="0">
                <a:solidFill>
                  <a:srgbClr val="0070C0"/>
                </a:solidFill>
              </a:rPr>
              <a:t>feature space </a:t>
            </a:r>
            <a:r>
              <a:rPr lang="en-US" dirty="0"/>
              <a:t>and recommend items to customer C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similar</a:t>
            </a:r>
            <a:r>
              <a:rPr lang="en-US" dirty="0"/>
              <a:t> to previous items rated highly by C</a:t>
            </a:r>
          </a:p>
          <a:p>
            <a:pPr lvl="2"/>
            <a:r>
              <a:rPr lang="en-US" dirty="0"/>
              <a:t>Movie recommendations: recommend movies with same actor(s), director, genre, …</a:t>
            </a:r>
          </a:p>
          <a:p>
            <a:pPr lvl="2"/>
            <a:r>
              <a:rPr lang="en-US" dirty="0"/>
              <a:t>Websites, blogs, news: recommend other sites with “similar” content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4156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Content-based prediction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2286000"/>
          <a:ext cx="8229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Twilight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</a:t>
                      </a:r>
                      <a:r>
                        <a:rPr lang="en-US" baseline="0" dirty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0700" y="4953000"/>
            <a:ext cx="61520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Someone who likes one of the Harry Potter (or Star Wars) </a:t>
            </a:r>
          </a:p>
          <a:p>
            <a:r>
              <a:rPr lang="en-US" dirty="0"/>
              <a:t>movies is likely to like the rest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Same actors, similar story, same genre</a:t>
            </a:r>
          </a:p>
        </p:txBody>
      </p:sp>
    </p:spTree>
    <p:extLst>
      <p:ext uri="{BB962C8B-B14F-4D97-AF65-F5344CB8AC3E}">
        <p14:creationId xmlns:p14="http://schemas.microsoft.com/office/powerpoint/2010/main" val="932126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</a:t>
            </a:r>
          </a:p>
        </p:txBody>
      </p:sp>
      <p:pic>
        <p:nvPicPr>
          <p:cNvPr id="31748" name="Picture 4" descr="MCBS01705_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95400"/>
            <a:ext cx="1758950" cy="177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749" name="Oval 5"/>
          <p:cNvSpPr>
            <a:spLocks noChangeArrowheads="1"/>
          </p:cNvSpPr>
          <p:nvPr/>
        </p:nvSpPr>
        <p:spPr bwMode="auto">
          <a:xfrm>
            <a:off x="5867400" y="2133600"/>
            <a:ext cx="533400" cy="533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0" name="Oval 6"/>
          <p:cNvSpPr>
            <a:spLocks noChangeArrowheads="1"/>
          </p:cNvSpPr>
          <p:nvPr/>
        </p:nvSpPr>
        <p:spPr bwMode="auto">
          <a:xfrm>
            <a:off x="2362200" y="4648200"/>
            <a:ext cx="533400" cy="533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2362200" y="5410200"/>
            <a:ext cx="457200" cy="4572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3" name="Rectangle 9"/>
          <p:cNvSpPr>
            <a:spLocks noChangeArrowheads="1"/>
          </p:cNvSpPr>
          <p:nvPr/>
        </p:nvSpPr>
        <p:spPr bwMode="auto">
          <a:xfrm>
            <a:off x="1524000" y="5410200"/>
            <a:ext cx="457200" cy="45720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4" name="AutoShape 10"/>
          <p:cNvSpPr>
            <a:spLocks noChangeArrowheads="1"/>
          </p:cNvSpPr>
          <p:nvPr/>
        </p:nvSpPr>
        <p:spPr bwMode="auto">
          <a:xfrm>
            <a:off x="6705600" y="2133600"/>
            <a:ext cx="685800" cy="5334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5" name="AutoShape 11"/>
          <p:cNvSpPr>
            <a:spLocks noChangeArrowheads="1"/>
          </p:cNvSpPr>
          <p:nvPr/>
        </p:nvSpPr>
        <p:spPr bwMode="auto">
          <a:xfrm>
            <a:off x="1447800" y="4648200"/>
            <a:ext cx="685800" cy="533400"/>
          </a:xfrm>
          <a:prstGeom prst="hexagon">
            <a:avLst>
              <a:gd name="adj" fmla="val 32143"/>
              <a:gd name="vf" fmla="val 11547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6" name="AutoShape 12"/>
          <p:cNvSpPr>
            <a:spLocks noChangeArrowheads="1"/>
          </p:cNvSpPr>
          <p:nvPr/>
        </p:nvSpPr>
        <p:spPr bwMode="auto">
          <a:xfrm>
            <a:off x="3810000" y="2286000"/>
            <a:ext cx="1219200" cy="3048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3810000" y="1876425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likes</a:t>
            </a:r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5334000" y="1371600"/>
            <a:ext cx="253523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Item profiles</a:t>
            </a:r>
          </a:p>
        </p:txBody>
      </p:sp>
      <p:sp>
        <p:nvSpPr>
          <p:cNvPr id="31759" name="AutoShape 15"/>
          <p:cNvSpPr>
            <a:spLocks noChangeArrowheads="1"/>
          </p:cNvSpPr>
          <p:nvPr/>
        </p:nvSpPr>
        <p:spPr bwMode="auto">
          <a:xfrm>
            <a:off x="6553200" y="2971800"/>
            <a:ext cx="304800" cy="1295400"/>
          </a:xfrm>
          <a:prstGeom prst="downArrow">
            <a:avLst>
              <a:gd name="adj1" fmla="val 50000"/>
              <a:gd name="adj2" fmla="val 106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0" name="Rectangle 16"/>
          <p:cNvSpPr>
            <a:spLocks noChangeArrowheads="1"/>
          </p:cNvSpPr>
          <p:nvPr/>
        </p:nvSpPr>
        <p:spPr bwMode="auto">
          <a:xfrm>
            <a:off x="5562600" y="1981200"/>
            <a:ext cx="20574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1" name="Rectangle 17"/>
          <p:cNvSpPr>
            <a:spLocks noChangeArrowheads="1"/>
          </p:cNvSpPr>
          <p:nvPr/>
        </p:nvSpPr>
        <p:spPr bwMode="auto">
          <a:xfrm>
            <a:off x="5562600" y="4648200"/>
            <a:ext cx="22098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Red</a:t>
            </a:r>
          </a:p>
          <a:p>
            <a:pPr algn="ctr"/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Circles</a:t>
            </a:r>
          </a:p>
          <a:p>
            <a:pPr algn="ctr"/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Triangles</a:t>
            </a:r>
          </a:p>
        </p:txBody>
      </p:sp>
      <p:sp>
        <p:nvSpPr>
          <p:cNvPr id="31762" name="Text Box 18"/>
          <p:cNvSpPr txBox="1">
            <a:spLocks noChangeArrowheads="1"/>
          </p:cNvSpPr>
          <p:nvPr/>
        </p:nvSpPr>
        <p:spPr bwMode="auto">
          <a:xfrm>
            <a:off x="5486400" y="5791200"/>
            <a:ext cx="239236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User profile</a:t>
            </a:r>
          </a:p>
        </p:txBody>
      </p:sp>
      <p:sp>
        <p:nvSpPr>
          <p:cNvPr id="31764" name="AutoShape 20"/>
          <p:cNvSpPr>
            <a:spLocks noChangeArrowheads="1"/>
          </p:cNvSpPr>
          <p:nvPr/>
        </p:nvSpPr>
        <p:spPr bwMode="auto">
          <a:xfrm>
            <a:off x="3733800" y="5105400"/>
            <a:ext cx="1219200" cy="304800"/>
          </a:xfrm>
          <a:prstGeom prst="lef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5" name="Text Box 21"/>
          <p:cNvSpPr txBox="1">
            <a:spLocks noChangeArrowheads="1"/>
          </p:cNvSpPr>
          <p:nvPr/>
        </p:nvSpPr>
        <p:spPr bwMode="auto">
          <a:xfrm>
            <a:off x="3862388" y="4724400"/>
            <a:ext cx="1014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match</a:t>
            </a:r>
          </a:p>
        </p:txBody>
      </p:sp>
      <p:sp>
        <p:nvSpPr>
          <p:cNvPr id="31766" name="AutoShape 22"/>
          <p:cNvSpPr>
            <a:spLocks noChangeArrowheads="1"/>
          </p:cNvSpPr>
          <p:nvPr/>
        </p:nvSpPr>
        <p:spPr bwMode="auto">
          <a:xfrm>
            <a:off x="2057400" y="3276600"/>
            <a:ext cx="228600" cy="1066800"/>
          </a:xfrm>
          <a:prstGeom prst="upArrow">
            <a:avLst>
              <a:gd name="adj1" fmla="val 50000"/>
              <a:gd name="adj2" fmla="val 1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7" name="Text Box 23"/>
          <p:cNvSpPr txBox="1">
            <a:spLocks noChangeArrowheads="1"/>
          </p:cNvSpPr>
          <p:nvPr/>
        </p:nvSpPr>
        <p:spPr bwMode="auto">
          <a:xfrm>
            <a:off x="365125" y="3544888"/>
            <a:ext cx="179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recommend</a:t>
            </a:r>
          </a:p>
        </p:txBody>
      </p:sp>
      <p:sp>
        <p:nvSpPr>
          <p:cNvPr id="31768" name="Text Box 24"/>
          <p:cNvSpPr txBox="1">
            <a:spLocks noChangeArrowheads="1"/>
          </p:cNvSpPr>
          <p:nvPr/>
        </p:nvSpPr>
        <p:spPr bwMode="auto">
          <a:xfrm>
            <a:off x="6842125" y="3324225"/>
            <a:ext cx="82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build</a:t>
            </a:r>
          </a:p>
        </p:txBody>
      </p:sp>
    </p:spTree>
    <p:extLst>
      <p:ext uri="{BB962C8B-B14F-4D97-AF65-F5344CB8AC3E}">
        <p14:creationId xmlns:p14="http://schemas.microsoft.com/office/powerpoint/2010/main" val="2360964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 animBg="1"/>
      <p:bldP spid="31750" grpId="0" animBg="1"/>
      <p:bldP spid="31752" grpId="0" animBg="1"/>
      <p:bldP spid="31753" grpId="0" animBg="1"/>
      <p:bldP spid="31754" grpId="0" animBg="1"/>
      <p:bldP spid="31755" grpId="0" animBg="1"/>
      <p:bldP spid="31756" grpId="0" animBg="1"/>
      <p:bldP spid="31757" grpId="0"/>
      <p:bldP spid="31758" grpId="0"/>
      <p:bldP spid="31759" grpId="0" animBg="1"/>
      <p:bldP spid="31760" grpId="0" animBg="1"/>
      <p:bldP spid="31761" grpId="0" animBg="1"/>
      <p:bldP spid="31762" grpId="0"/>
      <p:bldP spid="31764" grpId="0" animBg="1"/>
      <p:bldP spid="31765" grpId="0"/>
      <p:bldP spid="31766" grpId="0" animBg="1"/>
      <p:bldP spid="31767" grpId="0"/>
      <p:bldP spid="3176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Map items into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feature space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mocvies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Actors, directors, genre, rating, year,…</a:t>
            </a:r>
          </a:p>
          <a:p>
            <a:pPr lvl="2"/>
            <a:r>
              <a:rPr lang="en-US" dirty="0"/>
              <a:t>Challenge: make all features compatible.</a:t>
            </a:r>
          </a:p>
          <a:p>
            <a:pPr lvl="1"/>
            <a:r>
              <a:rPr lang="en-US" dirty="0"/>
              <a:t>For documents?</a:t>
            </a:r>
          </a:p>
          <a:p>
            <a:pPr lvl="1"/>
            <a:endParaRPr lang="en-US" dirty="0"/>
          </a:p>
          <a:p>
            <a:r>
              <a:rPr lang="en-US" dirty="0"/>
              <a:t>To compare items with users we need to </a:t>
            </a:r>
            <a:r>
              <a:rPr lang="en-US" dirty="0">
                <a:solidFill>
                  <a:srgbClr val="0070C0"/>
                </a:solidFill>
              </a:rPr>
              <a:t>map</a:t>
            </a:r>
            <a:r>
              <a:rPr lang="en-US" dirty="0"/>
              <a:t> users to the same feature space. How?</a:t>
            </a:r>
          </a:p>
          <a:p>
            <a:pPr lvl="1"/>
            <a:r>
              <a:rPr lang="en-US" dirty="0"/>
              <a:t>Take all the movies that the user has seen and take the average vector</a:t>
            </a:r>
          </a:p>
          <a:p>
            <a:pPr lvl="2"/>
            <a:r>
              <a:rPr lang="en-US" dirty="0"/>
              <a:t>Other aggregation functions are also possible.</a:t>
            </a:r>
          </a:p>
          <a:p>
            <a:pPr lvl="2"/>
            <a:endParaRPr lang="en-US" dirty="0"/>
          </a:p>
          <a:p>
            <a:r>
              <a:rPr lang="en-US" dirty="0"/>
              <a:t>Recommend to user C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most similar </a:t>
            </a:r>
            <a:r>
              <a:rPr lang="en-US" dirty="0"/>
              <a:t>item I computing similarity in the common feature space</a:t>
            </a:r>
          </a:p>
          <a:p>
            <a:pPr lvl="1"/>
            <a:r>
              <a:rPr lang="en-US" dirty="0"/>
              <a:t>Distributional distance measures also work well. </a:t>
            </a:r>
          </a:p>
        </p:txBody>
      </p:sp>
    </p:spTree>
    <p:extLst>
      <p:ext uri="{BB962C8B-B14F-4D97-AF65-F5344CB8AC3E}">
        <p14:creationId xmlns:p14="http://schemas.microsoft.com/office/powerpoint/2010/main" val="375539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001000" cy="838200"/>
          </a:xfrm>
        </p:spPr>
        <p:txBody>
          <a:bodyPr/>
          <a:lstStyle/>
          <a:p>
            <a:r>
              <a:rPr lang="en-US" sz="3400" dirty="0"/>
              <a:t>Limitations of content-based approach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Finding the appropriate features</a:t>
            </a:r>
          </a:p>
          <a:p>
            <a:pPr lvl="1"/>
            <a:r>
              <a:rPr lang="en-US"/>
              <a:t>e.g., images, movies, music</a:t>
            </a:r>
          </a:p>
          <a:p>
            <a:r>
              <a:rPr lang="en-US"/>
              <a:t>Overspecialization</a:t>
            </a:r>
          </a:p>
          <a:p>
            <a:pPr lvl="1"/>
            <a:r>
              <a:rPr lang="en-US"/>
              <a:t>Never recommends items outside user’s content profile</a:t>
            </a:r>
          </a:p>
          <a:p>
            <a:pPr lvl="1"/>
            <a:r>
              <a:rPr lang="en-US"/>
              <a:t>People might have multiple interests</a:t>
            </a:r>
          </a:p>
          <a:p>
            <a:r>
              <a:rPr lang="en-US"/>
              <a:t>Recommendations for new users</a:t>
            </a:r>
          </a:p>
          <a:p>
            <a:pPr lvl="1"/>
            <a:r>
              <a:rPr lang="en-US"/>
              <a:t>How to build a profile?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Collaborative filtering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2286000"/>
          <a:ext cx="8229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Twilight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</a:t>
                      </a:r>
                      <a:r>
                        <a:rPr lang="en-US" baseline="0" dirty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309" y="5105400"/>
            <a:ext cx="8979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Two users are similar if they rate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same items </a:t>
            </a:r>
            <a:r>
              <a:rPr lang="en-US" sz="2400" dirty="0"/>
              <a:t>in a </a:t>
            </a:r>
            <a:r>
              <a:rPr lang="en-US" sz="2400" dirty="0">
                <a:solidFill>
                  <a:srgbClr val="0070C0"/>
                </a:solidFill>
              </a:rPr>
              <a:t>similar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91200"/>
            <a:ext cx="55739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Recommend to user C, the items </a:t>
            </a:r>
          </a:p>
          <a:p>
            <a:r>
              <a:rPr lang="en-US" sz="2400" dirty="0"/>
              <a:t>liked by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many</a:t>
            </a:r>
            <a:r>
              <a:rPr lang="en-US" sz="2400" dirty="0"/>
              <a:t> of the </a:t>
            </a:r>
            <a:r>
              <a:rPr lang="en-US" sz="2400" dirty="0">
                <a:solidFill>
                  <a:srgbClr val="0070C0"/>
                </a:solidFill>
              </a:rPr>
              <a:t>most similar users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244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Similarity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2286000"/>
          <a:ext cx="8229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Twilight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</a:t>
                      </a:r>
                      <a:r>
                        <a:rPr lang="en-US" baseline="0" dirty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4543" y="5105400"/>
            <a:ext cx="79031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Which pair of users do you consider as the most similar?</a:t>
            </a:r>
          </a:p>
          <a:p>
            <a:endParaRPr lang="en-US" sz="2400" dirty="0"/>
          </a:p>
          <a:p>
            <a:r>
              <a:rPr lang="en-US" sz="2400" dirty="0"/>
              <a:t>What is the right definition of similarity?</a:t>
            </a:r>
          </a:p>
        </p:txBody>
      </p:sp>
    </p:spTree>
    <p:extLst>
      <p:ext uri="{BB962C8B-B14F-4D97-AF65-F5344CB8AC3E}">
        <p14:creationId xmlns:p14="http://schemas.microsoft.com/office/powerpoint/2010/main" val="34600560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Similarity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6072833"/>
              </p:ext>
            </p:extLst>
          </p:nvPr>
        </p:nvGraphicFramePr>
        <p:xfrm>
          <a:off x="457200" y="2286000"/>
          <a:ext cx="8229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Twilight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</a:t>
                      </a:r>
                      <a:r>
                        <a:rPr lang="en-US" baseline="0" dirty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9857" y="4953000"/>
            <a:ext cx="6345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</a:rPr>
              <a:t>Jaccard</a:t>
            </a:r>
            <a:r>
              <a:rPr lang="en-US" sz="2400" dirty="0">
                <a:solidFill>
                  <a:srgbClr val="0070C0"/>
                </a:solidFill>
              </a:rPr>
              <a:t> Similarity</a:t>
            </a:r>
            <a:r>
              <a:rPr lang="en-US" sz="2400" dirty="0"/>
              <a:t>: users are sets of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562600"/>
            <a:ext cx="40142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Disregards the ratings.</a:t>
            </a:r>
          </a:p>
          <a:p>
            <a:r>
              <a:rPr lang="en-US" sz="2400" dirty="0" err="1"/>
              <a:t>Jsim</a:t>
            </a:r>
            <a:r>
              <a:rPr lang="en-US" sz="2400" dirty="0"/>
              <a:t>(A,B) = 1/5 </a:t>
            </a:r>
          </a:p>
          <a:p>
            <a:r>
              <a:rPr lang="en-US" sz="2400" dirty="0" err="1"/>
              <a:t>Jsim</a:t>
            </a:r>
            <a:r>
              <a:rPr lang="en-US" sz="2400" dirty="0"/>
              <a:t>(A,C) = </a:t>
            </a:r>
            <a:r>
              <a:rPr lang="en-US" sz="2400" dirty="0" err="1"/>
              <a:t>Jsim</a:t>
            </a:r>
            <a:r>
              <a:rPr lang="en-US" sz="2400" dirty="0"/>
              <a:t>(B,D) = 1/2</a:t>
            </a:r>
          </a:p>
        </p:txBody>
      </p:sp>
    </p:spTree>
    <p:extLst>
      <p:ext uri="{BB962C8B-B14F-4D97-AF65-F5344CB8AC3E}">
        <p14:creationId xmlns:p14="http://schemas.microsoft.com/office/powerpoint/2010/main" val="3881305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Similarity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2286000"/>
          <a:ext cx="8229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Twilight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</a:t>
                      </a:r>
                      <a:r>
                        <a:rPr lang="en-US" baseline="0" dirty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9857" y="4953000"/>
            <a:ext cx="2565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Cosine Similarity: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414665"/>
            <a:ext cx="51651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Assumes zero entries are negatives:</a:t>
            </a:r>
          </a:p>
          <a:p>
            <a:r>
              <a:rPr lang="en-US" sz="2400" dirty="0"/>
              <a:t>Cos(A,B) = 0.38</a:t>
            </a:r>
          </a:p>
          <a:p>
            <a:r>
              <a:rPr lang="en-US" sz="2400" dirty="0"/>
              <a:t>Cos(A,C) = 0.32</a:t>
            </a:r>
          </a:p>
        </p:txBody>
      </p:sp>
    </p:spTree>
    <p:extLst>
      <p:ext uri="{BB962C8B-B14F-4D97-AF65-F5344CB8AC3E}">
        <p14:creationId xmlns:p14="http://schemas.microsoft.com/office/powerpoint/2010/main" val="34012485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Similarity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2286160"/>
              </p:ext>
            </p:extLst>
          </p:nvPr>
        </p:nvGraphicFramePr>
        <p:xfrm>
          <a:off x="457200" y="2286000"/>
          <a:ext cx="8229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Twilight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</a:t>
                      </a:r>
                      <a:r>
                        <a:rPr lang="en-US" baseline="0" dirty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 Wars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71032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Normalized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70C0"/>
                </a:solidFill>
              </a:rPr>
              <a:t>Cosine Similarity</a:t>
            </a:r>
            <a:r>
              <a:rPr lang="en-US" sz="2400" dirty="0"/>
              <a:t>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Subtract the mean and then compute Cosine</a:t>
            </a:r>
          </a:p>
          <a:p>
            <a:r>
              <a:rPr lang="en-US" sz="2400" dirty="0"/>
              <a:t>	(correlation coefficient)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5867400"/>
            <a:ext cx="26741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Corr</a:t>
            </a:r>
            <a:r>
              <a:rPr lang="en-US" sz="2400" dirty="0"/>
              <a:t>(A,B) = 0.092</a:t>
            </a:r>
          </a:p>
          <a:p>
            <a:r>
              <a:rPr lang="en-US" sz="2400" dirty="0"/>
              <a:t>Cos(A,C) = -0.559</a:t>
            </a:r>
          </a:p>
        </p:txBody>
      </p:sp>
    </p:spTree>
    <p:extLst>
      <p:ext uri="{BB962C8B-B14F-4D97-AF65-F5344CB8AC3E}">
        <p14:creationId xmlns:p14="http://schemas.microsoft.com/office/powerpoint/2010/main" val="7930625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User-User Collaborative Filtering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dirty="0"/>
              <a:t>Consider user c</a:t>
            </a:r>
          </a:p>
          <a:p>
            <a:r>
              <a:rPr lang="en-US" sz="3200" dirty="0"/>
              <a:t>Find set D of other users whose ratings are most “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similar</a:t>
            </a:r>
            <a:r>
              <a:rPr lang="en-US" sz="3200" dirty="0"/>
              <a:t>” to c’s ratings</a:t>
            </a:r>
          </a:p>
          <a:p>
            <a:r>
              <a:rPr lang="en-US" sz="3200" dirty="0"/>
              <a:t>Estimate user’s ratings based on ratings of users in D using some </a:t>
            </a:r>
            <a:r>
              <a:rPr lang="en-US" sz="3200" dirty="0">
                <a:solidFill>
                  <a:srgbClr val="0070C0"/>
                </a:solidFill>
              </a:rPr>
              <a:t>aggregation function</a:t>
            </a:r>
          </a:p>
          <a:p>
            <a:pPr lvl="1"/>
            <a:endParaRPr lang="en-US" sz="2800" dirty="0"/>
          </a:p>
          <a:p>
            <a:r>
              <a:rPr lang="en-US" sz="3200" dirty="0"/>
              <a:t>Advantage: for each user we have small amount of computation.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9028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Item-Item Collaborative Filtering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200" dirty="0"/>
              <a:t>We can 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transpose (flip) </a:t>
            </a:r>
            <a:r>
              <a:rPr lang="en-US" sz="3200" dirty="0"/>
              <a:t>the matrix and perform the same computation as before to define similarity between items</a:t>
            </a:r>
          </a:p>
          <a:p>
            <a:pPr lvl="1"/>
            <a:r>
              <a:rPr lang="en-US" sz="2800" dirty="0"/>
              <a:t>Intuition: Two items are similar if they are </a:t>
            </a:r>
            <a:r>
              <a:rPr lang="en-US" sz="2800" dirty="0">
                <a:solidFill>
                  <a:srgbClr val="0070C0"/>
                </a:solidFill>
              </a:rPr>
              <a:t>rated in the same</a:t>
            </a:r>
            <a:r>
              <a:rPr lang="en-US" sz="2800" dirty="0"/>
              <a:t> way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by many users</a:t>
            </a:r>
            <a:r>
              <a:rPr lang="en-US" sz="2800" dirty="0"/>
              <a:t>. </a:t>
            </a:r>
          </a:p>
          <a:p>
            <a:pPr lvl="1"/>
            <a:r>
              <a:rPr lang="en-US" sz="2800" dirty="0"/>
              <a:t>Better defined similarity since it captures the notion of genre of an item</a:t>
            </a:r>
          </a:p>
          <a:p>
            <a:pPr lvl="2"/>
            <a:r>
              <a:rPr lang="en-US" dirty="0"/>
              <a:t>Users may have multiple interests.</a:t>
            </a:r>
          </a:p>
          <a:p>
            <a:r>
              <a:rPr lang="en-US" dirty="0"/>
              <a:t>Algorithm: For each user c and item </a:t>
            </a:r>
            <a:r>
              <a:rPr lang="en-US" dirty="0" err="1"/>
              <a:t>i</a:t>
            </a:r>
            <a:endParaRPr lang="en-US" dirty="0"/>
          </a:p>
          <a:p>
            <a:pPr lvl="1"/>
            <a:r>
              <a:rPr lang="en-US" dirty="0"/>
              <a:t>Find the set D of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most similar items </a:t>
            </a:r>
            <a:r>
              <a:rPr lang="en-US" dirty="0"/>
              <a:t>to item </a:t>
            </a:r>
            <a:r>
              <a:rPr lang="en-US" dirty="0" err="1"/>
              <a:t>i</a:t>
            </a:r>
            <a:r>
              <a:rPr lang="en-US" dirty="0"/>
              <a:t> that have been rated by user c.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Aggregate</a:t>
            </a:r>
            <a:r>
              <a:rPr lang="en-US" dirty="0"/>
              <a:t> their ratings to predict the rating for item </a:t>
            </a:r>
            <a:r>
              <a:rPr lang="en-US" dirty="0" err="1"/>
              <a:t>i</a:t>
            </a:r>
            <a:r>
              <a:rPr lang="en-US" dirty="0"/>
              <a:t>. </a:t>
            </a:r>
          </a:p>
          <a:p>
            <a:r>
              <a:rPr lang="en-US" dirty="0"/>
              <a:t>Disadvantage: we need to consider each user-item pair separately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321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8001000" cy="838200"/>
          </a:xfrm>
        </p:spPr>
        <p:txBody>
          <a:bodyPr/>
          <a:lstStyle/>
          <a:p>
            <a:r>
              <a:rPr lang="en-US" sz="3400" dirty="0"/>
              <a:t>Pros and cons of collaborative filtering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 for any kind of item</a:t>
            </a:r>
          </a:p>
          <a:p>
            <a:pPr lvl="1"/>
            <a:r>
              <a:rPr lang="en-US" dirty="0"/>
              <a:t>No feature selection needed</a:t>
            </a:r>
          </a:p>
          <a:p>
            <a:r>
              <a:rPr lang="en-US" dirty="0"/>
              <a:t>New user problem</a:t>
            </a:r>
          </a:p>
          <a:p>
            <a:r>
              <a:rPr lang="en-US" dirty="0"/>
              <a:t>New item problem</a:t>
            </a:r>
          </a:p>
          <a:p>
            <a:r>
              <a:rPr lang="en-US" dirty="0" err="1"/>
              <a:t>Sparsity</a:t>
            </a:r>
            <a:r>
              <a:rPr lang="en-US" dirty="0"/>
              <a:t> of rating matrix</a:t>
            </a:r>
          </a:p>
          <a:p>
            <a:pPr lvl="1"/>
            <a:r>
              <a:rPr lang="en-US" dirty="0"/>
              <a:t>Cluster-based smoothing?</a:t>
            </a:r>
          </a:p>
        </p:txBody>
      </p:sp>
    </p:spTree>
    <p:extLst>
      <p:ext uri="{BB962C8B-B14F-4D97-AF65-F5344CB8AC3E}">
        <p14:creationId xmlns:p14="http://schemas.microsoft.com/office/powerpoint/2010/main" val="127780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SKETCHING </a:t>
            </a:r>
            <a:br>
              <a:rPr lang="en-US" dirty="0"/>
            </a:br>
            <a:r>
              <a:rPr lang="en-US" dirty="0"/>
              <a:t>AND </a:t>
            </a:r>
            <a:br>
              <a:rPr lang="en-US" dirty="0"/>
            </a:br>
            <a:r>
              <a:rPr lang="en-US" dirty="0"/>
              <a:t>LOCALITY SENSITIVE HASHING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 to:</a:t>
            </a:r>
          </a:p>
          <a:p>
            <a:r>
              <a:rPr lang="en-US" dirty="0" err="1"/>
              <a:t>Rajaraman</a:t>
            </a:r>
            <a:r>
              <a:rPr lang="en-US" dirty="0"/>
              <a:t> and Ullman, “Mining Massive Datasets”</a:t>
            </a:r>
          </a:p>
          <a:p>
            <a:r>
              <a:rPr lang="en-US" dirty="0" err="1"/>
              <a:t>Evimaria</a:t>
            </a:r>
            <a:r>
              <a:rPr lang="en-US" dirty="0"/>
              <a:t> Terzi, slides for Data Mining Course. </a:t>
            </a:r>
          </a:p>
        </p:txBody>
      </p:sp>
    </p:spTree>
    <p:extLst>
      <p:ext uri="{BB962C8B-B14F-4D97-AF65-F5344CB8AC3E}">
        <p14:creationId xmlns:p14="http://schemas.microsoft.com/office/powerpoint/2010/main" val="11864585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important problem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duplicate</a:t>
            </a:r>
            <a:r>
              <a:rPr lang="en-US" dirty="0"/>
              <a:t> and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near-duplicate</a:t>
            </a:r>
            <a:r>
              <a:rPr lang="en-US" dirty="0"/>
              <a:t> documents from a web crawl.</a:t>
            </a:r>
          </a:p>
          <a:p>
            <a:r>
              <a:rPr lang="en-US" dirty="0"/>
              <a:t>Why is it important:</a:t>
            </a:r>
          </a:p>
          <a:p>
            <a:pPr lvl="1"/>
            <a:r>
              <a:rPr lang="en-US" dirty="0"/>
              <a:t>Identify </a:t>
            </a:r>
            <a:r>
              <a:rPr lang="en-US" dirty="0">
                <a:solidFill>
                  <a:srgbClr val="0070C0"/>
                </a:solidFill>
              </a:rPr>
              <a:t>mirrored web pages</a:t>
            </a:r>
            <a:r>
              <a:rPr lang="en-US" dirty="0"/>
              <a:t>, and avoid indexing them, or serving them multiple times</a:t>
            </a:r>
          </a:p>
          <a:p>
            <a:pPr lvl="1"/>
            <a:r>
              <a:rPr lang="en-US" dirty="0"/>
              <a:t>Find </a:t>
            </a:r>
            <a:r>
              <a:rPr lang="en-US" dirty="0">
                <a:solidFill>
                  <a:srgbClr val="0070C0"/>
                </a:solidFill>
              </a:rPr>
              <a:t>replicated news stories </a:t>
            </a:r>
            <a:r>
              <a:rPr lang="en-US" dirty="0"/>
              <a:t>and cluster them under a single story.</a:t>
            </a:r>
          </a:p>
          <a:p>
            <a:pPr lvl="1"/>
            <a:r>
              <a:rPr lang="en-US" dirty="0"/>
              <a:t>Identify plagiarism</a:t>
            </a:r>
          </a:p>
          <a:p>
            <a:endParaRPr lang="en-US" dirty="0"/>
          </a:p>
          <a:p>
            <a:r>
              <a:rPr lang="en-US" dirty="0"/>
              <a:t>What if we wanted exact duplicates?</a:t>
            </a:r>
          </a:p>
        </p:txBody>
      </p:sp>
    </p:spTree>
    <p:extLst>
      <p:ext uri="{BB962C8B-B14F-4D97-AF65-F5344CB8AC3E}">
        <p14:creationId xmlns:p14="http://schemas.microsoft.com/office/powerpoint/2010/main" val="38528680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similar items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Both the problems we described have a common component</a:t>
            </a:r>
          </a:p>
          <a:p>
            <a:pPr lvl="1"/>
            <a:r>
              <a:rPr lang="en-US" dirty="0"/>
              <a:t>We need a quick way to find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highly similar </a:t>
            </a:r>
            <a:r>
              <a:rPr lang="en-US" dirty="0"/>
              <a:t>items to a </a:t>
            </a:r>
            <a:r>
              <a:rPr lang="en-US" dirty="0">
                <a:solidFill>
                  <a:srgbClr val="0070C0"/>
                </a:solidFill>
              </a:rPr>
              <a:t>query</a:t>
            </a:r>
            <a:r>
              <a:rPr lang="en-US" dirty="0"/>
              <a:t> item</a:t>
            </a:r>
          </a:p>
          <a:p>
            <a:pPr lvl="1"/>
            <a:r>
              <a:rPr lang="en-US" dirty="0"/>
              <a:t>OR, we need a method for finding </a:t>
            </a:r>
            <a:r>
              <a:rPr lang="en-US" dirty="0">
                <a:solidFill>
                  <a:srgbClr val="0070C0"/>
                </a:solidFill>
              </a:rPr>
              <a:t>all pairs </a:t>
            </a:r>
            <a:r>
              <a:rPr lang="en-US" dirty="0"/>
              <a:t>of items that are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highly similar</a:t>
            </a:r>
            <a:r>
              <a:rPr lang="en-US" dirty="0"/>
              <a:t>.</a:t>
            </a:r>
          </a:p>
          <a:p>
            <a:r>
              <a:rPr lang="en-US" dirty="0"/>
              <a:t>Also known as the </a:t>
            </a:r>
            <a:r>
              <a:rPr lang="en-US" dirty="0">
                <a:solidFill>
                  <a:srgbClr val="0070C0"/>
                </a:solidFill>
              </a:rPr>
              <a:t>Nearest Neighbor </a:t>
            </a:r>
            <a:r>
              <a:rPr lang="en-US" dirty="0"/>
              <a:t>problem, or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All Nearest Neighbors </a:t>
            </a:r>
            <a:r>
              <a:rPr lang="en-US" dirty="0"/>
              <a:t>problem</a:t>
            </a:r>
          </a:p>
          <a:p>
            <a:endParaRPr lang="en-US" dirty="0"/>
          </a:p>
          <a:p>
            <a:r>
              <a:rPr lang="en-US" dirty="0"/>
              <a:t>We will examine it for the case of near-duplicate web documents.</a:t>
            </a:r>
          </a:p>
        </p:txBody>
      </p:sp>
    </p:spTree>
    <p:extLst>
      <p:ext uri="{BB962C8B-B14F-4D97-AF65-F5344CB8AC3E}">
        <p14:creationId xmlns:p14="http://schemas.microsoft.com/office/powerpoint/2010/main" val="10146166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right representation </a:t>
            </a:r>
            <a:r>
              <a:rPr lang="en-US" dirty="0"/>
              <a:t>of the document when we check for similarity?</a:t>
            </a:r>
          </a:p>
          <a:p>
            <a:pPr lvl="1"/>
            <a:r>
              <a:rPr lang="en-US" dirty="0"/>
              <a:t>E.g., representing a document as a set of characters will not do (why?)</a:t>
            </a:r>
          </a:p>
          <a:p>
            <a:r>
              <a:rPr lang="en-US" dirty="0"/>
              <a:t>When we have billions of documents, keeping the full text in memory is not an option.</a:t>
            </a:r>
          </a:p>
          <a:p>
            <a:pPr lvl="1"/>
            <a:r>
              <a:rPr lang="en-US" dirty="0"/>
              <a:t>We need to find a </a:t>
            </a:r>
            <a:r>
              <a:rPr lang="en-US" dirty="0">
                <a:solidFill>
                  <a:srgbClr val="0070C0"/>
                </a:solidFill>
              </a:rPr>
              <a:t>shorter representation</a:t>
            </a:r>
          </a:p>
          <a:p>
            <a:r>
              <a:rPr lang="en-US" dirty="0"/>
              <a:t>How do we do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pairwise comparisons </a:t>
            </a:r>
            <a:r>
              <a:rPr lang="en-US" dirty="0"/>
              <a:t>of billions of documents?</a:t>
            </a:r>
          </a:p>
          <a:p>
            <a:pPr lvl="1"/>
            <a:r>
              <a:rPr lang="en-US" dirty="0"/>
              <a:t>If we wanted exact match it would be ok, can we replicate this idea?</a:t>
            </a:r>
          </a:p>
        </p:txBody>
      </p:sp>
    </p:spTree>
    <p:extLst>
      <p:ext uri="{BB962C8B-B14F-4D97-AF65-F5344CB8AC3E}">
        <p14:creationId xmlns:p14="http://schemas.microsoft.com/office/powerpoint/2010/main" val="12338261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12BBC-9176-4F9F-835F-6F7CADEACE99}" type="slidenum">
              <a:rPr lang="en-US"/>
              <a:pPr/>
              <a:t>51</a:t>
            </a:fld>
            <a:endParaRPr lang="en-US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Three Essential Techniques for Similar Documents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772400" cy="4114800"/>
          </a:xfrm>
        </p:spPr>
        <p:txBody>
          <a:bodyPr/>
          <a:lstStyle/>
          <a:p>
            <a:pPr marL="609600" indent="-609600">
              <a:buFont typeface="Monotype Sorts" pitchFamily="2" charset="2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Shingling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: convert documents, emails, etc., to sets.</a:t>
            </a:r>
          </a:p>
          <a:p>
            <a:pPr marL="609600" indent="-609600">
              <a:buFont typeface="Monotype Sorts" pitchFamily="2" charset="2"/>
              <a:buAutoNum type="arabicPeriod"/>
            </a:pPr>
            <a:endParaRPr lang="en-US" dirty="0">
              <a:solidFill>
                <a:srgbClr val="0070C0"/>
              </a:solidFill>
            </a:endParaRP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 dirty="0" err="1">
                <a:solidFill>
                  <a:srgbClr val="0070C0"/>
                </a:solidFill>
              </a:rPr>
              <a:t>Minhashing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: convert large sets to short signatures, while preserving similarity.</a:t>
            </a:r>
          </a:p>
          <a:p>
            <a:pPr marL="609600" indent="-609600">
              <a:buFont typeface="Monotype Sorts" pitchFamily="2" charset="2"/>
              <a:buAutoNum type="arabicPeriod"/>
            </a:pPr>
            <a:endParaRPr lang="en-US" dirty="0">
              <a:solidFill>
                <a:srgbClr val="0070C0"/>
              </a:solidFill>
            </a:endParaRP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Locality-Sensitive Hashing (LSH)</a:t>
            </a:r>
            <a:r>
              <a:rPr lang="en-US" dirty="0"/>
              <a:t>: focus on pairs of signatures likely to be similar.</a:t>
            </a:r>
          </a:p>
        </p:txBody>
      </p:sp>
    </p:spTree>
    <p:extLst>
      <p:ext uri="{BB962C8B-B14F-4D97-AF65-F5344CB8AC3E}">
        <p14:creationId xmlns:p14="http://schemas.microsoft.com/office/powerpoint/2010/main" val="41251322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FE38-170A-42BE-8690-C21CE0E28940}" type="slidenum">
              <a:rPr lang="en-US"/>
              <a:pPr/>
              <a:t>52</a:t>
            </a:fld>
            <a:endParaRPr lang="en-US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Big Picture</a:t>
            </a:r>
          </a:p>
        </p:txBody>
      </p:sp>
      <p:sp>
        <p:nvSpPr>
          <p:cNvPr id="64515" name="AutoShape 3"/>
          <p:cNvSpPr>
            <a:spLocks noChangeArrowheads="1"/>
          </p:cNvSpPr>
          <p:nvPr/>
        </p:nvSpPr>
        <p:spPr bwMode="auto">
          <a:xfrm rot="-5394873">
            <a:off x="1257300" y="2552700"/>
            <a:ext cx="1371600" cy="990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r>
              <a:rPr lang="en-US" sz="1800"/>
              <a:t>Shingling</a:t>
            </a:r>
          </a:p>
        </p:txBody>
      </p:sp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152400" y="2743200"/>
            <a:ext cx="777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/>
              <a:t>Docu-</a:t>
            </a:r>
          </a:p>
          <a:p>
            <a:r>
              <a:rPr lang="en-US" sz="1800"/>
              <a:t>ment</a:t>
            </a:r>
          </a:p>
        </p:txBody>
      </p:sp>
      <p:sp>
        <p:nvSpPr>
          <p:cNvPr id="64519" name="Line 7"/>
          <p:cNvSpPr>
            <a:spLocks noChangeShapeType="1"/>
          </p:cNvSpPr>
          <p:nvPr/>
        </p:nvSpPr>
        <p:spPr bwMode="auto">
          <a:xfrm>
            <a:off x="990600" y="3048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31" name="Group 19"/>
          <p:cNvGrpSpPr>
            <a:grpSpLocks/>
          </p:cNvGrpSpPr>
          <p:nvPr/>
        </p:nvGrpSpPr>
        <p:grpSpPr bwMode="auto">
          <a:xfrm>
            <a:off x="2362200" y="3048000"/>
            <a:ext cx="1354138" cy="2578100"/>
            <a:chOff x="1488" y="1920"/>
            <a:chExt cx="853" cy="1624"/>
          </a:xfrm>
        </p:grpSpPr>
        <p:sp>
          <p:nvSpPr>
            <p:cNvPr id="64520" name="Line 8"/>
            <p:cNvSpPr>
              <a:spLocks noChangeShapeType="1"/>
            </p:cNvSpPr>
            <p:nvPr/>
          </p:nvSpPr>
          <p:spPr bwMode="auto">
            <a:xfrm>
              <a:off x="1536" y="192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521" name="Text Box 9"/>
            <p:cNvSpPr txBox="1">
              <a:spLocks noChangeArrowheads="1"/>
            </p:cNvSpPr>
            <p:nvPr/>
          </p:nvSpPr>
          <p:spPr bwMode="auto">
            <a:xfrm>
              <a:off x="1488" y="2448"/>
              <a:ext cx="853" cy="1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The set</a:t>
              </a:r>
            </a:p>
            <a:p>
              <a:r>
                <a:rPr lang="en-US" sz="1800"/>
                <a:t>of strings</a:t>
              </a:r>
            </a:p>
            <a:p>
              <a:r>
                <a:rPr lang="en-US" sz="1800"/>
                <a:t>of length </a:t>
              </a:r>
              <a:r>
                <a:rPr lang="en-US" sz="1800" i="1"/>
                <a:t>k</a:t>
              </a:r>
            </a:p>
            <a:p>
              <a:r>
                <a:rPr lang="en-US" sz="1800"/>
                <a:t>that appear</a:t>
              </a:r>
            </a:p>
            <a:p>
              <a:r>
                <a:rPr lang="en-US" sz="1800"/>
                <a:t>in the doc-</a:t>
              </a:r>
            </a:p>
            <a:p>
              <a:r>
                <a:rPr lang="en-US" sz="1800"/>
                <a:t>ument</a:t>
              </a:r>
            </a:p>
          </p:txBody>
        </p:sp>
        <p:sp>
          <p:nvSpPr>
            <p:cNvPr id="64522" name="Line 10"/>
            <p:cNvSpPr>
              <a:spLocks noChangeShapeType="1"/>
            </p:cNvSpPr>
            <p:nvPr/>
          </p:nvSpPr>
          <p:spPr bwMode="auto">
            <a:xfrm flipV="1">
              <a:off x="1872" y="1920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532" name="Group 20"/>
          <p:cNvGrpSpPr>
            <a:grpSpLocks/>
          </p:cNvGrpSpPr>
          <p:nvPr/>
        </p:nvGrpSpPr>
        <p:grpSpPr bwMode="auto">
          <a:xfrm>
            <a:off x="3581400" y="2362200"/>
            <a:ext cx="2376488" cy="3538538"/>
            <a:chOff x="2256" y="1488"/>
            <a:chExt cx="1497" cy="2229"/>
          </a:xfrm>
        </p:grpSpPr>
        <p:sp>
          <p:nvSpPr>
            <p:cNvPr id="64516" name="AutoShape 4"/>
            <p:cNvSpPr>
              <a:spLocks noChangeArrowheads="1"/>
            </p:cNvSpPr>
            <p:nvPr/>
          </p:nvSpPr>
          <p:spPr bwMode="auto">
            <a:xfrm rot="-5394873">
              <a:off x="2136" y="1608"/>
              <a:ext cx="864" cy="624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99CC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sz="1800"/>
                <a:t>Minhash-</a:t>
              </a:r>
            </a:p>
            <a:p>
              <a:pPr algn="ctr"/>
              <a:r>
                <a:rPr lang="en-US" sz="1800"/>
                <a:t>ing</a:t>
              </a:r>
            </a:p>
          </p:txBody>
        </p:sp>
        <p:sp>
          <p:nvSpPr>
            <p:cNvPr id="64524" name="Line 12"/>
            <p:cNvSpPr>
              <a:spLocks noChangeShapeType="1"/>
            </p:cNvSpPr>
            <p:nvPr/>
          </p:nvSpPr>
          <p:spPr bwMode="auto">
            <a:xfrm>
              <a:off x="2880" y="192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526" name="Text Box 14"/>
            <p:cNvSpPr txBox="1">
              <a:spLocks noChangeArrowheads="1"/>
            </p:cNvSpPr>
            <p:nvPr/>
          </p:nvSpPr>
          <p:spPr bwMode="auto">
            <a:xfrm>
              <a:off x="2784" y="2448"/>
              <a:ext cx="969" cy="1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</a:rPr>
                <a:t>Signatures</a:t>
              </a:r>
              <a:r>
                <a:rPr lang="en-US" sz="1800" i="1" dirty="0">
                  <a:solidFill>
                    <a:srgbClr val="FF0000"/>
                  </a:solidFill>
                </a:rPr>
                <a:t> </a:t>
              </a:r>
              <a:r>
                <a:rPr lang="en-US" sz="1800" dirty="0"/>
                <a:t>:</a:t>
              </a:r>
            </a:p>
            <a:p>
              <a:r>
                <a:rPr lang="en-US" sz="1800" dirty="0"/>
                <a:t>short integer</a:t>
              </a:r>
            </a:p>
            <a:p>
              <a:r>
                <a:rPr lang="en-US" sz="1800" dirty="0"/>
                <a:t>vectors that</a:t>
              </a:r>
            </a:p>
            <a:p>
              <a:r>
                <a:rPr lang="en-US" sz="1800" dirty="0"/>
                <a:t>represent the</a:t>
              </a:r>
            </a:p>
            <a:p>
              <a:r>
                <a:rPr lang="en-US" sz="1800" dirty="0"/>
                <a:t>sets, and</a:t>
              </a:r>
            </a:p>
            <a:p>
              <a:r>
                <a:rPr lang="en-US" sz="1800" dirty="0"/>
                <a:t>reflect their</a:t>
              </a:r>
            </a:p>
            <a:p>
              <a:r>
                <a:rPr lang="en-US" sz="1800" dirty="0"/>
                <a:t>similarity</a:t>
              </a:r>
            </a:p>
          </p:txBody>
        </p:sp>
        <p:sp>
          <p:nvSpPr>
            <p:cNvPr id="64528" name="Line 16"/>
            <p:cNvSpPr>
              <a:spLocks noChangeShapeType="1"/>
            </p:cNvSpPr>
            <p:nvPr/>
          </p:nvSpPr>
          <p:spPr bwMode="auto">
            <a:xfrm flipV="1">
              <a:off x="3216" y="1920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533" name="Group 21"/>
          <p:cNvGrpSpPr>
            <a:grpSpLocks/>
          </p:cNvGrpSpPr>
          <p:nvPr/>
        </p:nvGrpSpPr>
        <p:grpSpPr bwMode="auto">
          <a:xfrm>
            <a:off x="5715000" y="2165350"/>
            <a:ext cx="3402013" cy="2014538"/>
            <a:chOff x="3600" y="1364"/>
            <a:chExt cx="2143" cy="1269"/>
          </a:xfrm>
        </p:grpSpPr>
        <p:sp>
          <p:nvSpPr>
            <p:cNvPr id="64523" name="Rectangle 11"/>
            <p:cNvSpPr>
              <a:spLocks noChangeArrowheads="1"/>
            </p:cNvSpPr>
            <p:nvPr/>
          </p:nvSpPr>
          <p:spPr bwMode="auto">
            <a:xfrm>
              <a:off x="3600" y="1536"/>
              <a:ext cx="816" cy="768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/>
                <a:t>Locality-</a:t>
              </a:r>
            </a:p>
            <a:p>
              <a:pPr algn="ctr"/>
              <a:r>
                <a:rPr lang="en-US" sz="1800"/>
                <a:t>sensitive</a:t>
              </a:r>
            </a:p>
            <a:p>
              <a:pPr algn="ctr"/>
              <a:r>
                <a:rPr lang="en-US" sz="1800"/>
                <a:t>Hashing</a:t>
              </a:r>
            </a:p>
          </p:txBody>
        </p:sp>
        <p:sp>
          <p:nvSpPr>
            <p:cNvPr id="64529" name="Line 17"/>
            <p:cNvSpPr>
              <a:spLocks noChangeShapeType="1"/>
            </p:cNvSpPr>
            <p:nvPr/>
          </p:nvSpPr>
          <p:spPr bwMode="auto">
            <a:xfrm>
              <a:off x="4416" y="192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530" name="Text Box 18"/>
            <p:cNvSpPr txBox="1">
              <a:spLocks noChangeArrowheads="1"/>
            </p:cNvSpPr>
            <p:nvPr/>
          </p:nvSpPr>
          <p:spPr bwMode="auto">
            <a:xfrm>
              <a:off x="4790" y="1364"/>
              <a:ext cx="953" cy="1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</a:rPr>
                <a:t>Candidate</a:t>
              </a:r>
            </a:p>
            <a:p>
              <a:r>
                <a:rPr lang="en-US" sz="1800" dirty="0">
                  <a:solidFill>
                    <a:srgbClr val="FF0000"/>
                  </a:solidFill>
                </a:rPr>
                <a:t>pairs </a:t>
              </a:r>
              <a:r>
                <a:rPr lang="en-US" sz="1800" dirty="0"/>
                <a:t>:</a:t>
              </a:r>
            </a:p>
            <a:p>
              <a:r>
                <a:rPr lang="en-US" sz="1800" dirty="0"/>
                <a:t>those pairs</a:t>
              </a:r>
            </a:p>
            <a:p>
              <a:r>
                <a:rPr lang="en-US" sz="1800" dirty="0"/>
                <a:t>of signatures</a:t>
              </a:r>
            </a:p>
            <a:p>
              <a:r>
                <a:rPr lang="en-US" sz="1800" dirty="0"/>
                <a:t>that we need</a:t>
              </a:r>
            </a:p>
            <a:p>
              <a:r>
                <a:rPr lang="en-US" sz="1800" dirty="0"/>
                <a:t>to test for</a:t>
              </a:r>
            </a:p>
            <a:p>
              <a:r>
                <a:rPr lang="en-US" sz="1800" dirty="0"/>
                <a:t>similarity.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598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4073-4AB2-4684-BF50-9C087D09C3E9}" type="slidenum">
              <a:rPr lang="en-US"/>
              <a:pPr/>
              <a:t>53</a:t>
            </a:fld>
            <a:endParaRPr 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Shingles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001000" cy="426720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k -shingle </a:t>
            </a:r>
            <a:r>
              <a:rPr lang="en-US" dirty="0"/>
              <a:t>(or </a:t>
            </a:r>
            <a:r>
              <a:rPr lang="en-US" dirty="0">
                <a:solidFill>
                  <a:srgbClr val="FF0000"/>
                </a:solidFill>
              </a:rPr>
              <a:t>k -gram</a:t>
            </a:r>
            <a:r>
              <a:rPr lang="en-US" dirty="0"/>
              <a:t>) for a document is a sequence of </a:t>
            </a:r>
            <a:r>
              <a:rPr lang="en-US" dirty="0">
                <a:solidFill>
                  <a:srgbClr val="00B050"/>
                </a:solidFill>
              </a:rPr>
              <a:t>k</a:t>
            </a:r>
            <a:r>
              <a:rPr lang="en-US" i="1" dirty="0"/>
              <a:t> </a:t>
            </a:r>
            <a:r>
              <a:rPr lang="en-US" dirty="0"/>
              <a:t>characters that appears in the document.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r>
              <a:rPr lang="en-US" dirty="0"/>
              <a:t>: document = </a:t>
            </a:r>
            <a:r>
              <a:rPr lang="en-US" dirty="0" err="1">
                <a:solidFill>
                  <a:srgbClr val="0070C0"/>
                </a:solidFill>
              </a:rPr>
              <a:t>abcab</a:t>
            </a:r>
            <a:r>
              <a:rPr lang="en-US" dirty="0"/>
              <a:t>. </a:t>
            </a:r>
            <a:r>
              <a:rPr lang="en-US" dirty="0">
                <a:solidFill>
                  <a:srgbClr val="00B050"/>
                </a:solidFill>
              </a:rPr>
              <a:t>k=2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Set of 2-shingles = {</a:t>
            </a:r>
            <a:r>
              <a:rPr lang="en-US" dirty="0" err="1">
                <a:solidFill>
                  <a:srgbClr val="0070C0"/>
                </a:solidFill>
              </a:rPr>
              <a:t>ab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bc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ca</a:t>
            </a:r>
            <a:r>
              <a:rPr lang="en-US" dirty="0"/>
              <a:t>}.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Option</a:t>
            </a:r>
            <a:r>
              <a:rPr lang="en-US" dirty="0"/>
              <a:t>: regard shingles as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bag</a:t>
            </a:r>
            <a:r>
              <a:rPr lang="en-US" dirty="0"/>
              <a:t>, and count </a:t>
            </a:r>
            <a:r>
              <a:rPr lang="en-US" dirty="0" err="1">
                <a:solidFill>
                  <a:srgbClr val="0070C0"/>
                </a:solidFill>
              </a:rPr>
              <a:t>ab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twice.</a:t>
            </a:r>
          </a:p>
          <a:p>
            <a:endParaRPr lang="en-US" dirty="0"/>
          </a:p>
          <a:p>
            <a:r>
              <a:rPr lang="en-US" dirty="0"/>
              <a:t>Represent a document by its set of </a:t>
            </a:r>
            <a:r>
              <a:rPr lang="en-US" dirty="0">
                <a:solidFill>
                  <a:srgbClr val="00B050"/>
                </a:solidFill>
              </a:rPr>
              <a:t>k</a:t>
            </a:r>
            <a:r>
              <a:rPr lang="en-US" dirty="0"/>
              <a:t>-shingles.</a:t>
            </a:r>
          </a:p>
        </p:txBody>
      </p:sp>
    </p:spTree>
    <p:extLst>
      <p:ext uri="{BB962C8B-B14F-4D97-AF65-F5344CB8AC3E}">
        <p14:creationId xmlns:p14="http://schemas.microsoft.com/office/powerpoint/2010/main" val="17443910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Shingling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Shingle: a sequence of </a:t>
            </a:r>
            <a:r>
              <a:rPr lang="en-US" dirty="0">
                <a:solidFill>
                  <a:srgbClr val="0070C0"/>
                </a:solidFill>
              </a:rPr>
              <a:t>k</a:t>
            </a:r>
            <a:r>
              <a:rPr lang="en-US" dirty="0"/>
              <a:t> contiguous characters</a:t>
            </a:r>
          </a:p>
        </p:txBody>
      </p:sp>
      <p:sp>
        <p:nvSpPr>
          <p:cNvPr id="290820" name="Text Box 4"/>
          <p:cNvSpPr txBox="1">
            <a:spLocks noChangeArrowheads="1"/>
          </p:cNvSpPr>
          <p:nvPr/>
        </p:nvSpPr>
        <p:spPr bwMode="auto">
          <a:xfrm>
            <a:off x="1295400" y="2209800"/>
            <a:ext cx="497764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u="sng" dirty="0">
                <a:latin typeface="CourierPS" pitchFamily="49" charset="0"/>
              </a:rPr>
              <a:t>a rose is a rose is a rose</a:t>
            </a:r>
          </a:p>
          <a:p>
            <a:pPr eaLnBrk="0" hangingPunct="0"/>
            <a:r>
              <a:rPr lang="en-US" sz="2400" b="1" u="sng" dirty="0">
                <a:solidFill>
                  <a:srgbClr val="F2493C"/>
                </a:solidFill>
                <a:latin typeface="CourierPS" pitchFamily="49" charset="0"/>
              </a:rPr>
              <a:t>a rose is </a:t>
            </a:r>
          </a:p>
          <a:p>
            <a:pPr eaLnBrk="0" hangingPunct="0"/>
            <a:r>
              <a:rPr lang="en-US" sz="2400" b="1" dirty="0">
                <a:solidFill>
                  <a:schemeClr val="hlink"/>
                </a:solidFill>
                <a:latin typeface="CourierPS" pitchFamily="49" charset="0"/>
              </a:rPr>
              <a:t> </a:t>
            </a:r>
            <a:r>
              <a:rPr lang="en-US" sz="2400" b="1" u="sng" dirty="0">
                <a:solidFill>
                  <a:schemeClr val="accent2"/>
                </a:solidFill>
                <a:latin typeface="CourierPS" pitchFamily="49" charset="0"/>
              </a:rPr>
              <a:t> rose is a</a:t>
            </a:r>
          </a:p>
          <a:p>
            <a:pPr eaLnBrk="0" hangingPunct="0"/>
            <a:r>
              <a:rPr lang="en-US" sz="2400" b="1" dirty="0">
                <a:solidFill>
                  <a:schemeClr val="accent2"/>
                </a:solidFill>
                <a:latin typeface="CourierPS" pitchFamily="49" charset="0"/>
              </a:rPr>
              <a:t>  </a:t>
            </a:r>
            <a:r>
              <a:rPr lang="en-US" sz="2400" b="1" u="sng" dirty="0">
                <a:solidFill>
                  <a:srgbClr val="00B050"/>
                </a:solidFill>
                <a:latin typeface="CourierPS" pitchFamily="49" charset="0"/>
              </a:rPr>
              <a:t>rose is a </a:t>
            </a:r>
          </a:p>
          <a:p>
            <a:pPr eaLnBrk="0" hangingPunct="0"/>
            <a:r>
              <a:rPr lang="en-US" sz="2400" b="1" dirty="0">
                <a:solidFill>
                  <a:srgbClr val="00B050"/>
                </a:solidFill>
                <a:latin typeface="CourierPS" pitchFamily="49" charset="0"/>
              </a:rPr>
              <a:t>   </a:t>
            </a:r>
            <a:r>
              <a:rPr lang="en-US" sz="2400" b="1" u="sng" dirty="0" err="1">
                <a:solidFill>
                  <a:srgbClr val="00B0F0"/>
                </a:solidFill>
                <a:latin typeface="CourierPS" pitchFamily="49" charset="0"/>
              </a:rPr>
              <a:t>ose</a:t>
            </a:r>
            <a:r>
              <a:rPr lang="en-US" sz="2400" b="1" u="sng" dirty="0">
                <a:solidFill>
                  <a:srgbClr val="00B0F0"/>
                </a:solidFill>
                <a:latin typeface="CourierPS" pitchFamily="49" charset="0"/>
              </a:rPr>
              <a:t> is a r</a:t>
            </a:r>
          </a:p>
          <a:p>
            <a:pPr eaLnBrk="0" hangingPunct="0"/>
            <a:r>
              <a:rPr lang="en-US" sz="2400" b="1" dirty="0">
                <a:solidFill>
                  <a:srgbClr val="00B0F0"/>
                </a:solidFill>
                <a:latin typeface="CourierPS" pitchFamily="49" charset="0"/>
              </a:rPr>
              <a:t>    </a:t>
            </a:r>
            <a:r>
              <a:rPr lang="en-US" sz="2400" b="1" u="sng" dirty="0">
                <a:solidFill>
                  <a:schemeClr val="accent2">
                    <a:lumMod val="75000"/>
                  </a:schemeClr>
                </a:solidFill>
                <a:latin typeface="CourierPS" pitchFamily="49" charset="0"/>
              </a:rPr>
              <a:t>se is a </a:t>
            </a:r>
            <a:r>
              <a:rPr lang="en-US" sz="2400" b="1" u="sng" dirty="0" err="1">
                <a:solidFill>
                  <a:schemeClr val="accent2">
                    <a:lumMod val="75000"/>
                  </a:schemeClr>
                </a:solidFill>
                <a:latin typeface="CourierPS" pitchFamily="49" charset="0"/>
              </a:rPr>
              <a:t>ro</a:t>
            </a:r>
            <a:endParaRPr lang="en-US" sz="2400" b="1" u="sng" dirty="0">
              <a:solidFill>
                <a:schemeClr val="accent2">
                  <a:lumMod val="75000"/>
                </a:schemeClr>
              </a:solidFill>
              <a:latin typeface="CourierPS" pitchFamily="49" charset="0"/>
            </a:endParaRPr>
          </a:p>
          <a:p>
            <a:pPr eaLnBrk="0" hangingPunct="0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ourierPS" pitchFamily="49" charset="0"/>
              </a:rPr>
              <a:t>     </a:t>
            </a:r>
            <a:r>
              <a:rPr lang="en-US" sz="2400" b="1" u="sng" dirty="0">
                <a:solidFill>
                  <a:srgbClr val="FFC000"/>
                </a:solidFill>
                <a:latin typeface="CourierPS" pitchFamily="49" charset="0"/>
              </a:rPr>
              <a:t>e is a </a:t>
            </a:r>
            <a:r>
              <a:rPr lang="en-US" sz="2400" b="1" u="sng" dirty="0" err="1">
                <a:solidFill>
                  <a:srgbClr val="FFC000"/>
                </a:solidFill>
                <a:latin typeface="CourierPS" pitchFamily="49" charset="0"/>
              </a:rPr>
              <a:t>ros</a:t>
            </a:r>
            <a:endParaRPr lang="en-US" sz="2400" b="1" u="sng" dirty="0">
              <a:solidFill>
                <a:srgbClr val="FFC000"/>
              </a:solidFill>
              <a:latin typeface="CourierPS" pitchFamily="49" charset="0"/>
            </a:endParaRPr>
          </a:p>
          <a:p>
            <a:pPr eaLnBrk="0" hangingPunct="0"/>
            <a:r>
              <a:rPr lang="en-US" sz="2400" b="1" dirty="0">
                <a:solidFill>
                  <a:srgbClr val="7030A0"/>
                </a:solidFill>
                <a:latin typeface="CourierPS" pitchFamily="49" charset="0"/>
              </a:rPr>
              <a:t>      </a:t>
            </a:r>
            <a:r>
              <a:rPr lang="en-US" sz="2400" b="1" u="sng" dirty="0">
                <a:solidFill>
                  <a:srgbClr val="7030A0"/>
                </a:solidFill>
                <a:latin typeface="CourierPS" pitchFamily="49" charset="0"/>
              </a:rPr>
              <a:t> is a rose</a:t>
            </a:r>
          </a:p>
          <a:p>
            <a:pPr eaLnBrk="0" hangingPunct="0"/>
            <a:r>
              <a:rPr lang="en-US" sz="2400" b="1" dirty="0">
                <a:solidFill>
                  <a:srgbClr val="7030A0"/>
                </a:solidFill>
                <a:latin typeface="CourierPS" pitchFamily="49" charset="0"/>
              </a:rPr>
              <a:t>      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PS" pitchFamily="49" charset="0"/>
              </a:rPr>
              <a:t>is a rose </a:t>
            </a:r>
          </a:p>
          <a:p>
            <a:pPr eaLnBrk="0" hangingPunct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PS" pitchFamily="49" charset="0"/>
              </a:rPr>
              <a:t>        </a:t>
            </a:r>
            <a:r>
              <a:rPr lang="en-US" sz="2400" b="1" u="sng" dirty="0">
                <a:solidFill>
                  <a:schemeClr val="accent5">
                    <a:lumMod val="75000"/>
                  </a:schemeClr>
                </a:solidFill>
                <a:latin typeface="CourierPS" pitchFamily="49" charset="0"/>
              </a:rPr>
              <a:t>s a rose i</a:t>
            </a:r>
          </a:p>
          <a:p>
            <a:pPr eaLnBrk="0" hangingPunct="0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ourierPS" pitchFamily="49" charset="0"/>
              </a:rPr>
              <a:t>	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CourierPS" pitchFamily="49" charset="0"/>
              </a:rPr>
              <a:t>    </a:t>
            </a:r>
            <a:r>
              <a:rPr lang="en-US" sz="2400" b="1" u="sng" dirty="0">
                <a:solidFill>
                  <a:schemeClr val="bg2">
                    <a:lumMod val="50000"/>
                  </a:schemeClr>
                </a:solidFill>
                <a:latin typeface="CourierPS" pitchFamily="49" charset="0"/>
              </a:rPr>
              <a:t> a rose is</a:t>
            </a:r>
          </a:p>
          <a:p>
            <a:pPr eaLnBrk="0" hangingPunct="0"/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CourierPS" pitchFamily="49" charset="0"/>
              </a:rPr>
              <a:t>		</a:t>
            </a:r>
            <a:r>
              <a:rPr lang="en-US" sz="2400" b="1" u="sng" dirty="0">
                <a:solidFill>
                  <a:srgbClr val="F2493C"/>
                </a:solidFill>
                <a:latin typeface="CourierPS" pitchFamily="49" charset="0"/>
              </a:rPr>
              <a:t>a rose is </a:t>
            </a:r>
            <a:endParaRPr lang="en-US" sz="2400" b="1" dirty="0">
              <a:solidFill>
                <a:schemeClr val="bg2">
                  <a:lumMod val="50000"/>
                </a:schemeClr>
              </a:solidFill>
              <a:latin typeface="CourierP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575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BFD8C-967A-4965-92B8-FA5D2646752C}" type="slidenum">
              <a:rPr lang="en-US"/>
              <a:pPr/>
              <a:t>55</a:t>
            </a:fld>
            <a:endParaRPr lang="en-US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Working Assumption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Documents that have lots of shingles in common have similar text, even if the text appears in different order.</a:t>
            </a:r>
          </a:p>
          <a:p>
            <a:r>
              <a:rPr lang="en-US" dirty="0">
                <a:solidFill>
                  <a:schemeClr val="accent2"/>
                </a:solidFill>
              </a:rPr>
              <a:t>Careful</a:t>
            </a:r>
            <a:r>
              <a:rPr lang="en-US" dirty="0"/>
              <a:t>: you must pick </a:t>
            </a:r>
            <a:r>
              <a:rPr lang="en-US" i="1" dirty="0">
                <a:solidFill>
                  <a:srgbClr val="00B050"/>
                </a:solidFill>
              </a:rPr>
              <a:t>k</a:t>
            </a:r>
            <a:r>
              <a:rPr lang="en-US" dirty="0"/>
              <a:t>  large enough, or most documents will have most shingles.</a:t>
            </a:r>
          </a:p>
          <a:p>
            <a:pPr lvl="1"/>
            <a:r>
              <a:rPr lang="en-US" dirty="0"/>
              <a:t>Extreme case </a:t>
            </a:r>
            <a:r>
              <a:rPr lang="en-US" i="1" dirty="0">
                <a:solidFill>
                  <a:srgbClr val="00B050"/>
                </a:solidFill>
              </a:rPr>
              <a:t>k = 1</a:t>
            </a:r>
            <a:r>
              <a:rPr lang="en-US" dirty="0"/>
              <a:t>: all documents are the same</a:t>
            </a:r>
          </a:p>
          <a:p>
            <a:pPr lvl="1"/>
            <a:r>
              <a:rPr lang="en-US" i="1" dirty="0">
                <a:solidFill>
                  <a:srgbClr val="00B050"/>
                </a:solidFill>
              </a:rPr>
              <a:t>k </a:t>
            </a:r>
            <a:r>
              <a:rPr lang="en-US" dirty="0">
                <a:solidFill>
                  <a:srgbClr val="00B050"/>
                </a:solidFill>
              </a:rPr>
              <a:t>= 5 </a:t>
            </a:r>
            <a:r>
              <a:rPr lang="en-US" dirty="0"/>
              <a:t>is OK for short documents; </a:t>
            </a:r>
            <a:r>
              <a:rPr lang="en-US" i="1" dirty="0">
                <a:solidFill>
                  <a:srgbClr val="00B050"/>
                </a:solidFill>
              </a:rPr>
              <a:t>k</a:t>
            </a:r>
            <a:r>
              <a:rPr lang="en-US" dirty="0">
                <a:solidFill>
                  <a:srgbClr val="00B050"/>
                </a:solidFill>
              </a:rPr>
              <a:t> = 10 </a:t>
            </a:r>
            <a:r>
              <a:rPr lang="en-US" dirty="0"/>
              <a:t>is better for long documents.</a:t>
            </a:r>
          </a:p>
          <a:p>
            <a:r>
              <a:rPr lang="en-US" dirty="0"/>
              <a:t>Alternative ways to define shingles:</a:t>
            </a:r>
          </a:p>
          <a:p>
            <a:pPr lvl="1"/>
            <a:r>
              <a:rPr lang="en-US" dirty="0"/>
              <a:t>Use words instead of characters</a:t>
            </a:r>
          </a:p>
          <a:p>
            <a:pPr lvl="1"/>
            <a:r>
              <a:rPr lang="en-US" dirty="0"/>
              <a:t>Anchor on stop words (to avoid templates)</a:t>
            </a:r>
          </a:p>
        </p:txBody>
      </p:sp>
    </p:spTree>
    <p:extLst>
      <p:ext uri="{BB962C8B-B14F-4D97-AF65-F5344CB8AC3E}">
        <p14:creationId xmlns:p14="http://schemas.microsoft.com/office/powerpoint/2010/main" val="40632804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6501-3546-4DF5-9069-43288F77B7ED}" type="slidenum">
              <a:rPr lang="en-US"/>
              <a:pPr/>
              <a:t>56</a:t>
            </a:fld>
            <a:endParaRPr 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Shingles: </a:t>
            </a:r>
            <a:r>
              <a:rPr lang="en-US">
                <a:solidFill>
                  <a:srgbClr val="FF9900"/>
                </a:solidFill>
              </a:rPr>
              <a:t>Compression Option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48600" cy="4114800"/>
          </a:xfrm>
        </p:spPr>
        <p:txBody>
          <a:bodyPr>
            <a:normAutofit/>
          </a:bodyPr>
          <a:lstStyle/>
          <a:p>
            <a:r>
              <a:rPr lang="en-US" dirty="0"/>
              <a:t>To compress long shingles, we can hash them to (say) 4 bytes.</a:t>
            </a:r>
          </a:p>
          <a:p>
            <a:r>
              <a:rPr lang="en-US" dirty="0"/>
              <a:t>Represent a doc by the set of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hash values </a:t>
            </a:r>
            <a:r>
              <a:rPr lang="en-US" dirty="0"/>
              <a:t>of its </a:t>
            </a:r>
            <a:r>
              <a:rPr lang="en-US" i="1" dirty="0"/>
              <a:t>k</a:t>
            </a:r>
            <a:r>
              <a:rPr lang="en-US" dirty="0"/>
              <a:t>-shingles.</a:t>
            </a:r>
          </a:p>
          <a:p>
            <a:r>
              <a:rPr lang="en-US" dirty="0"/>
              <a:t>From now on we will assume that </a:t>
            </a:r>
            <a:r>
              <a:rPr lang="en-US" dirty="0">
                <a:solidFill>
                  <a:srgbClr val="FF0000"/>
                </a:solidFill>
              </a:rPr>
              <a:t>shingles are integers</a:t>
            </a:r>
          </a:p>
          <a:p>
            <a:pPr lvl="1"/>
            <a:r>
              <a:rPr lang="en-US" dirty="0"/>
              <a:t>Collisions are possible, but very rare</a:t>
            </a:r>
          </a:p>
        </p:txBody>
      </p:sp>
    </p:spTree>
    <p:extLst>
      <p:ext uri="{BB962C8B-B14F-4D97-AF65-F5344CB8AC3E}">
        <p14:creationId xmlns:p14="http://schemas.microsoft.com/office/powerpoint/2010/main" val="12749205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Fingerprinting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en-US" dirty="0"/>
              <a:t>Hash shingles to 64-bit integers</a:t>
            </a:r>
          </a:p>
        </p:txBody>
      </p:sp>
      <p:sp>
        <p:nvSpPr>
          <p:cNvPr id="290820" name="Text Box 4"/>
          <p:cNvSpPr txBox="1">
            <a:spLocks noChangeArrowheads="1"/>
          </p:cNvSpPr>
          <p:nvPr/>
        </p:nvSpPr>
        <p:spPr bwMode="auto">
          <a:xfrm>
            <a:off x="1320800" y="2790250"/>
            <a:ext cx="2028119" cy="378565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u="sng" dirty="0">
                <a:solidFill>
                  <a:srgbClr val="F2493C"/>
                </a:solidFill>
                <a:latin typeface="CourierPS" pitchFamily="49" charset="0"/>
              </a:rPr>
              <a:t>a rose is </a:t>
            </a:r>
          </a:p>
          <a:p>
            <a:pPr eaLnBrk="0" hangingPunct="0"/>
            <a:r>
              <a:rPr lang="en-US" sz="2400" b="1" u="sng" dirty="0">
                <a:solidFill>
                  <a:schemeClr val="accent2"/>
                </a:solidFill>
                <a:latin typeface="CourierPS" pitchFamily="49" charset="0"/>
              </a:rPr>
              <a:t> rose is a</a:t>
            </a:r>
          </a:p>
          <a:p>
            <a:pPr eaLnBrk="0" hangingPunct="0"/>
            <a:r>
              <a:rPr lang="en-US" sz="2400" b="1" u="sng" dirty="0">
                <a:solidFill>
                  <a:srgbClr val="00B050"/>
                </a:solidFill>
                <a:latin typeface="CourierPS" pitchFamily="49" charset="0"/>
              </a:rPr>
              <a:t>rose is a </a:t>
            </a:r>
          </a:p>
          <a:p>
            <a:pPr eaLnBrk="0" hangingPunct="0"/>
            <a:r>
              <a:rPr lang="en-US" sz="2400" b="1" u="sng" dirty="0" err="1">
                <a:solidFill>
                  <a:srgbClr val="00B0F0"/>
                </a:solidFill>
                <a:latin typeface="CourierPS" pitchFamily="49" charset="0"/>
              </a:rPr>
              <a:t>ose</a:t>
            </a:r>
            <a:r>
              <a:rPr lang="en-US" sz="2400" b="1" u="sng" dirty="0">
                <a:solidFill>
                  <a:srgbClr val="00B0F0"/>
                </a:solidFill>
                <a:latin typeface="CourierPS" pitchFamily="49" charset="0"/>
              </a:rPr>
              <a:t> is a r</a:t>
            </a:r>
          </a:p>
          <a:p>
            <a:pPr eaLnBrk="0" hangingPunct="0"/>
            <a:r>
              <a:rPr lang="en-US" sz="2400" b="1" u="sng" dirty="0">
                <a:solidFill>
                  <a:schemeClr val="accent2">
                    <a:lumMod val="75000"/>
                  </a:schemeClr>
                </a:solidFill>
                <a:latin typeface="CourierPS" pitchFamily="49" charset="0"/>
              </a:rPr>
              <a:t>se is a </a:t>
            </a:r>
            <a:r>
              <a:rPr lang="en-US" sz="2400" b="1" u="sng" dirty="0" err="1">
                <a:solidFill>
                  <a:schemeClr val="accent2">
                    <a:lumMod val="75000"/>
                  </a:schemeClr>
                </a:solidFill>
                <a:latin typeface="CourierPS" pitchFamily="49" charset="0"/>
              </a:rPr>
              <a:t>ro</a:t>
            </a:r>
            <a:endParaRPr lang="en-US" sz="2400" b="1" u="sng" dirty="0">
              <a:solidFill>
                <a:schemeClr val="accent2">
                  <a:lumMod val="75000"/>
                </a:schemeClr>
              </a:solidFill>
              <a:latin typeface="CourierPS" pitchFamily="49" charset="0"/>
            </a:endParaRPr>
          </a:p>
          <a:p>
            <a:pPr eaLnBrk="0" hangingPunct="0"/>
            <a:r>
              <a:rPr lang="en-US" sz="2400" b="1" u="sng" dirty="0">
                <a:solidFill>
                  <a:srgbClr val="FFC000"/>
                </a:solidFill>
                <a:latin typeface="CourierPS" pitchFamily="49" charset="0"/>
              </a:rPr>
              <a:t>e is a </a:t>
            </a:r>
            <a:r>
              <a:rPr lang="en-US" sz="2400" b="1" u="sng" dirty="0" err="1">
                <a:solidFill>
                  <a:srgbClr val="FFC000"/>
                </a:solidFill>
                <a:latin typeface="CourierPS" pitchFamily="49" charset="0"/>
              </a:rPr>
              <a:t>ros</a:t>
            </a:r>
            <a:endParaRPr lang="en-US" sz="2400" b="1" u="sng" dirty="0">
              <a:solidFill>
                <a:srgbClr val="FFC000"/>
              </a:solidFill>
              <a:latin typeface="CourierPS" pitchFamily="49" charset="0"/>
            </a:endParaRPr>
          </a:p>
          <a:p>
            <a:pPr eaLnBrk="0" hangingPunct="0"/>
            <a:r>
              <a:rPr lang="en-US" sz="2400" b="1" u="sng" dirty="0">
                <a:solidFill>
                  <a:srgbClr val="7030A0"/>
                </a:solidFill>
                <a:latin typeface="CourierPS" pitchFamily="49" charset="0"/>
              </a:rPr>
              <a:t> is a rose</a:t>
            </a:r>
          </a:p>
          <a:p>
            <a:pPr eaLnBrk="0" hangingPunct="0"/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PS" pitchFamily="49" charset="0"/>
              </a:rPr>
              <a:t>is a rose </a:t>
            </a:r>
          </a:p>
          <a:p>
            <a:pPr eaLnBrk="0" hangingPunct="0"/>
            <a:r>
              <a:rPr lang="en-US" sz="2400" b="1" u="sng" dirty="0">
                <a:solidFill>
                  <a:schemeClr val="accent5">
                    <a:lumMod val="75000"/>
                  </a:schemeClr>
                </a:solidFill>
                <a:latin typeface="CourierPS" pitchFamily="49" charset="0"/>
              </a:rPr>
              <a:t>s a rose i</a:t>
            </a:r>
          </a:p>
          <a:p>
            <a:pPr eaLnBrk="0" hangingPunct="0"/>
            <a:r>
              <a:rPr lang="en-US" sz="2400" b="1" u="sng" dirty="0">
                <a:solidFill>
                  <a:schemeClr val="bg2">
                    <a:lumMod val="50000"/>
                  </a:schemeClr>
                </a:solidFill>
                <a:latin typeface="CourierPS" pitchFamily="49" charset="0"/>
              </a:rPr>
              <a:t> a rose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91400" y="2743200"/>
            <a:ext cx="922047" cy="37856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2493C"/>
                </a:solidFill>
                <a:latin typeface="CourierPS" pitchFamily="49" charset="0"/>
              </a:rPr>
              <a:t>1111</a:t>
            </a:r>
          </a:p>
          <a:p>
            <a:r>
              <a:rPr lang="en-US" sz="2400" b="1" dirty="0">
                <a:solidFill>
                  <a:schemeClr val="accent2"/>
                </a:solidFill>
                <a:latin typeface="CourierPS" pitchFamily="49" charset="0"/>
              </a:rPr>
              <a:t>2222</a:t>
            </a:r>
          </a:p>
          <a:p>
            <a:r>
              <a:rPr lang="en-US" sz="2400" b="1" dirty="0">
                <a:solidFill>
                  <a:srgbClr val="00B050"/>
                </a:solidFill>
                <a:latin typeface="CourierPS" pitchFamily="49" charset="0"/>
              </a:rPr>
              <a:t>3333</a:t>
            </a:r>
          </a:p>
          <a:p>
            <a:r>
              <a:rPr lang="en-US" sz="2400" b="1" dirty="0">
                <a:solidFill>
                  <a:srgbClr val="00B0F0"/>
                </a:solidFill>
                <a:latin typeface="CourierPS" pitchFamily="49" charset="0"/>
              </a:rPr>
              <a:t>4444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ourierPS" pitchFamily="49" charset="0"/>
              </a:rPr>
              <a:t>5555</a:t>
            </a:r>
          </a:p>
          <a:p>
            <a:r>
              <a:rPr lang="en-US" sz="2400" b="1" dirty="0">
                <a:solidFill>
                  <a:srgbClr val="FFC000"/>
                </a:solidFill>
                <a:latin typeface="CourierPS" pitchFamily="49" charset="0"/>
              </a:rPr>
              <a:t>6666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PS" pitchFamily="49" charset="0"/>
              </a:rPr>
              <a:t>7777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PS" pitchFamily="49" charset="0"/>
              </a:rPr>
              <a:t>8888</a:t>
            </a:r>
          </a:p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ourierPS" pitchFamily="49" charset="0"/>
              </a:rPr>
              <a:t>9999</a:t>
            </a:r>
          </a:p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CourierPS" pitchFamily="49" charset="0"/>
              </a:rPr>
              <a:t>0000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2784" y="2227302"/>
            <a:ext cx="2036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Set of Shingles</a:t>
            </a:r>
            <a:endParaRPr lang="en-US" sz="16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477000" y="2227302"/>
            <a:ext cx="2717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Set of 64-bit integers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810000" y="2400469"/>
            <a:ext cx="27656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Hash function</a:t>
            </a:r>
          </a:p>
          <a:p>
            <a:pPr algn="ctr"/>
            <a:r>
              <a:rPr lang="en-US" sz="2000" b="1" dirty="0"/>
              <a:t>(Rabin’s fingerprints)</a:t>
            </a:r>
            <a:endParaRPr lang="en-US" sz="1600" b="1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581400" y="3038396"/>
            <a:ext cx="35052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581400" y="3422492"/>
            <a:ext cx="35052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581400" y="3733800"/>
            <a:ext cx="35052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581400" y="4876800"/>
            <a:ext cx="35052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581400" y="4495800"/>
            <a:ext cx="35052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571689" y="4114800"/>
            <a:ext cx="35052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3581400" y="5257800"/>
            <a:ext cx="35052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581400" y="5562600"/>
            <a:ext cx="35052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581400" y="5943600"/>
            <a:ext cx="35052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581400" y="6324600"/>
            <a:ext cx="35052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9816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8780</TotalTime>
  <Words>3771</Words>
  <Application>Microsoft Office PowerPoint</Application>
  <PresentationFormat>On-screen Show (4:3)</PresentationFormat>
  <Paragraphs>789</Paragraphs>
  <Slides>57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5" baseType="lpstr">
      <vt:lpstr>Arial</vt:lpstr>
      <vt:lpstr>Calibri</vt:lpstr>
      <vt:lpstr>Cambria Math</vt:lpstr>
      <vt:lpstr>CourierPS</vt:lpstr>
      <vt:lpstr>Monotype Sorts</vt:lpstr>
      <vt:lpstr>Symbol</vt:lpstr>
      <vt:lpstr>Times New Roman</vt:lpstr>
      <vt:lpstr>Clarity</vt:lpstr>
      <vt:lpstr>SIMILARITY AND DISTANCE</vt:lpstr>
      <vt:lpstr>Similarity and Distance</vt:lpstr>
      <vt:lpstr>Similarity</vt:lpstr>
      <vt:lpstr>Similarity between sets</vt:lpstr>
      <vt:lpstr>Similarity: Intersection</vt:lpstr>
      <vt:lpstr>Jaccard Similarity</vt:lpstr>
      <vt:lpstr>Jaccard Similarity between sets</vt:lpstr>
      <vt:lpstr>Similarity between vectors</vt:lpstr>
      <vt:lpstr>Example</vt:lpstr>
      <vt:lpstr>Example</vt:lpstr>
      <vt:lpstr>Cosine Similarity</vt:lpstr>
      <vt:lpstr>Cosine Similarity - math</vt:lpstr>
      <vt:lpstr>Example</vt:lpstr>
      <vt:lpstr>Distance</vt:lpstr>
      <vt:lpstr>Distance Metric</vt:lpstr>
      <vt:lpstr>Triangle Inequality</vt:lpstr>
      <vt:lpstr>Distances for real vectors</vt:lpstr>
      <vt:lpstr>Example of Distances</vt:lpstr>
      <vt:lpstr>Example</vt:lpstr>
      <vt:lpstr>Lp distances for sets </vt:lpstr>
      <vt:lpstr>Similarities into distances</vt:lpstr>
      <vt:lpstr>Why Jaccard Distance Is a Distance Metric</vt:lpstr>
      <vt:lpstr>Hamming Distance</vt:lpstr>
      <vt:lpstr>Why Hamming Distance Is a Distance Metric</vt:lpstr>
      <vt:lpstr>Distance between strings</vt:lpstr>
      <vt:lpstr>Edit Distance for strings</vt:lpstr>
      <vt:lpstr>Why Edit Distance Is a Distance Metric</vt:lpstr>
      <vt:lpstr>Variant Edit Distances</vt:lpstr>
      <vt:lpstr>Distances between distributions</vt:lpstr>
      <vt:lpstr>Why is similarity important? </vt:lpstr>
      <vt:lpstr>Applications of Similarity: Recommendation Systems</vt:lpstr>
      <vt:lpstr>An important problem</vt:lpstr>
      <vt:lpstr>Utility (Preference) Matrix </vt:lpstr>
      <vt:lpstr>Recommendation Systems</vt:lpstr>
      <vt:lpstr>Content-based prediction</vt:lpstr>
      <vt:lpstr>Intuition</vt:lpstr>
      <vt:lpstr>Approach</vt:lpstr>
      <vt:lpstr>Limitations of content-based approach</vt:lpstr>
      <vt:lpstr>Collaborative filtering</vt:lpstr>
      <vt:lpstr>User Similarity</vt:lpstr>
      <vt:lpstr>User Similarity</vt:lpstr>
      <vt:lpstr>User Similarity</vt:lpstr>
      <vt:lpstr>User Similarity</vt:lpstr>
      <vt:lpstr>User-User Collaborative Filtering</vt:lpstr>
      <vt:lpstr>Item-Item Collaborative Filtering</vt:lpstr>
      <vt:lpstr>Pros and cons of collaborative filtering</vt:lpstr>
      <vt:lpstr>SKETCHING  AND  LOCALITY SENSITIVE HASHING</vt:lpstr>
      <vt:lpstr>Another important problem</vt:lpstr>
      <vt:lpstr>Finding similar items </vt:lpstr>
      <vt:lpstr>Main issues</vt:lpstr>
      <vt:lpstr>Three Essential Techniques for Similar Documents</vt:lpstr>
      <vt:lpstr>The Big Picture</vt:lpstr>
      <vt:lpstr>Shingles</vt:lpstr>
      <vt:lpstr>Shingling</vt:lpstr>
      <vt:lpstr>Working Assumption</vt:lpstr>
      <vt:lpstr>Shingles: Compression Option</vt:lpstr>
      <vt:lpstr>Fingerprinting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tsap</dc:creator>
  <cp:lastModifiedBy>Dr. Aprna Tripathi [MU - Jaipur]</cp:lastModifiedBy>
  <cp:revision>339</cp:revision>
  <dcterms:created xsi:type="dcterms:W3CDTF">2011-10-17T19:46:53Z</dcterms:created>
  <dcterms:modified xsi:type="dcterms:W3CDTF">2025-09-10T07:29:49Z</dcterms:modified>
</cp:coreProperties>
</file>