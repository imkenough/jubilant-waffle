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5" roundtripDataSignature="AMtx7mj68Mm16/qhgXSoY/OfBMqpg0+w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customschemas.google.com/relationships/presentationmetadata" Target="metadata"/><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IN" sz="1200">
                <a:solidFill>
                  <a:schemeClr val="dk1"/>
                </a:solidFill>
                <a:latin typeface="Calibri"/>
                <a:ea typeface="Calibri"/>
                <a:cs typeface="Calibri"/>
                <a:sym typeface="Calibri"/>
              </a:rPr>
              <a:t>A gossip protocol is a communication method used in distributed systems to disseminate information among nodes in a network. It works by having each node periodically share information with a few randomly selected other nodes, similar to how rumors spread in a social network. This process continues until all nodes in the network have received the information. </a:t>
            </a:r>
            <a:endParaRPr/>
          </a:p>
        </p:txBody>
      </p:sp>
      <p:sp>
        <p:nvSpPr>
          <p:cNvPr id="249" name="Google Shape;249;p24: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IN"/>
              <a:t>13/08/2025</a:t>
            </a:r>
            <a:endParaRPr/>
          </a:p>
        </p:txBody>
      </p:sp>
      <p:sp>
        <p:nvSpPr>
          <p:cNvPr id="250" name="Google Shape;25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IN" sz="1200">
                <a:solidFill>
                  <a:schemeClr val="dk1"/>
                </a:solidFill>
                <a:latin typeface="Calibri"/>
                <a:ea typeface="Calibri"/>
                <a:cs typeface="Calibri"/>
                <a:sym typeface="Calibri"/>
              </a:rPr>
              <a:t>A smart contract in blockchain is a self-executing, digital agreement written in code and stored on a blockchain network. It automatically executes the terms of a contract when predefined conditions are met, eliminating the need for intermediaries and ensuring transparency and immutability. Think of it like a vending machine: you put in the money, press the button, and the machine dispenses the product, all automatically based on the pre-set rules. </a:t>
            </a:r>
            <a:endParaRPr/>
          </a:p>
        </p:txBody>
      </p:sp>
      <p:sp>
        <p:nvSpPr>
          <p:cNvPr id="297" name="Google Shape;297;p29: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IN"/>
              <a:t>13/08/2025</a:t>
            </a:r>
            <a:endParaRPr/>
          </a:p>
        </p:txBody>
      </p:sp>
      <p:sp>
        <p:nvSpPr>
          <p:cNvPr id="298" name="Google Shape;29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30: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IN"/>
              <a:t>13/08/2025</a:t>
            </a:r>
            <a:endParaRPr/>
          </a:p>
        </p:txBody>
      </p:sp>
      <p:sp>
        <p:nvSpPr>
          <p:cNvPr id="306" name="Google Shape;30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2"/>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C2C2C"/>
              </a:buClr>
              <a:buSzPts val="32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2"/>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lvl1pPr indent="-355600" lvl="0" marL="457200" algn="l">
              <a:lnSpc>
                <a:spcPct val="140000"/>
              </a:lnSpc>
              <a:spcBef>
                <a:spcPts val="800"/>
              </a:spcBef>
              <a:spcAft>
                <a:spcPts val="0"/>
              </a:spcAft>
              <a:buClr>
                <a:srgbClr val="2C2C2C"/>
              </a:buClr>
              <a:buSzPts val="2000"/>
              <a:buChar char="•"/>
              <a:defRPr sz="2000">
                <a:latin typeface="Arial"/>
                <a:ea typeface="Arial"/>
                <a:cs typeface="Arial"/>
                <a:sym typeface="Arial"/>
              </a:defRPr>
            </a:lvl1pPr>
            <a:lvl2pPr indent="-342900" lvl="1" marL="914400" algn="l">
              <a:lnSpc>
                <a:spcPct val="140000"/>
              </a:lnSpc>
              <a:spcBef>
                <a:spcPts val="800"/>
              </a:spcBef>
              <a:spcAft>
                <a:spcPts val="0"/>
              </a:spcAft>
              <a:buClr>
                <a:srgbClr val="2C2C2C"/>
              </a:buClr>
              <a:buSzPts val="1800"/>
              <a:buChar char="•"/>
              <a:defRPr sz="1800">
                <a:latin typeface="Arial"/>
                <a:ea typeface="Arial"/>
                <a:cs typeface="Arial"/>
                <a:sym typeface="Arial"/>
              </a:defRPr>
            </a:lvl2pPr>
            <a:lvl3pPr indent="-342900" lvl="2" marL="1371600" algn="l">
              <a:lnSpc>
                <a:spcPct val="140000"/>
              </a:lnSpc>
              <a:spcBef>
                <a:spcPts val="800"/>
              </a:spcBef>
              <a:spcAft>
                <a:spcPts val="0"/>
              </a:spcAft>
              <a:buClr>
                <a:srgbClr val="2C2C2C"/>
              </a:buClr>
              <a:buSzPts val="1800"/>
              <a:buChar char="•"/>
              <a:defRPr>
                <a:latin typeface="Arial"/>
                <a:ea typeface="Arial"/>
                <a:cs typeface="Arial"/>
                <a:sym typeface="Arial"/>
              </a:defRPr>
            </a:lvl3pPr>
            <a:lvl4pPr indent="-330200" lvl="3" marL="1828800" algn="l">
              <a:lnSpc>
                <a:spcPct val="140000"/>
              </a:lnSpc>
              <a:spcBef>
                <a:spcPts val="800"/>
              </a:spcBef>
              <a:spcAft>
                <a:spcPts val="0"/>
              </a:spcAft>
              <a:buClr>
                <a:srgbClr val="2C2C2C"/>
              </a:buClr>
              <a:buSzPts val="1600"/>
              <a:buChar char="•"/>
              <a:defRPr>
                <a:latin typeface="Arial"/>
                <a:ea typeface="Arial"/>
                <a:cs typeface="Arial"/>
                <a:sym typeface="Arial"/>
              </a:defRPr>
            </a:lvl4pPr>
            <a:lvl5pPr indent="-330200" lvl="4" marL="2286000" algn="l">
              <a:lnSpc>
                <a:spcPct val="140000"/>
              </a:lnSpc>
              <a:spcBef>
                <a:spcPts val="800"/>
              </a:spcBef>
              <a:spcAft>
                <a:spcPts val="0"/>
              </a:spcAft>
              <a:buClr>
                <a:srgbClr val="2C2C2C"/>
              </a:buClr>
              <a:buSzPts val="16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2"/>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2"/>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2"/>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i="0" sz="1200" u="none" cap="none" strike="noStrike">
                <a:solidFill>
                  <a:srgbClr val="2C2C2C"/>
                </a:solidFill>
                <a:latin typeface="Arial"/>
                <a:ea typeface="Arial"/>
                <a:cs typeface="Arial"/>
                <a:sym typeface="Arial"/>
              </a:defRPr>
            </a:lvl1pPr>
            <a:lvl2pPr indent="0" lvl="1" marL="0" algn="ctr">
              <a:spcBef>
                <a:spcPts val="0"/>
              </a:spcBef>
              <a:buNone/>
              <a:defRPr b="1" i="0" sz="1200" u="none" cap="none" strike="noStrike">
                <a:solidFill>
                  <a:srgbClr val="2C2C2C"/>
                </a:solidFill>
                <a:latin typeface="Arial"/>
                <a:ea typeface="Arial"/>
                <a:cs typeface="Arial"/>
                <a:sym typeface="Arial"/>
              </a:defRPr>
            </a:lvl2pPr>
            <a:lvl3pPr indent="0" lvl="2" marL="0" algn="ctr">
              <a:spcBef>
                <a:spcPts val="0"/>
              </a:spcBef>
              <a:buNone/>
              <a:defRPr b="1" i="0" sz="1200" u="none" cap="none" strike="noStrike">
                <a:solidFill>
                  <a:srgbClr val="2C2C2C"/>
                </a:solidFill>
                <a:latin typeface="Arial"/>
                <a:ea typeface="Arial"/>
                <a:cs typeface="Arial"/>
                <a:sym typeface="Arial"/>
              </a:defRPr>
            </a:lvl3pPr>
            <a:lvl4pPr indent="0" lvl="3" marL="0" algn="ctr">
              <a:spcBef>
                <a:spcPts val="0"/>
              </a:spcBef>
              <a:buNone/>
              <a:defRPr b="1" i="0" sz="1200" u="none" cap="none" strike="noStrike">
                <a:solidFill>
                  <a:srgbClr val="2C2C2C"/>
                </a:solidFill>
                <a:latin typeface="Arial"/>
                <a:ea typeface="Arial"/>
                <a:cs typeface="Arial"/>
                <a:sym typeface="Arial"/>
              </a:defRPr>
            </a:lvl4pPr>
            <a:lvl5pPr indent="0" lvl="4" marL="0" algn="ctr">
              <a:spcBef>
                <a:spcPts val="0"/>
              </a:spcBef>
              <a:buNone/>
              <a:defRPr b="1" i="0" sz="1200" u="none" cap="none" strike="noStrike">
                <a:solidFill>
                  <a:srgbClr val="2C2C2C"/>
                </a:solidFill>
                <a:latin typeface="Arial"/>
                <a:ea typeface="Arial"/>
                <a:cs typeface="Arial"/>
                <a:sym typeface="Arial"/>
              </a:defRPr>
            </a:lvl5pPr>
            <a:lvl6pPr indent="0" lvl="5" marL="0" algn="ctr">
              <a:spcBef>
                <a:spcPts val="0"/>
              </a:spcBef>
              <a:buNone/>
              <a:defRPr b="1" i="0" sz="1200" u="none" cap="none" strike="noStrike">
                <a:solidFill>
                  <a:srgbClr val="2C2C2C"/>
                </a:solidFill>
                <a:latin typeface="Arial"/>
                <a:ea typeface="Arial"/>
                <a:cs typeface="Arial"/>
                <a:sym typeface="Arial"/>
              </a:defRPr>
            </a:lvl6pPr>
            <a:lvl7pPr indent="0" lvl="6" marL="0" algn="ctr">
              <a:spcBef>
                <a:spcPts val="0"/>
              </a:spcBef>
              <a:buNone/>
              <a:defRPr b="1" i="0" sz="1200" u="none" cap="none" strike="noStrike">
                <a:solidFill>
                  <a:srgbClr val="2C2C2C"/>
                </a:solidFill>
                <a:latin typeface="Arial"/>
                <a:ea typeface="Arial"/>
                <a:cs typeface="Arial"/>
                <a:sym typeface="Arial"/>
              </a:defRPr>
            </a:lvl7pPr>
            <a:lvl8pPr indent="0" lvl="7" marL="0" algn="ctr">
              <a:spcBef>
                <a:spcPts val="0"/>
              </a:spcBef>
              <a:buNone/>
              <a:defRPr b="1" i="0" sz="1200" u="none" cap="none" strike="noStrike">
                <a:solidFill>
                  <a:srgbClr val="2C2C2C"/>
                </a:solidFill>
                <a:latin typeface="Arial"/>
                <a:ea typeface="Arial"/>
                <a:cs typeface="Arial"/>
                <a:sym typeface="Arial"/>
              </a:defRPr>
            </a:lvl8pPr>
            <a:lvl9pPr indent="0" lvl="8" marL="0" algn="ctr">
              <a:spcBef>
                <a:spcPts val="0"/>
              </a:spcBef>
              <a:buNone/>
              <a:defRPr b="1" i="0" sz="1200" u="none" cap="none" strike="noStrike">
                <a:solidFill>
                  <a:srgbClr val="2C2C2C"/>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53"/>
          <p:cNvSpPr txBox="1"/>
          <p:nvPr>
            <p:ph type="ctrTitle"/>
          </p:nvPr>
        </p:nvSpPr>
        <p:spPr>
          <a:xfrm>
            <a:off x="648000" y="1080000"/>
            <a:ext cx="10080000" cy="23760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C2C2C"/>
              </a:buClr>
              <a:buSzPts val="4800"/>
              <a:buFont typeface="Arial"/>
              <a:buNone/>
              <a:defRPr sz="4800">
                <a:solidFill>
                  <a:srgbClr val="2C2C2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3"/>
          <p:cNvSpPr txBox="1"/>
          <p:nvPr>
            <p:ph idx="1" type="subTitle"/>
          </p:nvPr>
        </p:nvSpPr>
        <p:spPr>
          <a:xfrm>
            <a:off x="648000" y="3600000"/>
            <a:ext cx="10080000" cy="1655762"/>
          </a:xfrm>
          <a:prstGeom prst="rect">
            <a:avLst/>
          </a:prstGeom>
          <a:noFill/>
          <a:ln>
            <a:noFill/>
          </a:ln>
        </p:spPr>
        <p:txBody>
          <a:bodyPr anchorCtr="0" anchor="t" bIns="45700" lIns="91425" spcFirstLastPara="1" rIns="91425" wrap="square" tIns="45700">
            <a:normAutofit/>
          </a:bodyPr>
          <a:lstStyle>
            <a:lvl1pPr lvl="0" algn="l">
              <a:lnSpc>
                <a:spcPct val="140000"/>
              </a:lnSpc>
              <a:spcBef>
                <a:spcPts val="800"/>
              </a:spcBef>
              <a:spcAft>
                <a:spcPts val="0"/>
              </a:spcAft>
              <a:buClr>
                <a:srgbClr val="2C2C2C"/>
              </a:buClr>
              <a:buSzPts val="2200"/>
              <a:buNone/>
              <a:defRPr sz="2200">
                <a:solidFill>
                  <a:srgbClr val="2C2C2C"/>
                </a:solidFill>
                <a:latin typeface="Arial"/>
                <a:ea typeface="Arial"/>
                <a:cs typeface="Arial"/>
                <a:sym typeface="Arial"/>
              </a:defRPr>
            </a:lvl1pPr>
            <a:lvl2pPr lvl="1" algn="ctr">
              <a:lnSpc>
                <a:spcPct val="140000"/>
              </a:lnSpc>
              <a:spcBef>
                <a:spcPts val="800"/>
              </a:spcBef>
              <a:spcAft>
                <a:spcPts val="0"/>
              </a:spcAft>
              <a:buClr>
                <a:srgbClr val="2C2C2C"/>
              </a:buClr>
              <a:buSzPts val="2000"/>
              <a:buNone/>
              <a:defRPr sz="2000"/>
            </a:lvl2pPr>
            <a:lvl3pPr lvl="2" algn="ctr">
              <a:lnSpc>
                <a:spcPct val="140000"/>
              </a:lnSpc>
              <a:spcBef>
                <a:spcPts val="800"/>
              </a:spcBef>
              <a:spcAft>
                <a:spcPts val="0"/>
              </a:spcAft>
              <a:buClr>
                <a:srgbClr val="2C2C2C"/>
              </a:buClr>
              <a:buSzPts val="1800"/>
              <a:buNone/>
              <a:defRPr sz="1800"/>
            </a:lvl3pPr>
            <a:lvl4pPr lvl="3" algn="ctr">
              <a:lnSpc>
                <a:spcPct val="140000"/>
              </a:lnSpc>
              <a:spcBef>
                <a:spcPts val="800"/>
              </a:spcBef>
              <a:spcAft>
                <a:spcPts val="0"/>
              </a:spcAft>
              <a:buClr>
                <a:srgbClr val="2C2C2C"/>
              </a:buClr>
              <a:buSzPts val="1600"/>
              <a:buNone/>
              <a:defRPr sz="1600"/>
            </a:lvl4pPr>
            <a:lvl5pPr lvl="4" algn="ctr">
              <a:lnSpc>
                <a:spcPct val="140000"/>
              </a:lnSpc>
              <a:spcBef>
                <a:spcPts val="800"/>
              </a:spcBef>
              <a:spcAft>
                <a:spcPts val="0"/>
              </a:spcAft>
              <a:buClr>
                <a:srgbClr val="2C2C2C"/>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 name="Google Shape;26;p53"/>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3"/>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3"/>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sz="1200">
                <a:solidFill>
                  <a:srgbClr val="2C2C2C"/>
                </a:solidFill>
                <a:latin typeface="Arial"/>
                <a:ea typeface="Arial"/>
                <a:cs typeface="Arial"/>
                <a:sym typeface="Arial"/>
              </a:defRPr>
            </a:lvl1pPr>
            <a:lvl2pPr indent="0" lvl="1" marL="0" algn="ctr">
              <a:spcBef>
                <a:spcPts val="0"/>
              </a:spcBef>
              <a:buNone/>
              <a:defRPr b="1" sz="1200">
                <a:solidFill>
                  <a:srgbClr val="2C2C2C"/>
                </a:solidFill>
                <a:latin typeface="Arial"/>
                <a:ea typeface="Arial"/>
                <a:cs typeface="Arial"/>
                <a:sym typeface="Arial"/>
              </a:defRPr>
            </a:lvl2pPr>
            <a:lvl3pPr indent="0" lvl="2" marL="0" algn="ctr">
              <a:spcBef>
                <a:spcPts val="0"/>
              </a:spcBef>
              <a:buNone/>
              <a:defRPr b="1" sz="1200">
                <a:solidFill>
                  <a:srgbClr val="2C2C2C"/>
                </a:solidFill>
                <a:latin typeface="Arial"/>
                <a:ea typeface="Arial"/>
                <a:cs typeface="Arial"/>
                <a:sym typeface="Arial"/>
              </a:defRPr>
            </a:lvl3pPr>
            <a:lvl4pPr indent="0" lvl="3" marL="0" algn="ctr">
              <a:spcBef>
                <a:spcPts val="0"/>
              </a:spcBef>
              <a:buNone/>
              <a:defRPr b="1" sz="1200">
                <a:solidFill>
                  <a:srgbClr val="2C2C2C"/>
                </a:solidFill>
                <a:latin typeface="Arial"/>
                <a:ea typeface="Arial"/>
                <a:cs typeface="Arial"/>
                <a:sym typeface="Arial"/>
              </a:defRPr>
            </a:lvl4pPr>
            <a:lvl5pPr indent="0" lvl="4" marL="0" algn="ctr">
              <a:spcBef>
                <a:spcPts val="0"/>
              </a:spcBef>
              <a:buNone/>
              <a:defRPr b="1" sz="1200">
                <a:solidFill>
                  <a:srgbClr val="2C2C2C"/>
                </a:solidFill>
                <a:latin typeface="Arial"/>
                <a:ea typeface="Arial"/>
                <a:cs typeface="Arial"/>
                <a:sym typeface="Arial"/>
              </a:defRPr>
            </a:lvl5pPr>
            <a:lvl6pPr indent="0" lvl="5" marL="0" algn="ctr">
              <a:spcBef>
                <a:spcPts val="0"/>
              </a:spcBef>
              <a:buNone/>
              <a:defRPr b="1" sz="1200">
                <a:solidFill>
                  <a:srgbClr val="2C2C2C"/>
                </a:solidFill>
                <a:latin typeface="Arial"/>
                <a:ea typeface="Arial"/>
                <a:cs typeface="Arial"/>
                <a:sym typeface="Arial"/>
              </a:defRPr>
            </a:lvl6pPr>
            <a:lvl7pPr indent="0" lvl="6" marL="0" algn="ctr">
              <a:spcBef>
                <a:spcPts val="0"/>
              </a:spcBef>
              <a:buNone/>
              <a:defRPr b="1" sz="1200">
                <a:solidFill>
                  <a:srgbClr val="2C2C2C"/>
                </a:solidFill>
                <a:latin typeface="Arial"/>
                <a:ea typeface="Arial"/>
                <a:cs typeface="Arial"/>
                <a:sym typeface="Arial"/>
              </a:defRPr>
            </a:lvl7pPr>
            <a:lvl8pPr indent="0" lvl="7" marL="0" algn="ctr">
              <a:spcBef>
                <a:spcPts val="0"/>
              </a:spcBef>
              <a:buNone/>
              <a:defRPr b="1" sz="1200">
                <a:solidFill>
                  <a:srgbClr val="2C2C2C"/>
                </a:solidFill>
                <a:latin typeface="Arial"/>
                <a:ea typeface="Arial"/>
                <a:cs typeface="Arial"/>
                <a:sym typeface="Arial"/>
              </a:defRPr>
            </a:lvl8pPr>
            <a:lvl9pPr indent="0" lvl="8" marL="0" algn="ctr">
              <a:spcBef>
                <a:spcPts val="0"/>
              </a:spcBef>
              <a:buNone/>
              <a:defRPr b="1" sz="1200">
                <a:solidFill>
                  <a:srgbClr val="2C2C2C"/>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IN"/>
              <a:t>‹#›</a:t>
            </a:fld>
            <a:endParaRPr/>
          </a:p>
        </p:txBody>
      </p:sp>
      <p:pic>
        <p:nvPicPr>
          <p:cNvPr id="29" name="Google Shape;29;p53"/>
          <p:cNvPicPr preferRelativeResize="0"/>
          <p:nvPr/>
        </p:nvPicPr>
        <p:blipFill rotWithShape="1">
          <a:blip r:embed="rId2">
            <a:alphaModFix/>
          </a:blip>
          <a:srcRect b="0" l="0" r="0" t="0"/>
          <a:stretch/>
        </p:blipFill>
        <p:spPr>
          <a:xfrm>
            <a:off x="766800" y="504000"/>
            <a:ext cx="1332000" cy="43229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Section Slide">
    <p:spTree>
      <p:nvGrpSpPr>
        <p:cNvPr id="30" name="Shape 30"/>
        <p:cNvGrpSpPr/>
        <p:nvPr/>
      </p:nvGrpSpPr>
      <p:grpSpPr>
        <a:xfrm>
          <a:off x="0" y="0"/>
          <a:ext cx="0" cy="0"/>
          <a:chOff x="0" y="0"/>
          <a:chExt cx="0" cy="0"/>
        </a:xfrm>
      </p:grpSpPr>
      <p:sp>
        <p:nvSpPr>
          <p:cNvPr id="31" name="Google Shape;31;p54"/>
          <p:cNvSpPr txBox="1"/>
          <p:nvPr>
            <p:ph type="ctrTitle"/>
          </p:nvPr>
        </p:nvSpPr>
        <p:spPr>
          <a:xfrm>
            <a:off x="648000" y="1080000"/>
            <a:ext cx="10080000" cy="23760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C2C2C"/>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4"/>
          <p:cNvSpPr txBox="1"/>
          <p:nvPr>
            <p:ph idx="1" type="subTitle"/>
          </p:nvPr>
        </p:nvSpPr>
        <p:spPr>
          <a:xfrm>
            <a:off x="648000" y="3600000"/>
            <a:ext cx="10080000" cy="1655762"/>
          </a:xfrm>
          <a:prstGeom prst="rect">
            <a:avLst/>
          </a:prstGeom>
          <a:noFill/>
          <a:ln>
            <a:noFill/>
          </a:ln>
        </p:spPr>
        <p:txBody>
          <a:bodyPr anchorCtr="0" anchor="t" bIns="45700" lIns="91425" spcFirstLastPara="1" rIns="91425" wrap="square" tIns="45700">
            <a:normAutofit/>
          </a:bodyPr>
          <a:lstStyle>
            <a:lvl1pPr lvl="0" algn="l">
              <a:lnSpc>
                <a:spcPct val="140000"/>
              </a:lnSpc>
              <a:spcBef>
                <a:spcPts val="800"/>
              </a:spcBef>
              <a:spcAft>
                <a:spcPts val="0"/>
              </a:spcAft>
              <a:buClr>
                <a:srgbClr val="2C2C2C"/>
              </a:buClr>
              <a:buSzPts val="2000"/>
              <a:buNone/>
              <a:defRPr sz="2000"/>
            </a:lvl1pPr>
            <a:lvl2pPr lvl="1" algn="ctr">
              <a:lnSpc>
                <a:spcPct val="140000"/>
              </a:lnSpc>
              <a:spcBef>
                <a:spcPts val="800"/>
              </a:spcBef>
              <a:spcAft>
                <a:spcPts val="0"/>
              </a:spcAft>
              <a:buClr>
                <a:srgbClr val="2C2C2C"/>
              </a:buClr>
              <a:buSzPts val="2000"/>
              <a:buNone/>
              <a:defRPr sz="2000"/>
            </a:lvl2pPr>
            <a:lvl3pPr lvl="2" algn="ctr">
              <a:lnSpc>
                <a:spcPct val="140000"/>
              </a:lnSpc>
              <a:spcBef>
                <a:spcPts val="800"/>
              </a:spcBef>
              <a:spcAft>
                <a:spcPts val="0"/>
              </a:spcAft>
              <a:buClr>
                <a:srgbClr val="2C2C2C"/>
              </a:buClr>
              <a:buSzPts val="1800"/>
              <a:buNone/>
              <a:defRPr sz="1800"/>
            </a:lvl3pPr>
            <a:lvl4pPr lvl="3" algn="ctr">
              <a:lnSpc>
                <a:spcPct val="140000"/>
              </a:lnSpc>
              <a:spcBef>
                <a:spcPts val="800"/>
              </a:spcBef>
              <a:spcAft>
                <a:spcPts val="0"/>
              </a:spcAft>
              <a:buClr>
                <a:srgbClr val="2C2C2C"/>
              </a:buClr>
              <a:buSzPts val="1600"/>
              <a:buNone/>
              <a:defRPr sz="1600"/>
            </a:lvl4pPr>
            <a:lvl5pPr lvl="4" algn="ctr">
              <a:lnSpc>
                <a:spcPct val="140000"/>
              </a:lnSpc>
              <a:spcBef>
                <a:spcPts val="800"/>
              </a:spcBef>
              <a:spcAft>
                <a:spcPts val="0"/>
              </a:spcAft>
              <a:buClr>
                <a:srgbClr val="2C2C2C"/>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3" name="Google Shape;33;p54"/>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4"/>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4"/>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pic>
        <p:nvPicPr>
          <p:cNvPr id="36" name="Google Shape;36;p54"/>
          <p:cNvPicPr preferRelativeResize="0"/>
          <p:nvPr/>
        </p:nvPicPr>
        <p:blipFill rotWithShape="1">
          <a:blip r:embed="rId2">
            <a:alphaModFix/>
          </a:blip>
          <a:srcRect b="0" l="0" r="0" t="0"/>
          <a:stretch/>
        </p:blipFill>
        <p:spPr>
          <a:xfrm>
            <a:off x="766800" y="504000"/>
            <a:ext cx="1332000" cy="43229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7" name="Shape 37"/>
        <p:cNvGrpSpPr/>
        <p:nvPr/>
      </p:nvGrpSpPr>
      <p:grpSpPr>
        <a:xfrm>
          <a:off x="0" y="0"/>
          <a:ext cx="0" cy="0"/>
          <a:chOff x="0" y="0"/>
          <a:chExt cx="0" cy="0"/>
        </a:xfrm>
      </p:grpSpPr>
      <p:sp>
        <p:nvSpPr>
          <p:cNvPr id="38" name="Google Shape;38;p55"/>
          <p:cNvSpPr txBox="1"/>
          <p:nvPr>
            <p:ph type="title"/>
          </p:nvPr>
        </p:nvSpPr>
        <p:spPr>
          <a:xfrm>
            <a:off x="647999" y="576000"/>
            <a:ext cx="3311999" cy="15840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C2C2C"/>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5"/>
          <p:cNvSpPr txBox="1"/>
          <p:nvPr>
            <p:ph idx="1" type="body"/>
          </p:nvPr>
        </p:nvSpPr>
        <p:spPr>
          <a:xfrm>
            <a:off x="4247999" y="1260000"/>
            <a:ext cx="7200001" cy="4896000"/>
          </a:xfrm>
          <a:prstGeom prst="rect">
            <a:avLst/>
          </a:prstGeom>
          <a:noFill/>
          <a:ln>
            <a:noFill/>
          </a:ln>
        </p:spPr>
        <p:txBody>
          <a:bodyPr anchorCtr="0" anchor="t" bIns="45700" lIns="91425" spcFirstLastPara="1" rIns="91425" wrap="square" tIns="45700">
            <a:normAutofit/>
          </a:bodyPr>
          <a:lstStyle>
            <a:lvl1pPr indent="-355600" lvl="0" marL="457200" algn="l">
              <a:lnSpc>
                <a:spcPct val="140000"/>
              </a:lnSpc>
              <a:spcBef>
                <a:spcPts val="800"/>
              </a:spcBef>
              <a:spcAft>
                <a:spcPts val="0"/>
              </a:spcAft>
              <a:buClr>
                <a:srgbClr val="2C2C2C"/>
              </a:buClr>
              <a:buSzPts val="2000"/>
              <a:buChar char="•"/>
              <a:defRPr sz="2000"/>
            </a:lvl1pPr>
            <a:lvl2pPr indent="-342900" lvl="1" marL="914400" algn="l">
              <a:lnSpc>
                <a:spcPct val="140000"/>
              </a:lnSpc>
              <a:spcBef>
                <a:spcPts val="800"/>
              </a:spcBef>
              <a:spcAft>
                <a:spcPts val="0"/>
              </a:spcAft>
              <a:buClr>
                <a:srgbClr val="2C2C2C"/>
              </a:buClr>
              <a:buSzPts val="1800"/>
              <a:buChar char="•"/>
              <a:defRPr sz="1800"/>
            </a:lvl2pPr>
            <a:lvl3pPr indent="-342900" lvl="2" marL="1371600" algn="l">
              <a:lnSpc>
                <a:spcPct val="140000"/>
              </a:lnSpc>
              <a:spcBef>
                <a:spcPts val="800"/>
              </a:spcBef>
              <a:spcAft>
                <a:spcPts val="0"/>
              </a:spcAft>
              <a:buClr>
                <a:srgbClr val="2C2C2C"/>
              </a:buClr>
              <a:buSzPts val="1800"/>
              <a:buChar char="•"/>
              <a:defRPr sz="1800"/>
            </a:lvl3pPr>
            <a:lvl4pPr indent="-330200" lvl="3" marL="1828800" algn="l">
              <a:lnSpc>
                <a:spcPct val="140000"/>
              </a:lnSpc>
              <a:spcBef>
                <a:spcPts val="800"/>
              </a:spcBef>
              <a:spcAft>
                <a:spcPts val="0"/>
              </a:spcAft>
              <a:buClr>
                <a:srgbClr val="2C2C2C"/>
              </a:buClr>
              <a:buSzPts val="1600"/>
              <a:buChar char="•"/>
              <a:defRPr sz="1600"/>
            </a:lvl4pPr>
            <a:lvl5pPr indent="-330200" lvl="4" marL="2286000" algn="l">
              <a:lnSpc>
                <a:spcPct val="140000"/>
              </a:lnSpc>
              <a:spcBef>
                <a:spcPts val="800"/>
              </a:spcBef>
              <a:spcAft>
                <a:spcPts val="0"/>
              </a:spcAft>
              <a:buClr>
                <a:srgbClr val="2C2C2C"/>
              </a:buClr>
              <a:buSzPts val="1600"/>
              <a:buChar char="•"/>
              <a:defRPr sz="16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0" name="Google Shape;40;p55"/>
          <p:cNvSpPr txBox="1"/>
          <p:nvPr>
            <p:ph idx="2" type="body"/>
          </p:nvPr>
        </p:nvSpPr>
        <p:spPr>
          <a:xfrm>
            <a:off x="647999" y="2340000"/>
            <a:ext cx="3312000" cy="3816000"/>
          </a:xfrm>
          <a:prstGeom prst="rect">
            <a:avLst/>
          </a:prstGeom>
          <a:noFill/>
          <a:ln>
            <a:noFill/>
          </a:ln>
        </p:spPr>
        <p:txBody>
          <a:bodyPr anchorCtr="0" anchor="t" bIns="45700" lIns="91425" spcFirstLastPara="1" rIns="91425" wrap="square" tIns="45700">
            <a:normAutofit/>
          </a:bodyPr>
          <a:lstStyle>
            <a:lvl1pPr indent="-228600" lvl="0" marL="457200" algn="l">
              <a:lnSpc>
                <a:spcPct val="140000"/>
              </a:lnSpc>
              <a:spcBef>
                <a:spcPts val="800"/>
              </a:spcBef>
              <a:spcAft>
                <a:spcPts val="0"/>
              </a:spcAft>
              <a:buClr>
                <a:srgbClr val="2C2C2C"/>
              </a:buClr>
              <a:buSzPts val="2000"/>
              <a:buNone/>
              <a:defRPr sz="2000"/>
            </a:lvl1pPr>
            <a:lvl2pPr indent="-228600" lvl="1" marL="914400" algn="l">
              <a:lnSpc>
                <a:spcPct val="140000"/>
              </a:lnSpc>
              <a:spcBef>
                <a:spcPts val="800"/>
              </a:spcBef>
              <a:spcAft>
                <a:spcPts val="0"/>
              </a:spcAft>
              <a:buClr>
                <a:srgbClr val="2C2C2C"/>
              </a:buClr>
              <a:buSzPts val="1400"/>
              <a:buNone/>
              <a:defRPr sz="1400"/>
            </a:lvl2pPr>
            <a:lvl3pPr indent="-228600" lvl="2" marL="1371600" algn="l">
              <a:lnSpc>
                <a:spcPct val="140000"/>
              </a:lnSpc>
              <a:spcBef>
                <a:spcPts val="800"/>
              </a:spcBef>
              <a:spcAft>
                <a:spcPts val="0"/>
              </a:spcAft>
              <a:buClr>
                <a:srgbClr val="2C2C2C"/>
              </a:buClr>
              <a:buSzPts val="1200"/>
              <a:buNone/>
              <a:defRPr sz="1200"/>
            </a:lvl3pPr>
            <a:lvl4pPr indent="-228600" lvl="3" marL="1828800" algn="l">
              <a:lnSpc>
                <a:spcPct val="140000"/>
              </a:lnSpc>
              <a:spcBef>
                <a:spcPts val="800"/>
              </a:spcBef>
              <a:spcAft>
                <a:spcPts val="0"/>
              </a:spcAft>
              <a:buClr>
                <a:srgbClr val="2C2C2C"/>
              </a:buClr>
              <a:buSzPts val="1000"/>
              <a:buNone/>
              <a:defRPr sz="1000"/>
            </a:lvl4pPr>
            <a:lvl5pPr indent="-228600" lvl="4" marL="2286000" algn="l">
              <a:lnSpc>
                <a:spcPct val="140000"/>
              </a:lnSpc>
              <a:spcBef>
                <a:spcPts val="800"/>
              </a:spcBef>
              <a:spcAft>
                <a:spcPts val="0"/>
              </a:spcAft>
              <a:buClr>
                <a:srgbClr val="2C2C2C"/>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1" name="Google Shape;41;p55"/>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5"/>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5"/>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56"/>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C2C2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6"/>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6"/>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6"/>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cast" showMasterSp="0">
  <p:cSld name="Screencast">
    <p:bg>
      <p:bgPr>
        <a:solidFill>
          <a:srgbClr val="FF40FF"/>
        </a:solidFill>
      </p:bgPr>
    </p:bg>
    <p:spTree>
      <p:nvGrpSpPr>
        <p:cNvPr id="49" name="Shape 49"/>
        <p:cNvGrpSpPr/>
        <p:nvPr/>
      </p:nvGrpSpPr>
      <p:grpSpPr>
        <a:xfrm>
          <a:off x="0" y="0"/>
          <a:ext cx="0" cy="0"/>
          <a:chOff x="0" y="0"/>
          <a:chExt cx="0" cy="0"/>
        </a:xfrm>
      </p:grpSpPr>
      <p:sp>
        <p:nvSpPr>
          <p:cNvPr id="50" name="Google Shape;50;p57"/>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sz="1200">
                <a:solidFill>
                  <a:schemeClr val="lt1"/>
                </a:solidFill>
                <a:latin typeface="Arial"/>
                <a:ea typeface="Arial"/>
                <a:cs typeface="Arial"/>
                <a:sym typeface="Arial"/>
              </a:defRPr>
            </a:lvl1pPr>
            <a:lvl2pPr indent="0" lvl="1" marL="0" algn="ctr">
              <a:spcBef>
                <a:spcPts val="0"/>
              </a:spcBef>
              <a:buNone/>
              <a:defRPr b="1" sz="1200">
                <a:solidFill>
                  <a:schemeClr val="lt1"/>
                </a:solidFill>
                <a:latin typeface="Arial"/>
                <a:ea typeface="Arial"/>
                <a:cs typeface="Arial"/>
                <a:sym typeface="Arial"/>
              </a:defRPr>
            </a:lvl2pPr>
            <a:lvl3pPr indent="0" lvl="2" marL="0" algn="ctr">
              <a:spcBef>
                <a:spcPts val="0"/>
              </a:spcBef>
              <a:buNone/>
              <a:defRPr b="1" sz="1200">
                <a:solidFill>
                  <a:schemeClr val="lt1"/>
                </a:solidFill>
                <a:latin typeface="Arial"/>
                <a:ea typeface="Arial"/>
                <a:cs typeface="Arial"/>
                <a:sym typeface="Arial"/>
              </a:defRPr>
            </a:lvl3pPr>
            <a:lvl4pPr indent="0" lvl="3" marL="0" algn="ctr">
              <a:spcBef>
                <a:spcPts val="0"/>
              </a:spcBef>
              <a:buNone/>
              <a:defRPr b="1" sz="1200">
                <a:solidFill>
                  <a:schemeClr val="lt1"/>
                </a:solidFill>
                <a:latin typeface="Arial"/>
                <a:ea typeface="Arial"/>
                <a:cs typeface="Arial"/>
                <a:sym typeface="Arial"/>
              </a:defRPr>
            </a:lvl4pPr>
            <a:lvl5pPr indent="0" lvl="4" marL="0" algn="ctr">
              <a:spcBef>
                <a:spcPts val="0"/>
              </a:spcBef>
              <a:buNone/>
              <a:defRPr b="1" sz="1200">
                <a:solidFill>
                  <a:schemeClr val="lt1"/>
                </a:solidFill>
                <a:latin typeface="Arial"/>
                <a:ea typeface="Arial"/>
                <a:cs typeface="Arial"/>
                <a:sym typeface="Arial"/>
              </a:defRPr>
            </a:lvl5pPr>
            <a:lvl6pPr indent="0" lvl="5" marL="0" algn="ctr">
              <a:spcBef>
                <a:spcPts val="0"/>
              </a:spcBef>
              <a:buNone/>
              <a:defRPr b="1" sz="1200">
                <a:solidFill>
                  <a:schemeClr val="lt1"/>
                </a:solidFill>
                <a:latin typeface="Arial"/>
                <a:ea typeface="Arial"/>
                <a:cs typeface="Arial"/>
                <a:sym typeface="Arial"/>
              </a:defRPr>
            </a:lvl6pPr>
            <a:lvl7pPr indent="0" lvl="6" marL="0" algn="ctr">
              <a:spcBef>
                <a:spcPts val="0"/>
              </a:spcBef>
              <a:buNone/>
              <a:defRPr b="1" sz="1200">
                <a:solidFill>
                  <a:schemeClr val="lt1"/>
                </a:solidFill>
                <a:latin typeface="Arial"/>
                <a:ea typeface="Arial"/>
                <a:cs typeface="Arial"/>
                <a:sym typeface="Arial"/>
              </a:defRPr>
            </a:lvl7pPr>
            <a:lvl8pPr indent="0" lvl="7" marL="0" algn="ctr">
              <a:spcBef>
                <a:spcPts val="0"/>
              </a:spcBef>
              <a:buNone/>
              <a:defRPr b="1" sz="1200">
                <a:solidFill>
                  <a:schemeClr val="lt1"/>
                </a:solidFill>
                <a:latin typeface="Arial"/>
                <a:ea typeface="Arial"/>
                <a:cs typeface="Arial"/>
                <a:sym typeface="Arial"/>
              </a:defRPr>
            </a:lvl8pPr>
            <a:lvl9pPr indent="0" lvl="8" marL="0" algn="ctr">
              <a:spcBef>
                <a:spcPts val="0"/>
              </a:spcBef>
              <a:buNone/>
              <a:defRPr b="1"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IN"/>
              <a:t>‹#›</a:t>
            </a:fld>
            <a:endParaRPr/>
          </a:p>
        </p:txBody>
      </p:sp>
      <p:sp>
        <p:nvSpPr>
          <p:cNvPr id="51" name="Google Shape;51;p57"/>
          <p:cNvSpPr txBox="1"/>
          <p:nvPr/>
        </p:nvSpPr>
        <p:spPr>
          <a:xfrm>
            <a:off x="648000" y="2625003"/>
            <a:ext cx="6816803" cy="830997"/>
          </a:xfrm>
          <a:prstGeom prst="rect">
            <a:avLst/>
          </a:prstGeom>
          <a:noFill/>
          <a:ln>
            <a:noFill/>
          </a:ln>
        </p:spPr>
        <p:txBody>
          <a:bodyPr anchorCtr="0" anchor="b" bIns="45700" lIns="91425" spcFirstLastPara="1" rIns="91425" wrap="square" tIns="45700">
            <a:spAutoFit/>
          </a:bodyPr>
          <a:lstStyle/>
          <a:p>
            <a:pPr indent="0" lvl="0" marL="0" marR="0" rtl="0" algn="l">
              <a:lnSpc>
                <a:spcPct val="100000"/>
              </a:lnSpc>
              <a:spcBef>
                <a:spcPts val="0"/>
              </a:spcBef>
              <a:spcAft>
                <a:spcPts val="0"/>
              </a:spcAft>
              <a:buClr>
                <a:schemeClr val="lt1"/>
              </a:buClr>
              <a:buSzPts val="4800"/>
              <a:buFont typeface="Arial"/>
              <a:buNone/>
            </a:pPr>
            <a:r>
              <a:rPr b="0" i="0" lang="en-IN" sz="4800" u="none">
                <a:solidFill>
                  <a:schemeClr val="lt1"/>
                </a:solidFill>
                <a:latin typeface="Arial"/>
                <a:ea typeface="Arial"/>
                <a:cs typeface="Arial"/>
                <a:sym typeface="Arial"/>
              </a:rPr>
              <a:t>Screencast Placeholder</a:t>
            </a:r>
            <a:endParaRPr/>
          </a:p>
        </p:txBody>
      </p:sp>
      <p:sp>
        <p:nvSpPr>
          <p:cNvPr id="52" name="Google Shape;52;p57"/>
          <p:cNvSpPr txBox="1"/>
          <p:nvPr/>
        </p:nvSpPr>
        <p:spPr>
          <a:xfrm>
            <a:off x="648000" y="3600000"/>
            <a:ext cx="10080000" cy="993599"/>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chemeClr val="lt1"/>
              </a:buClr>
              <a:buSzPts val="2200"/>
              <a:buFont typeface="Arial"/>
              <a:buNone/>
            </a:pPr>
            <a:r>
              <a:rPr lang="en-IN" sz="2200">
                <a:solidFill>
                  <a:schemeClr val="lt1"/>
                </a:solidFill>
                <a:latin typeface="Arial"/>
                <a:ea typeface="Arial"/>
                <a:cs typeface="Arial"/>
                <a:sym typeface="Arial"/>
              </a:rPr>
              <a:t>You should delete this slide before recording, otherwise it will skew your slide numbers.</a:t>
            </a:r>
            <a:endParaRPr/>
          </a:p>
        </p:txBody>
      </p:sp>
      <p:sp>
        <p:nvSpPr>
          <p:cNvPr id="53" name="Google Shape;53;p57"/>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57"/>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51"/>
          <p:cNvPicPr preferRelativeResize="0"/>
          <p:nvPr/>
        </p:nvPicPr>
        <p:blipFill rotWithShape="1">
          <a:blip r:embed="rId1">
            <a:alphaModFix/>
          </a:blip>
          <a:srcRect b="0" l="0" r="0" t="0"/>
          <a:stretch/>
        </p:blipFill>
        <p:spPr>
          <a:xfrm flipH="1" rot="10800000">
            <a:off x="7872000" y="0"/>
            <a:ext cx="4320000" cy="6858000"/>
          </a:xfrm>
          <a:prstGeom prst="rect">
            <a:avLst/>
          </a:prstGeom>
          <a:noFill/>
          <a:ln>
            <a:noFill/>
          </a:ln>
        </p:spPr>
      </p:pic>
      <p:pic>
        <p:nvPicPr>
          <p:cNvPr id="11" name="Google Shape;11;p51"/>
          <p:cNvPicPr preferRelativeResize="0"/>
          <p:nvPr/>
        </p:nvPicPr>
        <p:blipFill rotWithShape="1">
          <a:blip r:embed="rId2">
            <a:alphaModFix/>
          </a:blip>
          <a:srcRect b="0" l="0" r="0" t="0"/>
          <a:stretch/>
        </p:blipFill>
        <p:spPr>
          <a:xfrm>
            <a:off x="11160000" y="540000"/>
            <a:ext cx="540000" cy="432000"/>
          </a:xfrm>
          <a:prstGeom prst="rect">
            <a:avLst/>
          </a:prstGeom>
          <a:noFill/>
          <a:ln>
            <a:noFill/>
          </a:ln>
        </p:spPr>
      </p:pic>
      <p:sp>
        <p:nvSpPr>
          <p:cNvPr id="12" name="Google Shape;12;p51"/>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2C2C2C"/>
              </a:buClr>
              <a:buSzPts val="3200"/>
              <a:buFont typeface="Arial"/>
              <a:buNone/>
              <a:defRPr b="0" i="0" sz="3200" u="none" cap="none" strike="noStrike">
                <a:solidFill>
                  <a:srgbClr val="2C2C2C"/>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51"/>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40000"/>
              </a:lnSpc>
              <a:spcBef>
                <a:spcPts val="800"/>
              </a:spcBef>
              <a:spcAft>
                <a:spcPts val="0"/>
              </a:spcAft>
              <a:buClr>
                <a:srgbClr val="2C2C2C"/>
              </a:buClr>
              <a:buSzPts val="2000"/>
              <a:buFont typeface="Arial"/>
              <a:buChar char="•"/>
              <a:defRPr b="0" i="0" sz="2000" u="none" cap="none" strike="noStrike">
                <a:solidFill>
                  <a:srgbClr val="2C2C2C"/>
                </a:solidFill>
                <a:latin typeface="Arial"/>
                <a:ea typeface="Arial"/>
                <a:cs typeface="Arial"/>
                <a:sym typeface="Arial"/>
              </a:defRPr>
            </a:lvl1pPr>
            <a:lvl2pPr indent="-342900" lvl="1" marL="914400" marR="0" rtl="0" algn="l">
              <a:lnSpc>
                <a:spcPct val="140000"/>
              </a:lnSpc>
              <a:spcBef>
                <a:spcPts val="800"/>
              </a:spcBef>
              <a:spcAft>
                <a:spcPts val="0"/>
              </a:spcAft>
              <a:buClr>
                <a:srgbClr val="2C2C2C"/>
              </a:buClr>
              <a:buSzPts val="1800"/>
              <a:buFont typeface="Arial"/>
              <a:buChar char="•"/>
              <a:defRPr b="0" i="0" sz="1800" u="none" cap="none" strike="noStrike">
                <a:solidFill>
                  <a:srgbClr val="2C2C2C"/>
                </a:solidFill>
                <a:latin typeface="Arial"/>
                <a:ea typeface="Arial"/>
                <a:cs typeface="Arial"/>
                <a:sym typeface="Arial"/>
              </a:defRPr>
            </a:lvl2pPr>
            <a:lvl3pPr indent="-342900" lvl="2" marL="1371600" marR="0" rtl="0" algn="l">
              <a:lnSpc>
                <a:spcPct val="140000"/>
              </a:lnSpc>
              <a:spcBef>
                <a:spcPts val="800"/>
              </a:spcBef>
              <a:spcAft>
                <a:spcPts val="0"/>
              </a:spcAft>
              <a:buClr>
                <a:srgbClr val="2C2C2C"/>
              </a:buClr>
              <a:buSzPts val="1800"/>
              <a:buFont typeface="Arial"/>
              <a:buChar char="•"/>
              <a:defRPr b="0" i="0" sz="1800" u="none" cap="none" strike="noStrike">
                <a:solidFill>
                  <a:srgbClr val="2C2C2C"/>
                </a:solidFill>
                <a:latin typeface="Arial"/>
                <a:ea typeface="Arial"/>
                <a:cs typeface="Arial"/>
                <a:sym typeface="Arial"/>
              </a:defRPr>
            </a:lvl3pPr>
            <a:lvl4pPr indent="-330200" lvl="3" marL="1828800" marR="0" rtl="0" algn="l">
              <a:lnSpc>
                <a:spcPct val="140000"/>
              </a:lnSpc>
              <a:spcBef>
                <a:spcPts val="800"/>
              </a:spcBef>
              <a:spcAft>
                <a:spcPts val="0"/>
              </a:spcAft>
              <a:buClr>
                <a:srgbClr val="2C2C2C"/>
              </a:buClr>
              <a:buSzPts val="1600"/>
              <a:buFont typeface="Arial"/>
              <a:buChar char="•"/>
              <a:defRPr b="0" i="0" sz="1600" u="none" cap="none" strike="noStrike">
                <a:solidFill>
                  <a:srgbClr val="2C2C2C"/>
                </a:solidFill>
                <a:latin typeface="Arial"/>
                <a:ea typeface="Arial"/>
                <a:cs typeface="Arial"/>
                <a:sym typeface="Arial"/>
              </a:defRPr>
            </a:lvl4pPr>
            <a:lvl5pPr indent="-330200" lvl="4" marL="2286000" marR="0" rtl="0" algn="l">
              <a:lnSpc>
                <a:spcPct val="140000"/>
              </a:lnSpc>
              <a:spcBef>
                <a:spcPts val="800"/>
              </a:spcBef>
              <a:spcAft>
                <a:spcPts val="0"/>
              </a:spcAft>
              <a:buClr>
                <a:srgbClr val="2C2C2C"/>
              </a:buClr>
              <a:buSzPts val="1600"/>
              <a:buFont typeface="Arial"/>
              <a:buChar char="•"/>
              <a:defRPr b="0" i="0" sz="1600" u="none" cap="none" strike="noStrike">
                <a:solidFill>
                  <a:srgbClr val="2C2C2C"/>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 name="Google Shape;14;p51"/>
          <p:cNvSpPr txBox="1"/>
          <p:nvPr>
            <p:ph idx="10" type="dt"/>
          </p:nvPr>
        </p:nvSpPr>
        <p:spPr>
          <a:xfrm>
            <a:off x="9288000" y="6336000"/>
            <a:ext cx="2160000" cy="2880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2C2C2C"/>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51"/>
          <p:cNvSpPr txBox="1"/>
          <p:nvPr>
            <p:ph idx="11" type="ftr"/>
          </p:nvPr>
        </p:nvSpPr>
        <p:spPr>
          <a:xfrm>
            <a:off x="648000" y="6336000"/>
            <a:ext cx="6480000" cy="288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2C2C2C"/>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51"/>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200" u="none" cap="none" strike="noStrike">
                <a:solidFill>
                  <a:srgbClr val="2C2C2C"/>
                </a:solidFill>
                <a:latin typeface="Arial"/>
                <a:ea typeface="Arial"/>
                <a:cs typeface="Arial"/>
                <a:sym typeface="Arial"/>
              </a:defRPr>
            </a:lvl1pPr>
            <a:lvl2pPr indent="0" lvl="1" marL="0" marR="0" rtl="0" algn="ctr">
              <a:spcBef>
                <a:spcPts val="0"/>
              </a:spcBef>
              <a:buNone/>
              <a:defRPr b="1" i="0" sz="1200" u="none" cap="none" strike="noStrike">
                <a:solidFill>
                  <a:srgbClr val="2C2C2C"/>
                </a:solidFill>
                <a:latin typeface="Arial"/>
                <a:ea typeface="Arial"/>
                <a:cs typeface="Arial"/>
                <a:sym typeface="Arial"/>
              </a:defRPr>
            </a:lvl2pPr>
            <a:lvl3pPr indent="0" lvl="2" marL="0" marR="0" rtl="0" algn="ctr">
              <a:spcBef>
                <a:spcPts val="0"/>
              </a:spcBef>
              <a:buNone/>
              <a:defRPr b="1" i="0" sz="1200" u="none" cap="none" strike="noStrike">
                <a:solidFill>
                  <a:srgbClr val="2C2C2C"/>
                </a:solidFill>
                <a:latin typeface="Arial"/>
                <a:ea typeface="Arial"/>
                <a:cs typeface="Arial"/>
                <a:sym typeface="Arial"/>
              </a:defRPr>
            </a:lvl3pPr>
            <a:lvl4pPr indent="0" lvl="3" marL="0" marR="0" rtl="0" algn="ctr">
              <a:spcBef>
                <a:spcPts val="0"/>
              </a:spcBef>
              <a:buNone/>
              <a:defRPr b="1" i="0" sz="1200" u="none" cap="none" strike="noStrike">
                <a:solidFill>
                  <a:srgbClr val="2C2C2C"/>
                </a:solidFill>
                <a:latin typeface="Arial"/>
                <a:ea typeface="Arial"/>
                <a:cs typeface="Arial"/>
                <a:sym typeface="Arial"/>
              </a:defRPr>
            </a:lvl4pPr>
            <a:lvl5pPr indent="0" lvl="4" marL="0" marR="0" rtl="0" algn="ctr">
              <a:spcBef>
                <a:spcPts val="0"/>
              </a:spcBef>
              <a:buNone/>
              <a:defRPr b="1" i="0" sz="1200" u="none" cap="none" strike="noStrike">
                <a:solidFill>
                  <a:srgbClr val="2C2C2C"/>
                </a:solidFill>
                <a:latin typeface="Arial"/>
                <a:ea typeface="Arial"/>
                <a:cs typeface="Arial"/>
                <a:sym typeface="Arial"/>
              </a:defRPr>
            </a:lvl5pPr>
            <a:lvl6pPr indent="0" lvl="5" marL="0" marR="0" rtl="0" algn="ctr">
              <a:spcBef>
                <a:spcPts val="0"/>
              </a:spcBef>
              <a:buNone/>
              <a:defRPr b="1" i="0" sz="1200" u="none" cap="none" strike="noStrike">
                <a:solidFill>
                  <a:srgbClr val="2C2C2C"/>
                </a:solidFill>
                <a:latin typeface="Arial"/>
                <a:ea typeface="Arial"/>
                <a:cs typeface="Arial"/>
                <a:sym typeface="Arial"/>
              </a:defRPr>
            </a:lvl6pPr>
            <a:lvl7pPr indent="0" lvl="6" marL="0" marR="0" rtl="0" algn="ctr">
              <a:spcBef>
                <a:spcPts val="0"/>
              </a:spcBef>
              <a:buNone/>
              <a:defRPr b="1" i="0" sz="1200" u="none" cap="none" strike="noStrike">
                <a:solidFill>
                  <a:srgbClr val="2C2C2C"/>
                </a:solidFill>
                <a:latin typeface="Arial"/>
                <a:ea typeface="Arial"/>
                <a:cs typeface="Arial"/>
                <a:sym typeface="Arial"/>
              </a:defRPr>
            </a:lvl7pPr>
            <a:lvl8pPr indent="0" lvl="7" marL="0" marR="0" rtl="0" algn="ctr">
              <a:spcBef>
                <a:spcPts val="0"/>
              </a:spcBef>
              <a:buNone/>
              <a:defRPr b="1" i="0" sz="1200" u="none" cap="none" strike="noStrike">
                <a:solidFill>
                  <a:srgbClr val="2C2C2C"/>
                </a:solidFill>
                <a:latin typeface="Arial"/>
                <a:ea typeface="Arial"/>
                <a:cs typeface="Arial"/>
                <a:sym typeface="Arial"/>
              </a:defRPr>
            </a:lvl8pPr>
            <a:lvl9pPr indent="0" lvl="8" marL="0" marR="0" rtl="0" algn="ctr">
              <a:spcBef>
                <a:spcPts val="0"/>
              </a:spcBef>
              <a:buNone/>
              <a:defRPr b="1" i="0" sz="1200" u="none" cap="none" strike="noStrike">
                <a:solidFill>
                  <a:srgbClr val="2C2C2C"/>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18.png"/><Relationship Id="rId10" Type="http://schemas.openxmlformats.org/officeDocument/2006/relationships/image" Target="../media/image20.png"/><Relationship Id="rId9"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11.png"/><Relationship Id="rId8"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Outline</a:t>
            </a:r>
            <a:endParaRPr/>
          </a:p>
        </p:txBody>
      </p:sp>
      <p:sp>
        <p:nvSpPr>
          <p:cNvPr id="60" name="Google Shape;60;p1"/>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rgbClr val="2C2C2C"/>
              </a:buClr>
              <a:buSzPts val="2000"/>
              <a:buChar char="•"/>
            </a:pPr>
            <a:r>
              <a:rPr lang="en-IN"/>
              <a:t>Describing the fundamentals of distributed systems</a:t>
            </a:r>
            <a:endParaRPr/>
          </a:p>
          <a:p>
            <a:pPr indent="-228600" lvl="0" marL="228600" rtl="0" algn="l">
              <a:lnSpc>
                <a:spcPct val="150000"/>
              </a:lnSpc>
              <a:spcBef>
                <a:spcPts val="800"/>
              </a:spcBef>
              <a:spcAft>
                <a:spcPts val="0"/>
              </a:spcAft>
              <a:buClr>
                <a:srgbClr val="2C2C2C"/>
              </a:buClr>
              <a:buSzPts val="2000"/>
              <a:buChar char="•"/>
            </a:pPr>
            <a:r>
              <a:rPr lang="en-IN"/>
              <a:t>Defining blockchain technology</a:t>
            </a:r>
            <a:endParaRPr/>
          </a:p>
          <a:p>
            <a:pPr indent="-228600" lvl="0" marL="228600" rtl="0" algn="l">
              <a:lnSpc>
                <a:spcPct val="150000"/>
              </a:lnSpc>
              <a:spcBef>
                <a:spcPts val="800"/>
              </a:spcBef>
              <a:spcAft>
                <a:spcPts val="0"/>
              </a:spcAft>
              <a:buClr>
                <a:srgbClr val="2C2C2C"/>
              </a:buClr>
              <a:buSzPts val="2000"/>
              <a:buChar char="•"/>
            </a:pPr>
            <a:r>
              <a:rPr lang="en-IN"/>
              <a:t>Understanding how blockchain technology was developed</a:t>
            </a:r>
            <a:endParaRPr/>
          </a:p>
          <a:p>
            <a:pPr indent="-228600" lvl="0" marL="228600" rtl="0" algn="l">
              <a:lnSpc>
                <a:spcPct val="150000"/>
              </a:lnSpc>
              <a:spcBef>
                <a:spcPts val="800"/>
              </a:spcBef>
              <a:spcAft>
                <a:spcPts val="0"/>
              </a:spcAft>
              <a:buClr>
                <a:srgbClr val="2C2C2C"/>
              </a:buClr>
              <a:buSzPts val="2000"/>
              <a:buChar char="•"/>
            </a:pPr>
            <a:r>
              <a:rPr lang="en-IN"/>
              <a:t>Detailing the elements of a blockchain</a:t>
            </a:r>
            <a:endParaRPr/>
          </a:p>
          <a:p>
            <a:pPr indent="-228600" lvl="0" marL="228600" rtl="0" algn="l">
              <a:lnSpc>
                <a:spcPct val="150000"/>
              </a:lnSpc>
              <a:spcBef>
                <a:spcPts val="800"/>
              </a:spcBef>
              <a:spcAft>
                <a:spcPts val="0"/>
              </a:spcAft>
              <a:buClr>
                <a:srgbClr val="2C2C2C"/>
              </a:buClr>
              <a:buSzPts val="2000"/>
              <a:buChar char="•"/>
            </a:pPr>
            <a:r>
              <a:rPr lang="en-IN"/>
              <a:t>Identifying the benefits and limitations of blockchain technology</a:t>
            </a:r>
            <a:endParaRPr/>
          </a:p>
        </p:txBody>
      </p:sp>
      <p:sp>
        <p:nvSpPr>
          <p:cNvPr id="61" name="Google Shape;61;p1"/>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Introduction</a:t>
            </a:r>
            <a:endParaRPr/>
          </a:p>
        </p:txBody>
      </p:sp>
      <p:sp>
        <p:nvSpPr>
          <p:cNvPr id="67" name="Google Shape;67;p2"/>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p>
            <a:pPr indent="-228600" lvl="0" marL="228600" rtl="0" algn="just">
              <a:lnSpc>
                <a:spcPct val="140000"/>
              </a:lnSpc>
              <a:spcBef>
                <a:spcPts val="0"/>
              </a:spcBef>
              <a:spcAft>
                <a:spcPts val="0"/>
              </a:spcAft>
              <a:buClr>
                <a:srgbClr val="2C2C2C"/>
              </a:buClr>
              <a:buSzPts val="2000"/>
              <a:buChar char="•"/>
            </a:pPr>
            <a:r>
              <a:rPr lang="en-IN">
                <a:latin typeface="Times New Roman"/>
                <a:ea typeface="Times New Roman"/>
                <a:cs typeface="Times New Roman"/>
                <a:sym typeface="Times New Roman"/>
              </a:rPr>
              <a:t>Blockchain is a </a:t>
            </a:r>
            <a:r>
              <a:rPr b="0" i="0" lang="en-IN" u="none" strike="noStrike">
                <a:latin typeface="Times New Roman"/>
                <a:ea typeface="Times New Roman"/>
                <a:cs typeface="Times New Roman"/>
                <a:sym typeface="Times New Roman"/>
              </a:rPr>
              <a:t>technology that has promised to positively alter the existing paradigms of nearly all industries including, but not limited to, the IT, finance, government, media, medical, and law sectors.</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With the invention of Bitcoin in 2008, the world was introduced to a new concept, which revolutionized the whole of society. It was something that promised to have an impact upon every industry. This new concept was blockchain.</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Many prominent organizations all around the world have moved on from the proof-of-concept stage and are already writing production systems utilizing blockchain. The disruptive potential of blockchain has now been fully recognized. For example, </a:t>
            </a:r>
            <a:r>
              <a:rPr b="1" i="0" lang="en-IN" u="none" strike="noStrike">
                <a:latin typeface="Times New Roman"/>
                <a:ea typeface="Times New Roman"/>
                <a:cs typeface="Times New Roman"/>
                <a:sym typeface="Times New Roman"/>
              </a:rPr>
              <a:t>Decentralized Finance </a:t>
            </a:r>
            <a:r>
              <a:rPr b="0" i="0" lang="en-IN" u="none" strike="noStrike">
                <a:latin typeface="Times New Roman"/>
                <a:ea typeface="Times New Roman"/>
                <a:cs typeface="Times New Roman"/>
                <a:sym typeface="Times New Roman"/>
              </a:rPr>
              <a:t>(</a:t>
            </a:r>
            <a:r>
              <a:rPr b="1" i="0" lang="en-IN" u="none" strike="noStrike">
                <a:latin typeface="Times New Roman"/>
                <a:ea typeface="Times New Roman"/>
                <a:cs typeface="Times New Roman"/>
                <a:sym typeface="Times New Roman"/>
              </a:rPr>
              <a:t>DeFi</a:t>
            </a:r>
            <a:r>
              <a:rPr b="0" i="0" lang="en-IN" u="none" strike="noStrike">
                <a:latin typeface="Times New Roman"/>
                <a:ea typeface="Times New Roman"/>
                <a:cs typeface="Times New Roman"/>
                <a:sym typeface="Times New Roman"/>
              </a:rPr>
              <a:t>) has recently emerged as a new disruptive idea that aims to decentralize the existing financial system. (Refer </a:t>
            </a:r>
            <a:r>
              <a:rPr b="0" i="0" lang="en-IN" sz="1800" u="none" strike="noStrike">
                <a:latin typeface="Consolas"/>
                <a:ea typeface="Consolas"/>
                <a:cs typeface="Consolas"/>
                <a:sym typeface="Consolas"/>
              </a:rPr>
              <a:t>https://defipulse.com)</a:t>
            </a:r>
            <a:endParaRPr>
              <a:latin typeface="Times New Roman"/>
              <a:ea typeface="Times New Roman"/>
              <a:cs typeface="Times New Roman"/>
              <a:sym typeface="Times New Roman"/>
            </a:endParaRPr>
          </a:p>
        </p:txBody>
      </p:sp>
      <p:sp>
        <p:nvSpPr>
          <p:cNvPr id="68" name="Google Shape;68;p2"/>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69" name="Google Shape;69;p2"/>
          <p:cNvSpPr txBox="1"/>
          <p:nvPr/>
        </p:nvSpPr>
        <p:spPr>
          <a:xfrm>
            <a:off x="476075" y="202163"/>
            <a:ext cx="10515600" cy="939693"/>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2C2C2C"/>
              </a:buClr>
              <a:buSzPts val="3500"/>
              <a:buFont typeface="Arial"/>
              <a:buNone/>
            </a:pPr>
            <a:r>
              <a:t/>
            </a:r>
            <a:endParaRPr b="1" i="0" sz="3500" u="none" cap="none" strike="noStrike">
              <a:solidFill>
                <a:srgbClr val="2C2C2C"/>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3"/>
          <p:cNvPicPr preferRelativeResize="0"/>
          <p:nvPr>
            <p:ph idx="1" type="body"/>
          </p:nvPr>
        </p:nvPicPr>
        <p:blipFill rotWithShape="1">
          <a:blip r:embed="rId3">
            <a:alphaModFix/>
          </a:blip>
          <a:srcRect b="0" l="0" r="0" t="0"/>
          <a:stretch/>
        </p:blipFill>
        <p:spPr>
          <a:xfrm>
            <a:off x="1055440" y="295295"/>
            <a:ext cx="9145015" cy="6383273"/>
          </a:xfrm>
          <a:prstGeom prst="rect">
            <a:avLst/>
          </a:prstGeom>
          <a:noFill/>
          <a:ln>
            <a:noFill/>
          </a:ln>
        </p:spPr>
      </p:pic>
      <p:sp>
        <p:nvSpPr>
          <p:cNvPr id="75" name="Google Shape;75;p3"/>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600"/>
              <a:buFont typeface="Times New Roman"/>
              <a:buNone/>
            </a:pPr>
            <a:r>
              <a:rPr i="0" lang="en-IN" sz="3600" u="none" strike="noStrike">
                <a:latin typeface="Times New Roman"/>
                <a:ea typeface="Times New Roman"/>
                <a:cs typeface="Times New Roman"/>
                <a:sym typeface="Times New Roman"/>
              </a:rPr>
              <a:t>Distributed systems</a:t>
            </a:r>
            <a:endParaRPr sz="3600">
              <a:latin typeface="Times New Roman"/>
              <a:ea typeface="Times New Roman"/>
              <a:cs typeface="Times New Roman"/>
              <a:sym typeface="Times New Roman"/>
            </a:endParaRPr>
          </a:p>
        </p:txBody>
      </p:sp>
      <p:sp>
        <p:nvSpPr>
          <p:cNvPr id="81" name="Google Shape;81;p4"/>
          <p:cNvSpPr txBox="1"/>
          <p:nvPr>
            <p:ph idx="1" type="body"/>
          </p:nvPr>
        </p:nvSpPr>
        <p:spPr>
          <a:xfrm>
            <a:off x="648000" y="1404000"/>
            <a:ext cx="10800000" cy="3969216"/>
          </a:xfrm>
          <a:prstGeom prst="rect">
            <a:avLst/>
          </a:prstGeom>
          <a:noFill/>
          <a:ln>
            <a:noFill/>
          </a:ln>
        </p:spPr>
        <p:txBody>
          <a:bodyPr anchorCtr="0" anchor="t" bIns="45700" lIns="91425" spcFirstLastPara="1" rIns="91425" wrap="square" tIns="45700">
            <a:normAutofit/>
          </a:bodyPr>
          <a:lstStyle/>
          <a:p>
            <a:pPr indent="-228600" lvl="0" marL="228600" rtl="0" algn="just">
              <a:lnSpc>
                <a:spcPct val="140000"/>
              </a:lnSpc>
              <a:spcBef>
                <a:spcPts val="0"/>
              </a:spcBef>
              <a:spcAft>
                <a:spcPts val="0"/>
              </a:spcAft>
              <a:buClr>
                <a:srgbClr val="2C2C2C"/>
              </a:buClr>
              <a:buSzPts val="2000"/>
              <a:buChar char="•"/>
            </a:pPr>
            <a:r>
              <a:rPr b="0" i="0" lang="en-IN" u="none" strike="noStrike">
                <a:latin typeface="Times New Roman"/>
                <a:ea typeface="Times New Roman"/>
                <a:cs typeface="Times New Roman"/>
                <a:sym typeface="Times New Roman"/>
              </a:rPr>
              <a:t>Understanding distributed systems is essential to our understanding blockchain, as blockchain was a distributed system at its core.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It is a distributed ledger that can be centralized or decentralized.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A blockchain is originally intended to be and is usually used as a decentralized platform.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It can be thought of as a system that has properties of the both decentralized and distributed paradigms.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It is a decentralized-distributed system.</a:t>
            </a:r>
            <a:endParaRPr>
              <a:latin typeface="Times New Roman"/>
              <a:ea typeface="Times New Roman"/>
              <a:cs typeface="Times New Roman"/>
              <a:sym typeface="Times New Roman"/>
            </a:endParaRPr>
          </a:p>
        </p:txBody>
      </p:sp>
      <p:sp>
        <p:nvSpPr>
          <p:cNvPr id="82" name="Google Shape;82;p4"/>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140000"/>
              </a:lnSpc>
              <a:spcBef>
                <a:spcPts val="0"/>
              </a:spcBef>
              <a:spcAft>
                <a:spcPts val="0"/>
              </a:spcAft>
              <a:buClr>
                <a:srgbClr val="2C2C2C"/>
              </a:buClr>
              <a:buSzPts val="2000"/>
              <a:buChar char="•"/>
            </a:pPr>
            <a:r>
              <a:rPr lang="en-IN">
                <a:latin typeface="Times New Roman"/>
                <a:ea typeface="Times New Roman"/>
                <a:cs typeface="Times New Roman"/>
                <a:sym typeface="Times New Roman"/>
              </a:rPr>
              <a:t>A distributed system is a computing paradigm whereby two or more nodes work with one another, in a coordinated fashion, to achieve a common outcome. </a:t>
            </a:r>
            <a:endParaRPr/>
          </a:p>
          <a:p>
            <a:pPr indent="-228600" lvl="0" marL="228600" rtl="0" algn="just">
              <a:lnSpc>
                <a:spcPct val="140000"/>
              </a:lnSpc>
              <a:spcBef>
                <a:spcPts val="800"/>
              </a:spcBef>
              <a:spcAft>
                <a:spcPts val="0"/>
              </a:spcAft>
              <a:buClr>
                <a:srgbClr val="2C2C2C"/>
              </a:buClr>
              <a:buSzPts val="2000"/>
              <a:buChar char="•"/>
            </a:pPr>
            <a:r>
              <a:rPr lang="en-IN">
                <a:latin typeface="Times New Roman"/>
                <a:ea typeface="Times New Roman"/>
                <a:cs typeface="Times New Roman"/>
                <a:sym typeface="Times New Roman"/>
              </a:rPr>
              <a:t>A distributed system is modeled in such a way that end users see it as a single logical platform.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For example, Google's search engine is based on a large distributed system; however, to a user, it looks like a single, coherent platform</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A </a:t>
            </a:r>
            <a:r>
              <a:rPr b="1" i="0" lang="en-IN" u="none" strike="noStrike">
                <a:latin typeface="Times New Roman"/>
                <a:ea typeface="Times New Roman"/>
                <a:cs typeface="Times New Roman"/>
                <a:sym typeface="Times New Roman"/>
              </a:rPr>
              <a:t>node </a:t>
            </a:r>
            <a:r>
              <a:rPr b="0" i="0" lang="en-IN" u="none" strike="noStrike">
                <a:latin typeface="Times New Roman"/>
                <a:ea typeface="Times New Roman"/>
                <a:cs typeface="Times New Roman"/>
                <a:sym typeface="Times New Roman"/>
              </a:rPr>
              <a:t>can be defined as an individual player in a distributed system. All nodes are capable of sending and receiving messages to and from each other.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Nodes can be honest, faulty, or malicious, and they have memory and a processor.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A node that exhibits irrational behavior is also known as a </a:t>
            </a:r>
            <a:r>
              <a:rPr b="0" i="1" lang="en-IN" u="none" strike="noStrike">
                <a:latin typeface="Times New Roman"/>
                <a:ea typeface="Times New Roman"/>
                <a:cs typeface="Times New Roman"/>
                <a:sym typeface="Times New Roman"/>
              </a:rPr>
              <a:t>Byzantine node </a:t>
            </a:r>
            <a:r>
              <a:rPr b="0" i="0" lang="en-IN" u="none" strike="noStrike">
                <a:latin typeface="Times New Roman"/>
                <a:ea typeface="Times New Roman"/>
                <a:cs typeface="Times New Roman"/>
                <a:sym typeface="Times New Roman"/>
              </a:rPr>
              <a:t>after the </a:t>
            </a:r>
            <a:r>
              <a:rPr b="1" i="0" lang="en-IN" u="none" strike="noStrike">
                <a:latin typeface="Times New Roman"/>
                <a:ea typeface="Times New Roman"/>
                <a:cs typeface="Times New Roman"/>
                <a:sym typeface="Times New Roman"/>
              </a:rPr>
              <a:t>Byzantine Generals </a:t>
            </a:r>
            <a:r>
              <a:rPr b="0" i="0" lang="en-IN" u="none" strike="noStrike">
                <a:latin typeface="Times New Roman"/>
                <a:ea typeface="Times New Roman"/>
                <a:cs typeface="Times New Roman"/>
                <a:sym typeface="Times New Roman"/>
              </a:rPr>
              <a:t>problem.</a:t>
            </a:r>
            <a:endParaRPr>
              <a:latin typeface="Times New Roman"/>
              <a:ea typeface="Times New Roman"/>
              <a:cs typeface="Times New Roman"/>
              <a:sym typeface="Times New Roman"/>
            </a:endParaRPr>
          </a:p>
          <a:p>
            <a:pPr indent="0" lvl="0" marL="0" rtl="0" algn="l">
              <a:lnSpc>
                <a:spcPct val="140000"/>
              </a:lnSpc>
              <a:spcBef>
                <a:spcPts val="800"/>
              </a:spcBef>
              <a:spcAft>
                <a:spcPts val="0"/>
              </a:spcAft>
              <a:buClr>
                <a:srgbClr val="2C2C2C"/>
              </a:buClr>
              <a:buSzPts val="2000"/>
              <a:buNone/>
            </a:pPr>
            <a:r>
              <a:t/>
            </a:r>
            <a:endParaRPr/>
          </a:p>
        </p:txBody>
      </p:sp>
      <p:sp>
        <p:nvSpPr>
          <p:cNvPr id="88" name="Google Shape;88;p5"/>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6"/>
          <p:cNvSpPr txBox="1"/>
          <p:nvPr>
            <p:ph type="title"/>
          </p:nvPr>
        </p:nvSpPr>
        <p:spPr>
          <a:xfrm>
            <a:off x="512274" y="247432"/>
            <a:ext cx="4990168" cy="13527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3200"/>
              <a:buFont typeface="Arial"/>
              <a:buNone/>
            </a:pPr>
            <a:r>
              <a:rPr lang="en-IN">
                <a:solidFill>
                  <a:srgbClr val="000000"/>
                </a:solidFill>
                <a:latin typeface="Arial"/>
                <a:ea typeface="Arial"/>
                <a:cs typeface="Arial"/>
                <a:sym typeface="Arial"/>
              </a:rPr>
              <a:t>The Byzantine Generals problem</a:t>
            </a:r>
            <a:endParaRPr sz="6000">
              <a:latin typeface="Arial"/>
              <a:ea typeface="Arial"/>
              <a:cs typeface="Arial"/>
              <a:sym typeface="Arial"/>
            </a:endParaRPr>
          </a:p>
        </p:txBody>
      </p:sp>
      <p:sp>
        <p:nvSpPr>
          <p:cNvPr id="94" name="Google Shape;94;p6"/>
          <p:cNvSpPr txBox="1"/>
          <p:nvPr/>
        </p:nvSpPr>
        <p:spPr>
          <a:xfrm>
            <a:off x="4468415" y="5543583"/>
            <a:ext cx="349649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2400" u="none" cap="none" strike="noStrike">
                <a:solidFill>
                  <a:schemeClr val="dk1"/>
                </a:solidFill>
                <a:latin typeface="Calibri"/>
                <a:ea typeface="Calibri"/>
                <a:cs typeface="Calibri"/>
                <a:sym typeface="Calibri"/>
              </a:rPr>
              <a:t>Attack or retreat?</a:t>
            </a:r>
            <a:endParaRPr/>
          </a:p>
          <a:p>
            <a:pPr indent="0" lvl="0" marL="0" marR="0" rtl="0" algn="l">
              <a:spcBef>
                <a:spcPts val="0"/>
              </a:spcBef>
              <a:spcAft>
                <a:spcPts val="0"/>
              </a:spcAft>
              <a:buNone/>
            </a:pPr>
            <a:r>
              <a:rPr lang="en-IN" sz="2400">
                <a:solidFill>
                  <a:schemeClr val="dk1"/>
                </a:solidFill>
                <a:latin typeface="Calibri"/>
                <a:ea typeface="Calibri"/>
                <a:cs typeface="Calibri"/>
                <a:sym typeface="Calibri"/>
              </a:rPr>
              <a:t>Consensus required to win</a:t>
            </a:r>
            <a:endParaRPr/>
          </a:p>
        </p:txBody>
      </p:sp>
      <p:pic>
        <p:nvPicPr>
          <p:cNvPr id="95" name="Google Shape;95;p6"/>
          <p:cNvPicPr preferRelativeResize="0"/>
          <p:nvPr/>
        </p:nvPicPr>
        <p:blipFill rotWithShape="1">
          <a:blip r:embed="rId3">
            <a:alphaModFix/>
          </a:blip>
          <a:srcRect b="0" l="0" r="0" t="0"/>
          <a:stretch/>
        </p:blipFill>
        <p:spPr>
          <a:xfrm>
            <a:off x="5089983" y="2392275"/>
            <a:ext cx="1734149" cy="1441787"/>
          </a:xfrm>
          <a:prstGeom prst="rect">
            <a:avLst/>
          </a:prstGeom>
          <a:noFill/>
          <a:ln>
            <a:noFill/>
          </a:ln>
        </p:spPr>
      </p:pic>
      <p:grpSp>
        <p:nvGrpSpPr>
          <p:cNvPr id="96" name="Google Shape;96;p6"/>
          <p:cNvGrpSpPr/>
          <p:nvPr/>
        </p:nvGrpSpPr>
        <p:grpSpPr>
          <a:xfrm>
            <a:off x="3248149" y="3742264"/>
            <a:ext cx="1135812" cy="1548997"/>
            <a:chOff x="3248149" y="3742264"/>
            <a:chExt cx="1135812" cy="1548997"/>
          </a:xfrm>
        </p:grpSpPr>
        <p:grpSp>
          <p:nvGrpSpPr>
            <p:cNvPr id="97" name="Google Shape;97;p6"/>
            <p:cNvGrpSpPr/>
            <p:nvPr/>
          </p:nvGrpSpPr>
          <p:grpSpPr>
            <a:xfrm>
              <a:off x="3355860" y="4074689"/>
              <a:ext cx="1028101" cy="1216572"/>
              <a:chOff x="3355860" y="4074689"/>
              <a:chExt cx="1028101" cy="1216572"/>
            </a:xfrm>
          </p:grpSpPr>
          <p:pic>
            <p:nvPicPr>
              <p:cNvPr id="98" name="Google Shape;98;p6"/>
              <p:cNvPicPr preferRelativeResize="0"/>
              <p:nvPr/>
            </p:nvPicPr>
            <p:blipFill rotWithShape="1">
              <a:blip r:embed="rId4">
                <a:alphaModFix/>
              </a:blip>
              <a:srcRect b="0" l="0" r="0" t="0"/>
              <a:stretch/>
            </p:blipFill>
            <p:spPr>
              <a:xfrm>
                <a:off x="3676663" y="4074689"/>
                <a:ext cx="707298" cy="1040144"/>
              </a:xfrm>
              <a:prstGeom prst="rect">
                <a:avLst/>
              </a:prstGeom>
              <a:noFill/>
              <a:ln>
                <a:noFill/>
              </a:ln>
            </p:spPr>
          </p:pic>
          <p:pic>
            <p:nvPicPr>
              <p:cNvPr id="99" name="Google Shape;99;p6"/>
              <p:cNvPicPr preferRelativeResize="0"/>
              <p:nvPr/>
            </p:nvPicPr>
            <p:blipFill rotWithShape="1">
              <a:blip r:embed="rId4">
                <a:alphaModFix/>
              </a:blip>
              <a:srcRect b="0" l="0" r="0" t="0"/>
              <a:stretch/>
            </p:blipFill>
            <p:spPr>
              <a:xfrm>
                <a:off x="3355860" y="4452845"/>
                <a:ext cx="570123" cy="838416"/>
              </a:xfrm>
              <a:prstGeom prst="rect">
                <a:avLst/>
              </a:prstGeom>
              <a:noFill/>
              <a:ln>
                <a:noFill/>
              </a:ln>
            </p:spPr>
          </p:pic>
        </p:grpSp>
        <p:sp>
          <p:nvSpPr>
            <p:cNvPr id="100" name="Google Shape;100;p6"/>
            <p:cNvSpPr txBox="1"/>
            <p:nvPr/>
          </p:nvSpPr>
          <p:spPr>
            <a:xfrm>
              <a:off x="3925983" y="3754129"/>
              <a:ext cx="24932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000">
                  <a:solidFill>
                    <a:schemeClr val="dk1"/>
                  </a:solidFill>
                  <a:latin typeface="Calibri"/>
                  <a:ea typeface="Calibri"/>
                  <a:cs typeface="Calibri"/>
                  <a:sym typeface="Calibri"/>
                </a:rPr>
                <a:t>?</a:t>
              </a:r>
              <a:endParaRPr b="1" sz="1800">
                <a:solidFill>
                  <a:schemeClr val="dk1"/>
                </a:solidFill>
                <a:latin typeface="Calibri"/>
                <a:ea typeface="Calibri"/>
                <a:cs typeface="Calibri"/>
                <a:sym typeface="Calibri"/>
              </a:endParaRPr>
            </a:p>
          </p:txBody>
        </p:sp>
        <p:sp>
          <p:nvSpPr>
            <p:cNvPr id="101" name="Google Shape;101;p6"/>
            <p:cNvSpPr txBox="1"/>
            <p:nvPr/>
          </p:nvSpPr>
          <p:spPr>
            <a:xfrm>
              <a:off x="3248149" y="3742264"/>
              <a:ext cx="85702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000">
                  <a:solidFill>
                    <a:schemeClr val="accent6"/>
                  </a:solidFill>
                  <a:latin typeface="Calibri"/>
                  <a:ea typeface="Calibri"/>
                  <a:cs typeface="Calibri"/>
                  <a:sym typeface="Calibri"/>
                </a:rPr>
                <a:t>Attack</a:t>
              </a:r>
              <a:endParaRPr b="1" sz="1800">
                <a:solidFill>
                  <a:schemeClr val="accent6"/>
                </a:solidFill>
                <a:latin typeface="Calibri"/>
                <a:ea typeface="Calibri"/>
                <a:cs typeface="Calibri"/>
                <a:sym typeface="Calibri"/>
              </a:endParaRPr>
            </a:p>
          </p:txBody>
        </p:sp>
      </p:grpSp>
      <p:grpSp>
        <p:nvGrpSpPr>
          <p:cNvPr id="102" name="Google Shape;102;p6"/>
          <p:cNvGrpSpPr/>
          <p:nvPr/>
        </p:nvGrpSpPr>
        <p:grpSpPr>
          <a:xfrm>
            <a:off x="2280242" y="1488416"/>
            <a:ext cx="1396421" cy="1847051"/>
            <a:chOff x="2280242" y="1488416"/>
            <a:chExt cx="1396421" cy="1847051"/>
          </a:xfrm>
        </p:grpSpPr>
        <p:grpSp>
          <p:nvGrpSpPr>
            <p:cNvPr id="103" name="Google Shape;103;p6"/>
            <p:cNvGrpSpPr/>
            <p:nvPr/>
          </p:nvGrpSpPr>
          <p:grpSpPr>
            <a:xfrm>
              <a:off x="2280242" y="1872204"/>
              <a:ext cx="1396421" cy="1463263"/>
              <a:chOff x="2280242" y="1872204"/>
              <a:chExt cx="1396421" cy="1463263"/>
            </a:xfrm>
          </p:grpSpPr>
          <p:pic>
            <p:nvPicPr>
              <p:cNvPr id="104" name="Google Shape;104;p6"/>
              <p:cNvPicPr preferRelativeResize="0"/>
              <p:nvPr/>
            </p:nvPicPr>
            <p:blipFill rotWithShape="1">
              <a:blip r:embed="rId4">
                <a:alphaModFix/>
              </a:blip>
              <a:srcRect b="0" l="0" r="0" t="0"/>
              <a:stretch/>
            </p:blipFill>
            <p:spPr>
              <a:xfrm>
                <a:off x="2969365" y="1872204"/>
                <a:ext cx="707298" cy="1040144"/>
              </a:xfrm>
              <a:prstGeom prst="rect">
                <a:avLst/>
              </a:prstGeom>
              <a:noFill/>
              <a:ln>
                <a:noFill/>
              </a:ln>
            </p:spPr>
          </p:pic>
          <p:pic>
            <p:nvPicPr>
              <p:cNvPr id="105" name="Google Shape;105;p6"/>
              <p:cNvPicPr preferRelativeResize="0"/>
              <p:nvPr/>
            </p:nvPicPr>
            <p:blipFill rotWithShape="1">
              <a:blip r:embed="rId4">
                <a:alphaModFix/>
              </a:blip>
              <a:srcRect b="0" l="0" r="0" t="0"/>
              <a:stretch/>
            </p:blipFill>
            <p:spPr>
              <a:xfrm>
                <a:off x="2280242" y="1898790"/>
                <a:ext cx="707298" cy="1040144"/>
              </a:xfrm>
              <a:prstGeom prst="rect">
                <a:avLst/>
              </a:prstGeom>
              <a:noFill/>
              <a:ln>
                <a:noFill/>
              </a:ln>
            </p:spPr>
          </p:pic>
          <p:pic>
            <p:nvPicPr>
              <p:cNvPr id="106" name="Google Shape;106;p6"/>
              <p:cNvPicPr preferRelativeResize="0"/>
              <p:nvPr/>
            </p:nvPicPr>
            <p:blipFill rotWithShape="1">
              <a:blip r:embed="rId4">
                <a:alphaModFix/>
              </a:blip>
              <a:srcRect b="0" l="0" r="0" t="0"/>
              <a:stretch/>
            </p:blipFill>
            <p:spPr>
              <a:xfrm>
                <a:off x="2606084" y="2295323"/>
                <a:ext cx="707298" cy="1040144"/>
              </a:xfrm>
              <a:prstGeom prst="rect">
                <a:avLst/>
              </a:prstGeom>
              <a:noFill/>
              <a:ln>
                <a:noFill/>
              </a:ln>
            </p:spPr>
          </p:pic>
        </p:grpSp>
        <p:sp>
          <p:nvSpPr>
            <p:cNvPr id="107" name="Google Shape;107;p6"/>
            <p:cNvSpPr txBox="1"/>
            <p:nvPr/>
          </p:nvSpPr>
          <p:spPr>
            <a:xfrm>
              <a:off x="3228650" y="1514098"/>
              <a:ext cx="24932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000">
                  <a:solidFill>
                    <a:schemeClr val="dk1"/>
                  </a:solidFill>
                  <a:latin typeface="Calibri"/>
                  <a:ea typeface="Calibri"/>
                  <a:cs typeface="Calibri"/>
                  <a:sym typeface="Calibri"/>
                </a:rPr>
                <a:t>?</a:t>
              </a:r>
              <a:endParaRPr b="1" sz="1800">
                <a:solidFill>
                  <a:schemeClr val="dk1"/>
                </a:solidFill>
                <a:latin typeface="Calibri"/>
                <a:ea typeface="Calibri"/>
                <a:cs typeface="Calibri"/>
                <a:sym typeface="Calibri"/>
              </a:endParaRPr>
            </a:p>
          </p:txBody>
        </p:sp>
        <p:sp>
          <p:nvSpPr>
            <p:cNvPr id="108" name="Google Shape;108;p6"/>
            <p:cNvSpPr txBox="1"/>
            <p:nvPr/>
          </p:nvSpPr>
          <p:spPr>
            <a:xfrm>
              <a:off x="2396358" y="1488416"/>
              <a:ext cx="995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000">
                  <a:solidFill>
                    <a:srgbClr val="FF0000"/>
                  </a:solidFill>
                  <a:latin typeface="Calibri"/>
                  <a:ea typeface="Calibri"/>
                  <a:cs typeface="Calibri"/>
                  <a:sym typeface="Calibri"/>
                </a:rPr>
                <a:t>Retreat</a:t>
              </a:r>
              <a:endParaRPr b="1" sz="1800">
                <a:solidFill>
                  <a:srgbClr val="FF0000"/>
                </a:solidFill>
                <a:latin typeface="Calibri"/>
                <a:ea typeface="Calibri"/>
                <a:cs typeface="Calibri"/>
                <a:sym typeface="Calibri"/>
              </a:endParaRPr>
            </a:p>
          </p:txBody>
        </p:sp>
      </p:grpSp>
      <p:grpSp>
        <p:nvGrpSpPr>
          <p:cNvPr id="109" name="Google Shape;109;p6"/>
          <p:cNvGrpSpPr/>
          <p:nvPr/>
        </p:nvGrpSpPr>
        <p:grpSpPr>
          <a:xfrm>
            <a:off x="7650159" y="3133143"/>
            <a:ext cx="1681443" cy="2187604"/>
            <a:chOff x="7650159" y="3133143"/>
            <a:chExt cx="1681443" cy="2187604"/>
          </a:xfrm>
        </p:grpSpPr>
        <p:pic>
          <p:nvPicPr>
            <p:cNvPr id="110" name="Google Shape;110;p6"/>
            <p:cNvPicPr preferRelativeResize="0"/>
            <p:nvPr/>
          </p:nvPicPr>
          <p:blipFill rotWithShape="1">
            <a:blip r:embed="rId4">
              <a:alphaModFix/>
            </a:blip>
            <a:srcRect b="0" l="0" r="0" t="0"/>
            <a:stretch/>
          </p:blipFill>
          <p:spPr>
            <a:xfrm flipH="1">
              <a:off x="8225340" y="3954184"/>
              <a:ext cx="753978" cy="1040144"/>
            </a:xfrm>
            <a:prstGeom prst="rect">
              <a:avLst/>
            </a:prstGeom>
            <a:noFill/>
            <a:ln>
              <a:noFill/>
            </a:ln>
          </p:spPr>
        </p:pic>
        <p:pic>
          <p:nvPicPr>
            <p:cNvPr id="111" name="Google Shape;111;p6"/>
            <p:cNvPicPr preferRelativeResize="0"/>
            <p:nvPr/>
          </p:nvPicPr>
          <p:blipFill rotWithShape="1">
            <a:blip r:embed="rId4">
              <a:alphaModFix/>
            </a:blip>
            <a:srcRect b="0" l="0" r="0" t="0"/>
            <a:stretch/>
          </p:blipFill>
          <p:spPr>
            <a:xfrm flipH="1">
              <a:off x="7650159" y="3507392"/>
              <a:ext cx="753978" cy="1040144"/>
            </a:xfrm>
            <a:prstGeom prst="rect">
              <a:avLst/>
            </a:prstGeom>
            <a:noFill/>
            <a:ln>
              <a:noFill/>
            </a:ln>
          </p:spPr>
        </p:pic>
        <p:pic>
          <p:nvPicPr>
            <p:cNvPr id="112" name="Google Shape;112;p6"/>
            <p:cNvPicPr preferRelativeResize="0"/>
            <p:nvPr/>
          </p:nvPicPr>
          <p:blipFill rotWithShape="1">
            <a:blip r:embed="rId4">
              <a:alphaModFix/>
            </a:blip>
            <a:srcRect b="0" l="0" r="0" t="0"/>
            <a:stretch/>
          </p:blipFill>
          <p:spPr>
            <a:xfrm flipH="1">
              <a:off x="8724939" y="4483830"/>
              <a:ext cx="606663" cy="836917"/>
            </a:xfrm>
            <a:prstGeom prst="rect">
              <a:avLst/>
            </a:prstGeom>
            <a:noFill/>
            <a:ln>
              <a:noFill/>
            </a:ln>
          </p:spPr>
        </p:pic>
        <p:pic>
          <p:nvPicPr>
            <p:cNvPr id="113" name="Google Shape;113;p6"/>
            <p:cNvPicPr preferRelativeResize="0"/>
            <p:nvPr/>
          </p:nvPicPr>
          <p:blipFill rotWithShape="1">
            <a:blip r:embed="rId4">
              <a:alphaModFix/>
            </a:blip>
            <a:srcRect b="0" l="0" r="0" t="0"/>
            <a:stretch/>
          </p:blipFill>
          <p:spPr>
            <a:xfrm flipH="1">
              <a:off x="8602329" y="3693775"/>
              <a:ext cx="606663" cy="836917"/>
            </a:xfrm>
            <a:prstGeom prst="rect">
              <a:avLst/>
            </a:prstGeom>
            <a:noFill/>
            <a:ln>
              <a:noFill/>
            </a:ln>
          </p:spPr>
        </p:pic>
        <p:sp>
          <p:nvSpPr>
            <p:cNvPr id="114" name="Google Shape;114;p6"/>
            <p:cNvSpPr txBox="1"/>
            <p:nvPr/>
          </p:nvSpPr>
          <p:spPr>
            <a:xfrm>
              <a:off x="8789920" y="3133143"/>
              <a:ext cx="24932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000">
                  <a:solidFill>
                    <a:schemeClr val="dk1"/>
                  </a:solidFill>
                  <a:latin typeface="Calibri"/>
                  <a:ea typeface="Calibri"/>
                  <a:cs typeface="Calibri"/>
                  <a:sym typeface="Calibri"/>
                </a:rPr>
                <a:t>?</a:t>
              </a:r>
              <a:endParaRPr b="1" sz="1800">
                <a:solidFill>
                  <a:schemeClr val="dk1"/>
                </a:solidFill>
                <a:latin typeface="Calibri"/>
                <a:ea typeface="Calibri"/>
                <a:cs typeface="Calibri"/>
                <a:sym typeface="Calibri"/>
              </a:endParaRPr>
            </a:p>
          </p:txBody>
        </p:sp>
        <p:sp>
          <p:nvSpPr>
            <p:cNvPr id="115" name="Google Shape;115;p6"/>
            <p:cNvSpPr txBox="1"/>
            <p:nvPr/>
          </p:nvSpPr>
          <p:spPr>
            <a:xfrm>
              <a:off x="8005409" y="3133143"/>
              <a:ext cx="995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000">
                  <a:solidFill>
                    <a:srgbClr val="FF0000"/>
                  </a:solidFill>
                  <a:latin typeface="Calibri"/>
                  <a:ea typeface="Calibri"/>
                  <a:cs typeface="Calibri"/>
                  <a:sym typeface="Calibri"/>
                </a:rPr>
                <a:t>Retreat</a:t>
              </a:r>
              <a:endParaRPr b="1" sz="1800">
                <a:solidFill>
                  <a:srgbClr val="FF0000"/>
                </a:solidFill>
                <a:latin typeface="Calibri"/>
                <a:ea typeface="Calibri"/>
                <a:cs typeface="Calibri"/>
                <a:sym typeface="Calibri"/>
              </a:endParaRPr>
            </a:p>
          </p:txBody>
        </p:sp>
      </p:grpSp>
      <p:grpSp>
        <p:nvGrpSpPr>
          <p:cNvPr id="116" name="Google Shape;116;p6"/>
          <p:cNvGrpSpPr/>
          <p:nvPr/>
        </p:nvGrpSpPr>
        <p:grpSpPr>
          <a:xfrm>
            <a:off x="5315530" y="606592"/>
            <a:ext cx="1195098" cy="1489827"/>
            <a:chOff x="5312062" y="525484"/>
            <a:chExt cx="1195098" cy="1489827"/>
          </a:xfrm>
        </p:grpSpPr>
        <p:grpSp>
          <p:nvGrpSpPr>
            <p:cNvPr id="117" name="Google Shape;117;p6"/>
            <p:cNvGrpSpPr/>
            <p:nvPr/>
          </p:nvGrpSpPr>
          <p:grpSpPr>
            <a:xfrm>
              <a:off x="5443795" y="862209"/>
              <a:ext cx="1063365" cy="1153102"/>
              <a:chOff x="5443795" y="862209"/>
              <a:chExt cx="1063365" cy="1153102"/>
            </a:xfrm>
          </p:grpSpPr>
          <p:pic>
            <p:nvPicPr>
              <p:cNvPr id="118" name="Google Shape;118;p6"/>
              <p:cNvPicPr preferRelativeResize="0"/>
              <p:nvPr/>
            </p:nvPicPr>
            <p:blipFill rotWithShape="1">
              <a:blip r:embed="rId4">
                <a:alphaModFix/>
              </a:blip>
              <a:srcRect b="0" l="0" r="0" t="0"/>
              <a:stretch/>
            </p:blipFill>
            <p:spPr>
              <a:xfrm flipH="1">
                <a:off x="5443795" y="862209"/>
                <a:ext cx="753978" cy="1040144"/>
              </a:xfrm>
              <a:prstGeom prst="rect">
                <a:avLst/>
              </a:prstGeom>
              <a:noFill/>
              <a:ln>
                <a:noFill/>
              </a:ln>
            </p:spPr>
          </p:pic>
          <p:pic>
            <p:nvPicPr>
              <p:cNvPr id="119" name="Google Shape;119;p6"/>
              <p:cNvPicPr preferRelativeResize="0"/>
              <p:nvPr/>
            </p:nvPicPr>
            <p:blipFill rotWithShape="1">
              <a:blip r:embed="rId4">
                <a:alphaModFix/>
              </a:blip>
              <a:srcRect b="0" l="0" r="0" t="0"/>
              <a:stretch/>
            </p:blipFill>
            <p:spPr>
              <a:xfrm flipH="1">
                <a:off x="5783774" y="1017370"/>
                <a:ext cx="723386" cy="997941"/>
              </a:xfrm>
              <a:prstGeom prst="rect">
                <a:avLst/>
              </a:prstGeom>
              <a:noFill/>
              <a:ln>
                <a:noFill/>
              </a:ln>
            </p:spPr>
          </p:pic>
        </p:grpSp>
        <p:sp>
          <p:nvSpPr>
            <p:cNvPr id="120" name="Google Shape;120;p6"/>
            <p:cNvSpPr txBox="1"/>
            <p:nvPr/>
          </p:nvSpPr>
          <p:spPr>
            <a:xfrm>
              <a:off x="5312062" y="525484"/>
              <a:ext cx="102457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000">
                  <a:solidFill>
                    <a:schemeClr val="accent6"/>
                  </a:solidFill>
                  <a:latin typeface="Calibri"/>
                  <a:ea typeface="Calibri"/>
                  <a:cs typeface="Calibri"/>
                  <a:sym typeface="Calibri"/>
                </a:rPr>
                <a:t>Attack</a:t>
              </a:r>
              <a:r>
                <a:rPr b="1" lang="en-IN" sz="2000">
                  <a:solidFill>
                    <a:schemeClr val="dk1"/>
                  </a:solidFill>
                  <a:latin typeface="Calibri"/>
                  <a:ea typeface="Calibri"/>
                  <a:cs typeface="Calibri"/>
                  <a:sym typeface="Calibri"/>
                </a:rPr>
                <a:t>?</a:t>
              </a:r>
              <a:endParaRPr b="1" sz="1800">
                <a:solidFill>
                  <a:schemeClr val="dk1"/>
                </a:solidFill>
                <a:latin typeface="Calibri"/>
                <a:ea typeface="Calibri"/>
                <a:cs typeface="Calibri"/>
                <a:sym typeface="Calibri"/>
              </a:endParaRPr>
            </a:p>
          </p:txBody>
        </p:sp>
      </p:grpSp>
      <p:grpSp>
        <p:nvGrpSpPr>
          <p:cNvPr id="121" name="Google Shape;121;p6"/>
          <p:cNvGrpSpPr/>
          <p:nvPr/>
        </p:nvGrpSpPr>
        <p:grpSpPr>
          <a:xfrm>
            <a:off x="7531068" y="1017370"/>
            <a:ext cx="2101573" cy="1818369"/>
            <a:chOff x="7531068" y="1017370"/>
            <a:chExt cx="2101573" cy="1818369"/>
          </a:xfrm>
        </p:grpSpPr>
        <p:grpSp>
          <p:nvGrpSpPr>
            <p:cNvPr id="122" name="Google Shape;122;p6"/>
            <p:cNvGrpSpPr/>
            <p:nvPr/>
          </p:nvGrpSpPr>
          <p:grpSpPr>
            <a:xfrm>
              <a:off x="7964906" y="1351506"/>
              <a:ext cx="1667735" cy="1484233"/>
              <a:chOff x="7964906" y="1351506"/>
              <a:chExt cx="1667735" cy="1484233"/>
            </a:xfrm>
          </p:grpSpPr>
          <p:pic>
            <p:nvPicPr>
              <p:cNvPr id="123" name="Google Shape;123;p6"/>
              <p:cNvPicPr preferRelativeResize="0"/>
              <p:nvPr/>
            </p:nvPicPr>
            <p:blipFill rotWithShape="1">
              <a:blip r:embed="rId4">
                <a:alphaModFix/>
              </a:blip>
              <a:srcRect b="0" l="0" r="0" t="0"/>
              <a:stretch/>
            </p:blipFill>
            <p:spPr>
              <a:xfrm flipH="1">
                <a:off x="7964906" y="1351506"/>
                <a:ext cx="753978" cy="1040144"/>
              </a:xfrm>
              <a:prstGeom prst="rect">
                <a:avLst/>
              </a:prstGeom>
              <a:noFill/>
              <a:ln>
                <a:noFill/>
              </a:ln>
            </p:spPr>
          </p:pic>
          <p:pic>
            <p:nvPicPr>
              <p:cNvPr id="124" name="Google Shape;124;p6"/>
              <p:cNvPicPr preferRelativeResize="0"/>
              <p:nvPr/>
            </p:nvPicPr>
            <p:blipFill rotWithShape="1">
              <a:blip r:embed="rId4">
                <a:alphaModFix/>
              </a:blip>
              <a:srcRect b="0" l="0" r="0" t="0"/>
              <a:stretch/>
            </p:blipFill>
            <p:spPr>
              <a:xfrm flipH="1">
                <a:off x="8537591" y="1574865"/>
                <a:ext cx="604370" cy="833753"/>
              </a:xfrm>
              <a:prstGeom prst="rect">
                <a:avLst/>
              </a:prstGeom>
              <a:noFill/>
              <a:ln>
                <a:noFill/>
              </a:ln>
            </p:spPr>
          </p:pic>
          <p:pic>
            <p:nvPicPr>
              <p:cNvPr id="125" name="Google Shape;125;p6"/>
              <p:cNvPicPr preferRelativeResize="0"/>
              <p:nvPr/>
            </p:nvPicPr>
            <p:blipFill rotWithShape="1">
              <a:blip r:embed="rId4">
                <a:alphaModFix/>
              </a:blip>
              <a:srcRect b="0" l="0" r="0" t="0"/>
              <a:stretch/>
            </p:blipFill>
            <p:spPr>
              <a:xfrm flipH="1">
                <a:off x="9028271" y="1495240"/>
                <a:ext cx="604370" cy="833753"/>
              </a:xfrm>
              <a:prstGeom prst="rect">
                <a:avLst/>
              </a:prstGeom>
              <a:noFill/>
              <a:ln>
                <a:noFill/>
              </a:ln>
            </p:spPr>
          </p:pic>
          <p:pic>
            <p:nvPicPr>
              <p:cNvPr id="126" name="Google Shape;126;p6"/>
              <p:cNvPicPr preferRelativeResize="0"/>
              <p:nvPr/>
            </p:nvPicPr>
            <p:blipFill rotWithShape="1">
              <a:blip r:embed="rId4">
                <a:alphaModFix/>
              </a:blip>
              <a:srcRect b="0" l="0" r="0" t="0"/>
              <a:stretch/>
            </p:blipFill>
            <p:spPr>
              <a:xfrm flipH="1">
                <a:off x="8914580" y="2001986"/>
                <a:ext cx="604370" cy="833753"/>
              </a:xfrm>
              <a:prstGeom prst="rect">
                <a:avLst/>
              </a:prstGeom>
              <a:noFill/>
              <a:ln>
                <a:noFill/>
              </a:ln>
            </p:spPr>
          </p:pic>
        </p:grpSp>
        <p:sp>
          <p:nvSpPr>
            <p:cNvPr id="127" name="Google Shape;127;p6"/>
            <p:cNvSpPr txBox="1"/>
            <p:nvPr/>
          </p:nvSpPr>
          <p:spPr>
            <a:xfrm>
              <a:off x="8217235" y="1017370"/>
              <a:ext cx="24932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000">
                  <a:solidFill>
                    <a:schemeClr val="dk1"/>
                  </a:solidFill>
                  <a:latin typeface="Calibri"/>
                  <a:ea typeface="Calibri"/>
                  <a:cs typeface="Calibri"/>
                  <a:sym typeface="Calibri"/>
                </a:rPr>
                <a:t>?</a:t>
              </a:r>
              <a:endParaRPr b="1" sz="1800">
                <a:solidFill>
                  <a:schemeClr val="dk1"/>
                </a:solidFill>
                <a:latin typeface="Calibri"/>
                <a:ea typeface="Calibri"/>
                <a:cs typeface="Calibri"/>
                <a:sym typeface="Calibri"/>
              </a:endParaRPr>
            </a:p>
          </p:txBody>
        </p:sp>
        <p:sp>
          <p:nvSpPr>
            <p:cNvPr id="128" name="Google Shape;128;p6"/>
            <p:cNvSpPr txBox="1"/>
            <p:nvPr/>
          </p:nvSpPr>
          <p:spPr>
            <a:xfrm>
              <a:off x="7531068" y="1022363"/>
              <a:ext cx="85702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000">
                  <a:solidFill>
                    <a:schemeClr val="accent6"/>
                  </a:solidFill>
                  <a:latin typeface="Calibri"/>
                  <a:ea typeface="Calibri"/>
                  <a:cs typeface="Calibri"/>
                  <a:sym typeface="Calibri"/>
                </a:rPr>
                <a:t>Attack</a:t>
              </a:r>
              <a:endParaRPr b="1" sz="1800">
                <a:solidFill>
                  <a:schemeClr val="accent6"/>
                </a:solidFill>
                <a:latin typeface="Calibri"/>
                <a:ea typeface="Calibri"/>
                <a:cs typeface="Calibri"/>
                <a:sym typeface="Calibri"/>
              </a:endParaRPr>
            </a:p>
          </p:txBody>
        </p:sp>
      </p:grpSp>
      <p:sp>
        <p:nvSpPr>
          <p:cNvPr id="129" name="Google Shape;129;p6"/>
          <p:cNvSpPr txBox="1"/>
          <p:nvPr/>
        </p:nvSpPr>
        <p:spPr>
          <a:xfrm>
            <a:off x="11187307" y="571363"/>
            <a:ext cx="504056"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1200">
                <a:solidFill>
                  <a:schemeClr val="dk1"/>
                </a:solidFill>
                <a:latin typeface="Arial"/>
                <a:ea typeface="Arial"/>
                <a:cs typeface="Arial"/>
                <a:sym typeface="Arial"/>
              </a:rPr>
              <a:t>5</a:t>
            </a:r>
            <a:endParaRPr/>
          </a:p>
        </p:txBody>
      </p:sp>
      <p:sp>
        <p:nvSpPr>
          <p:cNvPr id="130" name="Google Shape;130;p6"/>
          <p:cNvSpPr txBox="1"/>
          <p:nvPr/>
        </p:nvSpPr>
        <p:spPr>
          <a:xfrm>
            <a:off x="1703512" y="6228020"/>
            <a:ext cx="9289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https://www.microsoft.com/en-us/research/publication/byzantine-generals-problem/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7"/>
          <p:cNvSpPr txBox="1"/>
          <p:nvPr>
            <p:ph idx="12" type="sldNum"/>
          </p:nvPr>
        </p:nvSpPr>
        <p:spPr>
          <a:xfrm>
            <a:off x="11146476" y="579157"/>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136" name="Google Shape;136;p7"/>
          <p:cNvSpPr txBox="1"/>
          <p:nvPr/>
        </p:nvSpPr>
        <p:spPr>
          <a:xfrm>
            <a:off x="525462" y="303237"/>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2C2C2C"/>
              </a:buClr>
              <a:buSzPts val="3200"/>
              <a:buFont typeface="Arial"/>
              <a:buNone/>
            </a:pPr>
            <a:r>
              <a:rPr b="0" lang="en-IN" sz="3200">
                <a:solidFill>
                  <a:srgbClr val="2C2C2C"/>
                </a:solidFill>
                <a:latin typeface="Arial"/>
                <a:ea typeface="Arial"/>
                <a:cs typeface="Arial"/>
                <a:sym typeface="Arial"/>
              </a:rPr>
              <a:t>Design of a distributed system</a:t>
            </a:r>
            <a:br>
              <a:rPr b="0" lang="en-IN" sz="3600">
                <a:solidFill>
                  <a:srgbClr val="2C2C2C"/>
                </a:solidFill>
                <a:latin typeface="Arial"/>
                <a:ea typeface="Arial"/>
                <a:cs typeface="Arial"/>
                <a:sym typeface="Arial"/>
              </a:rPr>
            </a:br>
            <a:endParaRPr b="1" sz="3500">
              <a:solidFill>
                <a:srgbClr val="2C2C2C"/>
              </a:solidFill>
              <a:latin typeface="Arial"/>
              <a:ea typeface="Arial"/>
              <a:cs typeface="Arial"/>
              <a:sym typeface="Arial"/>
            </a:endParaRPr>
          </a:p>
        </p:txBody>
      </p:sp>
      <p:pic>
        <p:nvPicPr>
          <p:cNvPr descr="page35image3854624" id="137" name="Google Shape;137;p7"/>
          <p:cNvPicPr preferRelativeResize="0"/>
          <p:nvPr>
            <p:ph idx="1" type="body"/>
          </p:nvPr>
        </p:nvPicPr>
        <p:blipFill rotWithShape="1">
          <a:blip r:embed="rId3">
            <a:alphaModFix/>
          </a:blip>
          <a:srcRect b="0" l="0" r="0" t="0"/>
          <a:stretch/>
        </p:blipFill>
        <p:spPr>
          <a:xfrm>
            <a:off x="3359696" y="1628800"/>
            <a:ext cx="4847132" cy="3987868"/>
          </a:xfrm>
          <a:prstGeom prst="rect">
            <a:avLst/>
          </a:prstGeom>
          <a:noFill/>
          <a:ln>
            <a:noFill/>
          </a:ln>
        </p:spPr>
      </p:pic>
      <p:sp>
        <p:nvSpPr>
          <p:cNvPr id="138" name="Google Shape;138;p7"/>
          <p:cNvSpPr/>
          <p:nvPr/>
        </p:nvSpPr>
        <p:spPr>
          <a:xfrm>
            <a:off x="3081992" y="5896759"/>
            <a:ext cx="57071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N4 is a Byzantine node, L2 is broken or a slow network link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8"/>
          <p:cNvSpPr txBox="1"/>
          <p:nvPr>
            <p:ph idx="1" type="body"/>
          </p:nvPr>
        </p:nvSpPr>
        <p:spPr>
          <a:xfrm>
            <a:off x="641526" y="1052736"/>
            <a:ext cx="10800000" cy="5121344"/>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2000"/>
              <a:buChar char="•"/>
            </a:pPr>
            <a:r>
              <a:rPr b="0" i="0" lang="en-IN" u="none" strike="noStrike">
                <a:latin typeface="Times New Roman"/>
                <a:ea typeface="Times New Roman"/>
                <a:cs typeface="Times New Roman"/>
                <a:sym typeface="Times New Roman"/>
              </a:rPr>
              <a:t>This type of inconsistent behavior of Byzantine nodes can be intentionally malicious, which is detrimental to the operation of the network.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Any unexpected behavior by a node on the network, whether malicious or not, can be categorized as Byzantine.</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The primary challenge of a distributed system design is the coordination between nodes and fault tolerance.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Even if some (a certain threshold dictated by the consensus protocol) of the nodes become faulty or network links break, the distributed system should be able to tolerate this and continue to work to achieve the desired result.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This problem has been an active area of distributed system design research for many years, and several algorithms and mechanisms have been proposed to overcome these issues.</a:t>
            </a:r>
            <a:endParaRPr>
              <a:latin typeface="Times New Roman"/>
              <a:ea typeface="Times New Roman"/>
              <a:cs typeface="Times New Roman"/>
              <a:sym typeface="Times New Roman"/>
            </a:endParaRPr>
          </a:p>
        </p:txBody>
      </p:sp>
      <p:sp>
        <p:nvSpPr>
          <p:cNvPr id="144" name="Google Shape;144;p8"/>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9"/>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150" name="Google Shape;150;p9"/>
          <p:cNvSpPr txBox="1"/>
          <p:nvPr>
            <p:ph type="title"/>
          </p:nvPr>
        </p:nvSpPr>
        <p:spPr>
          <a:xfrm>
            <a:off x="838200" y="365125"/>
            <a:ext cx="3817640" cy="83162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CAP theorem</a:t>
            </a:r>
            <a:endParaRPr/>
          </a:p>
        </p:txBody>
      </p:sp>
      <p:sp>
        <p:nvSpPr>
          <p:cNvPr id="151" name="Google Shape;151;p9"/>
          <p:cNvSpPr txBox="1"/>
          <p:nvPr>
            <p:ph idx="1" type="body"/>
          </p:nvPr>
        </p:nvSpPr>
        <p:spPr>
          <a:xfrm>
            <a:off x="837059" y="1097167"/>
            <a:ext cx="10515600" cy="4991350"/>
          </a:xfrm>
          <a:prstGeom prst="rect">
            <a:avLst/>
          </a:prstGeom>
          <a:noFill/>
          <a:ln>
            <a:noFill/>
          </a:ln>
        </p:spPr>
        <p:txBody>
          <a:bodyPr anchorCtr="0" anchor="t" bIns="45700" lIns="91425" spcFirstLastPara="1" rIns="91425" wrap="square" tIns="45700">
            <a:normAutofit/>
          </a:bodyPr>
          <a:lstStyle/>
          <a:p>
            <a:pPr indent="-228600" lvl="0" marL="228600" rtl="0" algn="just">
              <a:lnSpc>
                <a:spcPct val="140000"/>
              </a:lnSpc>
              <a:spcBef>
                <a:spcPts val="0"/>
              </a:spcBef>
              <a:spcAft>
                <a:spcPts val="0"/>
              </a:spcAft>
              <a:buClr>
                <a:srgbClr val="2C2C2C"/>
              </a:buClr>
              <a:buSzPts val="2000"/>
              <a:buChar char="•"/>
            </a:pPr>
            <a:r>
              <a:rPr b="0" i="0" lang="en-IN" u="none" strike="noStrike">
                <a:latin typeface="Times New Roman"/>
                <a:ea typeface="Times New Roman"/>
                <a:cs typeface="Times New Roman"/>
                <a:sym typeface="Times New Roman"/>
              </a:rPr>
              <a:t>Distributed systems are so challenging to design that a theory known as the </a:t>
            </a:r>
            <a:r>
              <a:rPr b="1" i="0" lang="en-IN" u="none" strike="noStrike">
                <a:latin typeface="Times New Roman"/>
                <a:ea typeface="Times New Roman"/>
                <a:cs typeface="Times New Roman"/>
                <a:sym typeface="Times New Roman"/>
              </a:rPr>
              <a:t>CAP theorem </a:t>
            </a:r>
            <a:r>
              <a:rPr b="0" i="0" lang="en-IN" u="none" strike="noStrike">
                <a:latin typeface="Times New Roman"/>
                <a:ea typeface="Times New Roman"/>
                <a:cs typeface="Times New Roman"/>
                <a:sym typeface="Times New Roman"/>
              </a:rPr>
              <a:t>has been proven, which states that </a:t>
            </a:r>
            <a:r>
              <a:rPr lang="en-IN">
                <a:latin typeface="Times New Roman"/>
                <a:ea typeface="Times New Roman"/>
                <a:cs typeface="Times New Roman"/>
                <a:sym typeface="Times New Roman"/>
              </a:rPr>
              <a:t>a distributed system cannot have all three of the desired properties simultaneously; that is:</a:t>
            </a:r>
            <a:endParaRPr/>
          </a:p>
          <a:p>
            <a:pPr indent="-228600" lvl="1" marL="685800" rtl="0" algn="just">
              <a:lnSpc>
                <a:spcPct val="140000"/>
              </a:lnSpc>
              <a:spcBef>
                <a:spcPts val="800"/>
              </a:spcBef>
              <a:spcAft>
                <a:spcPts val="0"/>
              </a:spcAft>
              <a:buClr>
                <a:srgbClr val="2C2C2C"/>
              </a:buClr>
              <a:buSzPts val="2000"/>
              <a:buChar char="•"/>
            </a:pPr>
            <a:r>
              <a:rPr lang="en-IN" sz="2000">
                <a:latin typeface="Times New Roman"/>
                <a:ea typeface="Times New Roman"/>
                <a:cs typeface="Times New Roman"/>
                <a:sym typeface="Times New Roman"/>
              </a:rPr>
              <a:t>Consistency</a:t>
            </a:r>
            <a:endParaRPr/>
          </a:p>
          <a:p>
            <a:pPr indent="-228600" lvl="1" marL="685800" rtl="0" algn="just">
              <a:lnSpc>
                <a:spcPct val="140000"/>
              </a:lnSpc>
              <a:spcBef>
                <a:spcPts val="800"/>
              </a:spcBef>
              <a:spcAft>
                <a:spcPts val="0"/>
              </a:spcAft>
              <a:buClr>
                <a:srgbClr val="2C2C2C"/>
              </a:buClr>
              <a:buSzPts val="2000"/>
              <a:buChar char="•"/>
            </a:pPr>
            <a:r>
              <a:rPr lang="en-IN" sz="2000">
                <a:latin typeface="Times New Roman"/>
                <a:ea typeface="Times New Roman"/>
                <a:cs typeface="Times New Roman"/>
                <a:sym typeface="Times New Roman"/>
              </a:rPr>
              <a:t>Availability</a:t>
            </a:r>
            <a:endParaRPr/>
          </a:p>
          <a:p>
            <a:pPr indent="-228600" lvl="1" marL="685800" rtl="0" algn="just">
              <a:lnSpc>
                <a:spcPct val="140000"/>
              </a:lnSpc>
              <a:spcBef>
                <a:spcPts val="800"/>
              </a:spcBef>
              <a:spcAft>
                <a:spcPts val="0"/>
              </a:spcAft>
              <a:buClr>
                <a:srgbClr val="2C2C2C"/>
              </a:buClr>
              <a:buSzPts val="2000"/>
              <a:buChar char="•"/>
            </a:pPr>
            <a:r>
              <a:rPr lang="en-IN" sz="2000">
                <a:latin typeface="Times New Roman"/>
                <a:ea typeface="Times New Roman"/>
                <a:cs typeface="Times New Roman"/>
                <a:sym typeface="Times New Roman"/>
              </a:rPr>
              <a:t>Partition tolerance</a:t>
            </a:r>
            <a:endParaRPr/>
          </a:p>
        </p:txBody>
      </p:sp>
      <p:pic>
        <p:nvPicPr>
          <p:cNvPr id="152" name="Google Shape;152;p9"/>
          <p:cNvPicPr preferRelativeResize="0"/>
          <p:nvPr/>
        </p:nvPicPr>
        <p:blipFill rotWithShape="1">
          <a:blip r:embed="rId3">
            <a:alphaModFix/>
          </a:blip>
          <a:srcRect b="0" l="0" r="0" t="0"/>
          <a:stretch/>
        </p:blipFill>
        <p:spPr>
          <a:xfrm>
            <a:off x="5231904" y="1916832"/>
            <a:ext cx="3805064" cy="386848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t/>
            </a:r>
            <a:endParaRPr/>
          </a:p>
        </p:txBody>
      </p:sp>
      <p:sp>
        <p:nvSpPr>
          <p:cNvPr id="158" name="Google Shape;158;p10"/>
          <p:cNvSpPr txBox="1"/>
          <p:nvPr>
            <p:ph idx="1" type="body"/>
          </p:nvPr>
        </p:nvSpPr>
        <p:spPr>
          <a:xfrm>
            <a:off x="648000" y="1404000"/>
            <a:ext cx="10800000" cy="4041224"/>
          </a:xfrm>
          <a:prstGeom prst="rect">
            <a:avLst/>
          </a:prstGeom>
          <a:noFill/>
          <a:ln>
            <a:noFill/>
          </a:ln>
        </p:spPr>
        <p:txBody>
          <a:bodyPr anchorCtr="0" anchor="t" bIns="45700" lIns="91425" spcFirstLastPara="1" rIns="91425" wrap="square" tIns="45700">
            <a:normAutofit/>
          </a:bodyPr>
          <a:lstStyle/>
          <a:p>
            <a:pPr indent="-228600" lvl="0" marL="228600" rtl="0" algn="just">
              <a:lnSpc>
                <a:spcPct val="140000"/>
              </a:lnSpc>
              <a:spcBef>
                <a:spcPts val="0"/>
              </a:spcBef>
              <a:spcAft>
                <a:spcPts val="0"/>
              </a:spcAft>
              <a:buClr>
                <a:srgbClr val="2C2C2C"/>
              </a:buClr>
              <a:buSzPts val="2000"/>
              <a:buChar char="•"/>
            </a:pPr>
            <a:r>
              <a:rPr b="1" i="0" lang="en-IN" u="none" strike="noStrike">
                <a:latin typeface="Times New Roman"/>
                <a:ea typeface="Times New Roman"/>
                <a:cs typeface="Times New Roman"/>
                <a:sym typeface="Times New Roman"/>
              </a:rPr>
              <a:t>Consistency </a:t>
            </a:r>
            <a:r>
              <a:rPr b="0" i="0" lang="en-IN" u="none" strike="noStrike">
                <a:latin typeface="Times New Roman"/>
                <a:ea typeface="Times New Roman"/>
                <a:cs typeface="Times New Roman"/>
                <a:sym typeface="Times New Roman"/>
              </a:rPr>
              <a:t>is a property that ensures that all nodes in a distributed system have a single, current, and identical copy of the data.</a:t>
            </a:r>
            <a:endParaRPr/>
          </a:p>
          <a:p>
            <a:pPr indent="-228600" lvl="0" marL="228600" rtl="0" algn="just">
              <a:lnSpc>
                <a:spcPct val="140000"/>
              </a:lnSpc>
              <a:spcBef>
                <a:spcPts val="800"/>
              </a:spcBef>
              <a:spcAft>
                <a:spcPts val="0"/>
              </a:spcAft>
              <a:buClr>
                <a:srgbClr val="2C2C2C"/>
              </a:buClr>
              <a:buSzPts val="2000"/>
              <a:buChar char="•"/>
            </a:pPr>
            <a:r>
              <a:rPr b="1" i="0" lang="en-IN" u="none" strike="noStrike">
                <a:latin typeface="Times New Roman"/>
                <a:ea typeface="Times New Roman"/>
                <a:cs typeface="Times New Roman"/>
                <a:sym typeface="Times New Roman"/>
              </a:rPr>
              <a:t>Availability </a:t>
            </a:r>
            <a:r>
              <a:rPr b="0" i="0" lang="en-IN" u="none" strike="noStrike">
                <a:latin typeface="Times New Roman"/>
                <a:ea typeface="Times New Roman"/>
                <a:cs typeface="Times New Roman"/>
                <a:sym typeface="Times New Roman"/>
              </a:rPr>
              <a:t>means that the nodes in the system are up, accessible for use, and are accepting incoming requests and responding with data without any failures as and when required. In other words, data is available at each node and the nodes are responding to requests.</a:t>
            </a:r>
            <a:endParaRPr>
              <a:latin typeface="Times New Roman"/>
              <a:ea typeface="Times New Roman"/>
              <a:cs typeface="Times New Roman"/>
              <a:sym typeface="Times New Roman"/>
            </a:endParaRPr>
          </a:p>
          <a:p>
            <a:pPr indent="-228600" lvl="0" marL="228600" rtl="0" algn="just">
              <a:lnSpc>
                <a:spcPct val="140000"/>
              </a:lnSpc>
              <a:spcBef>
                <a:spcPts val="800"/>
              </a:spcBef>
              <a:spcAft>
                <a:spcPts val="0"/>
              </a:spcAft>
              <a:buClr>
                <a:srgbClr val="2C2C2C"/>
              </a:buClr>
              <a:buSzPts val="2000"/>
              <a:buChar char="•"/>
            </a:pPr>
            <a:r>
              <a:rPr b="1" i="0" lang="en-IN" u="none" strike="noStrike">
                <a:latin typeface="Times New Roman"/>
                <a:ea typeface="Times New Roman"/>
                <a:cs typeface="Times New Roman"/>
                <a:sym typeface="Times New Roman"/>
              </a:rPr>
              <a:t>Partition tolerance </a:t>
            </a:r>
            <a:r>
              <a:rPr b="0" i="0" lang="en-IN" u="none" strike="noStrike">
                <a:latin typeface="Times New Roman"/>
                <a:ea typeface="Times New Roman"/>
                <a:cs typeface="Times New Roman"/>
                <a:sym typeface="Times New Roman"/>
              </a:rPr>
              <a:t>ensures that if a group of nodes is unable to communicate with other nodes due to network failures, the distributed system continues to operate correctly. This can occur due to network and node failures.</a:t>
            </a:r>
            <a:endParaRPr>
              <a:latin typeface="Times New Roman"/>
              <a:ea typeface="Times New Roman"/>
              <a:cs typeface="Times New Roman"/>
              <a:sym typeface="Times New Roman"/>
            </a:endParaRPr>
          </a:p>
        </p:txBody>
      </p:sp>
      <p:sp>
        <p:nvSpPr>
          <p:cNvPr id="159" name="Google Shape;159;p10"/>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t/>
            </a:r>
            <a:endParaRPr/>
          </a:p>
        </p:txBody>
      </p:sp>
      <p:sp>
        <p:nvSpPr>
          <p:cNvPr id="165" name="Google Shape;165;p11"/>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p>
            <a:pPr indent="-228600" lvl="0" marL="228600" rtl="0" algn="just">
              <a:lnSpc>
                <a:spcPct val="140000"/>
              </a:lnSpc>
              <a:spcBef>
                <a:spcPts val="0"/>
              </a:spcBef>
              <a:spcAft>
                <a:spcPts val="0"/>
              </a:spcAft>
              <a:buClr>
                <a:srgbClr val="2C2C2C"/>
              </a:buClr>
              <a:buSzPts val="2000"/>
              <a:buChar char="•"/>
            </a:pPr>
            <a:r>
              <a:rPr b="0" i="0" lang="en-IN" u="none" strike="noStrike">
                <a:latin typeface="Times New Roman"/>
                <a:ea typeface="Times New Roman"/>
                <a:cs typeface="Times New Roman"/>
                <a:sym typeface="Times New Roman"/>
              </a:rPr>
              <a:t>The preceding diagram shows that only two properties at a time can be achieved. Either AP, CA, or CP.</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In summary:</a:t>
            </a:r>
            <a:endParaRPr/>
          </a:p>
          <a:p>
            <a:pPr indent="0" lvl="0" marL="0" rtl="0" algn="just">
              <a:lnSpc>
                <a:spcPct val="140000"/>
              </a:lnSpc>
              <a:spcBef>
                <a:spcPts val="800"/>
              </a:spcBef>
              <a:spcAft>
                <a:spcPts val="0"/>
              </a:spcAft>
              <a:buClr>
                <a:srgbClr val="2C2C2C"/>
              </a:buClr>
              <a:buSzPts val="2000"/>
              <a:buNone/>
            </a:pPr>
            <a:r>
              <a:rPr b="0" i="0" lang="en-IN" u="none" strike="noStrike">
                <a:latin typeface="Times New Roman"/>
                <a:ea typeface="Times New Roman"/>
                <a:cs typeface="Times New Roman"/>
                <a:sym typeface="Times New Roman"/>
              </a:rPr>
              <a:t>	If we opt for </a:t>
            </a:r>
            <a:r>
              <a:rPr b="1" i="0" lang="en-IN" u="none" strike="noStrike">
                <a:latin typeface="Times New Roman"/>
                <a:ea typeface="Times New Roman"/>
                <a:cs typeface="Times New Roman"/>
                <a:sym typeface="Times New Roman"/>
              </a:rPr>
              <a:t>CP </a:t>
            </a:r>
            <a:r>
              <a:rPr b="0" i="0" lang="en-IN" u="none" strike="noStrike">
                <a:latin typeface="Times New Roman"/>
                <a:ea typeface="Times New Roman"/>
                <a:cs typeface="Times New Roman"/>
                <a:sym typeface="Times New Roman"/>
              </a:rPr>
              <a:t>(consistency and partition tolerance), we sacrifice availability.</a:t>
            </a:r>
            <a:endParaRPr/>
          </a:p>
          <a:p>
            <a:pPr indent="0" lvl="0" marL="0" rtl="0" algn="just">
              <a:lnSpc>
                <a:spcPct val="140000"/>
              </a:lnSpc>
              <a:spcBef>
                <a:spcPts val="800"/>
              </a:spcBef>
              <a:spcAft>
                <a:spcPts val="0"/>
              </a:spcAft>
              <a:buClr>
                <a:srgbClr val="2C2C2C"/>
              </a:buClr>
              <a:buSzPts val="2000"/>
              <a:buNone/>
            </a:pPr>
            <a:r>
              <a:rPr b="0" i="0" lang="en-IN" u="none" strike="noStrike">
                <a:latin typeface="Times New Roman"/>
                <a:ea typeface="Times New Roman"/>
                <a:cs typeface="Times New Roman"/>
                <a:sym typeface="Times New Roman"/>
              </a:rPr>
              <a:t>	If we opt for </a:t>
            </a:r>
            <a:r>
              <a:rPr b="1" i="0" lang="en-IN" u="none" strike="noStrike">
                <a:latin typeface="Times New Roman"/>
                <a:ea typeface="Times New Roman"/>
                <a:cs typeface="Times New Roman"/>
                <a:sym typeface="Times New Roman"/>
              </a:rPr>
              <a:t>AP </a:t>
            </a:r>
            <a:r>
              <a:rPr b="0" i="0" lang="en-IN" u="none" strike="noStrike">
                <a:latin typeface="Times New Roman"/>
                <a:ea typeface="Times New Roman"/>
                <a:cs typeface="Times New Roman"/>
                <a:sym typeface="Times New Roman"/>
              </a:rPr>
              <a:t>(availability and partition tolerance), we sacrifice consistency.</a:t>
            </a:r>
            <a:endParaRPr/>
          </a:p>
          <a:p>
            <a:pPr indent="0" lvl="0" marL="0" rtl="0" algn="just">
              <a:lnSpc>
                <a:spcPct val="140000"/>
              </a:lnSpc>
              <a:spcBef>
                <a:spcPts val="800"/>
              </a:spcBef>
              <a:spcAft>
                <a:spcPts val="0"/>
              </a:spcAft>
              <a:buClr>
                <a:srgbClr val="2C2C2C"/>
              </a:buClr>
              <a:buSzPts val="2000"/>
              <a:buNone/>
            </a:pPr>
            <a:r>
              <a:rPr b="0" i="0" lang="en-IN" u="none" strike="noStrike">
                <a:latin typeface="Times New Roman"/>
                <a:ea typeface="Times New Roman"/>
                <a:cs typeface="Times New Roman"/>
                <a:sym typeface="Times New Roman"/>
              </a:rPr>
              <a:t>	If we opt for </a:t>
            </a:r>
            <a:r>
              <a:rPr b="1" i="0" lang="en-IN" u="none" strike="noStrike">
                <a:latin typeface="Times New Roman"/>
                <a:ea typeface="Times New Roman"/>
                <a:cs typeface="Times New Roman"/>
                <a:sym typeface="Times New Roman"/>
              </a:rPr>
              <a:t>AC </a:t>
            </a:r>
            <a:r>
              <a:rPr b="0" i="0" lang="en-IN" u="none" strike="noStrike">
                <a:latin typeface="Times New Roman"/>
                <a:ea typeface="Times New Roman"/>
                <a:cs typeface="Times New Roman"/>
                <a:sym typeface="Times New Roman"/>
              </a:rPr>
              <a:t>(availability and consistency), we sacrifice partition tolerance.</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Usually, a network partition cannot be ignored; therefore, the choice mostly becomes either consistency or availability in the case of a network partition.</a:t>
            </a:r>
            <a:endParaRPr>
              <a:latin typeface="Times New Roman"/>
              <a:ea typeface="Times New Roman"/>
              <a:cs typeface="Times New Roman"/>
              <a:sym typeface="Times New Roman"/>
            </a:endParaRPr>
          </a:p>
        </p:txBody>
      </p:sp>
      <p:sp>
        <p:nvSpPr>
          <p:cNvPr id="166" name="Google Shape;166;p11"/>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2"/>
          <p:cNvSpPr txBox="1"/>
          <p:nvPr>
            <p:ph idx="1" type="body"/>
          </p:nvPr>
        </p:nvSpPr>
        <p:spPr>
          <a:xfrm>
            <a:off x="767408" y="886907"/>
            <a:ext cx="10344544" cy="5094000"/>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2000"/>
              <a:buChar char="•"/>
            </a:pPr>
            <a:r>
              <a:rPr b="0" i="0" lang="en-IN" u="none" strike="noStrike">
                <a:latin typeface="Times New Roman"/>
                <a:ea typeface="Times New Roman"/>
                <a:cs typeface="Times New Roman"/>
                <a:sym typeface="Times New Roman"/>
              </a:rPr>
              <a:t>Blockchain was introduced with the invention of Bitcoin in 2008. Its practical implementation then occurred in 2009</a:t>
            </a:r>
            <a:endParaRPr/>
          </a:p>
          <a:p>
            <a:pPr indent="0" lvl="0" marL="0" rtl="0" algn="l">
              <a:lnSpc>
                <a:spcPct val="140000"/>
              </a:lnSpc>
              <a:spcBef>
                <a:spcPts val="800"/>
              </a:spcBef>
              <a:spcAft>
                <a:spcPts val="0"/>
              </a:spcAft>
              <a:buClr>
                <a:srgbClr val="2C2C2C"/>
              </a:buClr>
              <a:buSzPts val="2000"/>
              <a:buNone/>
            </a:pPr>
            <a:r>
              <a:rPr b="1" i="0" lang="en-IN" u="none" strike="noStrike">
                <a:latin typeface="Times New Roman"/>
                <a:ea typeface="Times New Roman"/>
                <a:cs typeface="Times New Roman"/>
                <a:sym typeface="Times New Roman"/>
              </a:rPr>
              <a:t>The events that led to blockchain</a:t>
            </a:r>
            <a:endParaRPr/>
          </a:p>
          <a:p>
            <a:pPr indent="-228600" lvl="0" marL="228600" rtl="0" algn="l">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1960s – Invention of computer networks</a:t>
            </a:r>
            <a:endParaRPr/>
          </a:p>
          <a:p>
            <a:pPr indent="-228600" lvl="0" marL="228600" rtl="0" algn="l">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1969 – Development of ARPANET</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1970s – Early work on secure network communication including public key cryptography</a:t>
            </a:r>
            <a:endParaRPr/>
          </a:p>
          <a:p>
            <a:pPr indent="-228600" lvl="0" marL="228600" rtl="0" algn="l">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1970s – Cryptographic hash functions</a:t>
            </a:r>
            <a:endParaRPr/>
          </a:p>
          <a:p>
            <a:pPr indent="-228600" lvl="0" marL="228600" rtl="0" algn="l">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1973 – Extension of ARPANET to other geographic locations</a:t>
            </a:r>
            <a:endParaRPr/>
          </a:p>
          <a:p>
            <a:pPr indent="-228600" lvl="0" marL="228600" rtl="0" algn="l">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1974 – First internet service provider, Telenet</a:t>
            </a:r>
            <a:endParaRPr b="0" i="0" u="none" strike="noStrike">
              <a:latin typeface="Times New Roman"/>
              <a:ea typeface="Times New Roman"/>
              <a:cs typeface="Times New Roman"/>
              <a:sym typeface="Times New Roman"/>
            </a:endParaRPr>
          </a:p>
          <a:p>
            <a:pPr indent="-228600" lvl="0" marL="228600" rtl="0" algn="l">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1976 – Diffie–Hellman work on securely exchanging cryptographic keys</a:t>
            </a:r>
            <a:endParaRPr>
              <a:latin typeface="Times New Roman"/>
              <a:ea typeface="Times New Roman"/>
              <a:cs typeface="Times New Roman"/>
              <a:sym typeface="Times New Roman"/>
            </a:endParaRPr>
          </a:p>
        </p:txBody>
      </p:sp>
      <p:sp>
        <p:nvSpPr>
          <p:cNvPr id="172" name="Google Shape;172;p12"/>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3"/>
          <p:cNvSpPr txBox="1"/>
          <p:nvPr>
            <p:ph idx="1" type="body"/>
          </p:nvPr>
        </p:nvSpPr>
        <p:spPr>
          <a:xfrm>
            <a:off x="614001" y="742890"/>
            <a:ext cx="10800000" cy="5539109"/>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2000"/>
              <a:buChar char="•"/>
            </a:pPr>
            <a:r>
              <a:rPr b="0" i="0" lang="en-IN" u="none" strike="noStrike">
                <a:latin typeface="Times New Roman"/>
                <a:ea typeface="Times New Roman"/>
                <a:cs typeface="Times New Roman"/>
                <a:sym typeface="Times New Roman"/>
              </a:rPr>
              <a:t>1978 – Invention of public key cryptography</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1979 – Invention of Merkle Trees (hashes in a tree structure) by Ralph C. Merkle</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1980s – Development of TCP/IP</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1980 – Protocols for public key cryptosystems, Ralph C. Merkle</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1982 – Blind signatures proposed by David Chaum</a:t>
            </a:r>
            <a:endParaRPr b="0" i="0" u="none" strike="noStrike">
              <a:latin typeface="Times New Roman"/>
              <a:ea typeface="Times New Roman"/>
              <a:cs typeface="Times New Roman"/>
              <a:sym typeface="Times New Roman"/>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1982 – The Byzantine Generals Problem (Bitcoin can be considered a solution to the Byzantine Generals Problem; however, the original intention of the Bitcoin network was to address the previously unsolved double-spending problem)</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1985 – Work on elliptic curve cryptography by Neal Koblitz and Victor Miller</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1991 – Haber and Stornetta work on tamper proofing document timestamps. This can be considered the earliest idea of a chain of blocks or hash chains</a:t>
            </a:r>
            <a:endParaRPr/>
          </a:p>
          <a:p>
            <a:pPr indent="0" lvl="0" marL="0" rtl="0" algn="just">
              <a:lnSpc>
                <a:spcPct val="140000"/>
              </a:lnSpc>
              <a:spcBef>
                <a:spcPts val="800"/>
              </a:spcBef>
              <a:spcAft>
                <a:spcPts val="0"/>
              </a:spcAft>
              <a:buClr>
                <a:srgbClr val="2C2C2C"/>
              </a:buClr>
              <a:buSzPts val="2000"/>
              <a:buNone/>
            </a:pPr>
            <a:r>
              <a:t/>
            </a:r>
            <a:endParaRPr>
              <a:latin typeface="Times New Roman"/>
              <a:ea typeface="Times New Roman"/>
              <a:cs typeface="Times New Roman"/>
              <a:sym typeface="Times New Roman"/>
            </a:endParaRPr>
          </a:p>
        </p:txBody>
      </p:sp>
      <p:sp>
        <p:nvSpPr>
          <p:cNvPr id="178" name="Google Shape;178;p13"/>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4"/>
          <p:cNvSpPr txBox="1"/>
          <p:nvPr>
            <p:ph idx="1" type="body"/>
          </p:nvPr>
        </p:nvSpPr>
        <p:spPr>
          <a:xfrm>
            <a:off x="621335" y="1053000"/>
            <a:ext cx="10800000" cy="5472344"/>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2000"/>
              <a:buChar char="•"/>
            </a:pPr>
            <a:r>
              <a:rPr b="0" i="0" lang="en-IN" u="none" strike="noStrike">
                <a:latin typeface="Times New Roman"/>
                <a:ea typeface="Times New Roman"/>
                <a:cs typeface="Times New Roman"/>
                <a:sym typeface="Times New Roman"/>
              </a:rPr>
              <a:t>1992 – Cynthia Dwork and Moni Naor publish </a:t>
            </a:r>
            <a:r>
              <a:rPr b="0" i="1" lang="en-IN" u="none" strike="noStrike">
                <a:latin typeface="Times New Roman"/>
                <a:ea typeface="Times New Roman"/>
                <a:cs typeface="Times New Roman"/>
                <a:sym typeface="Times New Roman"/>
              </a:rPr>
              <a:t>Pricing via Processing or Combatting Junk Mail</a:t>
            </a:r>
            <a:r>
              <a:rPr b="0" i="0" lang="en-IN" u="none" strike="noStrike">
                <a:latin typeface="Times New Roman"/>
                <a:ea typeface="Times New Roman"/>
                <a:cs typeface="Times New Roman"/>
                <a:sym typeface="Times New Roman"/>
              </a:rPr>
              <a:t>. This is considered the first use of </a:t>
            </a:r>
            <a:r>
              <a:rPr b="1" i="0" lang="en-IN" u="none" strike="noStrike">
                <a:latin typeface="Times New Roman"/>
                <a:ea typeface="Times New Roman"/>
                <a:cs typeface="Times New Roman"/>
                <a:sym typeface="Times New Roman"/>
              </a:rPr>
              <a:t>Proof of Work </a:t>
            </a:r>
            <a:r>
              <a:rPr b="0" i="0" lang="en-IN" u="none" strike="noStrike">
                <a:latin typeface="Times New Roman"/>
                <a:ea typeface="Times New Roman"/>
                <a:cs typeface="Times New Roman"/>
                <a:sym typeface="Times New Roman"/>
              </a:rPr>
              <a:t>(</a:t>
            </a:r>
            <a:r>
              <a:rPr b="1" i="0" lang="en-IN" u="none" strike="noStrike">
                <a:latin typeface="Times New Roman"/>
                <a:ea typeface="Times New Roman"/>
                <a:cs typeface="Times New Roman"/>
                <a:sym typeface="Times New Roman"/>
              </a:rPr>
              <a:t>PoW</a:t>
            </a:r>
            <a:r>
              <a:rPr b="0" i="0" lang="en-IN" u="none" strike="noStrike">
                <a:latin typeface="Times New Roman"/>
                <a:ea typeface="Times New Roman"/>
                <a:cs typeface="Times New Roman"/>
                <a:sym typeface="Times New Roman"/>
              </a:rPr>
              <a:t>)</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1993 – Haber, Bayer, and Stornetta upgraded the tamper-proofing of document timestamps system with Merkle trees</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1995 – David Chaum's Digicash system (an anonymous electronic cash system) started to be used in some banks</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1998 – Bit Gold, a mechanism for decentralized digital currency, invented by Nick Szabo. It used hash chaining and Byzantine Quorums</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1999 – Emergence of a file-sharing application mainly used for music sharing, Napster, which is a P2P network, but was centralized with the use of indexing servers</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1999 – Development of a secure timestamping service for the Belgian project TIMESEC</a:t>
            </a:r>
            <a:endParaRPr>
              <a:latin typeface="Times New Roman"/>
              <a:ea typeface="Times New Roman"/>
              <a:cs typeface="Times New Roman"/>
              <a:sym typeface="Times New Roman"/>
            </a:endParaRPr>
          </a:p>
        </p:txBody>
      </p:sp>
      <p:sp>
        <p:nvSpPr>
          <p:cNvPr id="184" name="Google Shape;184;p14"/>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5"/>
          <p:cNvSpPr txBox="1"/>
          <p:nvPr>
            <p:ph idx="1" type="body"/>
          </p:nvPr>
        </p:nvSpPr>
        <p:spPr>
          <a:xfrm>
            <a:off x="648000" y="1404000"/>
            <a:ext cx="10800000" cy="4113232"/>
          </a:xfrm>
          <a:prstGeom prst="rect">
            <a:avLst/>
          </a:prstGeom>
          <a:noFill/>
          <a:ln>
            <a:noFill/>
          </a:ln>
        </p:spPr>
        <p:txBody>
          <a:bodyPr anchorCtr="0" anchor="t" bIns="45700" lIns="91425" spcFirstLastPara="1" rIns="91425" wrap="square" tIns="45700">
            <a:normAutofit/>
          </a:bodyPr>
          <a:lstStyle/>
          <a:p>
            <a:pPr indent="-228600" lvl="0" marL="228600" rtl="0" algn="just">
              <a:lnSpc>
                <a:spcPct val="140000"/>
              </a:lnSpc>
              <a:spcBef>
                <a:spcPts val="0"/>
              </a:spcBef>
              <a:spcAft>
                <a:spcPts val="0"/>
              </a:spcAft>
              <a:buClr>
                <a:srgbClr val="2C2C2C"/>
              </a:buClr>
              <a:buSzPts val="2000"/>
              <a:buChar char="•"/>
            </a:pPr>
            <a:r>
              <a:rPr b="0" i="0" lang="en-IN" u="none" strike="noStrike">
                <a:latin typeface="Times New Roman"/>
                <a:ea typeface="Times New Roman"/>
                <a:cs typeface="Times New Roman"/>
                <a:sym typeface="Times New Roman"/>
              </a:rPr>
              <a:t>2000 – Gnutella file-sharing network, which introduced decentralization</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2001 – Emergence of BitTorrent and </a:t>
            </a:r>
            <a:r>
              <a:rPr b="1" i="0" lang="en-IN" u="none" strike="noStrike">
                <a:latin typeface="Times New Roman"/>
                <a:ea typeface="Times New Roman"/>
                <a:cs typeface="Times New Roman"/>
                <a:sym typeface="Times New Roman"/>
              </a:rPr>
              <a:t>Distributed Hash Tables </a:t>
            </a:r>
            <a:r>
              <a:rPr b="0" i="0" lang="en-IN" u="none" strike="noStrike">
                <a:latin typeface="Times New Roman"/>
                <a:ea typeface="Times New Roman"/>
                <a:cs typeface="Times New Roman"/>
                <a:sym typeface="Times New Roman"/>
              </a:rPr>
              <a:t>(</a:t>
            </a:r>
            <a:r>
              <a:rPr b="1" i="0" lang="en-IN" u="none" strike="noStrike">
                <a:latin typeface="Times New Roman"/>
                <a:ea typeface="Times New Roman"/>
                <a:cs typeface="Times New Roman"/>
                <a:sym typeface="Times New Roman"/>
              </a:rPr>
              <a:t>DHTs</a:t>
            </a:r>
            <a:r>
              <a:rPr b="0" i="0" lang="en-IN" u="none" strike="noStrike">
                <a:latin typeface="Times New Roman"/>
                <a:ea typeface="Times New Roman"/>
                <a:cs typeface="Times New Roman"/>
                <a:sym typeface="Times New Roman"/>
              </a:rPr>
              <a:t>)</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2002 – Hashcash by Adam Back</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2004 – Development of B-Money by Wei Dei using hashcash</a:t>
            </a:r>
            <a:endParaRPr b="0" i="0" u="none" strike="noStrike">
              <a:latin typeface="Times New Roman"/>
              <a:ea typeface="Times New Roman"/>
              <a:cs typeface="Times New Roman"/>
              <a:sym typeface="Times New Roman"/>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2004 – Hal Finney, the invention of the reusable PoW system</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2005 – Prevention of Sybil attacks by using computation puzzles, due to James Aspnes et al.</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2009 – Bitcoin (first blockchain)</a:t>
            </a:r>
            <a:endParaRPr>
              <a:latin typeface="Times New Roman"/>
              <a:ea typeface="Times New Roman"/>
              <a:cs typeface="Times New Roman"/>
              <a:sym typeface="Times New Roman"/>
            </a:endParaRPr>
          </a:p>
        </p:txBody>
      </p:sp>
      <p:sp>
        <p:nvSpPr>
          <p:cNvPr id="190" name="Google Shape;190;p15"/>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6"/>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600"/>
              <a:buFont typeface="Times New Roman"/>
              <a:buNone/>
            </a:pPr>
            <a:r>
              <a:rPr b="1" i="0" lang="en-IN" sz="3600" u="none" strike="noStrike">
                <a:latin typeface="Times New Roman"/>
                <a:ea typeface="Times New Roman"/>
                <a:cs typeface="Times New Roman"/>
                <a:sym typeface="Times New Roman"/>
              </a:rPr>
              <a:t>Electronic cash</a:t>
            </a:r>
            <a:endParaRPr sz="3600">
              <a:latin typeface="Times New Roman"/>
              <a:ea typeface="Times New Roman"/>
              <a:cs typeface="Times New Roman"/>
              <a:sym typeface="Times New Roman"/>
            </a:endParaRPr>
          </a:p>
        </p:txBody>
      </p:sp>
      <p:sp>
        <p:nvSpPr>
          <p:cNvPr id="196" name="Google Shape;196;p16"/>
          <p:cNvSpPr txBox="1"/>
          <p:nvPr>
            <p:ph idx="1" type="body"/>
          </p:nvPr>
        </p:nvSpPr>
        <p:spPr>
          <a:xfrm>
            <a:off x="648000" y="1053000"/>
            <a:ext cx="10800000" cy="5445000"/>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The concept of </a:t>
            </a:r>
            <a:r>
              <a:rPr b="1" i="0" lang="en-IN" sz="1800" u="none" strike="noStrike">
                <a:latin typeface="Times New Roman"/>
                <a:ea typeface="Times New Roman"/>
                <a:cs typeface="Times New Roman"/>
                <a:sym typeface="Times New Roman"/>
              </a:rPr>
              <a:t>electronic cash </a:t>
            </a:r>
            <a:r>
              <a:rPr b="0" i="0" lang="en-IN" sz="1800" u="none" strike="noStrike">
                <a:latin typeface="Times New Roman"/>
                <a:ea typeface="Times New Roman"/>
                <a:cs typeface="Times New Roman"/>
                <a:sym typeface="Times New Roman"/>
              </a:rPr>
              <a:t>(</a:t>
            </a:r>
            <a:r>
              <a:rPr b="1" i="0" lang="en-IN" sz="1800" u="none" strike="noStrike">
                <a:latin typeface="Times New Roman"/>
                <a:ea typeface="Times New Roman"/>
                <a:cs typeface="Times New Roman"/>
                <a:sym typeface="Times New Roman"/>
              </a:rPr>
              <a:t>e-cash</a:t>
            </a:r>
            <a:r>
              <a:rPr b="0" i="0" lang="en-IN" sz="1800" u="none" strike="noStrike">
                <a:latin typeface="Times New Roman"/>
                <a:ea typeface="Times New Roman"/>
                <a:cs typeface="Times New Roman"/>
                <a:sym typeface="Times New Roman"/>
              </a:rPr>
              <a:t>), or digital currency, is not new. Since the 1980s, e-cash protocols have existed.</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Two fundamental e-cash system issues need to be addressed: </a:t>
            </a:r>
            <a:r>
              <a:rPr b="0" i="1" lang="en-IN" sz="1800" u="none" strike="noStrike">
                <a:latin typeface="Times New Roman"/>
                <a:ea typeface="Times New Roman"/>
                <a:cs typeface="Times New Roman"/>
                <a:sym typeface="Times New Roman"/>
              </a:rPr>
              <a:t>accountability </a:t>
            </a:r>
            <a:r>
              <a:rPr b="0" i="0" lang="en-IN" sz="1800" u="none" strike="noStrike">
                <a:latin typeface="Times New Roman"/>
                <a:ea typeface="Times New Roman"/>
                <a:cs typeface="Times New Roman"/>
                <a:sym typeface="Times New Roman"/>
              </a:rPr>
              <a:t>and </a:t>
            </a:r>
            <a:r>
              <a:rPr b="0" i="1" lang="en-IN" sz="1800" u="none" strike="noStrike">
                <a:latin typeface="Times New Roman"/>
                <a:ea typeface="Times New Roman"/>
                <a:cs typeface="Times New Roman"/>
                <a:sym typeface="Times New Roman"/>
              </a:rPr>
              <a:t>anonymity</a:t>
            </a:r>
            <a:r>
              <a:rPr b="0" i="0" lang="en-IN" sz="1800" u="none" strike="noStrike">
                <a:latin typeface="Times New Roman"/>
                <a:ea typeface="Times New Roman"/>
                <a:cs typeface="Times New Roman"/>
                <a:sym typeface="Times New Roman"/>
              </a:rPr>
              <a:t>.</a:t>
            </a:r>
            <a:endParaRPr/>
          </a:p>
          <a:p>
            <a:pPr indent="-228600" lvl="0" marL="228600" rtl="0" algn="just">
              <a:lnSpc>
                <a:spcPct val="140000"/>
              </a:lnSpc>
              <a:spcBef>
                <a:spcPts val="800"/>
              </a:spcBef>
              <a:spcAft>
                <a:spcPts val="0"/>
              </a:spcAft>
              <a:buClr>
                <a:srgbClr val="2C2C2C"/>
              </a:buClr>
              <a:buSzPts val="1800"/>
              <a:buChar char="•"/>
            </a:pPr>
            <a:r>
              <a:rPr b="1" i="0" lang="en-IN" sz="1800" u="none" strike="noStrike">
                <a:latin typeface="Times New Roman"/>
                <a:ea typeface="Times New Roman"/>
                <a:cs typeface="Times New Roman"/>
                <a:sym typeface="Times New Roman"/>
              </a:rPr>
              <a:t>Accountability </a:t>
            </a:r>
            <a:r>
              <a:rPr b="0" i="0" lang="en-IN" sz="1800" u="none" strike="noStrike">
                <a:latin typeface="Times New Roman"/>
                <a:ea typeface="Times New Roman"/>
                <a:cs typeface="Times New Roman"/>
                <a:sym typeface="Times New Roman"/>
              </a:rPr>
              <a:t>is required to ensure that cash is spendable only once (addressing the </a:t>
            </a:r>
            <a:r>
              <a:rPr lang="en-IN" sz="1800">
                <a:latin typeface="Times New Roman"/>
                <a:ea typeface="Times New Roman"/>
                <a:cs typeface="Times New Roman"/>
                <a:sym typeface="Times New Roman"/>
              </a:rPr>
              <a:t>double spending</a:t>
            </a:r>
            <a:r>
              <a:rPr b="0" i="0" lang="en-IN" sz="1800" u="none" strike="noStrike">
                <a:latin typeface="Times New Roman"/>
                <a:ea typeface="Times New Roman"/>
                <a:cs typeface="Times New Roman"/>
                <a:sym typeface="Times New Roman"/>
              </a:rPr>
              <a:t> problem) and that it can only be spent by its rightful owner. The double-spending problem arises when the same money can be spent twice. As it is quite easy to make copies of digital data, this becomes a big issue in digital currencies as you can make many copies of the same amount of digital cash.</a:t>
            </a:r>
            <a:endParaRPr/>
          </a:p>
          <a:p>
            <a:pPr indent="-228600" lvl="0" marL="228600" rtl="0" algn="just">
              <a:lnSpc>
                <a:spcPct val="140000"/>
              </a:lnSpc>
              <a:spcBef>
                <a:spcPts val="800"/>
              </a:spcBef>
              <a:spcAft>
                <a:spcPts val="0"/>
              </a:spcAft>
              <a:buClr>
                <a:srgbClr val="2C2C2C"/>
              </a:buClr>
              <a:buSzPts val="1800"/>
              <a:buChar char="•"/>
            </a:pPr>
            <a:r>
              <a:rPr b="1" i="0" lang="en-IN" sz="1800" u="none" strike="noStrike">
                <a:latin typeface="Times New Roman"/>
                <a:ea typeface="Times New Roman"/>
                <a:cs typeface="Times New Roman"/>
                <a:sym typeface="Times New Roman"/>
              </a:rPr>
              <a:t>Anonymity </a:t>
            </a:r>
            <a:r>
              <a:rPr b="0" i="0" lang="en-IN" sz="1800" u="none" strike="noStrike">
                <a:latin typeface="Times New Roman"/>
                <a:ea typeface="Times New Roman"/>
                <a:cs typeface="Times New Roman"/>
                <a:sym typeface="Times New Roman"/>
              </a:rPr>
              <a:t>is required to protect users' privacy. With physical cash, it is almost impossible to trace back spending to the individual who actually paid the money, which provides adequate privacy should the consumer choose to hide their identity. In the digital world, however, providing such a level of privacy is difficult due to inherent personalization, tracing, and logging mechanisms in digital payment systems such as credit card payments. This is indeed a required feature for ensuring the security and safety of the financial network, but it is also often seen as a breach of privacy.</a:t>
            </a:r>
            <a:endParaRPr sz="1800">
              <a:latin typeface="Times New Roman"/>
              <a:ea typeface="Times New Roman"/>
              <a:cs typeface="Times New Roman"/>
              <a:sym typeface="Times New Roman"/>
            </a:endParaRPr>
          </a:p>
        </p:txBody>
      </p:sp>
      <p:sp>
        <p:nvSpPr>
          <p:cNvPr id="197" name="Google Shape;197;p16"/>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7"/>
          <p:cNvSpPr txBox="1"/>
          <p:nvPr>
            <p:ph type="title"/>
          </p:nvPr>
        </p:nvSpPr>
        <p:spPr>
          <a:xfrm>
            <a:off x="623392" y="365125"/>
            <a:ext cx="10515600" cy="83162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How did blockchain technology develop?</a:t>
            </a:r>
            <a:endParaRPr/>
          </a:p>
        </p:txBody>
      </p:sp>
      <p:sp>
        <p:nvSpPr>
          <p:cNvPr id="203" name="Google Shape;203;p17"/>
          <p:cNvSpPr txBox="1"/>
          <p:nvPr>
            <p:ph idx="1" type="body"/>
          </p:nvPr>
        </p:nvSpPr>
        <p:spPr>
          <a:xfrm>
            <a:off x="834616" y="1696844"/>
            <a:ext cx="5765440" cy="2092196"/>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40000"/>
              </a:lnSpc>
              <a:spcBef>
                <a:spcPts val="0"/>
              </a:spcBef>
              <a:spcAft>
                <a:spcPts val="0"/>
              </a:spcAft>
              <a:buClr>
                <a:srgbClr val="2C2C2C"/>
              </a:buClr>
              <a:buSzPct val="100000"/>
              <a:buChar char="•"/>
            </a:pPr>
            <a:r>
              <a:rPr lang="en-IN" sz="1800"/>
              <a:t>1950s – Hash functions</a:t>
            </a:r>
            <a:endParaRPr/>
          </a:p>
          <a:p>
            <a:pPr indent="-228600" lvl="0" marL="228600" rtl="0" algn="l">
              <a:lnSpc>
                <a:spcPct val="140000"/>
              </a:lnSpc>
              <a:spcBef>
                <a:spcPts val="800"/>
              </a:spcBef>
              <a:spcAft>
                <a:spcPts val="0"/>
              </a:spcAft>
              <a:buClr>
                <a:srgbClr val="2C2C2C"/>
              </a:buClr>
              <a:buSzPct val="100000"/>
              <a:buChar char="•"/>
            </a:pPr>
            <a:r>
              <a:rPr lang="en-IN" sz="1800"/>
              <a:t>1970s – Merkle trees - hashes in a tree structure</a:t>
            </a:r>
            <a:endParaRPr/>
          </a:p>
          <a:p>
            <a:pPr indent="-228600" lvl="0" marL="228600" rtl="0" algn="l">
              <a:lnSpc>
                <a:spcPct val="140000"/>
              </a:lnSpc>
              <a:spcBef>
                <a:spcPts val="800"/>
              </a:spcBef>
              <a:spcAft>
                <a:spcPts val="0"/>
              </a:spcAft>
              <a:buClr>
                <a:srgbClr val="2C2C2C"/>
              </a:buClr>
              <a:buSzPct val="100000"/>
              <a:buChar char="•"/>
            </a:pPr>
            <a:r>
              <a:rPr lang="en-IN" sz="1800"/>
              <a:t>1970s continued – Research in distributed systems, consensus, state machine replication</a:t>
            </a:r>
            <a:endParaRPr/>
          </a:p>
          <a:p>
            <a:pPr indent="-228600" lvl="0" marL="228600" rtl="0" algn="l">
              <a:lnSpc>
                <a:spcPct val="140000"/>
              </a:lnSpc>
              <a:spcBef>
                <a:spcPts val="800"/>
              </a:spcBef>
              <a:spcAft>
                <a:spcPts val="0"/>
              </a:spcAft>
              <a:buClr>
                <a:srgbClr val="2C2C2C"/>
              </a:buClr>
              <a:buSzPct val="100000"/>
              <a:buChar char="•"/>
            </a:pPr>
            <a:r>
              <a:rPr lang="en-IN" sz="1800"/>
              <a:t>1980s – Hash chains for secure logins</a:t>
            </a:r>
            <a:endParaRPr/>
          </a:p>
          <a:p>
            <a:pPr indent="-228600" lvl="0" marL="228600" rtl="0" algn="l">
              <a:lnSpc>
                <a:spcPct val="140000"/>
              </a:lnSpc>
              <a:spcBef>
                <a:spcPts val="800"/>
              </a:spcBef>
              <a:spcAft>
                <a:spcPts val="0"/>
              </a:spcAft>
              <a:buClr>
                <a:srgbClr val="2C2C2C"/>
              </a:buClr>
              <a:buSzPct val="100000"/>
              <a:buChar char="•"/>
            </a:pPr>
            <a:r>
              <a:rPr lang="en-IN" sz="1800"/>
              <a:t>1990s – e-Cash for e-payments </a:t>
            </a:r>
            <a:endParaRPr/>
          </a:p>
          <a:p>
            <a:pPr indent="-140017" lvl="0" marL="228600" rtl="0" algn="l">
              <a:lnSpc>
                <a:spcPct val="140000"/>
              </a:lnSpc>
              <a:spcBef>
                <a:spcPts val="800"/>
              </a:spcBef>
              <a:spcAft>
                <a:spcPts val="0"/>
              </a:spcAft>
              <a:buClr>
                <a:srgbClr val="2C2C2C"/>
              </a:buClr>
              <a:buSzPct val="100000"/>
              <a:buNone/>
            </a:pPr>
            <a:r>
              <a:t/>
            </a:r>
            <a:endParaRPr sz="1800"/>
          </a:p>
        </p:txBody>
      </p:sp>
      <p:pic>
        <p:nvPicPr>
          <p:cNvPr id="204" name="Google Shape;204;p17"/>
          <p:cNvPicPr preferRelativeResize="0"/>
          <p:nvPr/>
        </p:nvPicPr>
        <p:blipFill rotWithShape="1">
          <a:blip r:embed="rId3">
            <a:alphaModFix/>
          </a:blip>
          <a:srcRect b="0" l="0" r="0" t="0"/>
          <a:stretch/>
        </p:blipFill>
        <p:spPr>
          <a:xfrm>
            <a:off x="1343472" y="3933056"/>
            <a:ext cx="7205242" cy="2571998"/>
          </a:xfrm>
          <a:prstGeom prst="rect">
            <a:avLst/>
          </a:prstGeom>
          <a:noFill/>
          <a:ln>
            <a:noFill/>
          </a:ln>
        </p:spPr>
      </p:pic>
      <p:sp>
        <p:nvSpPr>
          <p:cNvPr id="205" name="Google Shape;205;p17"/>
          <p:cNvSpPr txBox="1"/>
          <p:nvPr/>
        </p:nvSpPr>
        <p:spPr>
          <a:xfrm>
            <a:off x="6600056" y="1690688"/>
            <a:ext cx="5145505" cy="2098352"/>
          </a:xfrm>
          <a:prstGeom prst="rect">
            <a:avLst/>
          </a:prstGeom>
          <a:noFill/>
          <a:ln>
            <a:noFill/>
          </a:ln>
        </p:spPr>
        <p:txBody>
          <a:bodyPr anchorCtr="0" anchor="t" bIns="45700" lIns="91425" spcFirstLastPara="1" rIns="91425" wrap="square" tIns="45700">
            <a:noAutofit/>
          </a:bodyPr>
          <a:lstStyle/>
          <a:p>
            <a:pPr indent="-228600" lvl="0" marL="228600" marR="0" rtl="0" algn="l">
              <a:lnSpc>
                <a:spcPct val="140000"/>
              </a:lnSpc>
              <a:spcBef>
                <a:spcPts val="0"/>
              </a:spcBef>
              <a:spcAft>
                <a:spcPts val="0"/>
              </a:spcAft>
              <a:buClr>
                <a:srgbClr val="2C2C2C"/>
              </a:buClr>
              <a:buSzPts val="1400"/>
              <a:buFont typeface="Arial"/>
              <a:buChar char="•"/>
            </a:pPr>
            <a:r>
              <a:rPr lang="en-IN" sz="1400">
                <a:solidFill>
                  <a:srgbClr val="2C2C2C"/>
                </a:solidFill>
                <a:latin typeface="Arial"/>
                <a:ea typeface="Arial"/>
                <a:cs typeface="Arial"/>
                <a:sym typeface="Arial"/>
              </a:rPr>
              <a:t>1991 – Secure timestamping of digital documents.</a:t>
            </a:r>
            <a:endParaRPr/>
          </a:p>
          <a:p>
            <a:pPr indent="-228600" lvl="0" marL="228600" marR="0" rtl="0" algn="l">
              <a:lnSpc>
                <a:spcPct val="140000"/>
              </a:lnSpc>
              <a:spcBef>
                <a:spcPts val="800"/>
              </a:spcBef>
              <a:spcAft>
                <a:spcPts val="0"/>
              </a:spcAft>
              <a:buClr>
                <a:srgbClr val="2C2C2C"/>
              </a:buClr>
              <a:buSzPts val="1400"/>
              <a:buFont typeface="Arial"/>
              <a:buChar char="•"/>
            </a:pPr>
            <a:r>
              <a:rPr lang="en-IN" sz="1400">
                <a:solidFill>
                  <a:srgbClr val="2C2C2C"/>
                </a:solidFill>
                <a:latin typeface="Arial"/>
                <a:ea typeface="Arial"/>
                <a:cs typeface="Arial"/>
                <a:sym typeface="Arial"/>
              </a:rPr>
              <a:t>1992 – Hashcash idea to combat junk emails </a:t>
            </a:r>
            <a:endParaRPr/>
          </a:p>
          <a:p>
            <a:pPr indent="-228600" lvl="0" marL="228600" marR="0" rtl="0" algn="l">
              <a:lnSpc>
                <a:spcPct val="140000"/>
              </a:lnSpc>
              <a:spcBef>
                <a:spcPts val="800"/>
              </a:spcBef>
              <a:spcAft>
                <a:spcPts val="0"/>
              </a:spcAft>
              <a:buClr>
                <a:srgbClr val="2C2C2C"/>
              </a:buClr>
              <a:buSzPts val="1400"/>
              <a:buFont typeface="Arial"/>
              <a:buChar char="•"/>
            </a:pPr>
            <a:r>
              <a:rPr lang="en-IN" sz="1400">
                <a:solidFill>
                  <a:srgbClr val="2C2C2C"/>
                </a:solidFill>
                <a:latin typeface="Arial"/>
                <a:ea typeface="Arial"/>
                <a:cs typeface="Arial"/>
                <a:sym typeface="Arial"/>
              </a:rPr>
              <a:t>1994 – S/KEY application for Unix login. </a:t>
            </a:r>
            <a:endParaRPr/>
          </a:p>
          <a:p>
            <a:pPr indent="-228600" lvl="0" marL="228600" marR="0" rtl="0" algn="l">
              <a:lnSpc>
                <a:spcPct val="140000"/>
              </a:lnSpc>
              <a:spcBef>
                <a:spcPts val="800"/>
              </a:spcBef>
              <a:spcAft>
                <a:spcPts val="0"/>
              </a:spcAft>
              <a:buClr>
                <a:srgbClr val="2C2C2C"/>
              </a:buClr>
              <a:buSzPts val="1400"/>
              <a:buFont typeface="Arial"/>
              <a:buChar char="•"/>
            </a:pPr>
            <a:r>
              <a:rPr lang="en-IN" sz="1400">
                <a:solidFill>
                  <a:srgbClr val="2C2C2C"/>
                </a:solidFill>
                <a:latin typeface="Arial"/>
                <a:ea typeface="Arial"/>
                <a:cs typeface="Arial"/>
                <a:sym typeface="Arial"/>
              </a:rPr>
              <a:t>1997/2002 – Hashcash </a:t>
            </a:r>
            <a:endParaRPr/>
          </a:p>
          <a:p>
            <a:pPr indent="-228600" lvl="0" marL="228600" marR="0" rtl="0" algn="l">
              <a:lnSpc>
                <a:spcPct val="140000"/>
              </a:lnSpc>
              <a:spcBef>
                <a:spcPts val="800"/>
              </a:spcBef>
              <a:spcAft>
                <a:spcPts val="0"/>
              </a:spcAft>
              <a:buClr>
                <a:srgbClr val="2C2C2C"/>
              </a:buClr>
              <a:buSzPts val="1400"/>
              <a:buFont typeface="Arial"/>
              <a:buChar char="•"/>
            </a:pPr>
            <a:r>
              <a:rPr lang="en-IN" sz="1400">
                <a:solidFill>
                  <a:srgbClr val="2C2C2C"/>
                </a:solidFill>
                <a:latin typeface="Arial"/>
                <a:ea typeface="Arial"/>
                <a:cs typeface="Arial"/>
                <a:sym typeface="Arial"/>
              </a:rPr>
              <a:t>2008/2009 – Bitcoin (the first blockchain)</a:t>
            </a:r>
            <a:endParaRPr/>
          </a:p>
        </p:txBody>
      </p:sp>
      <p:sp>
        <p:nvSpPr>
          <p:cNvPr id="206" name="Google Shape;206;p17"/>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11</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8"/>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600"/>
              <a:buFont typeface="Times New Roman"/>
              <a:buNone/>
            </a:pPr>
            <a:r>
              <a:rPr b="1" i="0" lang="en-IN" sz="3600" u="none" strike="noStrike">
                <a:latin typeface="Times New Roman"/>
                <a:ea typeface="Times New Roman"/>
                <a:cs typeface="Times New Roman"/>
                <a:sym typeface="Times New Roman"/>
              </a:rPr>
              <a:t>Blockchain</a:t>
            </a:r>
            <a:endParaRPr sz="3600">
              <a:latin typeface="Times New Roman"/>
              <a:ea typeface="Times New Roman"/>
              <a:cs typeface="Times New Roman"/>
              <a:sym typeface="Times New Roman"/>
            </a:endParaRPr>
          </a:p>
        </p:txBody>
      </p:sp>
      <p:sp>
        <p:nvSpPr>
          <p:cNvPr id="212" name="Google Shape;212;p18"/>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p>
            <a:pPr indent="-228600" lvl="0" marL="228600" rtl="0" algn="just">
              <a:lnSpc>
                <a:spcPct val="140000"/>
              </a:lnSpc>
              <a:spcBef>
                <a:spcPts val="0"/>
              </a:spcBef>
              <a:spcAft>
                <a:spcPts val="0"/>
              </a:spcAft>
              <a:buClr>
                <a:srgbClr val="2C2C2C"/>
              </a:buClr>
              <a:buSzPts val="2000"/>
              <a:buChar char="•"/>
            </a:pPr>
            <a:r>
              <a:rPr b="0" i="0" lang="en-IN" u="none" strike="noStrike">
                <a:latin typeface="Times New Roman"/>
                <a:ea typeface="Times New Roman"/>
                <a:cs typeface="Times New Roman"/>
                <a:sym typeface="Times New Roman"/>
              </a:rPr>
              <a:t>In 2008, a groundbreaking paper, entitled </a:t>
            </a:r>
            <a:r>
              <a:rPr b="0" i="1" lang="en-IN" u="none" strike="noStrike">
                <a:latin typeface="Times New Roman"/>
                <a:ea typeface="Times New Roman"/>
                <a:cs typeface="Times New Roman"/>
                <a:sym typeface="Times New Roman"/>
              </a:rPr>
              <a:t>Bitcoin: A Peer-to-Peer Electronic Cash System</a:t>
            </a:r>
            <a:r>
              <a:rPr b="0" i="0" lang="en-IN" u="none" strike="noStrike">
                <a:latin typeface="Times New Roman"/>
                <a:ea typeface="Times New Roman"/>
                <a:cs typeface="Times New Roman"/>
                <a:sym typeface="Times New Roman"/>
              </a:rPr>
              <a:t>, was written on the topic of peer-to-peer e-cash under the pseudonym of </a:t>
            </a:r>
            <a:r>
              <a:rPr b="0" i="1" lang="en-IN" u="none" strike="noStrike">
                <a:latin typeface="Times New Roman"/>
                <a:ea typeface="Times New Roman"/>
                <a:cs typeface="Times New Roman"/>
                <a:sym typeface="Times New Roman"/>
              </a:rPr>
              <a:t>Satoshi Nakamoto</a:t>
            </a:r>
            <a:r>
              <a:rPr b="0" i="0" lang="en-IN" u="none" strike="noStrike">
                <a:latin typeface="Times New Roman"/>
                <a:ea typeface="Times New Roman"/>
                <a:cs typeface="Times New Roman"/>
                <a:sym typeface="Times New Roman"/>
              </a:rPr>
              <a:t>.</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This paper is available at https://bitcoin.org/bitcoin.pdf.</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It introduced the term </a:t>
            </a:r>
            <a:r>
              <a:rPr b="1" i="0" lang="en-IN" u="none" strike="noStrike">
                <a:latin typeface="Times New Roman"/>
                <a:ea typeface="Times New Roman"/>
                <a:cs typeface="Times New Roman"/>
                <a:sym typeface="Times New Roman"/>
              </a:rPr>
              <a:t>chain of blocks</a:t>
            </a:r>
            <a:r>
              <a:rPr b="0" i="0" lang="en-IN" u="none" strike="noStrike">
                <a:latin typeface="Times New Roman"/>
                <a:ea typeface="Times New Roman"/>
                <a:cs typeface="Times New Roman"/>
                <a:sym typeface="Times New Roman"/>
              </a:rPr>
              <a:t>. No one knows the actual identity of Satoshi Nakamoto. After introducing Bitcoin in 2009, he remained active in the Bitcoin developer community until 2011. He then handed over Bitcoin development to its core developers and simply disappeared. Since then, there has been no communication from him whatsoever, and his existence and identity are shrouded in mystery. The term "chain of blocks" evolved over the years into the word "blockchain."</a:t>
            </a:r>
            <a:endParaRPr>
              <a:latin typeface="Times New Roman"/>
              <a:ea typeface="Times New Roman"/>
              <a:cs typeface="Times New Roman"/>
              <a:sym typeface="Times New Roman"/>
            </a:endParaRPr>
          </a:p>
        </p:txBody>
      </p:sp>
      <p:sp>
        <p:nvSpPr>
          <p:cNvPr id="213" name="Google Shape;213;p18"/>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9"/>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219" name="Google Shape;219;p19"/>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Defining ‘Blockchain’</a:t>
            </a:r>
            <a:endParaRPr/>
          </a:p>
        </p:txBody>
      </p:sp>
      <p:sp>
        <p:nvSpPr>
          <p:cNvPr id="220" name="Google Shape;220;p19"/>
          <p:cNvSpPr/>
          <p:nvPr/>
        </p:nvSpPr>
        <p:spPr>
          <a:xfrm>
            <a:off x="870818" y="1973178"/>
            <a:ext cx="10078412" cy="286232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IN" sz="2000">
                <a:solidFill>
                  <a:schemeClr val="dk1"/>
                </a:solidFill>
                <a:latin typeface="Times New Roman"/>
                <a:ea typeface="Times New Roman"/>
                <a:cs typeface="Times New Roman"/>
                <a:sym typeface="Times New Roman"/>
              </a:rPr>
              <a:t>Layman's definition: </a:t>
            </a:r>
            <a:r>
              <a:rPr lang="en-IN" sz="2000">
                <a:solidFill>
                  <a:schemeClr val="dk1"/>
                </a:solidFill>
                <a:latin typeface="Times New Roman"/>
                <a:ea typeface="Times New Roman"/>
                <a:cs typeface="Times New Roman"/>
                <a:sym typeface="Times New Roman"/>
              </a:rPr>
              <a:t>Blockchain is an ever-growing, secure, shared recordkeeping system in which each user of the data holds a copy of the records, which can only be updated if all parties involved in a transaction agree to update.</a:t>
            </a:r>
            <a:endParaRPr/>
          </a:p>
          <a:p>
            <a:pPr indent="0" lvl="0" marL="0" marR="0" rtl="0" algn="just">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b="1"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IN" sz="2000">
                <a:solidFill>
                  <a:schemeClr val="dk1"/>
                </a:solidFill>
                <a:latin typeface="Times New Roman"/>
                <a:ea typeface="Times New Roman"/>
                <a:cs typeface="Times New Roman"/>
                <a:sym typeface="Times New Roman"/>
              </a:rPr>
              <a:t>Technical definition: </a:t>
            </a:r>
            <a:r>
              <a:rPr lang="en-IN" sz="2000">
                <a:solidFill>
                  <a:schemeClr val="dk1"/>
                </a:solidFill>
                <a:latin typeface="Times New Roman"/>
                <a:ea typeface="Times New Roman"/>
                <a:cs typeface="Times New Roman"/>
                <a:sym typeface="Times New Roman"/>
              </a:rPr>
              <a:t>Blockchain is a peer-to-peer distributed ledger that is cryptographically-secure, append-only, immutable (extremely hard to change), and updateable only via consensus or agreement among peers. </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0"/>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226" name="Google Shape;226;p20"/>
          <p:cNvSpPr txBox="1"/>
          <p:nvPr>
            <p:ph idx="1" type="body"/>
          </p:nvPr>
        </p:nvSpPr>
        <p:spPr>
          <a:xfrm>
            <a:off x="838200" y="1052736"/>
            <a:ext cx="10515600" cy="4836195"/>
          </a:xfrm>
          <a:prstGeom prst="rect">
            <a:avLst/>
          </a:prstGeom>
          <a:noFill/>
          <a:ln>
            <a:noFill/>
          </a:ln>
        </p:spPr>
        <p:txBody>
          <a:bodyPr anchorCtr="0" anchor="t" bIns="45700" lIns="91425" spcFirstLastPara="1" rIns="91425" wrap="square" tIns="45700">
            <a:normAutofit/>
          </a:bodyPr>
          <a:lstStyle/>
          <a:p>
            <a:pPr indent="0" lvl="0" marL="0" rtl="0" algn="just">
              <a:lnSpc>
                <a:spcPct val="140000"/>
              </a:lnSpc>
              <a:spcBef>
                <a:spcPts val="0"/>
              </a:spcBef>
              <a:spcAft>
                <a:spcPts val="0"/>
              </a:spcAft>
              <a:buClr>
                <a:srgbClr val="2C2C2C"/>
              </a:buClr>
              <a:buSzPts val="2400"/>
              <a:buNone/>
            </a:pPr>
            <a:r>
              <a:rPr b="1" lang="en-IN" sz="2400">
                <a:latin typeface="Times New Roman"/>
                <a:ea typeface="Times New Roman"/>
                <a:cs typeface="Times New Roman"/>
                <a:sym typeface="Times New Roman"/>
              </a:rPr>
              <a:t>Peer-to-peer</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The first keyword in the technical definition is </a:t>
            </a:r>
            <a:r>
              <a:rPr b="1" i="0" lang="en-IN" u="none" strike="noStrike">
                <a:latin typeface="Times New Roman"/>
                <a:ea typeface="Times New Roman"/>
                <a:cs typeface="Times New Roman"/>
                <a:sym typeface="Times New Roman"/>
              </a:rPr>
              <a:t>peer-to-peer</a:t>
            </a:r>
            <a:r>
              <a:rPr b="0" i="0" lang="en-IN" u="none" strike="noStrike">
                <a:latin typeface="Times New Roman"/>
                <a:ea typeface="Times New Roman"/>
                <a:cs typeface="Times New Roman"/>
                <a:sym typeface="Times New Roman"/>
              </a:rPr>
              <a:t>, or </a:t>
            </a:r>
            <a:r>
              <a:rPr b="1" i="0" lang="en-IN" u="none" strike="noStrike">
                <a:latin typeface="Times New Roman"/>
                <a:ea typeface="Times New Roman"/>
                <a:cs typeface="Times New Roman"/>
                <a:sym typeface="Times New Roman"/>
              </a:rPr>
              <a:t>P2P </a:t>
            </a:r>
            <a:r>
              <a:rPr b="0" i="0" lang="en-IN" u="none" strike="noStrike">
                <a:latin typeface="Times New Roman"/>
                <a:ea typeface="Times New Roman"/>
                <a:cs typeface="Times New Roman"/>
                <a:sym typeface="Times New Roman"/>
              </a:rPr>
              <a:t>This means that there is no central controller in the network, and all participants (nodes) talk to each other directly. This property allows for transactions to be conducted directly among the peers without third-party involvement, such as by a bank.</a:t>
            </a:r>
            <a:endParaRPr>
              <a:latin typeface="Times New Roman"/>
              <a:ea typeface="Times New Roman"/>
              <a:cs typeface="Times New Roman"/>
              <a:sym typeface="Times New Roman"/>
            </a:endParaRPr>
          </a:p>
          <a:p>
            <a:pPr indent="0" lvl="0" marL="0" rtl="0" algn="just">
              <a:lnSpc>
                <a:spcPct val="140000"/>
              </a:lnSpc>
              <a:spcBef>
                <a:spcPts val="800"/>
              </a:spcBef>
              <a:spcAft>
                <a:spcPts val="0"/>
              </a:spcAft>
              <a:buClr>
                <a:srgbClr val="2C2C2C"/>
              </a:buClr>
              <a:buSzPts val="2400"/>
              <a:buNone/>
            </a:pPr>
            <a:r>
              <a:rPr b="1" lang="en-IN" sz="2400">
                <a:latin typeface="Times New Roman"/>
                <a:ea typeface="Times New Roman"/>
                <a:cs typeface="Times New Roman"/>
                <a:sym typeface="Times New Roman"/>
              </a:rPr>
              <a:t>Distributed ledger</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blockchain is a "distributed ledger," which means that a ledger is spread across the network among all peers in the network, and each peer holds a copy of the complete ledger.</a:t>
            </a:r>
            <a:endParaRPr>
              <a:latin typeface="Times New Roman"/>
              <a:ea typeface="Times New Roman"/>
              <a:cs typeface="Times New Roman"/>
              <a:sym typeface="Times New Roman"/>
            </a:endParaRPr>
          </a:p>
          <a:p>
            <a:pPr indent="-101600" lvl="0" marL="228600" rtl="0" algn="l">
              <a:lnSpc>
                <a:spcPct val="140000"/>
              </a:lnSpc>
              <a:spcBef>
                <a:spcPts val="800"/>
              </a:spcBef>
              <a:spcAft>
                <a:spcPts val="0"/>
              </a:spcAft>
              <a:buClr>
                <a:srgbClr val="2C2C2C"/>
              </a:buClr>
              <a:buSzPts val="2000"/>
              <a:buNone/>
            </a:pPr>
            <a:r>
              <a:t/>
            </a:r>
            <a:endParaRPr b="1"/>
          </a:p>
          <a:p>
            <a:pPr indent="-101600" lvl="0" marL="228600" rtl="0" algn="l">
              <a:lnSpc>
                <a:spcPct val="140000"/>
              </a:lnSpc>
              <a:spcBef>
                <a:spcPts val="800"/>
              </a:spcBef>
              <a:spcAft>
                <a:spcPts val="0"/>
              </a:spcAft>
              <a:buClr>
                <a:srgbClr val="2C2C2C"/>
              </a:buClr>
              <a:buSzPts val="2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1"/>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232" name="Google Shape;232;p21"/>
          <p:cNvSpPr txBox="1"/>
          <p:nvPr>
            <p:ph idx="1" type="body"/>
          </p:nvPr>
        </p:nvSpPr>
        <p:spPr>
          <a:xfrm>
            <a:off x="838200" y="1010902"/>
            <a:ext cx="10515600" cy="4836195"/>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140000"/>
              </a:lnSpc>
              <a:spcBef>
                <a:spcPts val="0"/>
              </a:spcBef>
              <a:spcAft>
                <a:spcPts val="0"/>
              </a:spcAft>
              <a:buClr>
                <a:srgbClr val="2C2C2C"/>
              </a:buClr>
              <a:buSzPct val="100000"/>
              <a:buNone/>
            </a:pPr>
            <a:r>
              <a:rPr b="1" lang="en-IN" sz="2600">
                <a:latin typeface="Times New Roman"/>
                <a:ea typeface="Times New Roman"/>
                <a:cs typeface="Times New Roman"/>
                <a:sym typeface="Times New Roman"/>
              </a:rPr>
              <a:t>Cryptographically secure</a:t>
            </a:r>
            <a:endParaRPr/>
          </a:p>
          <a:p>
            <a:pPr indent="-228600" lvl="0" marL="228600" rtl="0" algn="just">
              <a:lnSpc>
                <a:spcPct val="140000"/>
              </a:lnSpc>
              <a:spcBef>
                <a:spcPts val="800"/>
              </a:spcBef>
              <a:spcAft>
                <a:spcPts val="0"/>
              </a:spcAft>
              <a:buClr>
                <a:srgbClr val="2C2C2C"/>
              </a:buClr>
              <a:buSzPct val="100000"/>
              <a:buChar char="•"/>
            </a:pPr>
            <a:r>
              <a:rPr b="0" i="0" lang="en-IN" sz="2200" u="none" strike="noStrike">
                <a:latin typeface="Times New Roman"/>
                <a:ea typeface="Times New Roman"/>
                <a:cs typeface="Times New Roman"/>
                <a:sym typeface="Times New Roman"/>
              </a:rPr>
              <a:t>ledger is "cryptographically secure," which means that cryptography has been used to provide security services that make this ledger secure against tampering and misuse. These services include non-repudiation, data integrity, and data origin authentication.</a:t>
            </a:r>
            <a:endParaRPr sz="2200">
              <a:latin typeface="Times New Roman"/>
              <a:ea typeface="Times New Roman"/>
              <a:cs typeface="Times New Roman"/>
              <a:sym typeface="Times New Roman"/>
            </a:endParaRPr>
          </a:p>
          <a:p>
            <a:pPr indent="0" lvl="0" marL="0" rtl="0" algn="just">
              <a:lnSpc>
                <a:spcPct val="140000"/>
              </a:lnSpc>
              <a:spcBef>
                <a:spcPts val="800"/>
              </a:spcBef>
              <a:spcAft>
                <a:spcPts val="0"/>
              </a:spcAft>
              <a:buClr>
                <a:srgbClr val="2C2C2C"/>
              </a:buClr>
              <a:buSzPct val="100000"/>
              <a:buNone/>
            </a:pPr>
            <a:r>
              <a:rPr b="1" lang="en-IN" sz="2600">
                <a:latin typeface="Times New Roman"/>
                <a:ea typeface="Times New Roman"/>
                <a:cs typeface="Times New Roman"/>
                <a:sym typeface="Times New Roman"/>
              </a:rPr>
              <a:t>Append only</a:t>
            </a:r>
            <a:endParaRPr/>
          </a:p>
          <a:p>
            <a:pPr indent="-228600" lvl="0" marL="228600" rtl="0" algn="just">
              <a:lnSpc>
                <a:spcPct val="140000"/>
              </a:lnSpc>
              <a:spcBef>
                <a:spcPts val="800"/>
              </a:spcBef>
              <a:spcAft>
                <a:spcPts val="0"/>
              </a:spcAft>
              <a:buClr>
                <a:srgbClr val="2C2C2C"/>
              </a:buClr>
              <a:buSzPct val="100000"/>
              <a:buChar char="•"/>
            </a:pPr>
            <a:r>
              <a:rPr b="0" i="0" lang="en-IN" sz="2200" u="none" strike="noStrike">
                <a:latin typeface="Times New Roman"/>
                <a:ea typeface="Times New Roman"/>
                <a:cs typeface="Times New Roman"/>
                <a:sym typeface="Times New Roman"/>
              </a:rPr>
              <a:t>blockchain is "append-only," which means that data can only be added to the blockchain in </a:t>
            </a:r>
            <a:r>
              <a:rPr b="0" i="1" lang="en-IN" sz="2200" u="none" strike="noStrike">
                <a:latin typeface="Times New Roman"/>
                <a:ea typeface="Times New Roman"/>
                <a:cs typeface="Times New Roman"/>
                <a:sym typeface="Times New Roman"/>
              </a:rPr>
              <a:t>time-sequential order</a:t>
            </a:r>
            <a:r>
              <a:rPr b="0" i="0" lang="en-IN" sz="2200" u="none" strike="noStrike">
                <a:latin typeface="Times New Roman"/>
                <a:ea typeface="Times New Roman"/>
                <a:cs typeface="Times New Roman"/>
                <a:sym typeface="Times New Roman"/>
              </a:rPr>
              <a:t>. This property implies that once data is added to the blockchain, it is almost impossible to change that data and it can be considered practically immutable. In other words, blocks added to the blockchain cannot be changed, which allows blockchain to become an immutable and tamper-proof ledger of transactions. </a:t>
            </a:r>
            <a:endParaRPr sz="2200">
              <a:latin typeface="Times New Roman"/>
              <a:ea typeface="Times New Roman"/>
              <a:cs typeface="Times New Roman"/>
              <a:sym typeface="Times New Roman"/>
            </a:endParaRPr>
          </a:p>
          <a:p>
            <a:pPr indent="-111125" lvl="0" marL="228600" rtl="0" algn="l">
              <a:lnSpc>
                <a:spcPct val="140000"/>
              </a:lnSpc>
              <a:spcBef>
                <a:spcPts val="800"/>
              </a:spcBef>
              <a:spcAft>
                <a:spcPts val="0"/>
              </a:spcAft>
              <a:buClr>
                <a:srgbClr val="2C2C2C"/>
              </a:buClr>
              <a:buSzPct val="100000"/>
              <a:buNone/>
            </a:pPr>
            <a:r>
              <a:t/>
            </a:r>
            <a:endParaRPr b="1"/>
          </a:p>
          <a:p>
            <a:pPr indent="-111125" lvl="0" marL="228600" rtl="0" algn="l">
              <a:lnSpc>
                <a:spcPct val="140000"/>
              </a:lnSpc>
              <a:spcBef>
                <a:spcPts val="800"/>
              </a:spcBef>
              <a:spcAft>
                <a:spcPts val="0"/>
              </a:spcAft>
              <a:buClr>
                <a:srgbClr val="2C2C2C"/>
              </a:buClr>
              <a:buSzPct val="1000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2"/>
          <p:cNvSpPr txBox="1"/>
          <p:nvPr>
            <p:ph idx="1" type="body"/>
          </p:nvPr>
        </p:nvSpPr>
        <p:spPr>
          <a:xfrm>
            <a:off x="648000" y="1053000"/>
            <a:ext cx="10800000" cy="4752000"/>
          </a:xfrm>
          <a:prstGeom prst="rect">
            <a:avLst/>
          </a:prstGeom>
          <a:noFill/>
          <a:ln>
            <a:noFill/>
          </a:ln>
        </p:spPr>
        <p:txBody>
          <a:bodyPr anchorCtr="0" anchor="t" bIns="45700" lIns="91425" spcFirstLastPara="1" rIns="91425" wrap="square" tIns="45700">
            <a:normAutofit/>
          </a:bodyPr>
          <a:lstStyle/>
          <a:p>
            <a:pPr indent="0" lvl="0" marL="0" rtl="0" algn="just">
              <a:lnSpc>
                <a:spcPct val="140000"/>
              </a:lnSpc>
              <a:spcBef>
                <a:spcPts val="0"/>
              </a:spcBef>
              <a:spcAft>
                <a:spcPts val="0"/>
              </a:spcAft>
              <a:buClr>
                <a:srgbClr val="2C2C2C"/>
              </a:buClr>
              <a:buSzPts val="2400"/>
              <a:buNone/>
            </a:pPr>
            <a:r>
              <a:rPr b="1" i="0" lang="en-IN" sz="2400" u="none" strike="noStrike">
                <a:latin typeface="Times New Roman"/>
                <a:ea typeface="Times New Roman"/>
                <a:cs typeface="Times New Roman"/>
                <a:sym typeface="Times New Roman"/>
              </a:rPr>
              <a:t>Updatable via consensus</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The most critical attribute of a blockchain is that it is updateable only via consensus. This is what gives it the power of decentralization.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In this scenario, no central authority is in control of updating the ledger. Instead, any update made to the blockchain is validated against strict criteria defined by the blockchain protocol and added to the blockchain only after a consensus has been reached among all participating peers/nodes on the network.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To achieve consensus, there are various consensus algorithms that ensure all parties agree on the final state of the data on the blockchain network.</a:t>
            </a:r>
            <a:endParaRPr>
              <a:latin typeface="Times New Roman"/>
              <a:ea typeface="Times New Roman"/>
              <a:cs typeface="Times New Roman"/>
              <a:sym typeface="Times New Roman"/>
            </a:endParaRPr>
          </a:p>
        </p:txBody>
      </p:sp>
      <p:sp>
        <p:nvSpPr>
          <p:cNvPr id="238" name="Google Shape;238;p22"/>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3"/>
          <p:cNvSpPr txBox="1"/>
          <p:nvPr>
            <p:ph type="title"/>
          </p:nvPr>
        </p:nvSpPr>
        <p:spPr>
          <a:xfrm>
            <a:off x="623392" y="332657"/>
            <a:ext cx="10192280" cy="864096"/>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Architectural view of Blockchain</a:t>
            </a:r>
            <a:endParaRPr/>
          </a:p>
        </p:txBody>
      </p:sp>
      <p:pic>
        <p:nvPicPr>
          <p:cNvPr id="244" name="Google Shape;244;p23"/>
          <p:cNvPicPr preferRelativeResize="0"/>
          <p:nvPr/>
        </p:nvPicPr>
        <p:blipFill rotWithShape="1">
          <a:blip r:embed="rId3">
            <a:alphaModFix/>
          </a:blip>
          <a:srcRect b="0" l="0" r="0" t="0"/>
          <a:stretch/>
        </p:blipFill>
        <p:spPr>
          <a:xfrm>
            <a:off x="2711624" y="1412776"/>
            <a:ext cx="6840760" cy="5184576"/>
          </a:xfrm>
          <a:prstGeom prst="rect">
            <a:avLst/>
          </a:prstGeom>
          <a:noFill/>
          <a:ln>
            <a:noFill/>
          </a:ln>
        </p:spPr>
      </p:pic>
      <p:sp>
        <p:nvSpPr>
          <p:cNvPr id="245" name="Google Shape;245;p23"/>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12</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t/>
            </a:r>
            <a:endParaRPr/>
          </a:p>
        </p:txBody>
      </p:sp>
      <p:sp>
        <p:nvSpPr>
          <p:cNvPr id="253" name="Google Shape;253;p24"/>
          <p:cNvSpPr txBox="1"/>
          <p:nvPr>
            <p:ph idx="1" type="body"/>
          </p:nvPr>
        </p:nvSpPr>
        <p:spPr>
          <a:xfrm>
            <a:off x="648000" y="1476008"/>
            <a:ext cx="10800000" cy="4113232"/>
          </a:xfrm>
          <a:prstGeom prst="rect">
            <a:avLst/>
          </a:prstGeom>
          <a:noFill/>
          <a:ln>
            <a:noFill/>
          </a:ln>
        </p:spPr>
        <p:txBody>
          <a:bodyPr anchorCtr="0" anchor="t" bIns="45700" lIns="91425" spcFirstLastPara="1" rIns="91425" wrap="square" tIns="45700">
            <a:normAutofit/>
          </a:bodyPr>
          <a:lstStyle/>
          <a:p>
            <a:pPr indent="-228600" lvl="0" marL="228600" rtl="0" algn="just">
              <a:lnSpc>
                <a:spcPct val="140000"/>
              </a:lnSpc>
              <a:spcBef>
                <a:spcPts val="0"/>
              </a:spcBef>
              <a:spcAft>
                <a:spcPts val="0"/>
              </a:spcAft>
              <a:buClr>
                <a:srgbClr val="2C2C2C"/>
              </a:buClr>
              <a:buSzPts val="2000"/>
              <a:buChar char="•"/>
            </a:pPr>
            <a:r>
              <a:rPr b="0" i="0" lang="en-IN" u="none" strike="noStrike">
                <a:latin typeface="Times New Roman"/>
                <a:ea typeface="Times New Roman"/>
                <a:cs typeface="Times New Roman"/>
                <a:sym typeface="Times New Roman"/>
              </a:rPr>
              <a:t>the lowest layer is the </a:t>
            </a:r>
            <a:r>
              <a:rPr b="1" i="0" lang="en-IN" u="none" strike="noStrike">
                <a:latin typeface="Times New Roman"/>
                <a:ea typeface="Times New Roman"/>
                <a:cs typeface="Times New Roman"/>
                <a:sym typeface="Times New Roman"/>
              </a:rPr>
              <a:t>Network</a:t>
            </a:r>
            <a:r>
              <a:rPr b="0" i="0" lang="en-IN" u="none" strike="noStrike">
                <a:latin typeface="Times New Roman"/>
                <a:ea typeface="Times New Roman"/>
                <a:cs typeface="Times New Roman"/>
                <a:sym typeface="Times New Roman"/>
              </a:rPr>
              <a:t>, which is usually the internet and provides a base communication layer for any blockchain.</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A peer-to-peer network runs on top of the </a:t>
            </a:r>
            <a:r>
              <a:rPr b="1" i="0" lang="en-IN" u="none" strike="noStrike">
                <a:latin typeface="Times New Roman"/>
                <a:ea typeface="Times New Roman"/>
                <a:cs typeface="Times New Roman"/>
                <a:sym typeface="Times New Roman"/>
              </a:rPr>
              <a:t>Network </a:t>
            </a:r>
            <a:r>
              <a:rPr b="0" i="0" lang="en-IN" u="none" strike="noStrike">
                <a:latin typeface="Times New Roman"/>
                <a:ea typeface="Times New Roman"/>
                <a:cs typeface="Times New Roman"/>
                <a:sym typeface="Times New Roman"/>
              </a:rPr>
              <a:t>layer, which consists of information propagation protocols such as gossip or flooding protocols.</a:t>
            </a:r>
            <a:endParaRPr/>
          </a:p>
          <a:p>
            <a:pPr indent="-228600" lvl="0" marL="228600" rtl="0" algn="just">
              <a:lnSpc>
                <a:spcPct val="140000"/>
              </a:lnSpc>
              <a:spcBef>
                <a:spcPts val="800"/>
              </a:spcBef>
              <a:spcAft>
                <a:spcPts val="0"/>
              </a:spcAft>
              <a:buClr>
                <a:srgbClr val="2C2C2C"/>
              </a:buClr>
              <a:buSzPts val="2000"/>
              <a:buChar char="•"/>
            </a:pPr>
            <a:r>
              <a:rPr b="1" i="0" lang="en-IN" u="none" strike="noStrike">
                <a:latin typeface="Times New Roman"/>
                <a:ea typeface="Times New Roman"/>
                <a:cs typeface="Times New Roman"/>
                <a:sym typeface="Times New Roman"/>
              </a:rPr>
              <a:t>Cryptography </a:t>
            </a:r>
            <a:r>
              <a:rPr b="0" i="0" lang="en-IN" u="none" strike="noStrike">
                <a:latin typeface="Times New Roman"/>
                <a:ea typeface="Times New Roman"/>
                <a:cs typeface="Times New Roman"/>
                <a:sym typeface="Times New Roman"/>
              </a:rPr>
              <a:t>layer, which contains crucial cryptographic protocols that ensure the security of the blockchain.</a:t>
            </a:r>
            <a:endParaRPr/>
          </a:p>
          <a:p>
            <a:pPr indent="-228600" lvl="0" marL="228600" rtl="0" algn="just">
              <a:lnSpc>
                <a:spcPct val="140000"/>
              </a:lnSpc>
              <a:spcBef>
                <a:spcPts val="800"/>
              </a:spcBef>
              <a:spcAft>
                <a:spcPts val="0"/>
              </a:spcAft>
              <a:buClr>
                <a:srgbClr val="2C2C2C"/>
              </a:buClr>
              <a:buSzPts val="2000"/>
              <a:buChar char="•"/>
            </a:pPr>
            <a:r>
              <a:rPr b="1" i="0" lang="en-IN" u="none" strike="noStrike">
                <a:latin typeface="Times New Roman"/>
                <a:ea typeface="Times New Roman"/>
                <a:cs typeface="Times New Roman"/>
                <a:sym typeface="Times New Roman"/>
              </a:rPr>
              <a:t>Consensus </a:t>
            </a:r>
            <a:r>
              <a:rPr b="0" i="0" lang="en-IN" u="none" strike="noStrike">
                <a:latin typeface="Times New Roman"/>
                <a:ea typeface="Times New Roman"/>
                <a:cs typeface="Times New Roman"/>
                <a:sym typeface="Times New Roman"/>
              </a:rPr>
              <a:t>layer, which is concerned with the usage of various consensus mechanisms to ensure agreement among different participants of the blockchain.</a:t>
            </a:r>
            <a:endParaRPr>
              <a:latin typeface="Times New Roman"/>
              <a:ea typeface="Times New Roman"/>
              <a:cs typeface="Times New Roman"/>
              <a:sym typeface="Times New Roman"/>
            </a:endParaRPr>
          </a:p>
        </p:txBody>
      </p:sp>
      <p:sp>
        <p:nvSpPr>
          <p:cNvPr id="254" name="Google Shape;254;p24"/>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5"/>
          <p:cNvSpPr txBox="1"/>
          <p:nvPr>
            <p:ph idx="1" type="body"/>
          </p:nvPr>
        </p:nvSpPr>
        <p:spPr>
          <a:xfrm>
            <a:off x="648000" y="1404000"/>
            <a:ext cx="10800000" cy="4401264"/>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2000"/>
              <a:buChar char="•"/>
            </a:pPr>
            <a:r>
              <a:rPr b="1" i="0" lang="en-IN" u="none" strike="noStrike">
                <a:latin typeface="Times New Roman"/>
                <a:ea typeface="Times New Roman"/>
                <a:cs typeface="Times New Roman"/>
                <a:sym typeface="Times New Roman"/>
              </a:rPr>
              <a:t>Execution </a:t>
            </a:r>
            <a:r>
              <a:rPr b="0" i="0" lang="en-IN" u="none" strike="noStrike">
                <a:latin typeface="Times New Roman"/>
                <a:ea typeface="Times New Roman"/>
                <a:cs typeface="Times New Roman"/>
                <a:sym typeface="Times New Roman"/>
              </a:rPr>
              <a:t>layer, which can consist of virtual machines, blocks, transaction, and smart contracts. This layer, as the name suggests, provides executions services on the blockchain and performs operations such as value transfer, smart contract execution, and block generation. Virtual machines such as </a:t>
            </a:r>
            <a:r>
              <a:rPr b="1" i="0" lang="en-IN" u="none" strike="noStrike">
                <a:latin typeface="Times New Roman"/>
                <a:ea typeface="Times New Roman"/>
                <a:cs typeface="Times New Roman"/>
                <a:sym typeface="Times New Roman"/>
              </a:rPr>
              <a:t>Ethereum Virtual Machine </a:t>
            </a:r>
            <a:r>
              <a:rPr b="0" i="0" lang="en-IN" u="none" strike="noStrike">
                <a:latin typeface="Times New Roman"/>
                <a:ea typeface="Times New Roman"/>
                <a:cs typeface="Times New Roman"/>
                <a:sym typeface="Times New Roman"/>
              </a:rPr>
              <a:t>(</a:t>
            </a:r>
            <a:r>
              <a:rPr b="1" i="0" lang="en-IN" u="none" strike="noStrike">
                <a:latin typeface="Times New Roman"/>
                <a:ea typeface="Times New Roman"/>
                <a:cs typeface="Times New Roman"/>
                <a:sym typeface="Times New Roman"/>
              </a:rPr>
              <a:t>EVM</a:t>
            </a:r>
            <a:r>
              <a:rPr b="0" i="0" lang="en-IN" u="none" strike="noStrike">
                <a:latin typeface="Times New Roman"/>
                <a:ea typeface="Times New Roman"/>
                <a:cs typeface="Times New Roman"/>
                <a:sym typeface="Times New Roman"/>
              </a:rPr>
              <a:t>) provide an execution environment for smart contracts to execute.</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Finally, the </a:t>
            </a:r>
            <a:r>
              <a:rPr b="1" i="0" lang="en-IN" u="none" strike="noStrike">
                <a:latin typeface="Times New Roman"/>
                <a:ea typeface="Times New Roman"/>
                <a:cs typeface="Times New Roman"/>
                <a:sym typeface="Times New Roman"/>
              </a:rPr>
              <a:t>Applications </a:t>
            </a:r>
            <a:r>
              <a:rPr b="0" i="0" lang="en-IN" u="none" strike="noStrike">
                <a:latin typeface="Times New Roman"/>
                <a:ea typeface="Times New Roman"/>
                <a:cs typeface="Times New Roman"/>
                <a:sym typeface="Times New Roman"/>
              </a:rPr>
              <a:t>layer, which is composed of smart contracts, decentralized applications, DAOs, and autonomous agents. This layer can effectively contain all sorts of various user level agents and programs that operate on the blockchain. Users interact with the blockchain via decentralized applications.</a:t>
            </a:r>
            <a:endParaRPr>
              <a:latin typeface="Times New Roman"/>
              <a:ea typeface="Times New Roman"/>
              <a:cs typeface="Times New Roman"/>
              <a:sym typeface="Times New Roman"/>
            </a:endParaRPr>
          </a:p>
        </p:txBody>
      </p:sp>
      <p:sp>
        <p:nvSpPr>
          <p:cNvPr id="260" name="Google Shape;260;p25"/>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cxnSp>
        <p:nvCxnSpPr>
          <p:cNvPr id="265" name="Google Shape;265;p26"/>
          <p:cNvCxnSpPr/>
          <p:nvPr/>
        </p:nvCxnSpPr>
        <p:spPr>
          <a:xfrm flipH="1">
            <a:off x="5987795" y="1652336"/>
            <a:ext cx="1363500" cy="1203300"/>
          </a:xfrm>
          <a:prstGeom prst="curvedConnector3">
            <a:avLst>
              <a:gd fmla="val 50000" name="adj1"/>
            </a:avLst>
          </a:prstGeom>
          <a:noFill/>
          <a:ln cap="flat" cmpd="sng" w="9525">
            <a:solidFill>
              <a:schemeClr val="accent1"/>
            </a:solidFill>
            <a:prstDash val="solid"/>
            <a:miter lim="800000"/>
            <a:headEnd len="sm" w="sm" type="none"/>
            <a:tailEnd len="med" w="med" type="triangle"/>
          </a:ln>
        </p:spPr>
      </p:cxnSp>
      <p:sp>
        <p:nvSpPr>
          <p:cNvPr id="266" name="Google Shape;266;p26"/>
          <p:cNvSpPr/>
          <p:nvPr/>
        </p:nvSpPr>
        <p:spPr>
          <a:xfrm>
            <a:off x="421102" y="1652336"/>
            <a:ext cx="2101516" cy="3384884"/>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N" sz="1800">
                <a:solidFill>
                  <a:schemeClr val="dk1"/>
                </a:solidFill>
                <a:latin typeface="Calibri"/>
                <a:ea typeface="Calibri"/>
                <a:cs typeface="Calibri"/>
                <a:sym typeface="Calibri"/>
              </a:rPr>
              <a:t>Genesis block</a:t>
            </a:r>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IN" sz="1800">
                <a:solidFill>
                  <a:schemeClr val="dk1"/>
                </a:solidFill>
                <a:latin typeface="Calibri"/>
                <a:ea typeface="Calibri"/>
                <a:cs typeface="Calibri"/>
                <a:sym typeface="Calibri"/>
              </a:rPr>
              <a:t>Transactions &amp; other data</a:t>
            </a:r>
            <a:endParaRPr/>
          </a:p>
        </p:txBody>
      </p:sp>
      <p:cxnSp>
        <p:nvCxnSpPr>
          <p:cNvPr id="267" name="Google Shape;267;p26"/>
          <p:cNvCxnSpPr/>
          <p:nvPr/>
        </p:nvCxnSpPr>
        <p:spPr>
          <a:xfrm flipH="1">
            <a:off x="2522698" y="1652336"/>
            <a:ext cx="1363500" cy="1203300"/>
          </a:xfrm>
          <a:prstGeom prst="curvedConnector3">
            <a:avLst>
              <a:gd fmla="val 50000" name="adj1"/>
            </a:avLst>
          </a:prstGeom>
          <a:noFill/>
          <a:ln cap="flat" cmpd="sng" w="9525">
            <a:solidFill>
              <a:schemeClr val="accent1"/>
            </a:solidFill>
            <a:prstDash val="solid"/>
            <a:miter lim="800000"/>
            <a:headEnd len="sm" w="sm" type="none"/>
            <a:tailEnd len="med" w="med" type="triangle"/>
          </a:ln>
        </p:spPr>
      </p:cxnSp>
      <p:grpSp>
        <p:nvGrpSpPr>
          <p:cNvPr id="268" name="Google Shape;268;p26"/>
          <p:cNvGrpSpPr/>
          <p:nvPr/>
        </p:nvGrpSpPr>
        <p:grpSpPr>
          <a:xfrm>
            <a:off x="3886198" y="1652336"/>
            <a:ext cx="2101517" cy="3384884"/>
            <a:chOff x="4588041" y="1475872"/>
            <a:chExt cx="2101517" cy="3384884"/>
          </a:xfrm>
        </p:grpSpPr>
        <p:sp>
          <p:nvSpPr>
            <p:cNvPr id="269" name="Google Shape;269;p26"/>
            <p:cNvSpPr/>
            <p:nvPr/>
          </p:nvSpPr>
          <p:spPr>
            <a:xfrm>
              <a:off x="4588042" y="1475872"/>
              <a:ext cx="2101516" cy="3384884"/>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dk1"/>
                  </a:solidFill>
                  <a:latin typeface="Calibri"/>
                  <a:ea typeface="Calibri"/>
                  <a:cs typeface="Calibri"/>
                  <a:sym typeface="Calibri"/>
                </a:rPr>
                <a:t>Block 1</a:t>
              </a:r>
              <a:endParaRPr/>
            </a:p>
            <a:p>
              <a:pPr indent="0" lvl="0" marL="0" marR="0" rtl="0" algn="ctr">
                <a:spcBef>
                  <a:spcPts val="0"/>
                </a:spcBef>
                <a:spcAft>
                  <a:spcPts val="0"/>
                </a:spcAft>
                <a:buNone/>
              </a:pPr>
              <a:r>
                <a:rPr lang="en-IN" sz="1800">
                  <a:solidFill>
                    <a:schemeClr val="dk1"/>
                  </a:solidFill>
                  <a:latin typeface="Calibri"/>
                  <a:ea typeface="Calibri"/>
                  <a:cs typeface="Calibri"/>
                  <a:sym typeface="Calibri"/>
                </a:rPr>
                <a:t>Transactions &amp; other data</a:t>
              </a:r>
              <a:endParaRPr/>
            </a:p>
          </p:txBody>
        </p:sp>
        <p:sp>
          <p:nvSpPr>
            <p:cNvPr id="270" name="Google Shape;270;p26"/>
            <p:cNvSpPr/>
            <p:nvPr/>
          </p:nvSpPr>
          <p:spPr>
            <a:xfrm>
              <a:off x="4588041" y="1475872"/>
              <a:ext cx="2101516" cy="601579"/>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Previous hash</a:t>
              </a:r>
              <a:endParaRPr/>
            </a:p>
          </p:txBody>
        </p:sp>
      </p:grpSp>
      <p:grpSp>
        <p:nvGrpSpPr>
          <p:cNvPr id="271" name="Google Shape;271;p26"/>
          <p:cNvGrpSpPr/>
          <p:nvPr/>
        </p:nvGrpSpPr>
        <p:grpSpPr>
          <a:xfrm>
            <a:off x="7351294" y="1652336"/>
            <a:ext cx="2101516" cy="3384886"/>
            <a:chOff x="8053137" y="1475872"/>
            <a:chExt cx="2101516" cy="3384886"/>
          </a:xfrm>
        </p:grpSpPr>
        <p:sp>
          <p:nvSpPr>
            <p:cNvPr id="272" name="Google Shape;272;p26"/>
            <p:cNvSpPr/>
            <p:nvPr/>
          </p:nvSpPr>
          <p:spPr>
            <a:xfrm>
              <a:off x="8053137" y="1475874"/>
              <a:ext cx="2101516" cy="3384884"/>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dk1"/>
                  </a:solidFill>
                  <a:latin typeface="Calibri"/>
                  <a:ea typeface="Calibri"/>
                  <a:cs typeface="Calibri"/>
                  <a:sym typeface="Calibri"/>
                </a:rPr>
                <a:t>Block 2</a:t>
              </a:r>
              <a:endParaRPr/>
            </a:p>
            <a:p>
              <a:pPr indent="0" lvl="0" marL="0" marR="0" rtl="0" algn="ctr">
                <a:spcBef>
                  <a:spcPts val="0"/>
                </a:spcBef>
                <a:spcAft>
                  <a:spcPts val="0"/>
                </a:spcAft>
                <a:buNone/>
              </a:pPr>
              <a:r>
                <a:rPr lang="en-IN" sz="1800">
                  <a:solidFill>
                    <a:schemeClr val="dk1"/>
                  </a:solidFill>
                  <a:latin typeface="Calibri"/>
                  <a:ea typeface="Calibri"/>
                  <a:cs typeface="Calibri"/>
                  <a:sym typeface="Calibri"/>
                </a:rPr>
                <a:t>Transactions &amp; other data</a:t>
              </a:r>
              <a:endParaRPr/>
            </a:p>
          </p:txBody>
        </p:sp>
        <p:sp>
          <p:nvSpPr>
            <p:cNvPr id="273" name="Google Shape;273;p26"/>
            <p:cNvSpPr/>
            <p:nvPr/>
          </p:nvSpPr>
          <p:spPr>
            <a:xfrm>
              <a:off x="8053137" y="1475872"/>
              <a:ext cx="2101516" cy="601579"/>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Previous hash</a:t>
              </a:r>
              <a:endParaRPr/>
            </a:p>
          </p:txBody>
        </p:sp>
      </p:grpSp>
      <p:sp>
        <p:nvSpPr>
          <p:cNvPr id="274" name="Google Shape;274;p26"/>
          <p:cNvSpPr txBox="1"/>
          <p:nvPr/>
        </p:nvSpPr>
        <p:spPr>
          <a:xfrm>
            <a:off x="9452810" y="2870612"/>
            <a:ext cx="166837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a:solidFill>
                  <a:schemeClr val="dk1"/>
                </a:solidFill>
                <a:latin typeface="Calibri"/>
                <a:ea typeface="Calibri"/>
                <a:cs typeface="Calibri"/>
                <a:sym typeface="Calibri"/>
              </a:rPr>
              <a:t>. . . . .</a:t>
            </a:r>
            <a:endParaRPr/>
          </a:p>
        </p:txBody>
      </p:sp>
      <p:grpSp>
        <p:nvGrpSpPr>
          <p:cNvPr id="275" name="Google Shape;275;p26"/>
          <p:cNvGrpSpPr/>
          <p:nvPr/>
        </p:nvGrpSpPr>
        <p:grpSpPr>
          <a:xfrm>
            <a:off x="10595813" y="2001254"/>
            <a:ext cx="1419725" cy="2582782"/>
            <a:chOff x="8053137" y="1036435"/>
            <a:chExt cx="2101516" cy="3824323"/>
          </a:xfrm>
        </p:grpSpPr>
        <p:sp>
          <p:nvSpPr>
            <p:cNvPr id="276" name="Google Shape;276;p26"/>
            <p:cNvSpPr/>
            <p:nvPr/>
          </p:nvSpPr>
          <p:spPr>
            <a:xfrm>
              <a:off x="8053137" y="1475874"/>
              <a:ext cx="2101516" cy="3384884"/>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dk1"/>
                  </a:solidFill>
                  <a:latin typeface="Calibri"/>
                  <a:ea typeface="Calibri"/>
                  <a:cs typeface="Calibri"/>
                  <a:sym typeface="Calibri"/>
                </a:rPr>
                <a:t>Block N </a:t>
              </a:r>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IN" sz="1800">
                  <a:solidFill>
                    <a:schemeClr val="dk1"/>
                  </a:solidFill>
                  <a:latin typeface="Calibri"/>
                  <a:ea typeface="Calibri"/>
                  <a:cs typeface="Calibri"/>
                  <a:sym typeface="Calibri"/>
                </a:rPr>
                <a:t>Transactions &amp; other data</a:t>
              </a:r>
              <a:endParaRPr/>
            </a:p>
          </p:txBody>
        </p:sp>
        <p:sp>
          <p:nvSpPr>
            <p:cNvPr id="277" name="Google Shape;277;p26"/>
            <p:cNvSpPr/>
            <p:nvPr/>
          </p:nvSpPr>
          <p:spPr>
            <a:xfrm>
              <a:off x="8053137" y="1036435"/>
              <a:ext cx="2101516" cy="1041016"/>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chemeClr val="lt1"/>
                  </a:solidFill>
                  <a:latin typeface="Calibri"/>
                  <a:ea typeface="Calibri"/>
                  <a:cs typeface="Calibri"/>
                  <a:sym typeface="Calibri"/>
                </a:rPr>
                <a:t>Previous hash</a:t>
              </a:r>
              <a:endParaRPr/>
            </a:p>
          </p:txBody>
        </p:sp>
      </p:grpSp>
      <p:sp>
        <p:nvSpPr>
          <p:cNvPr id="278" name="Google Shape;278;p26"/>
          <p:cNvSpPr txBox="1"/>
          <p:nvPr/>
        </p:nvSpPr>
        <p:spPr>
          <a:xfrm>
            <a:off x="746175" y="476674"/>
            <a:ext cx="7620001"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3200">
                <a:solidFill>
                  <a:srgbClr val="000000"/>
                </a:solidFill>
                <a:latin typeface="Arial"/>
                <a:ea typeface="Arial"/>
                <a:cs typeface="Arial"/>
                <a:sym typeface="Arial"/>
              </a:rPr>
              <a:t>Generic structure of a blockchain</a:t>
            </a:r>
            <a:endParaRPr sz="1800">
              <a:solidFill>
                <a:schemeClr val="dk1"/>
              </a:solidFill>
              <a:latin typeface="Arial"/>
              <a:ea typeface="Arial"/>
              <a:cs typeface="Arial"/>
              <a:sym typeface="Arial"/>
            </a:endParaRPr>
          </a:p>
        </p:txBody>
      </p:sp>
      <p:sp>
        <p:nvSpPr>
          <p:cNvPr id="279" name="Google Shape;279;p26"/>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13</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7"/>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285" name="Google Shape;285;p27"/>
          <p:cNvSpPr txBox="1"/>
          <p:nvPr>
            <p:ph type="title"/>
          </p:nvPr>
        </p:nvSpPr>
        <p:spPr>
          <a:xfrm>
            <a:off x="644400" y="352046"/>
            <a:ext cx="10515600" cy="73594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Generic elements of a blockchain</a:t>
            </a:r>
            <a:endParaRPr/>
          </a:p>
        </p:txBody>
      </p:sp>
      <p:sp>
        <p:nvSpPr>
          <p:cNvPr id="286" name="Google Shape;286;p27"/>
          <p:cNvSpPr txBox="1"/>
          <p:nvPr>
            <p:ph idx="1" type="body"/>
          </p:nvPr>
        </p:nvSpPr>
        <p:spPr>
          <a:xfrm>
            <a:off x="479376" y="1087986"/>
            <a:ext cx="10680624" cy="5252212"/>
          </a:xfrm>
          <a:prstGeom prst="rect">
            <a:avLst/>
          </a:prstGeom>
          <a:noFill/>
          <a:ln>
            <a:noFill/>
          </a:ln>
        </p:spPr>
        <p:txBody>
          <a:bodyPr anchorCtr="0" anchor="t" bIns="45700" lIns="91425" spcFirstLastPara="1" rIns="91425" wrap="square" tIns="45700">
            <a:normAutofit fontScale="25000" lnSpcReduction="20000"/>
          </a:bodyPr>
          <a:lstStyle/>
          <a:p>
            <a:pPr indent="0" lvl="0" marL="0" rtl="0" algn="just">
              <a:lnSpc>
                <a:spcPct val="150000"/>
              </a:lnSpc>
              <a:spcBef>
                <a:spcPts val="0"/>
              </a:spcBef>
              <a:spcAft>
                <a:spcPts val="0"/>
              </a:spcAft>
              <a:buClr>
                <a:srgbClr val="2C2C2C"/>
              </a:buClr>
              <a:buSzPct val="100000"/>
              <a:buNone/>
            </a:pPr>
            <a:r>
              <a:rPr b="1" lang="en-IN" sz="8000">
                <a:latin typeface="Times New Roman"/>
                <a:ea typeface="Times New Roman"/>
                <a:cs typeface="Times New Roman"/>
                <a:sym typeface="Times New Roman"/>
              </a:rPr>
              <a:t>Addresses</a:t>
            </a:r>
            <a:endParaRPr/>
          </a:p>
          <a:p>
            <a:pPr indent="-228600" lvl="0" marL="228600" rtl="0" algn="just">
              <a:lnSpc>
                <a:spcPct val="140000"/>
              </a:lnSpc>
              <a:spcBef>
                <a:spcPts val="800"/>
              </a:spcBef>
              <a:spcAft>
                <a:spcPts val="0"/>
              </a:spcAft>
              <a:buClr>
                <a:srgbClr val="2C2C2C"/>
              </a:buClr>
              <a:buSzPct val="100000"/>
              <a:buChar char="•"/>
            </a:pPr>
            <a:r>
              <a:rPr b="0" i="0" lang="en-IN" sz="8000" u="none" strike="noStrike">
                <a:latin typeface="Times New Roman"/>
                <a:ea typeface="Times New Roman"/>
                <a:cs typeface="Times New Roman"/>
                <a:sym typeface="Times New Roman"/>
              </a:rPr>
              <a:t>Addresses are unique identifiers used in a blockchain transaction to denote senders and recipients. An address is usually a public key or derived from a public key algorithm.</a:t>
            </a:r>
            <a:endParaRPr b="0" i="0" sz="8000" u="none" strike="noStrike">
              <a:latin typeface="Times New Roman"/>
              <a:ea typeface="Times New Roman"/>
              <a:cs typeface="Times New Roman"/>
              <a:sym typeface="Times New Roman"/>
            </a:endParaRPr>
          </a:p>
          <a:p>
            <a:pPr indent="0" lvl="0" marL="0" rtl="0" algn="just">
              <a:lnSpc>
                <a:spcPct val="140000"/>
              </a:lnSpc>
              <a:spcBef>
                <a:spcPts val="800"/>
              </a:spcBef>
              <a:spcAft>
                <a:spcPts val="0"/>
              </a:spcAft>
              <a:buClr>
                <a:srgbClr val="2C2C2C"/>
              </a:buClr>
              <a:buSzPct val="100000"/>
              <a:buNone/>
            </a:pPr>
            <a:r>
              <a:rPr b="1" lang="en-IN" sz="8000">
                <a:latin typeface="Times New Roman"/>
                <a:ea typeface="Times New Roman"/>
                <a:cs typeface="Times New Roman"/>
                <a:sym typeface="Times New Roman"/>
              </a:rPr>
              <a:t>Transactions</a:t>
            </a:r>
            <a:endParaRPr/>
          </a:p>
          <a:p>
            <a:pPr indent="-228600" lvl="0" marL="228600" rtl="0" algn="just">
              <a:lnSpc>
                <a:spcPct val="140000"/>
              </a:lnSpc>
              <a:spcBef>
                <a:spcPts val="800"/>
              </a:spcBef>
              <a:spcAft>
                <a:spcPts val="0"/>
              </a:spcAft>
              <a:buClr>
                <a:srgbClr val="2C2C2C"/>
              </a:buClr>
              <a:buSzPct val="100000"/>
              <a:buChar char="•"/>
            </a:pPr>
            <a:r>
              <a:rPr b="0" i="0" lang="en-IN" sz="8000" u="none" strike="noStrike">
                <a:latin typeface="Times New Roman"/>
                <a:ea typeface="Times New Roman"/>
                <a:cs typeface="Times New Roman"/>
                <a:sym typeface="Times New Roman"/>
              </a:rPr>
              <a:t>A transaction is the fundamental unit of a blockchain. A transaction represents a transfer of value from one address to another.</a:t>
            </a:r>
            <a:endParaRPr sz="8000">
              <a:latin typeface="Times New Roman"/>
              <a:ea typeface="Times New Roman"/>
              <a:cs typeface="Times New Roman"/>
              <a:sym typeface="Times New Roman"/>
            </a:endParaRPr>
          </a:p>
          <a:p>
            <a:pPr indent="0" lvl="0" marL="0" rtl="0" algn="just">
              <a:lnSpc>
                <a:spcPct val="150000"/>
              </a:lnSpc>
              <a:spcBef>
                <a:spcPts val="800"/>
              </a:spcBef>
              <a:spcAft>
                <a:spcPts val="0"/>
              </a:spcAft>
              <a:buClr>
                <a:srgbClr val="2C2C2C"/>
              </a:buClr>
              <a:buSzPct val="100000"/>
              <a:buNone/>
            </a:pPr>
            <a:r>
              <a:rPr b="1" lang="en-IN" sz="8000">
                <a:latin typeface="Times New Roman"/>
                <a:ea typeface="Times New Roman"/>
                <a:cs typeface="Times New Roman"/>
                <a:sym typeface="Times New Roman"/>
              </a:rPr>
              <a:t>Blocks</a:t>
            </a:r>
            <a:endParaRPr/>
          </a:p>
          <a:p>
            <a:pPr indent="-228600" lvl="0" marL="228600" rtl="0" algn="just">
              <a:lnSpc>
                <a:spcPct val="140000"/>
              </a:lnSpc>
              <a:spcBef>
                <a:spcPts val="800"/>
              </a:spcBef>
              <a:spcAft>
                <a:spcPts val="0"/>
              </a:spcAft>
              <a:buClr>
                <a:srgbClr val="2C2C2C"/>
              </a:buClr>
              <a:buSzPct val="100000"/>
              <a:buChar char="•"/>
            </a:pPr>
            <a:r>
              <a:rPr b="0" i="0" lang="en-IN" sz="8000" u="none" strike="noStrike">
                <a:latin typeface="Times New Roman"/>
                <a:ea typeface="Times New Roman"/>
                <a:cs typeface="Times New Roman"/>
                <a:sym typeface="Times New Roman"/>
              </a:rPr>
              <a:t>A block is composed of multiple transactions and other elements, such as the previous block hash (hash pointer), timestamp, and nonce.</a:t>
            </a:r>
            <a:endParaRPr sz="8000">
              <a:latin typeface="Times New Roman"/>
              <a:ea typeface="Times New Roman"/>
              <a:cs typeface="Times New Roman"/>
              <a:sym typeface="Times New Roman"/>
            </a:endParaRPr>
          </a:p>
          <a:p>
            <a:pPr indent="0" lvl="0" marL="0" rtl="0" algn="just">
              <a:lnSpc>
                <a:spcPct val="150000"/>
              </a:lnSpc>
              <a:spcBef>
                <a:spcPts val="800"/>
              </a:spcBef>
              <a:spcAft>
                <a:spcPts val="0"/>
              </a:spcAft>
              <a:buClr>
                <a:srgbClr val="2C2C2C"/>
              </a:buClr>
              <a:buSzPct val="100000"/>
              <a:buNone/>
            </a:pPr>
            <a:r>
              <a:rPr b="1" lang="en-IN" sz="8000">
                <a:latin typeface="Times New Roman"/>
                <a:ea typeface="Times New Roman"/>
                <a:cs typeface="Times New Roman"/>
                <a:sym typeface="Times New Roman"/>
              </a:rPr>
              <a:t>Peer-to-peer network</a:t>
            </a:r>
            <a:endParaRPr/>
          </a:p>
          <a:p>
            <a:pPr indent="-228600" lvl="0" marL="228600" rtl="0" algn="just">
              <a:lnSpc>
                <a:spcPct val="140000"/>
              </a:lnSpc>
              <a:spcBef>
                <a:spcPts val="800"/>
              </a:spcBef>
              <a:spcAft>
                <a:spcPts val="0"/>
              </a:spcAft>
              <a:buClr>
                <a:srgbClr val="2C2C2C"/>
              </a:buClr>
              <a:buSzPct val="100000"/>
              <a:buChar char="•"/>
            </a:pPr>
            <a:r>
              <a:rPr b="0" i="0" lang="en-IN" sz="8000" u="none" strike="noStrike">
                <a:latin typeface="Times New Roman"/>
                <a:ea typeface="Times New Roman"/>
                <a:cs typeface="Times New Roman"/>
                <a:sym typeface="Times New Roman"/>
              </a:rPr>
              <a:t>As the name implies, a </a:t>
            </a:r>
            <a:r>
              <a:rPr b="0" i="1" lang="en-IN" sz="8000" u="none" strike="noStrike">
                <a:latin typeface="Times New Roman"/>
                <a:ea typeface="Times New Roman"/>
                <a:cs typeface="Times New Roman"/>
                <a:sym typeface="Times New Roman"/>
              </a:rPr>
              <a:t>peer-to-peer network </a:t>
            </a:r>
            <a:r>
              <a:rPr b="0" i="0" lang="en-IN" sz="8000" u="none" strike="noStrike">
                <a:latin typeface="Times New Roman"/>
                <a:ea typeface="Times New Roman"/>
                <a:cs typeface="Times New Roman"/>
                <a:sym typeface="Times New Roman"/>
              </a:rPr>
              <a:t>is a network topology wherein all peers can communicate with each other and send and receive messages.</a:t>
            </a:r>
            <a:endParaRPr sz="8000">
              <a:latin typeface="Times New Roman"/>
              <a:ea typeface="Times New Roman"/>
              <a:cs typeface="Times New Roman"/>
              <a:sym typeface="Times New Roman"/>
            </a:endParaRPr>
          </a:p>
          <a:p>
            <a:pPr indent="-196850" lvl="0" marL="228600" rtl="0" algn="l">
              <a:lnSpc>
                <a:spcPct val="150000"/>
              </a:lnSpc>
              <a:spcBef>
                <a:spcPts val="800"/>
              </a:spcBef>
              <a:spcAft>
                <a:spcPts val="0"/>
              </a:spcAft>
              <a:buClr>
                <a:srgbClr val="2C2C2C"/>
              </a:buClr>
              <a:buSzPct val="100000"/>
              <a:buFont typeface="Arial"/>
              <a:buNone/>
            </a:pPr>
            <a:r>
              <a:t/>
            </a:r>
            <a:endParaRPr sz="2000"/>
          </a:p>
          <a:p>
            <a:pPr indent="-196850" lvl="0" marL="228600" rtl="0" algn="l">
              <a:lnSpc>
                <a:spcPct val="150000"/>
              </a:lnSpc>
              <a:spcBef>
                <a:spcPts val="800"/>
              </a:spcBef>
              <a:spcAft>
                <a:spcPts val="0"/>
              </a:spcAft>
              <a:buClr>
                <a:srgbClr val="2C2C2C"/>
              </a:buClr>
              <a:buSzPct val="100000"/>
              <a:buFont typeface="Arial"/>
              <a:buNone/>
            </a:pPr>
            <a:r>
              <a:t/>
            </a:r>
            <a:endParaRPr sz="2000"/>
          </a:p>
          <a:p>
            <a:pPr indent="-203200" lvl="1" marL="685800" rtl="0" algn="l">
              <a:lnSpc>
                <a:spcPct val="150000"/>
              </a:lnSpc>
              <a:spcBef>
                <a:spcPts val="800"/>
              </a:spcBef>
              <a:spcAft>
                <a:spcPts val="0"/>
              </a:spcAft>
              <a:buClr>
                <a:srgbClr val="2C2C2C"/>
              </a:buClr>
              <a:buSzPct val="100000"/>
              <a:buFont typeface="Arial"/>
              <a:buNone/>
            </a:pPr>
            <a:r>
              <a:t/>
            </a:r>
            <a:endParaRPr sz="1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292" name="Google Shape;292;p28"/>
          <p:cNvSpPr txBox="1"/>
          <p:nvPr>
            <p:ph type="title"/>
          </p:nvPr>
        </p:nvSpPr>
        <p:spPr>
          <a:xfrm>
            <a:off x="644400" y="460813"/>
            <a:ext cx="10515600" cy="73594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Generic elements of a blockchain</a:t>
            </a:r>
            <a:endParaRPr/>
          </a:p>
        </p:txBody>
      </p:sp>
      <p:sp>
        <p:nvSpPr>
          <p:cNvPr id="293" name="Google Shape;293;p28"/>
          <p:cNvSpPr txBox="1"/>
          <p:nvPr>
            <p:ph idx="1" type="body"/>
          </p:nvPr>
        </p:nvSpPr>
        <p:spPr>
          <a:xfrm>
            <a:off x="479376" y="1556792"/>
            <a:ext cx="10515600" cy="4783405"/>
          </a:xfrm>
          <a:prstGeom prst="rect">
            <a:avLst/>
          </a:prstGeom>
          <a:noFill/>
          <a:ln>
            <a:noFill/>
          </a:ln>
        </p:spPr>
        <p:txBody>
          <a:bodyPr anchorCtr="0" anchor="t" bIns="45700" lIns="91425" spcFirstLastPara="1" rIns="91425" wrap="square" tIns="45700">
            <a:normAutofit fontScale="55000" lnSpcReduction="20000"/>
          </a:bodyPr>
          <a:lstStyle/>
          <a:p>
            <a:pPr indent="0" lvl="0" marL="0" rtl="0" algn="just">
              <a:lnSpc>
                <a:spcPct val="150000"/>
              </a:lnSpc>
              <a:spcBef>
                <a:spcPts val="0"/>
              </a:spcBef>
              <a:spcAft>
                <a:spcPts val="0"/>
              </a:spcAft>
              <a:buClr>
                <a:srgbClr val="2C2C2C"/>
              </a:buClr>
              <a:buSzPct val="100000"/>
              <a:buNone/>
            </a:pPr>
            <a:r>
              <a:rPr b="1" lang="en-IN" sz="3600">
                <a:latin typeface="Times New Roman"/>
                <a:ea typeface="Times New Roman"/>
                <a:cs typeface="Times New Roman"/>
                <a:sym typeface="Times New Roman"/>
              </a:rPr>
              <a:t>Scripting or programming language</a:t>
            </a:r>
            <a:endParaRPr/>
          </a:p>
          <a:p>
            <a:pPr indent="-228600" lvl="0" marL="228600" rtl="0" algn="just">
              <a:lnSpc>
                <a:spcPct val="140000"/>
              </a:lnSpc>
              <a:spcBef>
                <a:spcPts val="800"/>
              </a:spcBef>
              <a:spcAft>
                <a:spcPts val="0"/>
              </a:spcAft>
              <a:buClr>
                <a:srgbClr val="2C2C2C"/>
              </a:buClr>
              <a:buSzPct val="100000"/>
              <a:buChar char="•"/>
            </a:pPr>
            <a:r>
              <a:rPr b="0" i="1" lang="en-IN" sz="3600" u="none" strike="noStrike">
                <a:latin typeface="Times New Roman"/>
                <a:ea typeface="Times New Roman"/>
                <a:cs typeface="Times New Roman"/>
                <a:sym typeface="Times New Roman"/>
              </a:rPr>
              <a:t>Scripts </a:t>
            </a:r>
            <a:r>
              <a:rPr b="0" i="0" lang="en-IN" sz="3600" u="none" strike="noStrike">
                <a:latin typeface="Times New Roman"/>
                <a:ea typeface="Times New Roman"/>
                <a:cs typeface="Times New Roman"/>
                <a:sym typeface="Times New Roman"/>
              </a:rPr>
              <a:t>or </a:t>
            </a:r>
            <a:r>
              <a:rPr b="0" i="1" lang="en-IN" sz="3600" u="none" strike="noStrike">
                <a:latin typeface="Times New Roman"/>
                <a:ea typeface="Times New Roman"/>
                <a:cs typeface="Times New Roman"/>
                <a:sym typeface="Times New Roman"/>
              </a:rPr>
              <a:t>programs </a:t>
            </a:r>
            <a:r>
              <a:rPr b="0" i="0" lang="en-IN" sz="3600" u="none" strike="noStrike">
                <a:latin typeface="Times New Roman"/>
                <a:ea typeface="Times New Roman"/>
                <a:cs typeface="Times New Roman"/>
                <a:sym typeface="Times New Roman"/>
              </a:rPr>
              <a:t>perform various operations on a transaction in order to facilitate various functions.</a:t>
            </a:r>
            <a:endParaRPr sz="3600">
              <a:latin typeface="Times New Roman"/>
              <a:ea typeface="Times New Roman"/>
              <a:cs typeface="Times New Roman"/>
              <a:sym typeface="Times New Roman"/>
            </a:endParaRPr>
          </a:p>
          <a:p>
            <a:pPr indent="0" lvl="0" marL="0" rtl="0" algn="just">
              <a:lnSpc>
                <a:spcPct val="150000"/>
              </a:lnSpc>
              <a:spcBef>
                <a:spcPts val="800"/>
              </a:spcBef>
              <a:spcAft>
                <a:spcPts val="0"/>
              </a:spcAft>
              <a:buClr>
                <a:srgbClr val="2C2C2C"/>
              </a:buClr>
              <a:buSzPct val="100000"/>
              <a:buNone/>
            </a:pPr>
            <a:r>
              <a:rPr b="1" lang="en-IN" sz="3600">
                <a:latin typeface="Times New Roman"/>
                <a:ea typeface="Times New Roman"/>
                <a:cs typeface="Times New Roman"/>
                <a:sym typeface="Times New Roman"/>
              </a:rPr>
              <a:t>Virtual machine</a:t>
            </a:r>
            <a:endParaRPr/>
          </a:p>
          <a:p>
            <a:pPr indent="-228600" lvl="0" marL="228600" rtl="0" algn="just">
              <a:lnSpc>
                <a:spcPct val="140000"/>
              </a:lnSpc>
              <a:spcBef>
                <a:spcPts val="800"/>
              </a:spcBef>
              <a:spcAft>
                <a:spcPts val="0"/>
              </a:spcAft>
              <a:buClr>
                <a:srgbClr val="2C2C2C"/>
              </a:buClr>
              <a:buSzPct val="100000"/>
              <a:buChar char="•"/>
            </a:pPr>
            <a:r>
              <a:rPr b="0" i="0" lang="en-IN" sz="3600" u="none" strike="noStrike">
                <a:latin typeface="Times New Roman"/>
                <a:ea typeface="Times New Roman"/>
                <a:cs typeface="Times New Roman"/>
                <a:sym typeface="Times New Roman"/>
              </a:rPr>
              <a:t>A </a:t>
            </a:r>
            <a:r>
              <a:rPr b="0" i="1" lang="en-IN" sz="3600" u="none" strike="noStrike">
                <a:latin typeface="Times New Roman"/>
                <a:ea typeface="Times New Roman"/>
                <a:cs typeface="Times New Roman"/>
                <a:sym typeface="Times New Roman"/>
              </a:rPr>
              <a:t>virtual machine </a:t>
            </a:r>
            <a:r>
              <a:rPr b="0" i="0" lang="en-IN" sz="3600" u="none" strike="noStrike">
                <a:latin typeface="Times New Roman"/>
                <a:ea typeface="Times New Roman"/>
                <a:cs typeface="Times New Roman"/>
                <a:sym typeface="Times New Roman"/>
              </a:rPr>
              <a:t>allows Turing complete code to be run on a blockchain (as smart contracts). </a:t>
            </a:r>
            <a:endParaRPr/>
          </a:p>
          <a:p>
            <a:pPr indent="-228600" lvl="0" marL="228600" rtl="0" algn="just">
              <a:lnSpc>
                <a:spcPct val="140000"/>
              </a:lnSpc>
              <a:spcBef>
                <a:spcPts val="800"/>
              </a:spcBef>
              <a:spcAft>
                <a:spcPts val="0"/>
              </a:spcAft>
              <a:buClr>
                <a:srgbClr val="2C2C2C"/>
              </a:buClr>
              <a:buSzPct val="100000"/>
              <a:buChar char="•"/>
            </a:pPr>
            <a:r>
              <a:rPr b="0" i="0" lang="en-IN" sz="3600" u="none" strike="noStrike">
                <a:latin typeface="Times New Roman"/>
                <a:ea typeface="Times New Roman"/>
                <a:cs typeface="Times New Roman"/>
                <a:sym typeface="Times New Roman"/>
              </a:rPr>
              <a:t>However, virtual machines are not available on all blockchains. Various blockchains use virtual machines to run programs such as </a:t>
            </a:r>
            <a:r>
              <a:rPr b="1" i="0" lang="en-IN" sz="3600" u="none" strike="noStrike">
                <a:latin typeface="Times New Roman"/>
                <a:ea typeface="Times New Roman"/>
                <a:cs typeface="Times New Roman"/>
                <a:sym typeface="Times New Roman"/>
              </a:rPr>
              <a:t>Ethereum Virtual Machine </a:t>
            </a:r>
            <a:r>
              <a:rPr b="0" i="0" lang="en-IN" sz="3600" u="none" strike="noStrike">
                <a:latin typeface="Times New Roman"/>
                <a:ea typeface="Times New Roman"/>
                <a:cs typeface="Times New Roman"/>
                <a:sym typeface="Times New Roman"/>
              </a:rPr>
              <a:t>(</a:t>
            </a:r>
            <a:r>
              <a:rPr b="1" i="0" lang="en-IN" sz="3600" u="none" strike="noStrike">
                <a:latin typeface="Times New Roman"/>
                <a:ea typeface="Times New Roman"/>
                <a:cs typeface="Times New Roman"/>
                <a:sym typeface="Times New Roman"/>
              </a:rPr>
              <a:t>EVM</a:t>
            </a:r>
            <a:r>
              <a:rPr b="0" i="0" lang="en-IN" sz="3600" u="none" strike="noStrike">
                <a:latin typeface="Times New Roman"/>
                <a:ea typeface="Times New Roman"/>
                <a:cs typeface="Times New Roman"/>
                <a:sym typeface="Times New Roman"/>
              </a:rPr>
              <a:t>) and </a:t>
            </a:r>
            <a:r>
              <a:rPr b="1" i="0" lang="en-IN" sz="3600" u="none" strike="noStrike">
                <a:latin typeface="Times New Roman"/>
                <a:ea typeface="Times New Roman"/>
                <a:cs typeface="Times New Roman"/>
                <a:sym typeface="Times New Roman"/>
              </a:rPr>
              <a:t>Chain Virtual Machine </a:t>
            </a:r>
            <a:r>
              <a:rPr b="0" i="0" lang="en-IN" sz="3600" u="none" strike="noStrike">
                <a:latin typeface="Times New Roman"/>
                <a:ea typeface="Times New Roman"/>
                <a:cs typeface="Times New Roman"/>
                <a:sym typeface="Times New Roman"/>
              </a:rPr>
              <a:t>(</a:t>
            </a:r>
            <a:r>
              <a:rPr b="1" i="0" lang="en-IN" sz="3600" u="none" strike="noStrike">
                <a:latin typeface="Times New Roman"/>
                <a:ea typeface="Times New Roman"/>
                <a:cs typeface="Times New Roman"/>
                <a:sym typeface="Times New Roman"/>
              </a:rPr>
              <a:t>CVM</a:t>
            </a:r>
            <a:r>
              <a:rPr b="0" i="0" lang="en-IN" sz="3600" u="none" strike="noStrike">
                <a:latin typeface="Times New Roman"/>
                <a:ea typeface="Times New Roman"/>
                <a:cs typeface="Times New Roman"/>
                <a:sym typeface="Times New Roman"/>
              </a:rPr>
              <a:t>). EVM is used in the Ethereum blockchain, while CVM is a virtual machine developed for and used in an enterprise-grade blockchain called "Chain Core."</a:t>
            </a:r>
            <a:endParaRPr sz="3600">
              <a:latin typeface="Times New Roman"/>
              <a:ea typeface="Times New Roman"/>
              <a:cs typeface="Times New Roman"/>
              <a:sym typeface="Times New Roman"/>
            </a:endParaRPr>
          </a:p>
          <a:p>
            <a:pPr indent="-158750" lvl="0" marL="228600" rtl="0" algn="l">
              <a:lnSpc>
                <a:spcPct val="150000"/>
              </a:lnSpc>
              <a:spcBef>
                <a:spcPts val="800"/>
              </a:spcBef>
              <a:spcAft>
                <a:spcPts val="0"/>
              </a:spcAft>
              <a:buClr>
                <a:srgbClr val="2C2C2C"/>
              </a:buClr>
              <a:buSzPct val="100000"/>
              <a:buFont typeface="Arial"/>
              <a:buNone/>
            </a:pPr>
            <a:r>
              <a:t/>
            </a:r>
            <a:endParaRPr sz="2000"/>
          </a:p>
          <a:p>
            <a:pPr indent="-158750" lvl="0" marL="228600" rtl="0" algn="l">
              <a:lnSpc>
                <a:spcPct val="150000"/>
              </a:lnSpc>
              <a:spcBef>
                <a:spcPts val="800"/>
              </a:spcBef>
              <a:spcAft>
                <a:spcPts val="0"/>
              </a:spcAft>
              <a:buClr>
                <a:srgbClr val="2C2C2C"/>
              </a:buClr>
              <a:buSzPct val="100000"/>
              <a:buFont typeface="Arial"/>
              <a:buNone/>
            </a:pPr>
            <a:r>
              <a:t/>
            </a:r>
            <a:endParaRPr sz="2000"/>
          </a:p>
          <a:p>
            <a:pPr indent="-172719" lvl="1" marL="685800" rtl="0" algn="l">
              <a:lnSpc>
                <a:spcPct val="150000"/>
              </a:lnSpc>
              <a:spcBef>
                <a:spcPts val="800"/>
              </a:spcBef>
              <a:spcAft>
                <a:spcPts val="0"/>
              </a:spcAft>
              <a:buClr>
                <a:srgbClr val="2C2C2C"/>
              </a:buClr>
              <a:buSzPct val="100000"/>
              <a:buFont typeface="Arial"/>
              <a:buNone/>
            </a:pPr>
            <a:r>
              <a:t/>
            </a:r>
            <a:endParaRPr sz="1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9"/>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301" name="Google Shape;301;p29"/>
          <p:cNvSpPr txBox="1"/>
          <p:nvPr>
            <p:ph idx="1" type="body"/>
          </p:nvPr>
        </p:nvSpPr>
        <p:spPr>
          <a:xfrm>
            <a:off x="479376" y="1124744"/>
            <a:ext cx="10515600" cy="5215453"/>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50000"/>
              </a:lnSpc>
              <a:spcBef>
                <a:spcPts val="0"/>
              </a:spcBef>
              <a:spcAft>
                <a:spcPts val="0"/>
              </a:spcAft>
              <a:buClr>
                <a:srgbClr val="2C2C2C"/>
              </a:buClr>
              <a:buSzPts val="2200"/>
              <a:buNone/>
            </a:pPr>
            <a:r>
              <a:rPr b="1" lang="en-IN" sz="2200">
                <a:latin typeface="Times New Roman"/>
                <a:ea typeface="Times New Roman"/>
                <a:cs typeface="Times New Roman"/>
                <a:sym typeface="Times New Roman"/>
              </a:rPr>
              <a:t>State machine</a:t>
            </a:r>
            <a:endParaRPr/>
          </a:p>
          <a:p>
            <a:pPr indent="-228600" lvl="0" marL="228600" rtl="0" algn="just">
              <a:lnSpc>
                <a:spcPct val="140000"/>
              </a:lnSpc>
              <a:spcBef>
                <a:spcPts val="800"/>
              </a:spcBef>
              <a:spcAft>
                <a:spcPts val="0"/>
              </a:spcAft>
              <a:buClr>
                <a:srgbClr val="2C2C2C"/>
              </a:buClr>
              <a:buSzPts val="1900"/>
              <a:buChar char="•"/>
            </a:pPr>
            <a:r>
              <a:rPr b="0" i="0" lang="en-IN" sz="1900" u="none" strike="noStrike">
                <a:latin typeface="Times New Roman"/>
                <a:ea typeface="Times New Roman"/>
                <a:cs typeface="Times New Roman"/>
                <a:sym typeface="Times New Roman"/>
              </a:rPr>
              <a:t>A blockchain can be viewed as a state transition mechanism whereby a state is modified from its initial form to the next one by nodes on the blockchain network as a result of transaction execution.</a:t>
            </a:r>
            <a:endParaRPr sz="1900">
              <a:latin typeface="Times New Roman"/>
              <a:ea typeface="Times New Roman"/>
              <a:cs typeface="Times New Roman"/>
              <a:sym typeface="Times New Roman"/>
            </a:endParaRPr>
          </a:p>
          <a:p>
            <a:pPr indent="0" lvl="0" marL="0" rtl="0" algn="just">
              <a:lnSpc>
                <a:spcPct val="150000"/>
              </a:lnSpc>
              <a:spcBef>
                <a:spcPts val="800"/>
              </a:spcBef>
              <a:spcAft>
                <a:spcPts val="0"/>
              </a:spcAft>
              <a:buClr>
                <a:srgbClr val="2C2C2C"/>
              </a:buClr>
              <a:buSzPts val="2200"/>
              <a:buNone/>
            </a:pPr>
            <a:r>
              <a:rPr b="1" lang="en-IN" sz="2200">
                <a:latin typeface="Times New Roman"/>
                <a:ea typeface="Times New Roman"/>
                <a:cs typeface="Times New Roman"/>
                <a:sym typeface="Times New Roman"/>
              </a:rPr>
              <a:t>Nodes</a:t>
            </a:r>
            <a:endParaRPr/>
          </a:p>
          <a:p>
            <a:pPr indent="-228600" lvl="0" marL="228600" rtl="0" algn="just">
              <a:lnSpc>
                <a:spcPct val="140000"/>
              </a:lnSpc>
              <a:spcBef>
                <a:spcPts val="800"/>
              </a:spcBef>
              <a:spcAft>
                <a:spcPts val="0"/>
              </a:spcAft>
              <a:buClr>
                <a:srgbClr val="2C2C2C"/>
              </a:buClr>
              <a:buSzPts val="1900"/>
              <a:buChar char="•"/>
            </a:pPr>
            <a:r>
              <a:rPr b="0" i="0" lang="en-IN" sz="1900" u="none" strike="noStrike">
                <a:latin typeface="Times New Roman"/>
                <a:ea typeface="Times New Roman"/>
                <a:cs typeface="Times New Roman"/>
                <a:sym typeface="Times New Roman"/>
              </a:rPr>
              <a:t>A </a:t>
            </a:r>
            <a:r>
              <a:rPr b="0" i="1" lang="en-IN" sz="1900" u="none" strike="noStrike">
                <a:latin typeface="Times New Roman"/>
                <a:ea typeface="Times New Roman"/>
                <a:cs typeface="Times New Roman"/>
                <a:sym typeface="Times New Roman"/>
              </a:rPr>
              <a:t>node </a:t>
            </a:r>
            <a:r>
              <a:rPr b="0" i="0" lang="en-IN" sz="1900" u="none" strike="noStrike">
                <a:latin typeface="Times New Roman"/>
                <a:ea typeface="Times New Roman"/>
                <a:cs typeface="Times New Roman"/>
                <a:sym typeface="Times New Roman"/>
              </a:rPr>
              <a:t>in a blockchain network performs various functions depending on the role that it takes on.</a:t>
            </a:r>
            <a:endParaRPr sz="1900">
              <a:latin typeface="Times New Roman"/>
              <a:ea typeface="Times New Roman"/>
              <a:cs typeface="Times New Roman"/>
              <a:sym typeface="Times New Roman"/>
            </a:endParaRPr>
          </a:p>
          <a:p>
            <a:pPr indent="0" lvl="0" marL="0" rtl="0" algn="just">
              <a:lnSpc>
                <a:spcPct val="150000"/>
              </a:lnSpc>
              <a:spcBef>
                <a:spcPts val="800"/>
              </a:spcBef>
              <a:spcAft>
                <a:spcPts val="0"/>
              </a:spcAft>
              <a:buClr>
                <a:srgbClr val="2C2C2C"/>
              </a:buClr>
              <a:buSzPts val="2200"/>
              <a:buNone/>
            </a:pPr>
            <a:r>
              <a:rPr b="1" lang="en-IN" sz="2200">
                <a:latin typeface="Times New Roman"/>
                <a:ea typeface="Times New Roman"/>
                <a:cs typeface="Times New Roman"/>
                <a:sym typeface="Times New Roman"/>
              </a:rPr>
              <a:t>Smart contracts</a:t>
            </a:r>
            <a:endParaRPr/>
          </a:p>
          <a:p>
            <a:pPr indent="-228600" lvl="0" marL="228600" rtl="0" algn="just">
              <a:lnSpc>
                <a:spcPct val="140000"/>
              </a:lnSpc>
              <a:spcBef>
                <a:spcPts val="800"/>
              </a:spcBef>
              <a:spcAft>
                <a:spcPts val="0"/>
              </a:spcAft>
              <a:buClr>
                <a:srgbClr val="2C2C2C"/>
              </a:buClr>
              <a:buSzPts val="1900"/>
              <a:buChar char="•"/>
            </a:pPr>
            <a:r>
              <a:rPr b="0" i="0" lang="en-IN" sz="1900" u="none" strike="noStrike">
                <a:latin typeface="Times New Roman"/>
                <a:ea typeface="Times New Roman"/>
                <a:cs typeface="Times New Roman"/>
                <a:sym typeface="Times New Roman"/>
              </a:rPr>
              <a:t>These programs run on top of the blockchain and encapsulate the business logic to be executed when certain conditions are met. The </a:t>
            </a:r>
            <a:r>
              <a:rPr b="0" i="1" lang="en-IN" sz="1900" u="none" strike="noStrike">
                <a:latin typeface="Times New Roman"/>
                <a:ea typeface="Times New Roman"/>
                <a:cs typeface="Times New Roman"/>
                <a:sym typeface="Times New Roman"/>
              </a:rPr>
              <a:t>smart contract </a:t>
            </a:r>
            <a:r>
              <a:rPr b="0" i="0" lang="en-IN" sz="1900" u="none" strike="noStrike">
                <a:latin typeface="Times New Roman"/>
                <a:ea typeface="Times New Roman"/>
                <a:cs typeface="Times New Roman"/>
                <a:sym typeface="Times New Roman"/>
              </a:rPr>
              <a:t>feature is not available on all blockchain platforms, but it is now becoming a very desirable feature due to the flexibility and power that it provides to blockchain applications. Smart contracts have many use cases, including but not limited to identity management, capital markets, trade finance, record management, insurance, and e-governance.</a:t>
            </a:r>
            <a:endParaRPr sz="1900">
              <a:latin typeface="Times New Roman"/>
              <a:ea typeface="Times New Roman"/>
              <a:cs typeface="Times New Roman"/>
              <a:sym typeface="Times New Roman"/>
            </a:endParaRPr>
          </a:p>
          <a:p>
            <a:pPr indent="-101600" lvl="0" marL="228600" rtl="0" algn="l">
              <a:lnSpc>
                <a:spcPct val="150000"/>
              </a:lnSpc>
              <a:spcBef>
                <a:spcPts val="800"/>
              </a:spcBef>
              <a:spcAft>
                <a:spcPts val="0"/>
              </a:spcAft>
              <a:buClr>
                <a:srgbClr val="2C2C2C"/>
              </a:buClr>
              <a:buSzPts val="2000"/>
              <a:buFont typeface="Arial"/>
              <a:buNone/>
            </a:pPr>
            <a:r>
              <a:t/>
            </a:r>
            <a:endParaRPr sz="2000"/>
          </a:p>
          <a:p>
            <a:pPr indent="-101600" lvl="0" marL="228600" rtl="0" algn="l">
              <a:lnSpc>
                <a:spcPct val="150000"/>
              </a:lnSpc>
              <a:spcBef>
                <a:spcPts val="800"/>
              </a:spcBef>
              <a:spcAft>
                <a:spcPts val="0"/>
              </a:spcAft>
              <a:buClr>
                <a:srgbClr val="2C2C2C"/>
              </a:buClr>
              <a:buSzPts val="2000"/>
              <a:buFont typeface="Arial"/>
              <a:buNone/>
            </a:pPr>
            <a:r>
              <a:t/>
            </a:r>
            <a:endParaRPr sz="2000"/>
          </a:p>
          <a:p>
            <a:pPr indent="-127000" lvl="1" marL="685800" rtl="0" algn="l">
              <a:lnSpc>
                <a:spcPct val="150000"/>
              </a:lnSpc>
              <a:spcBef>
                <a:spcPts val="800"/>
              </a:spcBef>
              <a:spcAft>
                <a:spcPts val="0"/>
              </a:spcAft>
              <a:buClr>
                <a:srgbClr val="2C2C2C"/>
              </a:buClr>
              <a:buSzPts val="1600"/>
              <a:buFont typeface="Arial"/>
              <a:buNone/>
            </a:pPr>
            <a:r>
              <a:t/>
            </a:r>
            <a:endParaRPr sz="16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descr="Smart Contracts in Blockchain - GeeksforGeeks" id="308" name="Google Shape;308;p30"/>
          <p:cNvPicPr preferRelativeResize="0"/>
          <p:nvPr>
            <p:ph idx="1" type="body"/>
          </p:nvPr>
        </p:nvPicPr>
        <p:blipFill rotWithShape="1">
          <a:blip r:embed="rId3">
            <a:alphaModFix/>
          </a:blip>
          <a:srcRect b="0" l="0" r="0" t="0"/>
          <a:stretch/>
        </p:blipFill>
        <p:spPr>
          <a:xfrm>
            <a:off x="637132" y="562420"/>
            <a:ext cx="10917736" cy="5458868"/>
          </a:xfrm>
          <a:prstGeom prst="rect">
            <a:avLst/>
          </a:prstGeom>
          <a:solidFill>
            <a:srgbClr val="FFFFFF"/>
          </a:solidFill>
          <a:ln>
            <a:noFill/>
          </a:ln>
        </p:spPr>
      </p:pic>
      <p:sp>
        <p:nvSpPr>
          <p:cNvPr id="309" name="Google Shape;309;p30"/>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1"/>
          <p:cNvSpPr txBox="1"/>
          <p:nvPr>
            <p:ph type="title"/>
          </p:nvPr>
        </p:nvSpPr>
        <p:spPr>
          <a:xfrm>
            <a:off x="623392" y="404664"/>
            <a:ext cx="10515600" cy="78892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Generic block structure</a:t>
            </a:r>
            <a:endParaRPr/>
          </a:p>
        </p:txBody>
      </p:sp>
      <p:pic>
        <p:nvPicPr>
          <p:cNvPr id="315" name="Google Shape;315;p31"/>
          <p:cNvPicPr preferRelativeResize="0"/>
          <p:nvPr/>
        </p:nvPicPr>
        <p:blipFill rotWithShape="1">
          <a:blip r:embed="rId3">
            <a:alphaModFix/>
          </a:blip>
          <a:srcRect b="0" l="0" r="0" t="0"/>
          <a:stretch/>
        </p:blipFill>
        <p:spPr>
          <a:xfrm>
            <a:off x="3635129" y="2278848"/>
            <a:ext cx="4251783" cy="3958464"/>
          </a:xfrm>
          <a:prstGeom prst="rect">
            <a:avLst/>
          </a:prstGeom>
          <a:noFill/>
          <a:ln>
            <a:noFill/>
          </a:ln>
        </p:spPr>
      </p:pic>
      <p:sp>
        <p:nvSpPr>
          <p:cNvPr id="316" name="Google Shape;316;p31"/>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16</a:t>
            </a:r>
            <a:endParaRPr/>
          </a:p>
        </p:txBody>
      </p:sp>
      <p:sp>
        <p:nvSpPr>
          <p:cNvPr id="317" name="Google Shape;317;p31"/>
          <p:cNvSpPr txBox="1"/>
          <p:nvPr/>
        </p:nvSpPr>
        <p:spPr>
          <a:xfrm>
            <a:off x="911424" y="1052736"/>
            <a:ext cx="10248576" cy="101566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IN" sz="2000" u="none" strike="noStrike">
                <a:solidFill>
                  <a:schemeClr val="dk1"/>
                </a:solidFill>
                <a:latin typeface="Times New Roman"/>
                <a:ea typeface="Times New Roman"/>
                <a:cs typeface="Times New Roman"/>
                <a:sym typeface="Times New Roman"/>
              </a:rPr>
              <a:t>A block is composed of multiple transactions and other elements, such as the previous block hash (hash pointer), timestamp, and nonce. A block is composed of a block header and a list of transactions bundled together and organized logically.</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1" name="Shape 321"/>
        <p:cNvGrpSpPr/>
        <p:nvPr/>
      </p:nvGrpSpPr>
      <p:grpSpPr>
        <a:xfrm>
          <a:off x="0" y="0"/>
          <a:ext cx="0" cy="0"/>
          <a:chOff x="0" y="0"/>
          <a:chExt cx="0" cy="0"/>
        </a:xfrm>
      </p:grpSpPr>
      <p:pic>
        <p:nvPicPr>
          <p:cNvPr id="322" name="Google Shape;322;p32"/>
          <p:cNvPicPr preferRelativeResize="0"/>
          <p:nvPr>
            <p:ph idx="1" type="body"/>
          </p:nvPr>
        </p:nvPicPr>
        <p:blipFill rotWithShape="1">
          <a:blip r:embed="rId3">
            <a:alphaModFix/>
          </a:blip>
          <a:srcRect b="0" l="0" r="0" t="0"/>
          <a:stretch/>
        </p:blipFill>
        <p:spPr>
          <a:xfrm>
            <a:off x="983432" y="102804"/>
            <a:ext cx="10370368" cy="6576797"/>
          </a:xfrm>
          <a:prstGeom prst="rect">
            <a:avLst/>
          </a:prstGeom>
          <a:noFill/>
          <a:ln>
            <a:noFill/>
          </a:ln>
        </p:spPr>
      </p:pic>
      <p:sp>
        <p:nvSpPr>
          <p:cNvPr id="323" name="Google Shape;32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IN">
                <a:solidFill>
                  <a:srgbClr val="888888"/>
                </a:solidFill>
                <a:latin typeface="Calibri"/>
                <a:ea typeface="Calibri"/>
                <a:cs typeface="Calibri"/>
                <a:sym typeface="Calibri"/>
              </a:rPr>
              <a:t>‹#›</a:t>
            </a:fld>
            <a:endParaRPr>
              <a:solidFill>
                <a:srgbClr val="888888"/>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3"/>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600"/>
              <a:buFont typeface="Times New Roman"/>
              <a:buNone/>
            </a:pPr>
            <a:r>
              <a:rPr b="1" i="0" lang="en-IN" sz="3600" u="none" strike="noStrike">
                <a:latin typeface="Times New Roman"/>
                <a:ea typeface="Times New Roman"/>
                <a:cs typeface="Times New Roman"/>
                <a:sym typeface="Times New Roman"/>
              </a:rPr>
              <a:t>How blockchain works?</a:t>
            </a:r>
            <a:endParaRPr sz="3600">
              <a:latin typeface="Times New Roman"/>
              <a:ea typeface="Times New Roman"/>
              <a:cs typeface="Times New Roman"/>
              <a:sym typeface="Times New Roman"/>
            </a:endParaRPr>
          </a:p>
        </p:txBody>
      </p:sp>
      <p:sp>
        <p:nvSpPr>
          <p:cNvPr id="329" name="Google Shape;329;p33"/>
          <p:cNvSpPr txBox="1"/>
          <p:nvPr>
            <p:ph idx="1" type="body"/>
          </p:nvPr>
        </p:nvSpPr>
        <p:spPr>
          <a:xfrm>
            <a:off x="648000" y="1404000"/>
            <a:ext cx="10800000" cy="2961104"/>
          </a:xfrm>
          <a:prstGeom prst="rect">
            <a:avLst/>
          </a:prstGeom>
          <a:noFill/>
          <a:ln>
            <a:noFill/>
          </a:ln>
        </p:spPr>
        <p:txBody>
          <a:bodyPr anchorCtr="0" anchor="t" bIns="45700" lIns="91425" spcFirstLastPara="1" rIns="91425" wrap="square" tIns="45700">
            <a:normAutofit/>
          </a:bodyPr>
          <a:lstStyle/>
          <a:p>
            <a:pPr indent="-228600" lvl="0" marL="228600" rtl="0" algn="just">
              <a:lnSpc>
                <a:spcPct val="140000"/>
              </a:lnSpc>
              <a:spcBef>
                <a:spcPts val="0"/>
              </a:spcBef>
              <a:spcAft>
                <a:spcPts val="0"/>
              </a:spcAft>
              <a:buClr>
                <a:srgbClr val="2C2C2C"/>
              </a:buClr>
              <a:buSzPts val="2000"/>
              <a:buChar char="•"/>
            </a:pPr>
            <a:r>
              <a:rPr b="0" i="0" lang="en-IN" u="none" strike="noStrike">
                <a:latin typeface="Times New Roman"/>
                <a:ea typeface="Times New Roman"/>
                <a:cs typeface="Times New Roman"/>
                <a:sym typeface="Times New Roman"/>
              </a:rPr>
              <a:t>Nodes are either </a:t>
            </a:r>
            <a:endParaRPr/>
          </a:p>
          <a:p>
            <a:pPr indent="-228600" lvl="1" marL="685800" rtl="0" algn="just">
              <a:lnSpc>
                <a:spcPct val="140000"/>
              </a:lnSpc>
              <a:spcBef>
                <a:spcPts val="800"/>
              </a:spcBef>
              <a:spcAft>
                <a:spcPts val="0"/>
              </a:spcAft>
              <a:buClr>
                <a:srgbClr val="2C2C2C"/>
              </a:buClr>
              <a:buSzPts val="2000"/>
              <a:buChar char="•"/>
            </a:pPr>
            <a:r>
              <a:rPr b="0" i="1" lang="en-IN" sz="2000" u="none" strike="noStrike">
                <a:latin typeface="Times New Roman"/>
                <a:ea typeface="Times New Roman"/>
                <a:cs typeface="Times New Roman"/>
                <a:sym typeface="Times New Roman"/>
              </a:rPr>
              <a:t>miners </a:t>
            </a:r>
            <a:r>
              <a:rPr b="0" i="0" lang="en-IN" sz="2000" u="none" strike="noStrike">
                <a:latin typeface="Times New Roman"/>
                <a:ea typeface="Times New Roman"/>
                <a:cs typeface="Times New Roman"/>
                <a:sym typeface="Times New Roman"/>
              </a:rPr>
              <a:t>who create new blocks and mine cryptocurrency (coins) or </a:t>
            </a:r>
            <a:endParaRPr/>
          </a:p>
          <a:p>
            <a:pPr indent="-228600" lvl="1" marL="685800" rtl="0" algn="just">
              <a:lnSpc>
                <a:spcPct val="140000"/>
              </a:lnSpc>
              <a:spcBef>
                <a:spcPts val="800"/>
              </a:spcBef>
              <a:spcAft>
                <a:spcPts val="0"/>
              </a:spcAft>
              <a:buClr>
                <a:srgbClr val="2C2C2C"/>
              </a:buClr>
              <a:buSzPts val="2000"/>
              <a:buChar char="•"/>
            </a:pPr>
            <a:r>
              <a:rPr b="0" i="1" lang="en-IN" sz="2000" u="none" strike="noStrike">
                <a:latin typeface="Times New Roman"/>
                <a:ea typeface="Times New Roman"/>
                <a:cs typeface="Times New Roman"/>
                <a:sym typeface="Times New Roman"/>
              </a:rPr>
              <a:t>block signers </a:t>
            </a:r>
            <a:r>
              <a:rPr b="0" i="0" lang="en-IN" sz="2000" u="none" strike="noStrike">
                <a:latin typeface="Times New Roman"/>
                <a:ea typeface="Times New Roman"/>
                <a:cs typeface="Times New Roman"/>
                <a:sym typeface="Times New Roman"/>
              </a:rPr>
              <a:t>who validate and digitally sign the transactions.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A critical decision that every blockchain network has to make is to figure out which node will append the next block to the blockchain. This decision is made using a </a:t>
            </a:r>
            <a:r>
              <a:rPr b="0" i="1" lang="en-IN" u="none" strike="noStrike">
                <a:latin typeface="Times New Roman"/>
                <a:ea typeface="Times New Roman"/>
                <a:cs typeface="Times New Roman"/>
                <a:sym typeface="Times New Roman"/>
              </a:rPr>
              <a:t>consensus mechanism</a:t>
            </a:r>
            <a:endParaRPr>
              <a:latin typeface="Times New Roman"/>
              <a:ea typeface="Times New Roman"/>
              <a:cs typeface="Times New Roman"/>
              <a:sym typeface="Times New Roman"/>
            </a:endParaRPr>
          </a:p>
        </p:txBody>
      </p:sp>
      <p:sp>
        <p:nvSpPr>
          <p:cNvPr id="330" name="Google Shape;330;p33"/>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4"/>
          <p:cNvSpPr txBox="1"/>
          <p:nvPr>
            <p:ph idx="1" type="body"/>
          </p:nvPr>
        </p:nvSpPr>
        <p:spPr>
          <a:xfrm>
            <a:off x="648000" y="1404000"/>
            <a:ext cx="10800000" cy="2745080"/>
          </a:xfrm>
          <a:prstGeom prst="rect">
            <a:avLst/>
          </a:prstGeom>
          <a:noFill/>
          <a:ln>
            <a:noFill/>
          </a:ln>
        </p:spPr>
        <p:txBody>
          <a:bodyPr anchorCtr="0" anchor="t" bIns="45700" lIns="91425" spcFirstLastPara="1" rIns="91425" wrap="square" tIns="45700">
            <a:normAutofit/>
          </a:bodyPr>
          <a:lstStyle/>
          <a:p>
            <a:pPr indent="-228600" lvl="0" marL="228600" rtl="0" algn="l">
              <a:lnSpc>
                <a:spcPct val="140000"/>
              </a:lnSpc>
              <a:spcBef>
                <a:spcPts val="0"/>
              </a:spcBef>
              <a:spcAft>
                <a:spcPts val="0"/>
              </a:spcAft>
              <a:buClr>
                <a:srgbClr val="2C2C2C"/>
              </a:buClr>
              <a:buSzPts val="2000"/>
              <a:buChar char="•"/>
            </a:pPr>
            <a:r>
              <a:rPr i="0" lang="en-IN" u="none" strike="noStrike">
                <a:latin typeface="Times New Roman"/>
                <a:ea typeface="Times New Roman"/>
                <a:cs typeface="Times New Roman"/>
                <a:sym typeface="Times New Roman"/>
              </a:rPr>
              <a:t>Transaction is initiated</a:t>
            </a:r>
            <a:endParaRPr/>
          </a:p>
          <a:p>
            <a:pPr indent="-228600" lvl="0" marL="228600" rtl="0" algn="l">
              <a:lnSpc>
                <a:spcPct val="140000"/>
              </a:lnSpc>
              <a:spcBef>
                <a:spcPts val="800"/>
              </a:spcBef>
              <a:spcAft>
                <a:spcPts val="0"/>
              </a:spcAft>
              <a:buClr>
                <a:srgbClr val="2C2C2C"/>
              </a:buClr>
              <a:buSzPts val="2000"/>
              <a:buChar char="•"/>
            </a:pPr>
            <a:r>
              <a:rPr i="0" lang="en-IN" u="none" strike="noStrike">
                <a:latin typeface="Times New Roman"/>
                <a:ea typeface="Times New Roman"/>
                <a:cs typeface="Times New Roman"/>
                <a:sym typeface="Times New Roman"/>
              </a:rPr>
              <a:t>Transaction is validated and broadcast</a:t>
            </a:r>
            <a:endParaRPr>
              <a:latin typeface="Times New Roman"/>
              <a:ea typeface="Times New Roman"/>
              <a:cs typeface="Times New Roman"/>
              <a:sym typeface="Times New Roman"/>
            </a:endParaRPr>
          </a:p>
          <a:p>
            <a:pPr indent="-228600" lvl="0" marL="228600" rtl="0" algn="l">
              <a:lnSpc>
                <a:spcPct val="140000"/>
              </a:lnSpc>
              <a:spcBef>
                <a:spcPts val="800"/>
              </a:spcBef>
              <a:spcAft>
                <a:spcPts val="0"/>
              </a:spcAft>
              <a:buClr>
                <a:srgbClr val="2C2C2C"/>
              </a:buClr>
              <a:buSzPts val="2000"/>
              <a:buChar char="•"/>
            </a:pPr>
            <a:r>
              <a:rPr i="0" lang="en-IN" u="none" strike="noStrike">
                <a:latin typeface="Times New Roman"/>
                <a:ea typeface="Times New Roman"/>
                <a:cs typeface="Times New Roman"/>
                <a:sym typeface="Times New Roman"/>
              </a:rPr>
              <a:t>Find new block</a:t>
            </a:r>
            <a:endParaRPr/>
          </a:p>
          <a:p>
            <a:pPr indent="-228600" lvl="0" marL="228600" rtl="0" algn="l">
              <a:lnSpc>
                <a:spcPct val="140000"/>
              </a:lnSpc>
              <a:spcBef>
                <a:spcPts val="800"/>
              </a:spcBef>
              <a:spcAft>
                <a:spcPts val="0"/>
              </a:spcAft>
              <a:buClr>
                <a:srgbClr val="2C2C2C"/>
              </a:buClr>
              <a:buSzPts val="2000"/>
              <a:buChar char="•"/>
            </a:pPr>
            <a:r>
              <a:rPr i="0" lang="en-IN" u="none" strike="noStrike">
                <a:latin typeface="Times New Roman"/>
                <a:ea typeface="Times New Roman"/>
                <a:cs typeface="Times New Roman"/>
                <a:sym typeface="Times New Roman"/>
              </a:rPr>
              <a:t>New block found</a:t>
            </a:r>
            <a:endParaRPr>
              <a:latin typeface="Times New Roman"/>
              <a:ea typeface="Times New Roman"/>
              <a:cs typeface="Times New Roman"/>
              <a:sym typeface="Times New Roman"/>
            </a:endParaRPr>
          </a:p>
          <a:p>
            <a:pPr indent="-228600" lvl="0" marL="228600" rtl="0" algn="l">
              <a:lnSpc>
                <a:spcPct val="140000"/>
              </a:lnSpc>
              <a:spcBef>
                <a:spcPts val="800"/>
              </a:spcBef>
              <a:spcAft>
                <a:spcPts val="0"/>
              </a:spcAft>
              <a:buClr>
                <a:srgbClr val="2C2C2C"/>
              </a:buClr>
              <a:buSzPts val="2000"/>
              <a:buChar char="•"/>
            </a:pPr>
            <a:r>
              <a:rPr i="0" lang="en-IN" u="none" strike="noStrike">
                <a:latin typeface="Times New Roman"/>
                <a:ea typeface="Times New Roman"/>
                <a:cs typeface="Times New Roman"/>
                <a:sym typeface="Times New Roman"/>
              </a:rPr>
              <a:t>Add new block to the blockchain</a:t>
            </a:r>
            <a:endParaRPr>
              <a:latin typeface="Times New Roman"/>
              <a:ea typeface="Times New Roman"/>
              <a:cs typeface="Times New Roman"/>
              <a:sym typeface="Times New Roman"/>
            </a:endParaRPr>
          </a:p>
        </p:txBody>
      </p:sp>
      <p:sp>
        <p:nvSpPr>
          <p:cNvPr id="336" name="Google Shape;336;p34"/>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5"/>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342" name="Google Shape;342;p35"/>
          <p:cNvSpPr txBox="1"/>
          <p:nvPr>
            <p:ph type="title"/>
          </p:nvPr>
        </p:nvSpPr>
        <p:spPr>
          <a:xfrm>
            <a:off x="687219" y="448160"/>
            <a:ext cx="10515600" cy="59740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How a blockchain works</a:t>
            </a:r>
            <a:endParaRPr/>
          </a:p>
        </p:txBody>
      </p:sp>
      <p:pic>
        <p:nvPicPr>
          <p:cNvPr descr="Gears" id="343" name="Google Shape;343;p35"/>
          <p:cNvPicPr preferRelativeResize="0"/>
          <p:nvPr/>
        </p:nvPicPr>
        <p:blipFill rotWithShape="1">
          <a:blip r:embed="rId3">
            <a:alphaModFix/>
          </a:blip>
          <a:srcRect b="0" l="0" r="0" t="0"/>
          <a:stretch/>
        </p:blipFill>
        <p:spPr>
          <a:xfrm>
            <a:off x="6796948" y="1856801"/>
            <a:ext cx="1129308" cy="1129308"/>
          </a:xfrm>
          <a:prstGeom prst="rect">
            <a:avLst/>
          </a:prstGeom>
          <a:noFill/>
          <a:ln>
            <a:noFill/>
          </a:ln>
        </p:spPr>
      </p:pic>
      <p:pic>
        <p:nvPicPr>
          <p:cNvPr descr="LineStraight" id="344" name="Google Shape;344;p35"/>
          <p:cNvPicPr preferRelativeResize="0"/>
          <p:nvPr/>
        </p:nvPicPr>
        <p:blipFill rotWithShape="1">
          <a:blip r:embed="rId4">
            <a:alphaModFix/>
          </a:blip>
          <a:srcRect b="0" l="0" r="0" t="0"/>
          <a:stretch/>
        </p:blipFill>
        <p:spPr>
          <a:xfrm rot="10800000">
            <a:off x="3488899" y="2043709"/>
            <a:ext cx="914400" cy="914400"/>
          </a:xfrm>
          <a:prstGeom prst="rect">
            <a:avLst/>
          </a:prstGeom>
          <a:noFill/>
          <a:ln>
            <a:noFill/>
          </a:ln>
        </p:spPr>
      </p:pic>
      <p:pic>
        <p:nvPicPr>
          <p:cNvPr descr="LineStraight" id="345" name="Google Shape;345;p35"/>
          <p:cNvPicPr preferRelativeResize="0"/>
          <p:nvPr/>
        </p:nvPicPr>
        <p:blipFill rotWithShape="1">
          <a:blip r:embed="rId4">
            <a:alphaModFix/>
          </a:blip>
          <a:srcRect b="0" l="0" r="0" t="0"/>
          <a:stretch/>
        </p:blipFill>
        <p:spPr>
          <a:xfrm rot="10800000">
            <a:off x="5686425" y="2016333"/>
            <a:ext cx="1126902" cy="914400"/>
          </a:xfrm>
          <a:prstGeom prst="rect">
            <a:avLst/>
          </a:prstGeom>
          <a:noFill/>
          <a:ln>
            <a:noFill/>
          </a:ln>
        </p:spPr>
      </p:pic>
      <p:pic>
        <p:nvPicPr>
          <p:cNvPr descr="LineStraight" id="346" name="Google Shape;346;p35"/>
          <p:cNvPicPr preferRelativeResize="0"/>
          <p:nvPr/>
        </p:nvPicPr>
        <p:blipFill rotWithShape="1">
          <a:blip r:embed="rId4">
            <a:alphaModFix/>
          </a:blip>
          <a:srcRect b="0" l="0" r="0" t="0"/>
          <a:stretch/>
        </p:blipFill>
        <p:spPr>
          <a:xfrm rot="10800000">
            <a:off x="7719116" y="2037346"/>
            <a:ext cx="1238195" cy="914400"/>
          </a:xfrm>
          <a:prstGeom prst="rect">
            <a:avLst/>
          </a:prstGeom>
          <a:noFill/>
          <a:ln>
            <a:noFill/>
          </a:ln>
        </p:spPr>
      </p:pic>
      <p:grpSp>
        <p:nvGrpSpPr>
          <p:cNvPr id="347" name="Google Shape;347;p35"/>
          <p:cNvGrpSpPr/>
          <p:nvPr/>
        </p:nvGrpSpPr>
        <p:grpSpPr>
          <a:xfrm>
            <a:off x="873016" y="1820777"/>
            <a:ext cx="2538663" cy="1347537"/>
            <a:chOff x="1334100" y="1823628"/>
            <a:chExt cx="2538663" cy="1347537"/>
          </a:xfrm>
        </p:grpSpPr>
        <p:sp>
          <p:nvSpPr>
            <p:cNvPr id="348" name="Google Shape;348;p35"/>
            <p:cNvSpPr/>
            <p:nvPr/>
          </p:nvSpPr>
          <p:spPr>
            <a:xfrm>
              <a:off x="1334100" y="1823628"/>
              <a:ext cx="2538663" cy="134753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Man" id="349" name="Google Shape;349;p35"/>
            <p:cNvPicPr preferRelativeResize="0"/>
            <p:nvPr/>
          </p:nvPicPr>
          <p:blipFill rotWithShape="1">
            <a:blip r:embed="rId5">
              <a:alphaModFix/>
            </a:blip>
            <a:srcRect b="0" l="0" r="0" t="0"/>
            <a:stretch/>
          </p:blipFill>
          <p:spPr>
            <a:xfrm>
              <a:off x="1334100" y="2080300"/>
              <a:ext cx="914400" cy="914400"/>
            </a:xfrm>
            <a:prstGeom prst="rect">
              <a:avLst/>
            </a:prstGeom>
            <a:noFill/>
            <a:ln>
              <a:noFill/>
            </a:ln>
          </p:spPr>
        </p:pic>
        <p:pic>
          <p:nvPicPr>
            <p:cNvPr descr="Woman" id="350" name="Google Shape;350;p35"/>
            <p:cNvPicPr preferRelativeResize="0"/>
            <p:nvPr/>
          </p:nvPicPr>
          <p:blipFill rotWithShape="1">
            <a:blip r:embed="rId6">
              <a:alphaModFix/>
            </a:blip>
            <a:srcRect b="0" l="0" r="0" t="0"/>
            <a:stretch/>
          </p:blipFill>
          <p:spPr>
            <a:xfrm>
              <a:off x="2958363" y="2076289"/>
              <a:ext cx="914400" cy="914400"/>
            </a:xfrm>
            <a:prstGeom prst="rect">
              <a:avLst/>
            </a:prstGeom>
            <a:noFill/>
            <a:ln>
              <a:noFill/>
            </a:ln>
          </p:spPr>
        </p:pic>
        <p:pic>
          <p:nvPicPr>
            <p:cNvPr descr="LineStraight" id="351" name="Google Shape;351;p35"/>
            <p:cNvPicPr preferRelativeResize="0"/>
            <p:nvPr/>
          </p:nvPicPr>
          <p:blipFill rotWithShape="1">
            <a:blip r:embed="rId4">
              <a:alphaModFix/>
            </a:blip>
            <a:srcRect b="0" l="0" r="0" t="0"/>
            <a:stretch/>
          </p:blipFill>
          <p:spPr>
            <a:xfrm rot="10800000">
              <a:off x="2146232" y="2088322"/>
              <a:ext cx="914400" cy="914400"/>
            </a:xfrm>
            <a:prstGeom prst="rect">
              <a:avLst/>
            </a:prstGeom>
            <a:noFill/>
            <a:ln>
              <a:noFill/>
            </a:ln>
          </p:spPr>
        </p:pic>
        <p:pic>
          <p:nvPicPr>
            <p:cNvPr descr="Document" id="352" name="Google Shape;352;p35"/>
            <p:cNvPicPr preferRelativeResize="0"/>
            <p:nvPr/>
          </p:nvPicPr>
          <p:blipFill rotWithShape="1">
            <a:blip r:embed="rId7">
              <a:alphaModFix/>
            </a:blip>
            <a:srcRect b="0" l="0" r="0" t="0"/>
            <a:stretch/>
          </p:blipFill>
          <p:spPr>
            <a:xfrm>
              <a:off x="2322495" y="2016076"/>
              <a:ext cx="529446" cy="529446"/>
            </a:xfrm>
            <a:prstGeom prst="rect">
              <a:avLst/>
            </a:prstGeom>
            <a:noFill/>
            <a:ln>
              <a:noFill/>
            </a:ln>
          </p:spPr>
        </p:pic>
      </p:grpSp>
      <p:pic>
        <p:nvPicPr>
          <p:cNvPr descr="Network" id="353" name="Google Shape;353;p35"/>
          <p:cNvPicPr preferRelativeResize="0"/>
          <p:nvPr/>
        </p:nvPicPr>
        <p:blipFill rotWithShape="1">
          <a:blip r:embed="rId8">
            <a:alphaModFix/>
          </a:blip>
          <a:srcRect b="0" l="0" r="0" t="0"/>
          <a:stretch/>
        </p:blipFill>
        <p:spPr>
          <a:xfrm>
            <a:off x="4357452" y="1785745"/>
            <a:ext cx="1328973" cy="1328973"/>
          </a:xfrm>
          <a:prstGeom prst="rect">
            <a:avLst/>
          </a:prstGeom>
          <a:noFill/>
          <a:ln>
            <a:noFill/>
          </a:ln>
        </p:spPr>
      </p:pic>
      <p:pic>
        <p:nvPicPr>
          <p:cNvPr descr="Newspaper" id="354" name="Google Shape;354;p35"/>
          <p:cNvPicPr preferRelativeResize="0"/>
          <p:nvPr/>
        </p:nvPicPr>
        <p:blipFill rotWithShape="1">
          <a:blip r:embed="rId9">
            <a:alphaModFix/>
          </a:blip>
          <a:srcRect b="0" l="0" r="0" t="0"/>
          <a:stretch/>
        </p:blipFill>
        <p:spPr>
          <a:xfrm>
            <a:off x="8765741" y="1772596"/>
            <a:ext cx="1359626" cy="1359626"/>
          </a:xfrm>
          <a:prstGeom prst="rect">
            <a:avLst/>
          </a:prstGeom>
          <a:noFill/>
          <a:ln>
            <a:noFill/>
          </a:ln>
        </p:spPr>
      </p:pic>
      <p:pic>
        <p:nvPicPr>
          <p:cNvPr descr="LineStraight" id="355" name="Google Shape;355;p35"/>
          <p:cNvPicPr preferRelativeResize="0"/>
          <p:nvPr/>
        </p:nvPicPr>
        <p:blipFill rotWithShape="1">
          <a:blip r:embed="rId4">
            <a:alphaModFix/>
          </a:blip>
          <a:srcRect b="0" l="0" r="0" t="0"/>
          <a:stretch/>
        </p:blipFill>
        <p:spPr>
          <a:xfrm rot="-5400000">
            <a:off x="8722888" y="3210906"/>
            <a:ext cx="1297340" cy="762862"/>
          </a:xfrm>
          <a:prstGeom prst="rect">
            <a:avLst/>
          </a:prstGeom>
          <a:noFill/>
          <a:ln>
            <a:noFill/>
          </a:ln>
        </p:spPr>
      </p:pic>
      <p:pic>
        <p:nvPicPr>
          <p:cNvPr descr="Newspaper" id="356" name="Google Shape;356;p35"/>
          <p:cNvPicPr preferRelativeResize="0"/>
          <p:nvPr/>
        </p:nvPicPr>
        <p:blipFill rotWithShape="1">
          <a:blip r:embed="rId9">
            <a:alphaModFix/>
          </a:blip>
          <a:srcRect b="0" l="0" r="0" t="0"/>
          <a:stretch/>
        </p:blipFill>
        <p:spPr>
          <a:xfrm>
            <a:off x="8834467" y="4272358"/>
            <a:ext cx="914400" cy="914400"/>
          </a:xfrm>
          <a:prstGeom prst="rect">
            <a:avLst/>
          </a:prstGeom>
          <a:noFill/>
          <a:ln>
            <a:noFill/>
          </a:ln>
        </p:spPr>
      </p:pic>
      <p:grpSp>
        <p:nvGrpSpPr>
          <p:cNvPr id="357" name="Google Shape;357;p35"/>
          <p:cNvGrpSpPr/>
          <p:nvPr/>
        </p:nvGrpSpPr>
        <p:grpSpPr>
          <a:xfrm>
            <a:off x="2923851" y="3785360"/>
            <a:ext cx="6175254" cy="1386383"/>
            <a:chOff x="2923851" y="3785360"/>
            <a:chExt cx="6175254" cy="1386383"/>
          </a:xfrm>
        </p:grpSpPr>
        <p:pic>
          <p:nvPicPr>
            <p:cNvPr descr="LineUturn" id="358" name="Google Shape;358;p35"/>
            <p:cNvPicPr preferRelativeResize="0"/>
            <p:nvPr/>
          </p:nvPicPr>
          <p:blipFill rotWithShape="1">
            <a:blip r:embed="rId10">
              <a:alphaModFix/>
            </a:blip>
            <a:srcRect b="0" l="0" r="0" t="0"/>
            <a:stretch/>
          </p:blipFill>
          <p:spPr>
            <a:xfrm rot="-5400000">
              <a:off x="4304184" y="3796970"/>
              <a:ext cx="606659" cy="606659"/>
            </a:xfrm>
            <a:prstGeom prst="rect">
              <a:avLst/>
            </a:prstGeom>
            <a:noFill/>
            <a:ln>
              <a:noFill/>
            </a:ln>
          </p:spPr>
        </p:pic>
        <p:pic>
          <p:nvPicPr>
            <p:cNvPr descr="LineUturn" id="359" name="Google Shape;359;p35"/>
            <p:cNvPicPr preferRelativeResize="0"/>
            <p:nvPr/>
          </p:nvPicPr>
          <p:blipFill rotWithShape="1">
            <a:blip r:embed="rId10">
              <a:alphaModFix/>
            </a:blip>
            <a:srcRect b="0" l="0" r="0" t="0"/>
            <a:stretch/>
          </p:blipFill>
          <p:spPr>
            <a:xfrm rot="-5400000">
              <a:off x="3429177" y="3793935"/>
              <a:ext cx="604323" cy="604323"/>
            </a:xfrm>
            <a:prstGeom prst="rect">
              <a:avLst/>
            </a:prstGeom>
            <a:noFill/>
            <a:ln>
              <a:noFill/>
            </a:ln>
          </p:spPr>
        </p:pic>
        <p:pic>
          <p:nvPicPr>
            <p:cNvPr descr="LineUturn" id="360" name="Google Shape;360;p35"/>
            <p:cNvPicPr preferRelativeResize="0"/>
            <p:nvPr/>
          </p:nvPicPr>
          <p:blipFill rotWithShape="1">
            <a:blip r:embed="rId10">
              <a:alphaModFix/>
            </a:blip>
            <a:srcRect b="0" l="0" r="0" t="0"/>
            <a:stretch/>
          </p:blipFill>
          <p:spPr>
            <a:xfrm rot="-5400000">
              <a:off x="5098679" y="3785360"/>
              <a:ext cx="606659" cy="606659"/>
            </a:xfrm>
            <a:prstGeom prst="rect">
              <a:avLst/>
            </a:prstGeom>
            <a:noFill/>
            <a:ln>
              <a:noFill/>
            </a:ln>
          </p:spPr>
        </p:pic>
        <p:pic>
          <p:nvPicPr>
            <p:cNvPr descr="LineUturn" id="361" name="Google Shape;361;p35"/>
            <p:cNvPicPr preferRelativeResize="0"/>
            <p:nvPr/>
          </p:nvPicPr>
          <p:blipFill rotWithShape="1">
            <a:blip r:embed="rId10">
              <a:alphaModFix/>
            </a:blip>
            <a:srcRect b="0" l="0" r="0" t="0"/>
            <a:stretch/>
          </p:blipFill>
          <p:spPr>
            <a:xfrm rot="-5400000">
              <a:off x="8492446" y="3839660"/>
              <a:ext cx="606659" cy="606659"/>
            </a:xfrm>
            <a:prstGeom prst="rect">
              <a:avLst/>
            </a:prstGeom>
            <a:noFill/>
            <a:ln>
              <a:noFill/>
            </a:ln>
          </p:spPr>
        </p:pic>
        <p:grpSp>
          <p:nvGrpSpPr>
            <p:cNvPr id="362" name="Google Shape;362;p35"/>
            <p:cNvGrpSpPr/>
            <p:nvPr/>
          </p:nvGrpSpPr>
          <p:grpSpPr>
            <a:xfrm>
              <a:off x="2923851" y="3809548"/>
              <a:ext cx="5985539" cy="1362195"/>
              <a:chOff x="3017375" y="3747164"/>
              <a:chExt cx="5985539" cy="1362195"/>
            </a:xfrm>
          </p:grpSpPr>
          <p:pic>
            <p:nvPicPr>
              <p:cNvPr descr="Newspaper" id="363" name="Google Shape;363;p35"/>
              <p:cNvPicPr preferRelativeResize="0"/>
              <p:nvPr/>
            </p:nvPicPr>
            <p:blipFill rotWithShape="1">
              <a:blip r:embed="rId9">
                <a:alphaModFix/>
              </a:blip>
              <a:srcRect b="0" l="0" r="0" t="0"/>
              <a:stretch/>
            </p:blipFill>
            <p:spPr>
              <a:xfrm>
                <a:off x="5533217" y="4170046"/>
                <a:ext cx="914400" cy="914400"/>
              </a:xfrm>
              <a:prstGeom prst="rect">
                <a:avLst/>
              </a:prstGeom>
              <a:noFill/>
              <a:ln>
                <a:noFill/>
              </a:ln>
            </p:spPr>
          </p:pic>
          <p:pic>
            <p:nvPicPr>
              <p:cNvPr descr="Newspaper" id="364" name="Google Shape;364;p35"/>
              <p:cNvPicPr preferRelativeResize="0"/>
              <p:nvPr/>
            </p:nvPicPr>
            <p:blipFill rotWithShape="1">
              <a:blip r:embed="rId9">
                <a:alphaModFix/>
              </a:blip>
              <a:srcRect b="0" l="0" r="0" t="0"/>
              <a:stretch/>
            </p:blipFill>
            <p:spPr>
              <a:xfrm>
                <a:off x="7259516" y="4191849"/>
                <a:ext cx="914400" cy="914400"/>
              </a:xfrm>
              <a:prstGeom prst="rect">
                <a:avLst/>
              </a:prstGeom>
              <a:noFill/>
              <a:ln>
                <a:noFill/>
              </a:ln>
            </p:spPr>
          </p:pic>
          <p:pic>
            <p:nvPicPr>
              <p:cNvPr descr="Newspaper" id="365" name="Google Shape;365;p35"/>
              <p:cNvPicPr preferRelativeResize="0"/>
              <p:nvPr/>
            </p:nvPicPr>
            <p:blipFill rotWithShape="1">
              <a:blip r:embed="rId9">
                <a:alphaModFix/>
              </a:blip>
              <a:srcRect b="0" l="0" r="0" t="0"/>
              <a:stretch/>
            </p:blipFill>
            <p:spPr>
              <a:xfrm>
                <a:off x="6416094" y="4194959"/>
                <a:ext cx="914400" cy="914400"/>
              </a:xfrm>
              <a:prstGeom prst="rect">
                <a:avLst/>
              </a:prstGeom>
              <a:noFill/>
              <a:ln>
                <a:noFill/>
              </a:ln>
            </p:spPr>
          </p:pic>
          <p:pic>
            <p:nvPicPr>
              <p:cNvPr descr="LineUturn" id="366" name="Google Shape;366;p35"/>
              <p:cNvPicPr preferRelativeResize="0"/>
              <p:nvPr/>
            </p:nvPicPr>
            <p:blipFill rotWithShape="1">
              <a:blip r:embed="rId10">
                <a:alphaModFix/>
              </a:blip>
              <a:srcRect b="0" l="0" r="0" t="0"/>
              <a:stretch/>
            </p:blipFill>
            <p:spPr>
              <a:xfrm rot="-5400000">
                <a:off x="6913550" y="3777276"/>
                <a:ext cx="606659" cy="606659"/>
              </a:xfrm>
              <a:prstGeom prst="rect">
                <a:avLst/>
              </a:prstGeom>
              <a:noFill/>
              <a:ln>
                <a:noFill/>
              </a:ln>
            </p:spPr>
          </p:pic>
          <p:pic>
            <p:nvPicPr>
              <p:cNvPr descr="LineUturn" id="367" name="Google Shape;367;p35"/>
              <p:cNvPicPr preferRelativeResize="0"/>
              <p:nvPr/>
            </p:nvPicPr>
            <p:blipFill rotWithShape="1">
              <a:blip r:embed="rId10">
                <a:alphaModFix/>
              </a:blip>
              <a:srcRect b="0" l="0" r="0" t="0"/>
              <a:stretch/>
            </p:blipFill>
            <p:spPr>
              <a:xfrm rot="-5400000">
                <a:off x="6038543" y="3774241"/>
                <a:ext cx="604323" cy="604323"/>
              </a:xfrm>
              <a:prstGeom prst="rect">
                <a:avLst/>
              </a:prstGeom>
              <a:noFill/>
              <a:ln>
                <a:noFill/>
              </a:ln>
            </p:spPr>
          </p:pic>
          <p:pic>
            <p:nvPicPr>
              <p:cNvPr descr="Newspaper" id="368" name="Google Shape;368;p35"/>
              <p:cNvPicPr preferRelativeResize="0"/>
              <p:nvPr/>
            </p:nvPicPr>
            <p:blipFill rotWithShape="1">
              <a:blip r:embed="rId9">
                <a:alphaModFix/>
              </a:blip>
              <a:srcRect b="0" l="0" r="0" t="0"/>
              <a:stretch/>
            </p:blipFill>
            <p:spPr>
              <a:xfrm>
                <a:off x="3017375" y="4127356"/>
                <a:ext cx="914400" cy="914400"/>
              </a:xfrm>
              <a:prstGeom prst="rect">
                <a:avLst/>
              </a:prstGeom>
              <a:noFill/>
              <a:ln>
                <a:noFill/>
              </a:ln>
            </p:spPr>
          </p:pic>
          <p:pic>
            <p:nvPicPr>
              <p:cNvPr descr="Newspaper" id="369" name="Google Shape;369;p35"/>
              <p:cNvPicPr preferRelativeResize="0"/>
              <p:nvPr/>
            </p:nvPicPr>
            <p:blipFill rotWithShape="1">
              <a:blip r:embed="rId9">
                <a:alphaModFix/>
              </a:blip>
              <a:srcRect b="0" l="0" r="0" t="0"/>
              <a:stretch/>
            </p:blipFill>
            <p:spPr>
              <a:xfrm>
                <a:off x="4743674" y="4149159"/>
                <a:ext cx="914400" cy="914400"/>
              </a:xfrm>
              <a:prstGeom prst="rect">
                <a:avLst/>
              </a:prstGeom>
              <a:noFill/>
              <a:ln>
                <a:noFill/>
              </a:ln>
            </p:spPr>
          </p:pic>
          <p:pic>
            <p:nvPicPr>
              <p:cNvPr descr="Newspaper" id="370" name="Google Shape;370;p35"/>
              <p:cNvPicPr preferRelativeResize="0"/>
              <p:nvPr/>
            </p:nvPicPr>
            <p:blipFill rotWithShape="1">
              <a:blip r:embed="rId9">
                <a:alphaModFix/>
              </a:blip>
              <a:srcRect b="0" l="0" r="0" t="0"/>
              <a:stretch/>
            </p:blipFill>
            <p:spPr>
              <a:xfrm>
                <a:off x="3900252" y="4152269"/>
                <a:ext cx="914400" cy="914400"/>
              </a:xfrm>
              <a:prstGeom prst="rect">
                <a:avLst/>
              </a:prstGeom>
              <a:noFill/>
              <a:ln>
                <a:noFill/>
              </a:ln>
            </p:spPr>
          </p:pic>
          <p:pic>
            <p:nvPicPr>
              <p:cNvPr descr="Newspaper" id="371" name="Google Shape;371;p35"/>
              <p:cNvPicPr preferRelativeResize="0"/>
              <p:nvPr/>
            </p:nvPicPr>
            <p:blipFill rotWithShape="1">
              <a:blip r:embed="rId9">
                <a:alphaModFix/>
              </a:blip>
              <a:srcRect b="0" l="0" r="0" t="0"/>
              <a:stretch/>
            </p:blipFill>
            <p:spPr>
              <a:xfrm>
                <a:off x="8088514" y="4194959"/>
                <a:ext cx="914400" cy="914400"/>
              </a:xfrm>
              <a:prstGeom prst="rect">
                <a:avLst/>
              </a:prstGeom>
              <a:noFill/>
              <a:ln>
                <a:noFill/>
              </a:ln>
            </p:spPr>
          </p:pic>
          <p:pic>
            <p:nvPicPr>
              <p:cNvPr descr="LineUturn" id="372" name="Google Shape;372;p35"/>
              <p:cNvPicPr preferRelativeResize="0"/>
              <p:nvPr/>
            </p:nvPicPr>
            <p:blipFill rotWithShape="1">
              <a:blip r:embed="rId10">
                <a:alphaModFix/>
              </a:blip>
              <a:srcRect b="0" l="0" r="0" t="0"/>
              <a:stretch/>
            </p:blipFill>
            <p:spPr>
              <a:xfrm rot="-5400000">
                <a:off x="7730583" y="3747164"/>
                <a:ext cx="606659" cy="606659"/>
              </a:xfrm>
              <a:prstGeom prst="rect">
                <a:avLst/>
              </a:prstGeom>
              <a:noFill/>
              <a:ln>
                <a:noFill/>
              </a:ln>
            </p:spPr>
          </p:pic>
        </p:grpSp>
      </p:grpSp>
      <p:sp>
        <p:nvSpPr>
          <p:cNvPr id="373" name="Google Shape;373;p35"/>
          <p:cNvSpPr txBox="1"/>
          <p:nvPr/>
        </p:nvSpPr>
        <p:spPr>
          <a:xfrm>
            <a:off x="664438" y="1429627"/>
            <a:ext cx="30682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1.</a:t>
            </a:r>
            <a:r>
              <a:rPr lang="en-IN" sz="1800">
                <a:solidFill>
                  <a:schemeClr val="dk1"/>
                </a:solidFill>
                <a:latin typeface="Calibri"/>
                <a:ea typeface="Calibri"/>
                <a:cs typeface="Calibri"/>
                <a:sym typeface="Calibri"/>
              </a:rPr>
              <a:t> User X transacts with User Y</a:t>
            </a:r>
            <a:endParaRPr/>
          </a:p>
        </p:txBody>
      </p:sp>
      <p:sp>
        <p:nvSpPr>
          <p:cNvPr id="374" name="Google Shape;374;p35"/>
          <p:cNvSpPr txBox="1"/>
          <p:nvPr/>
        </p:nvSpPr>
        <p:spPr>
          <a:xfrm>
            <a:off x="483514" y="3187927"/>
            <a:ext cx="34524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Smart contract or transfer of value</a:t>
            </a:r>
            <a:endParaRPr/>
          </a:p>
        </p:txBody>
      </p:sp>
      <p:sp>
        <p:nvSpPr>
          <p:cNvPr id="375" name="Google Shape;375;p35"/>
          <p:cNvSpPr txBox="1"/>
          <p:nvPr/>
        </p:nvSpPr>
        <p:spPr>
          <a:xfrm>
            <a:off x="3830271" y="1447434"/>
            <a:ext cx="25537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2.</a:t>
            </a:r>
            <a:r>
              <a:rPr lang="en-IN" sz="1800">
                <a:solidFill>
                  <a:schemeClr val="dk1"/>
                </a:solidFill>
                <a:latin typeface="Calibri"/>
                <a:ea typeface="Calibri"/>
                <a:cs typeface="Calibri"/>
                <a:sym typeface="Calibri"/>
              </a:rPr>
              <a:t> Transaction broadcast</a:t>
            </a:r>
            <a:endParaRPr/>
          </a:p>
        </p:txBody>
      </p:sp>
      <p:sp>
        <p:nvSpPr>
          <p:cNvPr id="376" name="Google Shape;376;p35"/>
          <p:cNvSpPr txBox="1"/>
          <p:nvPr/>
        </p:nvSpPr>
        <p:spPr>
          <a:xfrm>
            <a:off x="6389619" y="1457976"/>
            <a:ext cx="27753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3.</a:t>
            </a:r>
            <a:r>
              <a:rPr lang="en-IN" sz="1800">
                <a:solidFill>
                  <a:schemeClr val="dk1"/>
                </a:solidFill>
                <a:latin typeface="Calibri"/>
                <a:ea typeface="Calibri"/>
                <a:cs typeface="Calibri"/>
                <a:sym typeface="Calibri"/>
              </a:rPr>
              <a:t> Find new block (mining)</a:t>
            </a:r>
            <a:endParaRPr/>
          </a:p>
        </p:txBody>
      </p:sp>
      <p:sp>
        <p:nvSpPr>
          <p:cNvPr id="377" name="Google Shape;377;p35"/>
          <p:cNvSpPr txBox="1"/>
          <p:nvPr/>
        </p:nvSpPr>
        <p:spPr>
          <a:xfrm>
            <a:off x="8990127" y="1455398"/>
            <a:ext cx="27753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4.</a:t>
            </a:r>
            <a:r>
              <a:rPr lang="en-IN" sz="1800">
                <a:solidFill>
                  <a:schemeClr val="dk1"/>
                </a:solidFill>
                <a:latin typeface="Calibri"/>
                <a:ea typeface="Calibri"/>
                <a:cs typeface="Calibri"/>
                <a:sym typeface="Calibri"/>
              </a:rPr>
              <a:t> New block found (mined)</a:t>
            </a:r>
            <a:endParaRPr/>
          </a:p>
        </p:txBody>
      </p:sp>
      <p:sp>
        <p:nvSpPr>
          <p:cNvPr id="378" name="Google Shape;378;p35"/>
          <p:cNvSpPr txBox="1"/>
          <p:nvPr/>
        </p:nvSpPr>
        <p:spPr>
          <a:xfrm>
            <a:off x="9748867" y="4409502"/>
            <a:ext cx="234395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5.</a:t>
            </a:r>
            <a:r>
              <a:rPr lang="en-IN" sz="1800">
                <a:solidFill>
                  <a:schemeClr val="dk1"/>
                </a:solidFill>
                <a:latin typeface="Calibri"/>
                <a:ea typeface="Calibri"/>
                <a:cs typeface="Calibri"/>
                <a:sym typeface="Calibri"/>
              </a:rPr>
              <a:t> Add new block to the blockchain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6"/>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384" name="Google Shape;384;p36"/>
          <p:cNvSpPr txBox="1"/>
          <p:nvPr>
            <p:ph type="title"/>
          </p:nvPr>
        </p:nvSpPr>
        <p:spPr>
          <a:xfrm>
            <a:off x="644400" y="317042"/>
            <a:ext cx="10515600" cy="80594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Benefits of blockchain</a:t>
            </a:r>
            <a:endParaRPr/>
          </a:p>
        </p:txBody>
      </p:sp>
      <p:sp>
        <p:nvSpPr>
          <p:cNvPr id="385" name="Google Shape;385;p36"/>
          <p:cNvSpPr txBox="1"/>
          <p:nvPr>
            <p:ph idx="1" type="body"/>
          </p:nvPr>
        </p:nvSpPr>
        <p:spPr>
          <a:xfrm>
            <a:off x="838200" y="1171073"/>
            <a:ext cx="10515600" cy="5005889"/>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1800"/>
              <a:buChar char="•"/>
            </a:pPr>
            <a:r>
              <a:rPr b="1" lang="en-IN" sz="1800">
                <a:latin typeface="Times New Roman"/>
                <a:ea typeface="Times New Roman"/>
                <a:cs typeface="Times New Roman"/>
                <a:sym typeface="Times New Roman"/>
              </a:rPr>
              <a:t>Decentralization</a:t>
            </a:r>
            <a:endParaRPr/>
          </a:p>
          <a:p>
            <a:pPr indent="0" lvl="0" marL="0" rtl="0" algn="just">
              <a:lnSpc>
                <a:spcPct val="140000"/>
              </a:lnSpc>
              <a:spcBef>
                <a:spcPts val="800"/>
              </a:spcBef>
              <a:spcAft>
                <a:spcPts val="0"/>
              </a:spcAft>
              <a:buClr>
                <a:srgbClr val="2C2C2C"/>
              </a:buClr>
              <a:buSzPts val="1800"/>
              <a:buNone/>
            </a:pPr>
            <a:r>
              <a:rPr b="0" i="0" lang="en-IN" sz="1800" u="none" strike="noStrike">
                <a:latin typeface="Times New Roman"/>
                <a:ea typeface="Times New Roman"/>
                <a:cs typeface="Times New Roman"/>
                <a:sym typeface="Times New Roman"/>
              </a:rPr>
              <a:t>This is a core concept and benefit of blockchain. There is no need for a trusted third party or intermediary to validate transactions; instead, a consensus mechanism is used to agree on the validity of transactions </a:t>
            </a:r>
            <a:endParaRPr/>
          </a:p>
          <a:p>
            <a:pPr indent="-228600" lvl="0" marL="228600" rtl="0" algn="just">
              <a:lnSpc>
                <a:spcPct val="140000"/>
              </a:lnSpc>
              <a:spcBef>
                <a:spcPts val="800"/>
              </a:spcBef>
              <a:spcAft>
                <a:spcPts val="0"/>
              </a:spcAft>
              <a:buClr>
                <a:srgbClr val="2C2C2C"/>
              </a:buClr>
              <a:buSzPts val="1800"/>
              <a:buChar char="•"/>
            </a:pPr>
            <a:r>
              <a:rPr b="1" lang="en-IN" sz="1800">
                <a:latin typeface="Times New Roman"/>
                <a:ea typeface="Times New Roman"/>
                <a:cs typeface="Times New Roman"/>
                <a:sym typeface="Times New Roman"/>
              </a:rPr>
              <a:t>Transparency and Trust</a:t>
            </a:r>
            <a:endParaRPr/>
          </a:p>
          <a:p>
            <a:pPr indent="0" lvl="0" marL="0" rtl="0" algn="just">
              <a:lnSpc>
                <a:spcPct val="140000"/>
              </a:lnSpc>
              <a:spcBef>
                <a:spcPts val="800"/>
              </a:spcBef>
              <a:spcAft>
                <a:spcPts val="0"/>
              </a:spcAft>
              <a:buClr>
                <a:srgbClr val="2C2C2C"/>
              </a:buClr>
              <a:buSzPts val="1800"/>
              <a:buNone/>
            </a:pPr>
            <a:r>
              <a:rPr b="0" i="0" lang="en-IN" sz="1800" u="none" strike="noStrike">
                <a:latin typeface="Times New Roman"/>
                <a:ea typeface="Times New Roman"/>
                <a:cs typeface="Times New Roman"/>
                <a:sym typeface="Times New Roman"/>
              </a:rPr>
              <a:t>As blockchains are shared and everyone can see what is on the blockchain, this allows the system to be transparent. As a result, trust is established. This is more relevant in scenarios such as the disbursement of funds or benefits where personal discretion in relation to selecting beneficiaries needs to be restricted.</a:t>
            </a:r>
            <a:endParaRPr sz="1800">
              <a:latin typeface="Times New Roman"/>
              <a:ea typeface="Times New Roman"/>
              <a:cs typeface="Times New Roman"/>
              <a:sym typeface="Times New Roman"/>
            </a:endParaRPr>
          </a:p>
          <a:p>
            <a:pPr indent="-228600" lvl="0" marL="228600" rtl="0" algn="just">
              <a:lnSpc>
                <a:spcPct val="140000"/>
              </a:lnSpc>
              <a:spcBef>
                <a:spcPts val="800"/>
              </a:spcBef>
              <a:spcAft>
                <a:spcPts val="0"/>
              </a:spcAft>
              <a:buClr>
                <a:srgbClr val="2C2C2C"/>
              </a:buClr>
              <a:buSzPts val="1800"/>
              <a:buChar char="•"/>
            </a:pPr>
            <a:r>
              <a:rPr b="1" lang="en-IN" sz="1800">
                <a:latin typeface="Times New Roman"/>
                <a:ea typeface="Times New Roman"/>
                <a:cs typeface="Times New Roman"/>
                <a:sym typeface="Times New Roman"/>
              </a:rPr>
              <a:t>Immutability</a:t>
            </a:r>
            <a:endParaRPr/>
          </a:p>
          <a:p>
            <a:pPr indent="0" lvl="0" marL="0" rtl="0" algn="just">
              <a:lnSpc>
                <a:spcPct val="140000"/>
              </a:lnSpc>
              <a:spcBef>
                <a:spcPts val="800"/>
              </a:spcBef>
              <a:spcAft>
                <a:spcPts val="0"/>
              </a:spcAft>
              <a:buClr>
                <a:srgbClr val="2C2C2C"/>
              </a:buClr>
              <a:buSzPts val="1800"/>
              <a:buNone/>
            </a:pPr>
            <a:r>
              <a:rPr b="0" i="0" lang="en-IN" sz="1800" u="none" strike="noStrike">
                <a:latin typeface="Times New Roman"/>
                <a:ea typeface="Times New Roman"/>
                <a:cs typeface="Times New Roman"/>
                <a:sym typeface="Times New Roman"/>
              </a:rPr>
              <a:t>Once the data has been written to the blockchain, it is extremely difficult to change it back. It is not genuinely immutable, but because changing data is so challenging and nearly impossible, this is seen as a benefit to maintaining an immutable ledger of transactions.</a:t>
            </a: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7"/>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391" name="Google Shape;391;p37"/>
          <p:cNvSpPr txBox="1"/>
          <p:nvPr>
            <p:ph type="title"/>
          </p:nvPr>
        </p:nvSpPr>
        <p:spPr>
          <a:xfrm>
            <a:off x="644400" y="317042"/>
            <a:ext cx="10515600" cy="80594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Benefits of blockchain</a:t>
            </a:r>
            <a:endParaRPr/>
          </a:p>
        </p:txBody>
      </p:sp>
      <p:sp>
        <p:nvSpPr>
          <p:cNvPr id="392" name="Google Shape;392;p37"/>
          <p:cNvSpPr txBox="1"/>
          <p:nvPr>
            <p:ph idx="1" type="body"/>
          </p:nvPr>
        </p:nvSpPr>
        <p:spPr>
          <a:xfrm>
            <a:off x="838200" y="1171073"/>
            <a:ext cx="10515600" cy="5005889"/>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1800"/>
              <a:buChar char="•"/>
            </a:pPr>
            <a:r>
              <a:rPr b="1" lang="en-IN" sz="1800">
                <a:latin typeface="Times New Roman"/>
                <a:ea typeface="Times New Roman"/>
                <a:cs typeface="Times New Roman"/>
                <a:sym typeface="Times New Roman"/>
              </a:rPr>
              <a:t>High availability</a:t>
            </a:r>
            <a:endParaRPr/>
          </a:p>
          <a:p>
            <a:pPr indent="0" lvl="0" marL="0" rtl="0" algn="just">
              <a:lnSpc>
                <a:spcPct val="140000"/>
              </a:lnSpc>
              <a:spcBef>
                <a:spcPts val="800"/>
              </a:spcBef>
              <a:spcAft>
                <a:spcPts val="0"/>
              </a:spcAft>
              <a:buClr>
                <a:srgbClr val="2C2C2C"/>
              </a:buClr>
              <a:buSzPts val="1800"/>
              <a:buNone/>
            </a:pPr>
            <a:r>
              <a:rPr b="0" i="0" lang="en-IN" sz="1800" u="none" strike="noStrike">
                <a:latin typeface="Times New Roman"/>
                <a:ea typeface="Times New Roman"/>
                <a:cs typeface="Times New Roman"/>
                <a:sym typeface="Times New Roman"/>
              </a:rPr>
              <a:t>As the system is based on thousands of nodes in a peer-to-peer network, and the data is replicated and updated on every node, the system becomes highly available. Even if some nodes leave the network or become inaccessible, the network as a whole continues to work, thus making it highly available. This redundancy results in high availability.</a:t>
            </a:r>
            <a:endParaRPr sz="1800">
              <a:latin typeface="Times New Roman"/>
              <a:ea typeface="Times New Roman"/>
              <a:cs typeface="Times New Roman"/>
              <a:sym typeface="Times New Roman"/>
            </a:endParaRPr>
          </a:p>
          <a:p>
            <a:pPr indent="-228600" lvl="0" marL="228600" rtl="0" algn="just">
              <a:lnSpc>
                <a:spcPct val="140000"/>
              </a:lnSpc>
              <a:spcBef>
                <a:spcPts val="800"/>
              </a:spcBef>
              <a:spcAft>
                <a:spcPts val="0"/>
              </a:spcAft>
              <a:buClr>
                <a:srgbClr val="2C2C2C"/>
              </a:buClr>
              <a:buSzPts val="1800"/>
              <a:buChar char="•"/>
            </a:pPr>
            <a:r>
              <a:rPr b="1" lang="en-IN" sz="1800">
                <a:latin typeface="Times New Roman"/>
                <a:ea typeface="Times New Roman"/>
                <a:cs typeface="Times New Roman"/>
                <a:sym typeface="Times New Roman"/>
              </a:rPr>
              <a:t>Highly secure</a:t>
            </a:r>
            <a:endParaRPr/>
          </a:p>
          <a:p>
            <a:pPr indent="0" lvl="0" marL="0" rtl="0" algn="just">
              <a:lnSpc>
                <a:spcPct val="140000"/>
              </a:lnSpc>
              <a:spcBef>
                <a:spcPts val="800"/>
              </a:spcBef>
              <a:spcAft>
                <a:spcPts val="0"/>
              </a:spcAft>
              <a:buClr>
                <a:srgbClr val="2C2C2C"/>
              </a:buClr>
              <a:buSzPts val="1800"/>
              <a:buNone/>
            </a:pPr>
            <a:r>
              <a:rPr b="0" i="0" lang="en-IN" sz="1800" u="none" strike="noStrike">
                <a:latin typeface="Times New Roman"/>
                <a:ea typeface="Times New Roman"/>
                <a:cs typeface="Times New Roman"/>
                <a:sym typeface="Times New Roman"/>
              </a:rPr>
              <a:t>All transactions on a blockchain are cryptographically secured and thus provide network integrity. Any transactions posted from the nodes on the blockchain are verified based on a predetermined set of rules. Only valid transactions are selected for inclusion in a block. The blockchain is based on proven cryptographic technology that ensures the integrity and availability of data. Generally, confidentiality is not provided due to the requirements of transparency. This limitation is the leading barrier to its adoption by financial institutions and other industries that require the privacy and confidentiality of transactions.</a:t>
            </a:r>
            <a:endParaRPr sz="1800">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8"/>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398" name="Google Shape;398;p38"/>
          <p:cNvSpPr txBox="1"/>
          <p:nvPr>
            <p:ph type="title"/>
          </p:nvPr>
        </p:nvSpPr>
        <p:spPr>
          <a:xfrm>
            <a:off x="644400" y="317042"/>
            <a:ext cx="10515600" cy="80594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Benefits of blockchain</a:t>
            </a:r>
            <a:endParaRPr/>
          </a:p>
        </p:txBody>
      </p:sp>
      <p:sp>
        <p:nvSpPr>
          <p:cNvPr id="399" name="Google Shape;399;p38"/>
          <p:cNvSpPr txBox="1"/>
          <p:nvPr>
            <p:ph idx="1" type="body"/>
          </p:nvPr>
        </p:nvSpPr>
        <p:spPr>
          <a:xfrm>
            <a:off x="838200" y="1484784"/>
            <a:ext cx="9866312" cy="4058127"/>
          </a:xfrm>
          <a:prstGeom prst="rect">
            <a:avLst/>
          </a:prstGeom>
          <a:noFill/>
          <a:ln>
            <a:noFill/>
          </a:ln>
        </p:spPr>
        <p:txBody>
          <a:bodyPr anchorCtr="0" anchor="t" bIns="45700" lIns="91425" spcFirstLastPara="1" rIns="91425" wrap="square" tIns="45700">
            <a:normAutofit/>
          </a:bodyPr>
          <a:lstStyle/>
          <a:p>
            <a:pPr indent="-228600" lvl="0" marL="228600" rtl="0" algn="just">
              <a:lnSpc>
                <a:spcPct val="140000"/>
              </a:lnSpc>
              <a:spcBef>
                <a:spcPts val="0"/>
              </a:spcBef>
              <a:spcAft>
                <a:spcPts val="0"/>
              </a:spcAft>
              <a:buClr>
                <a:srgbClr val="2C2C2C"/>
              </a:buClr>
              <a:buSzPts val="1900"/>
              <a:buChar char="•"/>
            </a:pPr>
            <a:r>
              <a:rPr b="1" lang="en-IN" sz="1900">
                <a:latin typeface="Times New Roman"/>
                <a:ea typeface="Times New Roman"/>
                <a:cs typeface="Times New Roman"/>
                <a:sym typeface="Times New Roman"/>
              </a:rPr>
              <a:t>Faster transactions</a:t>
            </a:r>
            <a:endParaRPr/>
          </a:p>
          <a:p>
            <a:pPr indent="0" lvl="0" marL="0" rtl="0" algn="just">
              <a:lnSpc>
                <a:spcPct val="140000"/>
              </a:lnSpc>
              <a:spcBef>
                <a:spcPts val="800"/>
              </a:spcBef>
              <a:spcAft>
                <a:spcPts val="0"/>
              </a:spcAft>
              <a:buClr>
                <a:srgbClr val="2C2C2C"/>
              </a:buClr>
              <a:buSzPts val="1900"/>
              <a:buNone/>
            </a:pPr>
            <a:r>
              <a:rPr b="0" i="0" lang="en-IN" sz="1900" u="none" strike="noStrike">
                <a:latin typeface="Times New Roman"/>
                <a:ea typeface="Times New Roman"/>
                <a:cs typeface="Times New Roman"/>
                <a:sym typeface="Times New Roman"/>
              </a:rPr>
              <a:t>In the financial industry, especially in post-trade settlement functions, blockchain can play a vital role by enabling the quick settlement of trades. Blockchain does not require a lengthy process of verification, reconciliation, and clearance because a single version of agreed-upon data is already available on a shared ledger between financial organizations.</a:t>
            </a:r>
            <a:endParaRPr sz="1900">
              <a:latin typeface="Times New Roman"/>
              <a:ea typeface="Times New Roman"/>
              <a:cs typeface="Times New Roman"/>
              <a:sym typeface="Times New Roman"/>
            </a:endParaRPr>
          </a:p>
          <a:p>
            <a:pPr indent="-228600" lvl="0" marL="228600" rtl="0" algn="just">
              <a:lnSpc>
                <a:spcPct val="140000"/>
              </a:lnSpc>
              <a:spcBef>
                <a:spcPts val="800"/>
              </a:spcBef>
              <a:spcAft>
                <a:spcPts val="0"/>
              </a:spcAft>
              <a:buClr>
                <a:srgbClr val="2C2C2C"/>
              </a:buClr>
              <a:buSzPts val="1900"/>
              <a:buChar char="•"/>
            </a:pPr>
            <a:r>
              <a:rPr b="1" lang="en-IN" sz="1900">
                <a:latin typeface="Times New Roman"/>
                <a:ea typeface="Times New Roman"/>
                <a:cs typeface="Times New Roman"/>
                <a:sym typeface="Times New Roman"/>
              </a:rPr>
              <a:t>Cost saving</a:t>
            </a:r>
            <a:endParaRPr/>
          </a:p>
          <a:p>
            <a:pPr indent="0" lvl="0" marL="0" rtl="0" algn="just">
              <a:lnSpc>
                <a:spcPct val="140000"/>
              </a:lnSpc>
              <a:spcBef>
                <a:spcPts val="800"/>
              </a:spcBef>
              <a:spcAft>
                <a:spcPts val="0"/>
              </a:spcAft>
              <a:buClr>
                <a:srgbClr val="2C2C2C"/>
              </a:buClr>
              <a:buSzPts val="1900"/>
              <a:buNone/>
            </a:pPr>
            <a:r>
              <a:rPr b="0" i="0" lang="en-IN" sz="1900" u="none" strike="noStrike">
                <a:latin typeface="Times New Roman"/>
                <a:ea typeface="Times New Roman"/>
                <a:cs typeface="Times New Roman"/>
                <a:sym typeface="Times New Roman"/>
              </a:rPr>
              <a:t>As no trusted third party or clearing house is required in the blockchain model, this can massively eliminate overhead costs in the form of the fees, which are paid to such parties.</a:t>
            </a:r>
            <a:endParaRPr sz="1900">
              <a:latin typeface="Times New Roman"/>
              <a:ea typeface="Times New Roman"/>
              <a:cs typeface="Times New Roman"/>
              <a:sym typeface="Times New Roman"/>
            </a:endParaRPr>
          </a:p>
          <a:p>
            <a:pPr indent="0" lvl="0" marL="0" rtl="0" algn="l">
              <a:lnSpc>
                <a:spcPct val="140000"/>
              </a:lnSpc>
              <a:spcBef>
                <a:spcPts val="800"/>
              </a:spcBef>
              <a:spcAft>
                <a:spcPts val="0"/>
              </a:spcAft>
              <a:buClr>
                <a:srgbClr val="2C2C2C"/>
              </a:buClr>
              <a:buSzPts val="20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9"/>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405" name="Google Shape;405;p39"/>
          <p:cNvSpPr txBox="1"/>
          <p:nvPr>
            <p:ph type="title"/>
          </p:nvPr>
        </p:nvSpPr>
        <p:spPr>
          <a:xfrm>
            <a:off x="644400" y="317042"/>
            <a:ext cx="10515600" cy="80594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Benefits of blockchain</a:t>
            </a:r>
            <a:endParaRPr/>
          </a:p>
        </p:txBody>
      </p:sp>
      <p:sp>
        <p:nvSpPr>
          <p:cNvPr id="406" name="Google Shape;406;p39"/>
          <p:cNvSpPr txBox="1"/>
          <p:nvPr>
            <p:ph idx="1" type="body"/>
          </p:nvPr>
        </p:nvSpPr>
        <p:spPr>
          <a:xfrm>
            <a:off x="838200" y="1171073"/>
            <a:ext cx="9938320" cy="3266039"/>
          </a:xfrm>
          <a:prstGeom prst="rect">
            <a:avLst/>
          </a:prstGeom>
          <a:noFill/>
          <a:ln>
            <a:noFill/>
          </a:ln>
        </p:spPr>
        <p:txBody>
          <a:bodyPr anchorCtr="0" anchor="t" bIns="45700" lIns="91425" spcFirstLastPara="1" rIns="91425" wrap="square" tIns="45700">
            <a:normAutofit/>
          </a:bodyPr>
          <a:lstStyle/>
          <a:p>
            <a:pPr indent="-228600" lvl="0" marL="228600" rtl="0" algn="l">
              <a:lnSpc>
                <a:spcPct val="140000"/>
              </a:lnSpc>
              <a:spcBef>
                <a:spcPts val="0"/>
              </a:spcBef>
              <a:spcAft>
                <a:spcPts val="0"/>
              </a:spcAft>
              <a:buClr>
                <a:srgbClr val="2C2C2C"/>
              </a:buClr>
              <a:buSzPts val="2000"/>
              <a:buChar char="•"/>
            </a:pPr>
            <a:r>
              <a:rPr b="1" i="0" lang="en-IN" u="none" strike="noStrike">
                <a:latin typeface="Times New Roman"/>
                <a:ea typeface="Times New Roman"/>
                <a:cs typeface="Times New Roman"/>
                <a:sym typeface="Times New Roman"/>
              </a:rPr>
              <a:t>Platform for smart contracts</a:t>
            </a:r>
            <a:endParaRPr>
              <a:latin typeface="Times New Roman"/>
              <a:ea typeface="Times New Roman"/>
              <a:cs typeface="Times New Roman"/>
              <a:sym typeface="Times New Roman"/>
            </a:endParaRPr>
          </a:p>
          <a:p>
            <a:pPr indent="0" lvl="0" marL="0" rtl="0" algn="just">
              <a:lnSpc>
                <a:spcPct val="140000"/>
              </a:lnSpc>
              <a:spcBef>
                <a:spcPts val="800"/>
              </a:spcBef>
              <a:spcAft>
                <a:spcPts val="0"/>
              </a:spcAft>
              <a:buClr>
                <a:srgbClr val="2C2C2C"/>
              </a:buClr>
              <a:buSzPts val="2000"/>
              <a:buNone/>
            </a:pPr>
            <a:r>
              <a:rPr b="0" i="0" lang="en-IN" u="none" strike="noStrike">
                <a:latin typeface="Times New Roman"/>
                <a:ea typeface="Times New Roman"/>
                <a:cs typeface="Times New Roman"/>
                <a:sym typeface="Times New Roman"/>
              </a:rPr>
              <a:t>A blockchain is a platform on which programs can run that execute business logic on behalf of the users. This is a very useful feature but not all blockchains have a mechanism to execute </a:t>
            </a:r>
            <a:r>
              <a:rPr b="0" i="1" lang="en-IN" u="none" strike="noStrike">
                <a:latin typeface="Times New Roman"/>
                <a:ea typeface="Times New Roman"/>
                <a:cs typeface="Times New Roman"/>
                <a:sym typeface="Times New Roman"/>
              </a:rPr>
              <a:t>smart contracts</a:t>
            </a:r>
            <a:r>
              <a:rPr b="0" i="0" lang="en-IN" u="none" strike="noStrike">
                <a:latin typeface="Times New Roman"/>
                <a:ea typeface="Times New Roman"/>
                <a:cs typeface="Times New Roman"/>
                <a:sym typeface="Times New Roman"/>
              </a:rPr>
              <a:t>; however, this is a very desirable feature. It is available on newer blockchain platforms such as Ethereum and MultiChain, but not on Bitcoin.</a:t>
            </a:r>
            <a:endParaRPr>
              <a:latin typeface="Times New Roman"/>
              <a:ea typeface="Times New Roman"/>
              <a:cs typeface="Times New Roman"/>
              <a:sym typeface="Times New Roman"/>
            </a:endParaRPr>
          </a:p>
          <a:p>
            <a:pPr indent="-101600" lvl="0" marL="228600" rtl="0" algn="l">
              <a:lnSpc>
                <a:spcPct val="140000"/>
              </a:lnSpc>
              <a:spcBef>
                <a:spcPts val="800"/>
              </a:spcBef>
              <a:spcAft>
                <a:spcPts val="0"/>
              </a:spcAft>
              <a:buClr>
                <a:srgbClr val="2C2C2C"/>
              </a:buClr>
              <a:buSzPts val="20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0"/>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412" name="Google Shape;412;p40"/>
          <p:cNvSpPr txBox="1"/>
          <p:nvPr>
            <p:ph type="title"/>
          </p:nvPr>
        </p:nvSpPr>
        <p:spPr>
          <a:xfrm>
            <a:off x="637403" y="268198"/>
            <a:ext cx="10515600" cy="90363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Limitations of blockchain</a:t>
            </a:r>
            <a:endParaRPr/>
          </a:p>
        </p:txBody>
      </p:sp>
      <p:sp>
        <p:nvSpPr>
          <p:cNvPr id="413" name="Google Shape;413;p40"/>
          <p:cNvSpPr txBox="1"/>
          <p:nvPr>
            <p:ph idx="1" type="body"/>
          </p:nvPr>
        </p:nvSpPr>
        <p:spPr>
          <a:xfrm>
            <a:off x="839416" y="1171832"/>
            <a:ext cx="10515600" cy="4633431"/>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just">
              <a:lnSpc>
                <a:spcPct val="140000"/>
              </a:lnSpc>
              <a:spcBef>
                <a:spcPts val="0"/>
              </a:spcBef>
              <a:spcAft>
                <a:spcPts val="0"/>
              </a:spcAft>
              <a:buClr>
                <a:srgbClr val="2C2C2C"/>
              </a:buClr>
              <a:buSzPct val="100000"/>
              <a:buChar char="•"/>
            </a:pPr>
            <a:r>
              <a:rPr b="1" lang="en-IN" sz="2600">
                <a:latin typeface="Times New Roman"/>
                <a:ea typeface="Times New Roman"/>
                <a:cs typeface="Times New Roman"/>
                <a:sym typeface="Times New Roman"/>
              </a:rPr>
              <a:t>Scalability</a:t>
            </a:r>
            <a:endParaRPr/>
          </a:p>
          <a:p>
            <a:pPr indent="0" lvl="0" marL="0" rtl="0" algn="just">
              <a:lnSpc>
                <a:spcPct val="140000"/>
              </a:lnSpc>
              <a:spcBef>
                <a:spcPts val="800"/>
              </a:spcBef>
              <a:spcAft>
                <a:spcPts val="0"/>
              </a:spcAft>
              <a:buClr>
                <a:srgbClr val="2C2C2C"/>
              </a:buClr>
              <a:buSzPct val="100000"/>
              <a:buNone/>
            </a:pPr>
            <a:r>
              <a:rPr b="0" i="0" lang="en-IN" sz="2600" u="none" strike="noStrike">
                <a:latin typeface="Times New Roman"/>
                <a:ea typeface="Times New Roman"/>
                <a:cs typeface="Times New Roman"/>
                <a:sym typeface="Times New Roman"/>
              </a:rPr>
              <a:t>Currently, blockchain networks are not as scalable as, for example, current financial networks. This is a known area of concern and a very ripe area for research.</a:t>
            </a:r>
            <a:endParaRPr sz="2600">
              <a:latin typeface="Times New Roman"/>
              <a:ea typeface="Times New Roman"/>
              <a:cs typeface="Times New Roman"/>
              <a:sym typeface="Times New Roman"/>
            </a:endParaRPr>
          </a:p>
          <a:p>
            <a:pPr indent="-228600" lvl="0" marL="228600" rtl="0" algn="just">
              <a:lnSpc>
                <a:spcPct val="140000"/>
              </a:lnSpc>
              <a:spcBef>
                <a:spcPts val="800"/>
              </a:spcBef>
              <a:spcAft>
                <a:spcPts val="0"/>
              </a:spcAft>
              <a:buClr>
                <a:srgbClr val="2C2C2C"/>
              </a:buClr>
              <a:buSzPct val="100000"/>
              <a:buChar char="•"/>
            </a:pPr>
            <a:r>
              <a:rPr b="1" lang="en-IN" sz="2600">
                <a:latin typeface="Times New Roman"/>
                <a:ea typeface="Times New Roman"/>
                <a:cs typeface="Times New Roman"/>
                <a:sym typeface="Times New Roman"/>
              </a:rPr>
              <a:t>Adaptability</a:t>
            </a:r>
            <a:endParaRPr/>
          </a:p>
          <a:p>
            <a:pPr indent="0" lvl="0" marL="0" rtl="0" algn="just">
              <a:lnSpc>
                <a:spcPct val="140000"/>
              </a:lnSpc>
              <a:spcBef>
                <a:spcPts val="800"/>
              </a:spcBef>
              <a:spcAft>
                <a:spcPts val="0"/>
              </a:spcAft>
              <a:buClr>
                <a:srgbClr val="2C2C2C"/>
              </a:buClr>
              <a:buSzPct val="100000"/>
              <a:buNone/>
            </a:pPr>
            <a:r>
              <a:rPr b="0" i="0" lang="en-IN" sz="2600" u="none" strike="noStrike">
                <a:latin typeface="Times New Roman"/>
                <a:ea typeface="Times New Roman"/>
                <a:cs typeface="Times New Roman"/>
                <a:sym typeface="Times New Roman"/>
              </a:rPr>
              <a:t>Often, blockchain is seen as a nascent technology. Even though this perspective is rapidly changing, there is still a long way to go before the mass adoption of this technology. The challenge here is to allow blockchain networks to be easier to use so that adoption can increase. In addition, several other challenges such as scalability exist, which must be solved in order to increase adoption.</a:t>
            </a:r>
            <a:endParaRPr sz="2600">
              <a:latin typeface="Times New Roman"/>
              <a:ea typeface="Times New Roman"/>
              <a:cs typeface="Times New Roman"/>
              <a:sym typeface="Times New Roman"/>
            </a:endParaRPr>
          </a:p>
          <a:p>
            <a:pPr indent="-228600" lvl="0" marL="228600" rtl="0" algn="l">
              <a:lnSpc>
                <a:spcPct val="140000"/>
              </a:lnSpc>
              <a:spcBef>
                <a:spcPts val="800"/>
              </a:spcBef>
              <a:spcAft>
                <a:spcPts val="0"/>
              </a:spcAft>
              <a:buClr>
                <a:srgbClr val="2C2C2C"/>
              </a:buClr>
              <a:buSzPct val="100000"/>
              <a:buChar char="•"/>
            </a:pPr>
            <a:r>
              <a:rPr b="1" lang="en-IN" sz="2600">
                <a:latin typeface="Times New Roman"/>
                <a:ea typeface="Times New Roman"/>
                <a:cs typeface="Times New Roman"/>
                <a:sym typeface="Times New Roman"/>
              </a:rPr>
              <a:t>Relatively immature technology</a:t>
            </a:r>
            <a:endParaRPr/>
          </a:p>
          <a:p>
            <a:pPr indent="0" lvl="0" marL="0" rtl="0" algn="just">
              <a:lnSpc>
                <a:spcPct val="140000"/>
              </a:lnSpc>
              <a:spcBef>
                <a:spcPts val="800"/>
              </a:spcBef>
              <a:spcAft>
                <a:spcPts val="0"/>
              </a:spcAft>
              <a:buClr>
                <a:srgbClr val="2C2C2C"/>
              </a:buClr>
              <a:buSzPct val="100000"/>
              <a:buNone/>
            </a:pPr>
            <a:r>
              <a:rPr b="0" i="0" lang="en-IN" sz="2600" u="none" strike="noStrike">
                <a:latin typeface="Times New Roman"/>
                <a:ea typeface="Times New Roman"/>
                <a:cs typeface="Times New Roman"/>
                <a:sym typeface="Times New Roman"/>
              </a:rPr>
              <a:t>As compared to traditional IT systems that have benefited from decades of research, blockchain is still a new technology and requires a lot of research to achieve maturity.</a:t>
            </a:r>
            <a:endParaRPr sz="2600">
              <a:latin typeface="Times New Roman"/>
              <a:ea typeface="Times New Roman"/>
              <a:cs typeface="Times New Roman"/>
              <a:sym typeface="Times New Roman"/>
            </a:endParaRPr>
          </a:p>
          <a:p>
            <a:pPr indent="-120332" lvl="0" marL="228600" rtl="0" algn="l">
              <a:lnSpc>
                <a:spcPct val="140000"/>
              </a:lnSpc>
              <a:spcBef>
                <a:spcPts val="800"/>
              </a:spcBef>
              <a:spcAft>
                <a:spcPts val="0"/>
              </a:spcAft>
              <a:buClr>
                <a:srgbClr val="2C2C2C"/>
              </a:buClr>
              <a:buSzPct val="100000"/>
              <a:buNone/>
            </a:pPr>
            <a:r>
              <a:t/>
            </a:r>
            <a:endParaRPr sz="22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1"/>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
        <p:nvSpPr>
          <p:cNvPr id="419" name="Google Shape;419;p41"/>
          <p:cNvSpPr txBox="1"/>
          <p:nvPr>
            <p:ph type="title"/>
          </p:nvPr>
        </p:nvSpPr>
        <p:spPr>
          <a:xfrm>
            <a:off x="637403" y="268198"/>
            <a:ext cx="10515600" cy="90363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rPr lang="en-IN"/>
              <a:t>Limitations of blockchain</a:t>
            </a:r>
            <a:endParaRPr/>
          </a:p>
        </p:txBody>
      </p:sp>
      <p:sp>
        <p:nvSpPr>
          <p:cNvPr id="420" name="Google Shape;420;p41"/>
          <p:cNvSpPr txBox="1"/>
          <p:nvPr>
            <p:ph idx="1" type="body"/>
          </p:nvPr>
        </p:nvSpPr>
        <p:spPr>
          <a:xfrm>
            <a:off x="839416" y="1171832"/>
            <a:ext cx="10515600" cy="4993471"/>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1800"/>
              <a:buChar char="•"/>
            </a:pPr>
            <a:r>
              <a:rPr b="1" lang="en-IN" sz="1800">
                <a:latin typeface="Times New Roman"/>
                <a:ea typeface="Times New Roman"/>
                <a:cs typeface="Times New Roman"/>
                <a:sym typeface="Times New Roman"/>
              </a:rPr>
              <a:t>Regulation</a:t>
            </a:r>
            <a:endParaRPr/>
          </a:p>
          <a:p>
            <a:pPr indent="0" lvl="0" marL="0" rtl="0" algn="just">
              <a:lnSpc>
                <a:spcPct val="140000"/>
              </a:lnSpc>
              <a:spcBef>
                <a:spcPts val="800"/>
              </a:spcBef>
              <a:spcAft>
                <a:spcPts val="0"/>
              </a:spcAft>
              <a:buClr>
                <a:srgbClr val="2C2C2C"/>
              </a:buClr>
              <a:buSzPts val="1800"/>
              <a:buNone/>
            </a:pPr>
            <a:r>
              <a:rPr b="0" i="0" lang="en-IN" sz="1800" u="none" strike="noStrike">
                <a:latin typeface="Times New Roman"/>
                <a:ea typeface="Times New Roman"/>
                <a:cs typeface="Times New Roman"/>
                <a:sym typeface="Times New Roman"/>
              </a:rPr>
              <a:t>Due to its decentralized nature, regulation is almost impossible on blockchain. This is sometimes seen as a barrier toward adoption because, traditionally, due to the existence of regulatory authorities, consumers have a certain level of confidence that if something goes wrong they can hold someone accountable. However, in blockchain networks, no such regulatory authority and control exists, which is an inhibiting factor for many consumers.</a:t>
            </a:r>
            <a:endParaRPr sz="1800">
              <a:latin typeface="Times New Roman"/>
              <a:ea typeface="Times New Roman"/>
              <a:cs typeface="Times New Roman"/>
              <a:sym typeface="Times New Roman"/>
            </a:endParaRPr>
          </a:p>
          <a:p>
            <a:pPr indent="-228600" lvl="0" marL="228600" rtl="0" algn="just">
              <a:lnSpc>
                <a:spcPct val="140000"/>
              </a:lnSpc>
              <a:spcBef>
                <a:spcPts val="800"/>
              </a:spcBef>
              <a:spcAft>
                <a:spcPts val="0"/>
              </a:spcAft>
              <a:buClr>
                <a:srgbClr val="2C2C2C"/>
              </a:buClr>
              <a:buSzPts val="1800"/>
              <a:buChar char="•"/>
            </a:pPr>
            <a:r>
              <a:rPr b="1" lang="en-IN" sz="1800">
                <a:latin typeface="Times New Roman"/>
                <a:ea typeface="Times New Roman"/>
                <a:cs typeface="Times New Roman"/>
                <a:sym typeface="Times New Roman"/>
              </a:rPr>
              <a:t>Privacy </a:t>
            </a:r>
            <a:r>
              <a:rPr b="1" i="0" lang="en-IN" sz="1800" u="none" strike="noStrike">
                <a:latin typeface="Times New Roman"/>
                <a:ea typeface="Times New Roman"/>
                <a:cs typeface="Times New Roman"/>
                <a:sym typeface="Times New Roman"/>
              </a:rPr>
              <a:t>and confidentiality</a:t>
            </a:r>
            <a:endParaRPr/>
          </a:p>
          <a:p>
            <a:pPr indent="0" lvl="0" marL="0" rtl="0" algn="just">
              <a:lnSpc>
                <a:spcPct val="140000"/>
              </a:lnSpc>
              <a:spcBef>
                <a:spcPts val="800"/>
              </a:spcBef>
              <a:spcAft>
                <a:spcPts val="0"/>
              </a:spcAft>
              <a:buClr>
                <a:srgbClr val="2C2C2C"/>
              </a:buClr>
              <a:buSzPts val="1800"/>
              <a:buNone/>
            </a:pPr>
            <a:r>
              <a:rPr b="0" i="0" lang="en-IN" sz="1800" u="none" strike="noStrike">
                <a:latin typeface="Times New Roman"/>
                <a:ea typeface="Times New Roman"/>
                <a:cs typeface="Times New Roman"/>
                <a:sym typeface="Times New Roman"/>
              </a:rPr>
              <a:t>Privacy is a concern on public blockchains such as Bitcoin where everyone can see every single transaction. This transparency is not desirable in many industries such as the financial, law, or medical sectors. This is also a known concern and a lot of valuable research with some impeccable solutions has already been developed. However, further research is still required to drive the mass adoption of blockchain.</a:t>
            </a:r>
            <a:endParaRPr sz="1800">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2"/>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600"/>
              <a:buFont typeface="Times New Roman"/>
              <a:buNone/>
            </a:pPr>
            <a:r>
              <a:rPr b="1" i="0" lang="en-IN" sz="3600" u="none" strike="noStrike">
                <a:latin typeface="Times New Roman"/>
                <a:ea typeface="Times New Roman"/>
                <a:cs typeface="Times New Roman"/>
                <a:sym typeface="Times New Roman"/>
              </a:rPr>
              <a:t>Types of blockchain</a:t>
            </a:r>
            <a:endParaRPr sz="3600">
              <a:latin typeface="Times New Roman"/>
              <a:ea typeface="Times New Roman"/>
              <a:cs typeface="Times New Roman"/>
              <a:sym typeface="Times New Roman"/>
            </a:endParaRPr>
          </a:p>
        </p:txBody>
      </p:sp>
      <p:sp>
        <p:nvSpPr>
          <p:cNvPr id="426" name="Google Shape;426;p42"/>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40000"/>
              </a:lnSpc>
              <a:spcBef>
                <a:spcPts val="0"/>
              </a:spcBef>
              <a:spcAft>
                <a:spcPts val="0"/>
              </a:spcAft>
              <a:buClr>
                <a:srgbClr val="2C2C2C"/>
              </a:buClr>
              <a:buSzPts val="2000"/>
              <a:buChar char="•"/>
            </a:pPr>
            <a:r>
              <a:rPr b="1" i="0" lang="en-IN" u="none" strike="noStrike">
                <a:latin typeface="Times New Roman"/>
                <a:ea typeface="Times New Roman"/>
                <a:cs typeface="Times New Roman"/>
                <a:sym typeface="Times New Roman"/>
              </a:rPr>
              <a:t>Distributed ledgers</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a </a:t>
            </a:r>
            <a:r>
              <a:rPr b="0" i="1" lang="en-IN" sz="1800" u="none" strike="noStrike">
                <a:latin typeface="Times New Roman"/>
                <a:ea typeface="Times New Roman"/>
                <a:cs typeface="Times New Roman"/>
                <a:sym typeface="Times New Roman"/>
              </a:rPr>
              <a:t>distributed ledger </a:t>
            </a:r>
            <a:r>
              <a:rPr b="0" i="0" lang="en-IN" sz="1800" u="none" strike="noStrike">
                <a:latin typeface="Times New Roman"/>
                <a:ea typeface="Times New Roman"/>
                <a:cs typeface="Times New Roman"/>
                <a:sym typeface="Times New Roman"/>
              </a:rPr>
              <a:t>is a broad term describing shared databases; </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hence, all blockchains technically fall under the umbrella of shared databases or distributed ledgers. </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Although all blockchains are fundamentally distributed ledgers, all distributed ledgers are not necessarily blockchains.</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A critical difference between a distributed ledger and a blockchain is that a distributed ledger does not necessarily consist of blocks of transactions to keep the ledger growing. Rather, a blockchain is a special type of shared database that is comprised of blocks of transactions.</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R3's Corda (https://www.corda.net) is a distributed ledger developed to record and manage agreements and is especially focused on the financial services industry. On the other hand, more widely known blockchains like Bitcoin and Ethereum make use of blocks to update the shared database.</a:t>
            </a:r>
            <a:endParaRPr>
              <a:latin typeface="Times New Roman"/>
              <a:ea typeface="Times New Roman"/>
              <a:cs typeface="Times New Roman"/>
              <a:sym typeface="Times New Roman"/>
            </a:endParaRPr>
          </a:p>
        </p:txBody>
      </p:sp>
      <p:sp>
        <p:nvSpPr>
          <p:cNvPr id="427" name="Google Shape;427;p42"/>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3"/>
          <p:cNvSpPr txBox="1"/>
          <p:nvPr>
            <p:ph type="title"/>
          </p:nvPr>
        </p:nvSpPr>
        <p:spPr>
          <a:xfrm>
            <a:off x="648000" y="360000"/>
            <a:ext cx="10078412" cy="864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2C2C2C"/>
              </a:buClr>
              <a:buSzPts val="3200"/>
              <a:buFont typeface="Arial"/>
              <a:buNone/>
            </a:pPr>
            <a:r>
              <a:t/>
            </a:r>
            <a:endParaRPr/>
          </a:p>
        </p:txBody>
      </p:sp>
      <p:sp>
        <p:nvSpPr>
          <p:cNvPr id="433" name="Google Shape;433;p43"/>
          <p:cNvSpPr txBox="1"/>
          <p:nvPr>
            <p:ph idx="1" type="body"/>
          </p:nvPr>
        </p:nvSpPr>
        <p:spPr>
          <a:xfrm>
            <a:off x="648000" y="1404000"/>
            <a:ext cx="10512000" cy="3753192"/>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2000"/>
              <a:buChar char="•"/>
            </a:pPr>
            <a:r>
              <a:rPr b="0" i="0" lang="en-IN" u="none" strike="noStrike">
                <a:latin typeface="Times New Roman"/>
                <a:ea typeface="Times New Roman"/>
                <a:cs typeface="Times New Roman"/>
                <a:sym typeface="Times New Roman"/>
              </a:rPr>
              <a:t>a distributed ledger is distributed among its participants and spread across multiple sites or organizations.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This type of ledger can be either private or public.</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The fundamental idea here is that, unlike many other blockchains, the records are stored contiguously instead of being sorted into blocks.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This concept is used in Ripple, which is a blockchain- and cryptocurrency-based global payment network.</a:t>
            </a:r>
            <a:endParaRPr>
              <a:latin typeface="Times New Roman"/>
              <a:ea typeface="Times New Roman"/>
              <a:cs typeface="Times New Roman"/>
              <a:sym typeface="Times New Roman"/>
            </a:endParaRPr>
          </a:p>
        </p:txBody>
      </p:sp>
      <p:sp>
        <p:nvSpPr>
          <p:cNvPr id="434" name="Google Shape;434;p43"/>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4"/>
          <p:cNvSpPr txBox="1"/>
          <p:nvPr>
            <p:ph idx="1" type="body"/>
          </p:nvPr>
        </p:nvSpPr>
        <p:spPr>
          <a:xfrm>
            <a:off x="648000" y="1404000"/>
            <a:ext cx="10800000" cy="4752000"/>
          </a:xfrm>
          <a:prstGeom prst="rect">
            <a:avLst/>
          </a:prstGeom>
          <a:noFill/>
          <a:ln>
            <a:noFill/>
          </a:ln>
        </p:spPr>
        <p:txBody>
          <a:bodyPr anchorCtr="0" anchor="t" bIns="45700" lIns="91425" spcFirstLastPara="1" rIns="91425" wrap="square" tIns="45700">
            <a:normAutofit/>
          </a:bodyPr>
          <a:lstStyle/>
          <a:p>
            <a:pPr indent="-228600" lvl="0" marL="228600" rtl="0" algn="just">
              <a:lnSpc>
                <a:spcPct val="140000"/>
              </a:lnSpc>
              <a:spcBef>
                <a:spcPts val="0"/>
              </a:spcBef>
              <a:spcAft>
                <a:spcPts val="0"/>
              </a:spcAft>
              <a:buClr>
                <a:srgbClr val="2C2C2C"/>
              </a:buClr>
              <a:buSzPts val="1800"/>
              <a:buChar char="•"/>
            </a:pPr>
            <a:r>
              <a:rPr b="1" i="0" lang="en-IN" sz="1800" u="none" strike="noStrike">
                <a:latin typeface="Times New Roman"/>
                <a:ea typeface="Times New Roman"/>
                <a:cs typeface="Times New Roman"/>
                <a:sym typeface="Times New Roman"/>
              </a:rPr>
              <a:t>Distributed Ledger Technology</a:t>
            </a:r>
            <a:endParaRPr/>
          </a:p>
          <a:p>
            <a:pPr indent="-228600" lvl="0" marL="228600" rtl="0" algn="just">
              <a:lnSpc>
                <a:spcPct val="140000"/>
              </a:lnSpc>
              <a:spcBef>
                <a:spcPts val="800"/>
              </a:spcBef>
              <a:spcAft>
                <a:spcPts val="0"/>
              </a:spcAft>
              <a:buClr>
                <a:srgbClr val="2C2C2C"/>
              </a:buClr>
              <a:buSzPts val="1800"/>
              <a:buChar char="•"/>
            </a:pPr>
            <a:r>
              <a:rPr lang="en-IN" sz="1800">
                <a:latin typeface="Times New Roman"/>
                <a:ea typeface="Times New Roman"/>
                <a:cs typeface="Times New Roman"/>
                <a:sym typeface="Times New Roman"/>
              </a:rPr>
              <a:t>D</a:t>
            </a:r>
            <a:r>
              <a:rPr b="0" i="0" lang="en-IN" sz="1800" u="none" strike="noStrike">
                <a:latin typeface="Times New Roman"/>
                <a:ea typeface="Times New Roman"/>
                <a:cs typeface="Times New Roman"/>
                <a:sym typeface="Times New Roman"/>
              </a:rPr>
              <a:t>istributed ledger or DLT commonly used to describe blockchain in the finance industry. </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Sometimes, blockchain and DLT are used interchangeably. </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In fact, DLT is now a very active and thriving area of research in the financial sector. </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From a financial sector point of view, DLTs are permissioned blockchains that are used by consortiums. </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DLTs usually serve as a shared database, with all participants known and verified. </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They do not have a cryptocurrency and do not require mining to secure the ledger.</a:t>
            </a:r>
            <a:endParaRPr/>
          </a:p>
          <a:p>
            <a:pPr indent="-228600" lvl="0" marL="228600" rtl="0" algn="just">
              <a:lnSpc>
                <a:spcPct val="140000"/>
              </a:lnSpc>
              <a:spcBef>
                <a:spcPts val="800"/>
              </a:spcBef>
              <a:spcAft>
                <a:spcPts val="0"/>
              </a:spcAft>
              <a:buClr>
                <a:srgbClr val="2C2C2C"/>
              </a:buClr>
              <a:buSzPts val="1800"/>
              <a:buChar char="•"/>
            </a:pPr>
            <a:r>
              <a:rPr b="1" i="0" lang="en-IN" sz="1800" u="none" strike="noStrike">
                <a:latin typeface="Times New Roman"/>
                <a:ea typeface="Times New Roman"/>
                <a:cs typeface="Times New Roman"/>
                <a:sym typeface="Times New Roman"/>
              </a:rPr>
              <a:t>At a broader level, DLT is an umbrella term that represents Distributed Ledger Technology as a whole, comprising of blockchains and distributed ledgers of different types</a:t>
            </a:r>
            <a:endParaRPr b="1">
              <a:latin typeface="Times New Roman"/>
              <a:ea typeface="Times New Roman"/>
              <a:cs typeface="Times New Roman"/>
              <a:sym typeface="Times New Roman"/>
            </a:endParaRPr>
          </a:p>
        </p:txBody>
      </p:sp>
      <p:sp>
        <p:nvSpPr>
          <p:cNvPr id="440" name="Google Shape;440;p44"/>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5"/>
          <p:cNvSpPr txBox="1"/>
          <p:nvPr>
            <p:ph idx="1" type="body"/>
          </p:nvPr>
        </p:nvSpPr>
        <p:spPr>
          <a:xfrm>
            <a:off x="648000" y="1404000"/>
            <a:ext cx="10800000" cy="3753192"/>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just">
              <a:lnSpc>
                <a:spcPct val="140000"/>
              </a:lnSpc>
              <a:spcBef>
                <a:spcPts val="0"/>
              </a:spcBef>
              <a:spcAft>
                <a:spcPts val="0"/>
              </a:spcAft>
              <a:buClr>
                <a:srgbClr val="2C2C2C"/>
              </a:buClr>
              <a:buSzPct val="100000"/>
              <a:buChar char="•"/>
            </a:pPr>
            <a:r>
              <a:rPr b="1" i="0" lang="en-IN" sz="2400" u="none" strike="noStrike">
                <a:latin typeface="Times New Roman"/>
                <a:ea typeface="Times New Roman"/>
                <a:cs typeface="Times New Roman"/>
                <a:sym typeface="Times New Roman"/>
              </a:rPr>
              <a:t>Public blockchains</a:t>
            </a:r>
            <a:endParaRPr/>
          </a:p>
          <a:p>
            <a:pPr indent="-228600" lvl="0" marL="228600" rtl="0" algn="just">
              <a:lnSpc>
                <a:spcPct val="140000"/>
              </a:lnSpc>
              <a:spcBef>
                <a:spcPts val="800"/>
              </a:spcBef>
              <a:spcAft>
                <a:spcPts val="0"/>
              </a:spcAft>
              <a:buClr>
                <a:srgbClr val="2C2C2C"/>
              </a:buClr>
              <a:buSzPct val="100000"/>
              <a:buChar char="•"/>
            </a:pPr>
            <a:r>
              <a:rPr b="0" i="0" lang="en-IN" sz="2400" u="none" strike="noStrike">
                <a:latin typeface="Times New Roman"/>
                <a:ea typeface="Times New Roman"/>
                <a:cs typeface="Times New Roman"/>
                <a:sym typeface="Times New Roman"/>
              </a:rPr>
              <a:t>As the name suggests, public blockchains are not owned by anyone. </a:t>
            </a:r>
            <a:endParaRPr/>
          </a:p>
          <a:p>
            <a:pPr indent="-228600" lvl="0" marL="228600" rtl="0" algn="just">
              <a:lnSpc>
                <a:spcPct val="140000"/>
              </a:lnSpc>
              <a:spcBef>
                <a:spcPts val="800"/>
              </a:spcBef>
              <a:spcAft>
                <a:spcPts val="0"/>
              </a:spcAft>
              <a:buClr>
                <a:srgbClr val="2C2C2C"/>
              </a:buClr>
              <a:buSzPct val="100000"/>
              <a:buChar char="•"/>
            </a:pPr>
            <a:r>
              <a:rPr b="0" i="0" lang="en-IN" sz="2400" u="none" strike="noStrike">
                <a:latin typeface="Times New Roman"/>
                <a:ea typeface="Times New Roman"/>
                <a:cs typeface="Times New Roman"/>
                <a:sym typeface="Times New Roman"/>
              </a:rPr>
              <a:t>They are open to the public, and anyone can participate as a node in the decision-making process. </a:t>
            </a:r>
            <a:endParaRPr/>
          </a:p>
          <a:p>
            <a:pPr indent="-228600" lvl="0" marL="228600" rtl="0" algn="just">
              <a:lnSpc>
                <a:spcPct val="140000"/>
              </a:lnSpc>
              <a:spcBef>
                <a:spcPts val="800"/>
              </a:spcBef>
              <a:spcAft>
                <a:spcPts val="0"/>
              </a:spcAft>
              <a:buClr>
                <a:srgbClr val="2C2C2C"/>
              </a:buClr>
              <a:buSzPct val="100000"/>
              <a:buChar char="•"/>
            </a:pPr>
            <a:r>
              <a:rPr b="0" i="0" lang="en-IN" sz="2400" u="none" strike="noStrike">
                <a:latin typeface="Times New Roman"/>
                <a:ea typeface="Times New Roman"/>
                <a:cs typeface="Times New Roman"/>
                <a:sym typeface="Times New Roman"/>
              </a:rPr>
              <a:t>Users may or may not be rewarded for their participation. </a:t>
            </a:r>
            <a:endParaRPr/>
          </a:p>
          <a:p>
            <a:pPr indent="-228600" lvl="0" marL="228600" rtl="0" algn="just">
              <a:lnSpc>
                <a:spcPct val="140000"/>
              </a:lnSpc>
              <a:spcBef>
                <a:spcPts val="800"/>
              </a:spcBef>
              <a:spcAft>
                <a:spcPts val="0"/>
              </a:spcAft>
              <a:buClr>
                <a:srgbClr val="2C2C2C"/>
              </a:buClr>
              <a:buSzPct val="100000"/>
              <a:buChar char="•"/>
            </a:pPr>
            <a:r>
              <a:rPr b="0" i="0" lang="en-IN" sz="2400" u="none" strike="noStrike">
                <a:latin typeface="Times New Roman"/>
                <a:ea typeface="Times New Roman"/>
                <a:cs typeface="Times New Roman"/>
                <a:sym typeface="Times New Roman"/>
              </a:rPr>
              <a:t>All users of these "permissionless" or "un-permissioned“ ledgers maintain a copy of the ledger on their local nodes and use a distributed consensus mechanism to decide the eventual state of the ledger. </a:t>
            </a:r>
            <a:endParaRPr/>
          </a:p>
          <a:p>
            <a:pPr indent="-228600" lvl="0" marL="228600" rtl="0" algn="just">
              <a:lnSpc>
                <a:spcPct val="140000"/>
              </a:lnSpc>
              <a:spcBef>
                <a:spcPts val="800"/>
              </a:spcBef>
              <a:spcAft>
                <a:spcPts val="0"/>
              </a:spcAft>
              <a:buClr>
                <a:srgbClr val="2C2C2C"/>
              </a:buClr>
              <a:buSzPct val="100000"/>
              <a:buChar char="•"/>
            </a:pPr>
            <a:r>
              <a:rPr b="0" i="0" lang="en-IN" sz="2400" u="none" strike="noStrike">
                <a:latin typeface="Times New Roman"/>
                <a:ea typeface="Times New Roman"/>
                <a:cs typeface="Times New Roman"/>
                <a:sym typeface="Times New Roman"/>
              </a:rPr>
              <a:t>Bitcoin and Ethereum are both considered public blockchains.</a:t>
            </a:r>
            <a:endParaRPr/>
          </a:p>
        </p:txBody>
      </p:sp>
      <p:sp>
        <p:nvSpPr>
          <p:cNvPr id="446" name="Google Shape;446;p45"/>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6"/>
          <p:cNvSpPr txBox="1"/>
          <p:nvPr>
            <p:ph idx="1" type="body"/>
          </p:nvPr>
        </p:nvSpPr>
        <p:spPr>
          <a:xfrm>
            <a:off x="648000" y="1404000"/>
            <a:ext cx="10800000" cy="3825200"/>
          </a:xfrm>
          <a:prstGeom prst="rect">
            <a:avLst/>
          </a:prstGeom>
          <a:noFill/>
          <a:ln>
            <a:noFill/>
          </a:ln>
        </p:spPr>
        <p:txBody>
          <a:bodyPr anchorCtr="0" anchor="t" bIns="45700" lIns="91425" spcFirstLastPara="1" rIns="91425" wrap="square" tIns="45700">
            <a:normAutofit/>
          </a:bodyPr>
          <a:lstStyle/>
          <a:p>
            <a:pPr indent="-228600" lvl="0" marL="228600" rtl="0" algn="just">
              <a:lnSpc>
                <a:spcPct val="140000"/>
              </a:lnSpc>
              <a:spcBef>
                <a:spcPts val="0"/>
              </a:spcBef>
              <a:spcAft>
                <a:spcPts val="0"/>
              </a:spcAft>
              <a:buClr>
                <a:srgbClr val="2C2C2C"/>
              </a:buClr>
              <a:buSzPts val="2000"/>
              <a:buChar char="•"/>
            </a:pPr>
            <a:r>
              <a:rPr b="1" i="0" lang="en-IN" u="none" strike="noStrike">
                <a:latin typeface="Times New Roman"/>
                <a:ea typeface="Times New Roman"/>
                <a:cs typeface="Times New Roman"/>
                <a:sym typeface="Times New Roman"/>
              </a:rPr>
              <a:t>Private blockchains</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As the name implies, private blockchains are just that—private.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That is, they are open only to a consortium or group of individuals or organizations who have decided to share the ledger among themselves. </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There are various blockchains now available in this category, such as Kadena and Quorum.</a:t>
            </a:r>
            <a:endParaRPr/>
          </a:p>
          <a:p>
            <a:pPr indent="-228600" lvl="0" marL="228600" rtl="0" algn="just">
              <a:lnSpc>
                <a:spcPct val="140000"/>
              </a:lnSpc>
              <a:spcBef>
                <a:spcPts val="800"/>
              </a:spcBef>
              <a:spcAft>
                <a:spcPts val="0"/>
              </a:spcAft>
              <a:buClr>
                <a:srgbClr val="2C2C2C"/>
              </a:buClr>
              <a:buSzPts val="2000"/>
              <a:buChar char="•"/>
            </a:pPr>
            <a:r>
              <a:rPr b="0" i="0" lang="en-IN" u="none" strike="noStrike">
                <a:latin typeface="Times New Roman"/>
                <a:ea typeface="Times New Roman"/>
                <a:cs typeface="Times New Roman"/>
                <a:sym typeface="Times New Roman"/>
              </a:rPr>
              <a:t>Optionally, both of these blockchains can also run in public mode if required, but their primary purpose is to provide a private blockchain.</a:t>
            </a:r>
            <a:endParaRPr>
              <a:latin typeface="Times New Roman"/>
              <a:ea typeface="Times New Roman"/>
              <a:cs typeface="Times New Roman"/>
              <a:sym typeface="Times New Roman"/>
            </a:endParaRPr>
          </a:p>
        </p:txBody>
      </p:sp>
      <p:sp>
        <p:nvSpPr>
          <p:cNvPr id="452" name="Google Shape;452;p46"/>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7"/>
          <p:cNvSpPr txBox="1"/>
          <p:nvPr>
            <p:ph idx="1" type="body"/>
          </p:nvPr>
        </p:nvSpPr>
        <p:spPr>
          <a:xfrm>
            <a:off x="648000" y="1404000"/>
            <a:ext cx="10800000" cy="4617288"/>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2000"/>
              <a:buChar char="•"/>
            </a:pPr>
            <a:r>
              <a:rPr b="1" i="0" lang="en-IN" u="none" strike="noStrike">
                <a:latin typeface="Times New Roman"/>
                <a:ea typeface="Times New Roman"/>
                <a:cs typeface="Times New Roman"/>
                <a:sym typeface="Times New Roman"/>
              </a:rPr>
              <a:t>Semi-private blockchains</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With semi-private blockchains, part of the blockchain is private and part of it is public. </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this is still just a concept today, and no real-world proofs of concept have yet been developed.</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With a semi-private blockchain, the private part is controlled by a group of individuals, while the public part is open for participation by anyone.</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This hybrid model can be used in scenarios where the private part of the blockchain remains internal and shared among known participants, while the public part of the blockchain can still be used by anyone, optionally allowing mining to secure the blockchain. </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This type of blockchain can also be called a "semidecentralized“ model, where it is controlled by a single entity but still allows for multiple users to join the network by following appropriate procedures.</a:t>
            </a:r>
            <a:endParaRPr sz="1800">
              <a:latin typeface="Times New Roman"/>
              <a:ea typeface="Times New Roman"/>
              <a:cs typeface="Times New Roman"/>
              <a:sym typeface="Times New Roman"/>
            </a:endParaRPr>
          </a:p>
        </p:txBody>
      </p:sp>
      <p:sp>
        <p:nvSpPr>
          <p:cNvPr id="458" name="Google Shape;458;p47"/>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8"/>
          <p:cNvSpPr txBox="1"/>
          <p:nvPr>
            <p:ph idx="1" type="body"/>
          </p:nvPr>
        </p:nvSpPr>
        <p:spPr>
          <a:xfrm>
            <a:off x="648000" y="1404000"/>
            <a:ext cx="10800000" cy="4617288"/>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2000"/>
              <a:buChar char="•"/>
            </a:pPr>
            <a:r>
              <a:rPr b="1" i="0" lang="en-IN" u="none" strike="noStrike">
                <a:latin typeface="Times New Roman"/>
                <a:ea typeface="Times New Roman"/>
                <a:cs typeface="Times New Roman"/>
                <a:sym typeface="Times New Roman"/>
              </a:rPr>
              <a:t>Permissioned ledger</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A </a:t>
            </a:r>
            <a:r>
              <a:rPr b="0" i="1" lang="en-IN" sz="1800" u="none" strike="noStrike">
                <a:latin typeface="Times New Roman"/>
                <a:ea typeface="Times New Roman"/>
                <a:cs typeface="Times New Roman"/>
                <a:sym typeface="Times New Roman"/>
              </a:rPr>
              <a:t>permissioned ledger </a:t>
            </a:r>
            <a:r>
              <a:rPr b="0" i="0" lang="en-IN" sz="1800" u="none" strike="noStrike">
                <a:latin typeface="Times New Roman"/>
                <a:ea typeface="Times New Roman"/>
                <a:cs typeface="Times New Roman"/>
                <a:sym typeface="Times New Roman"/>
              </a:rPr>
              <a:t>is a blockchain where participants of the network are already known and trusted.</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Permissioned ledgers do not need to use a distributed consensus mechanism; instead, an agreement protocol is used to maintain a shared version of the truth about the state of the records on the blockchain. </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In this case, for verification of transactions on the chain, all verifiers are already preselected by a central authority and, typically, there is no need for a mining mechanism.</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By definition, there is also no requirement for a permissioned blockchain to be private, as it can be a public blockchain but with regulated access control. </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For example, Bitcoin can become a permissioned ledger if an access control layer is introduced on top of it that verifies the identity of a user and then allows access to the blockchain.</a:t>
            </a:r>
            <a:endParaRPr sz="1800">
              <a:latin typeface="Times New Roman"/>
              <a:ea typeface="Times New Roman"/>
              <a:cs typeface="Times New Roman"/>
              <a:sym typeface="Times New Roman"/>
            </a:endParaRPr>
          </a:p>
        </p:txBody>
      </p:sp>
      <p:sp>
        <p:nvSpPr>
          <p:cNvPr id="464" name="Google Shape;464;p48"/>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9"/>
          <p:cNvSpPr txBox="1"/>
          <p:nvPr>
            <p:ph idx="1" type="body"/>
          </p:nvPr>
        </p:nvSpPr>
        <p:spPr>
          <a:xfrm>
            <a:off x="648000" y="1052736"/>
            <a:ext cx="10800000" cy="4968552"/>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2000"/>
              <a:buChar char="•"/>
            </a:pPr>
            <a:r>
              <a:rPr b="1" i="0" lang="en-IN" u="none" strike="noStrike">
                <a:latin typeface="Times New Roman"/>
                <a:ea typeface="Times New Roman"/>
                <a:cs typeface="Times New Roman"/>
                <a:sym typeface="Times New Roman"/>
              </a:rPr>
              <a:t>Shared ledger</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This is a generic term that is used to describe any application or database that is shared by the public or a consortium. Generally, all blockchains fall into the category of a shared ledger.</a:t>
            </a:r>
            <a:endParaRPr/>
          </a:p>
          <a:p>
            <a:pPr indent="-228600" lvl="0" marL="228600" rtl="0" algn="just">
              <a:lnSpc>
                <a:spcPct val="140000"/>
              </a:lnSpc>
              <a:spcBef>
                <a:spcPts val="800"/>
              </a:spcBef>
              <a:spcAft>
                <a:spcPts val="0"/>
              </a:spcAft>
              <a:buClr>
                <a:srgbClr val="2C2C2C"/>
              </a:buClr>
              <a:buSzPts val="2000"/>
              <a:buChar char="•"/>
            </a:pPr>
            <a:r>
              <a:rPr b="1" i="0" lang="en-IN" u="none" strike="noStrike">
                <a:latin typeface="Times New Roman"/>
                <a:ea typeface="Times New Roman"/>
                <a:cs typeface="Times New Roman"/>
                <a:sym typeface="Times New Roman"/>
              </a:rPr>
              <a:t>Fully private and proprietary blockchains</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There is no mainstream application of these types of blockchains, as they deviate from the core concept of decentralization in blockchain technology. Nonetheless, in specific private settings within an organization, there could be a need to share data and provide some level of guarantee of the authenticity of the data. An example of this type of blockchain might be to allow for collaboration and the sharing of data between various government departments. </a:t>
            </a:r>
            <a:endParaRPr sz="1800">
              <a:latin typeface="Times New Roman"/>
              <a:ea typeface="Times New Roman"/>
              <a:cs typeface="Times New Roman"/>
              <a:sym typeface="Times New Roman"/>
            </a:endParaRPr>
          </a:p>
        </p:txBody>
      </p:sp>
      <p:sp>
        <p:nvSpPr>
          <p:cNvPr id="470" name="Google Shape;470;p49"/>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0"/>
          <p:cNvSpPr txBox="1"/>
          <p:nvPr>
            <p:ph idx="1" type="body"/>
          </p:nvPr>
        </p:nvSpPr>
        <p:spPr>
          <a:xfrm>
            <a:off x="648000" y="1052736"/>
            <a:ext cx="10800000" cy="4248472"/>
          </a:xfrm>
          <a:prstGeom prst="rect">
            <a:avLst/>
          </a:prstGeom>
          <a:noFill/>
          <a:ln>
            <a:noFill/>
          </a:ln>
        </p:spPr>
        <p:txBody>
          <a:bodyPr anchorCtr="0" anchor="t" bIns="45700" lIns="91425" spcFirstLastPara="1" rIns="91425" wrap="square" tIns="45700">
            <a:noAutofit/>
          </a:bodyPr>
          <a:lstStyle/>
          <a:p>
            <a:pPr indent="-228600" lvl="0" marL="228600" rtl="0" algn="just">
              <a:lnSpc>
                <a:spcPct val="140000"/>
              </a:lnSpc>
              <a:spcBef>
                <a:spcPts val="0"/>
              </a:spcBef>
              <a:spcAft>
                <a:spcPts val="0"/>
              </a:spcAft>
              <a:buClr>
                <a:srgbClr val="2C2C2C"/>
              </a:buClr>
              <a:buSzPts val="2000"/>
              <a:buChar char="•"/>
            </a:pPr>
            <a:r>
              <a:rPr b="1" i="0" lang="en-IN" u="none" strike="noStrike">
                <a:latin typeface="Times New Roman"/>
                <a:ea typeface="Times New Roman"/>
                <a:cs typeface="Times New Roman"/>
                <a:sym typeface="Times New Roman"/>
              </a:rPr>
              <a:t>Tokenized blockchains</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These blockchains are standard blockchains that generate cryptocurrency as a result of a consensus process via mining or initial distribution. Bitcoin and Ethereum are prime examples of this type of blockchain.</a:t>
            </a:r>
            <a:endParaRPr/>
          </a:p>
          <a:p>
            <a:pPr indent="-228600" lvl="0" marL="228600" rtl="0" algn="just">
              <a:lnSpc>
                <a:spcPct val="140000"/>
              </a:lnSpc>
              <a:spcBef>
                <a:spcPts val="800"/>
              </a:spcBef>
              <a:spcAft>
                <a:spcPts val="0"/>
              </a:spcAft>
              <a:buClr>
                <a:srgbClr val="2C2C2C"/>
              </a:buClr>
              <a:buSzPts val="2000"/>
              <a:buChar char="•"/>
            </a:pPr>
            <a:r>
              <a:rPr b="1" i="0" lang="en-IN" u="none" strike="noStrike">
                <a:latin typeface="Times New Roman"/>
                <a:ea typeface="Times New Roman"/>
                <a:cs typeface="Times New Roman"/>
                <a:sym typeface="Times New Roman"/>
              </a:rPr>
              <a:t>Tokenless blockchains</a:t>
            </a:r>
            <a:endParaRPr/>
          </a:p>
          <a:p>
            <a:pPr indent="-228600" lvl="0" marL="228600" rtl="0" algn="just">
              <a:lnSpc>
                <a:spcPct val="140000"/>
              </a:lnSpc>
              <a:spcBef>
                <a:spcPts val="800"/>
              </a:spcBef>
              <a:spcAft>
                <a:spcPts val="0"/>
              </a:spcAft>
              <a:buClr>
                <a:srgbClr val="2C2C2C"/>
              </a:buClr>
              <a:buSzPts val="1800"/>
              <a:buChar char="•"/>
            </a:pPr>
            <a:r>
              <a:rPr b="0" i="0" lang="en-IN" sz="1800" u="none" strike="noStrike">
                <a:latin typeface="Times New Roman"/>
                <a:ea typeface="Times New Roman"/>
                <a:cs typeface="Times New Roman"/>
                <a:sym typeface="Times New Roman"/>
              </a:rPr>
              <a:t>These blockchains are designed in such a way that they do not have the basic unit for the transfer of value. However, they are still valuable in situations where there is no need to transfer value between nodes and only the sharing of data among various trusted parties is required. This is similar to fully private blockchains, the only difference being that the use of tokens is not required. This can also be thought of as a shared distributed ledger used for storing and sharing data between the participants. </a:t>
            </a:r>
            <a:endParaRPr sz="1800">
              <a:latin typeface="Times New Roman"/>
              <a:ea typeface="Times New Roman"/>
              <a:cs typeface="Times New Roman"/>
              <a:sym typeface="Times New Roman"/>
            </a:endParaRPr>
          </a:p>
        </p:txBody>
      </p:sp>
      <p:sp>
        <p:nvSpPr>
          <p:cNvPr id="476" name="Google Shape;476;p50"/>
          <p:cNvSpPr txBox="1"/>
          <p:nvPr>
            <p:ph idx="12" type="sldNum"/>
          </p:nvPr>
        </p:nvSpPr>
        <p:spPr>
          <a:xfrm>
            <a:off x="11160000" y="576000"/>
            <a:ext cx="540000" cy="2880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ckt Training">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2018-06-05T09:17:37Z</dcterms:created>
  <dc:creator>Microsoft Office User</dc:creator>
</cp:coreProperties>
</file>