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 id="2147483811" r:id="rId2"/>
    <p:sldMasterId id="2147483822" r:id="rId3"/>
  </p:sldMasterIdLst>
  <p:notesMasterIdLst>
    <p:notesMasterId r:id="rId98"/>
  </p:notesMasterIdLst>
  <p:sldIdLst>
    <p:sldId id="412" r:id="rId4"/>
    <p:sldId id="257" r:id="rId5"/>
    <p:sldId id="446" r:id="rId6"/>
    <p:sldId id="413" r:id="rId7"/>
    <p:sldId id="400" r:id="rId8"/>
    <p:sldId id="455" r:id="rId9"/>
    <p:sldId id="456" r:id="rId10"/>
    <p:sldId id="406" r:id="rId11"/>
    <p:sldId id="447" r:id="rId12"/>
    <p:sldId id="448" r:id="rId13"/>
    <p:sldId id="407" r:id="rId14"/>
    <p:sldId id="408" r:id="rId15"/>
    <p:sldId id="451" r:id="rId16"/>
    <p:sldId id="452" r:id="rId17"/>
    <p:sldId id="458" r:id="rId18"/>
    <p:sldId id="457" r:id="rId19"/>
    <p:sldId id="409" r:id="rId20"/>
    <p:sldId id="454" r:id="rId21"/>
    <p:sldId id="453" r:id="rId22"/>
    <p:sldId id="449" r:id="rId23"/>
    <p:sldId id="450" r:id="rId24"/>
    <p:sldId id="410" r:id="rId25"/>
    <p:sldId id="395" r:id="rId26"/>
    <p:sldId id="618" r:id="rId27"/>
    <p:sldId id="622" r:id="rId28"/>
    <p:sldId id="619" r:id="rId29"/>
    <p:sldId id="623" r:id="rId30"/>
    <p:sldId id="627" r:id="rId31"/>
    <p:sldId id="626" r:id="rId32"/>
    <p:sldId id="629" r:id="rId33"/>
    <p:sldId id="621" r:id="rId34"/>
    <p:sldId id="624" r:id="rId35"/>
    <p:sldId id="625" r:id="rId36"/>
    <p:sldId id="628" r:id="rId37"/>
    <p:sldId id="620" r:id="rId38"/>
    <p:sldId id="630" r:id="rId39"/>
    <p:sldId id="631" r:id="rId40"/>
    <p:sldId id="632" r:id="rId41"/>
    <p:sldId id="633" r:id="rId42"/>
    <p:sldId id="634" r:id="rId43"/>
    <p:sldId id="396" r:id="rId44"/>
    <p:sldId id="258" r:id="rId45"/>
    <p:sldId id="397" r:id="rId46"/>
    <p:sldId id="259" r:id="rId47"/>
    <p:sldId id="260" r:id="rId48"/>
    <p:sldId id="398" r:id="rId49"/>
    <p:sldId id="399" r:id="rId50"/>
    <p:sldId id="264" r:id="rId51"/>
    <p:sldId id="267" r:id="rId52"/>
    <p:sldId id="266" r:id="rId53"/>
    <p:sldId id="444" r:id="rId54"/>
    <p:sldId id="261" r:id="rId55"/>
    <p:sldId id="272" r:id="rId56"/>
    <p:sldId id="614" r:id="rId57"/>
    <p:sldId id="615" r:id="rId58"/>
    <p:sldId id="617" r:id="rId59"/>
    <p:sldId id="463" r:id="rId60"/>
    <p:sldId id="445" r:id="rId61"/>
    <p:sldId id="613" r:id="rId62"/>
    <p:sldId id="524" r:id="rId63"/>
    <p:sldId id="556" r:id="rId64"/>
    <p:sldId id="557" r:id="rId65"/>
    <p:sldId id="558" r:id="rId66"/>
    <p:sldId id="525" r:id="rId67"/>
    <p:sldId id="610" r:id="rId68"/>
    <p:sldId id="566" r:id="rId69"/>
    <p:sldId id="568" r:id="rId70"/>
    <p:sldId id="570" r:id="rId71"/>
    <p:sldId id="572" r:id="rId72"/>
    <p:sldId id="574" r:id="rId73"/>
    <p:sldId id="576" r:id="rId74"/>
    <p:sldId id="577" r:id="rId75"/>
    <p:sldId id="578" r:id="rId76"/>
    <p:sldId id="536" r:id="rId77"/>
    <p:sldId id="538" r:id="rId78"/>
    <p:sldId id="603" r:id="rId79"/>
    <p:sldId id="595" r:id="rId80"/>
    <p:sldId id="596" r:id="rId81"/>
    <p:sldId id="597" r:id="rId82"/>
    <p:sldId id="543" r:id="rId83"/>
    <p:sldId id="605" r:id="rId84"/>
    <p:sldId id="263" r:id="rId85"/>
    <p:sldId id="459" r:id="rId86"/>
    <p:sldId id="268" r:id="rId87"/>
    <p:sldId id="460" r:id="rId88"/>
    <p:sldId id="616" r:id="rId89"/>
    <p:sldId id="461" r:id="rId90"/>
    <p:sldId id="274" r:id="rId91"/>
    <p:sldId id="275" r:id="rId92"/>
    <p:sldId id="265" r:id="rId93"/>
    <p:sldId id="269" r:id="rId94"/>
    <p:sldId id="270" r:id="rId95"/>
    <p:sldId id="462" r:id="rId96"/>
    <p:sldId id="390" r:id="rId9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xmi Gupta" initials="LG" lastIdx="1" clrIdx="0">
    <p:extLst>
      <p:ext uri="{19B8F6BF-5375-455C-9EA6-DF929625EA0E}">
        <p15:presenceInfo xmlns:p15="http://schemas.microsoft.com/office/powerpoint/2012/main" userId="ea63715b8e5a23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snapToGrid="0">
      <p:cViewPr varScale="1">
        <p:scale>
          <a:sx n="63" d="100"/>
          <a:sy n="63" d="100"/>
        </p:scale>
        <p:origin x="5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notesMaster" Target="notesMasters/notesMaster1.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09B9A3-1290-4404-9930-AE025994ADA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IN"/>
        </a:p>
      </dgm:t>
    </dgm:pt>
    <dgm:pt modelId="{3483F8DD-7651-4716-9E2D-F511731C1E89}">
      <dgm:prSet custT="1"/>
      <dgm:spPr/>
      <dgm:t>
        <a:bodyPr/>
        <a:lstStyle/>
        <a:p>
          <a:endParaRPr lang="en-US" sz="2800" dirty="0"/>
        </a:p>
        <a:p>
          <a:r>
            <a:rPr lang="en-US" sz="2800" dirty="0"/>
            <a:t>Manufacturing strategies, Demand Strategies</a:t>
          </a:r>
          <a:endParaRPr lang="en-IN" sz="2800" dirty="0"/>
        </a:p>
        <a:p>
          <a:endParaRPr lang="en-IN" sz="2800" dirty="0"/>
        </a:p>
      </dgm:t>
    </dgm:pt>
    <dgm:pt modelId="{996A27F4-F26E-437C-B352-6E2205FDF63E}" type="parTrans" cxnId="{30C86470-F28F-40F2-BBCE-37B0B63AB85C}">
      <dgm:prSet/>
      <dgm:spPr/>
      <dgm:t>
        <a:bodyPr/>
        <a:lstStyle/>
        <a:p>
          <a:endParaRPr lang="en-IN" sz="2400"/>
        </a:p>
      </dgm:t>
    </dgm:pt>
    <dgm:pt modelId="{584AC2E5-69BD-4B14-8E30-6E407CCF26B9}" type="sibTrans" cxnId="{30C86470-F28F-40F2-BBCE-37B0B63AB85C}">
      <dgm:prSet/>
      <dgm:spPr/>
      <dgm:t>
        <a:bodyPr/>
        <a:lstStyle/>
        <a:p>
          <a:endParaRPr lang="en-IN" sz="2400"/>
        </a:p>
      </dgm:t>
    </dgm:pt>
    <dgm:pt modelId="{E260C1E4-9456-44C4-81DD-29FA3CACB6C2}">
      <dgm:prSet custT="1"/>
      <dgm:spPr/>
      <dgm:t>
        <a:bodyPr/>
        <a:lstStyle/>
        <a:p>
          <a:r>
            <a:rPr lang="en-IN" sz="2800" dirty="0"/>
            <a:t> Push and Pull Strategies</a:t>
          </a:r>
        </a:p>
      </dgm:t>
    </dgm:pt>
    <dgm:pt modelId="{7AC847CA-B148-4AB1-BC33-AF8B113A076C}" type="parTrans" cxnId="{193C8A67-DE0C-4791-8E43-F05BA67E8999}">
      <dgm:prSet/>
      <dgm:spPr/>
      <dgm:t>
        <a:bodyPr/>
        <a:lstStyle/>
        <a:p>
          <a:endParaRPr lang="en-IN" sz="2400"/>
        </a:p>
      </dgm:t>
    </dgm:pt>
    <dgm:pt modelId="{CE3054B4-71A0-4D10-AD81-D638CD4869E6}" type="sibTrans" cxnId="{193C8A67-DE0C-4791-8E43-F05BA67E8999}">
      <dgm:prSet/>
      <dgm:spPr/>
      <dgm:t>
        <a:bodyPr/>
        <a:lstStyle/>
        <a:p>
          <a:endParaRPr lang="en-IN" sz="2400"/>
        </a:p>
      </dgm:t>
    </dgm:pt>
    <dgm:pt modelId="{F9F5E7DF-4763-436C-85CD-E4246FCCDBE0}">
      <dgm:prSet custT="1"/>
      <dgm:spPr/>
      <dgm:t>
        <a:bodyPr/>
        <a:lstStyle/>
        <a:p>
          <a:r>
            <a:rPr lang="en-IN" sz="2800" dirty="0"/>
            <a:t>What is Supply Chain Integration?   </a:t>
          </a:r>
        </a:p>
      </dgm:t>
    </dgm:pt>
    <dgm:pt modelId="{65BEB3CB-3EBC-417E-AC09-CBB4B18693F8}" type="parTrans" cxnId="{037ECE3B-1BA1-48AD-94BA-7F773B94ED65}">
      <dgm:prSet/>
      <dgm:spPr/>
      <dgm:t>
        <a:bodyPr/>
        <a:lstStyle/>
        <a:p>
          <a:endParaRPr lang="en-IN" sz="2400"/>
        </a:p>
      </dgm:t>
    </dgm:pt>
    <dgm:pt modelId="{7CA1AF3D-38E4-4994-AD50-041A2ACF1306}" type="sibTrans" cxnId="{037ECE3B-1BA1-48AD-94BA-7F773B94ED65}">
      <dgm:prSet/>
      <dgm:spPr/>
      <dgm:t>
        <a:bodyPr/>
        <a:lstStyle/>
        <a:p>
          <a:endParaRPr lang="en-IN" sz="2400"/>
        </a:p>
      </dgm:t>
    </dgm:pt>
    <dgm:pt modelId="{B37C7BC4-F93E-4511-A2B6-266CC948C2D1}">
      <dgm:prSet custT="1"/>
      <dgm:spPr/>
      <dgm:t>
        <a:bodyPr/>
        <a:lstStyle/>
        <a:p>
          <a:r>
            <a:rPr lang="en-US" sz="2800" dirty="0"/>
            <a:t>Framework for Supply Chain Network </a:t>
          </a:r>
          <a:endParaRPr lang="en-IN" sz="2800" dirty="0"/>
        </a:p>
      </dgm:t>
    </dgm:pt>
    <dgm:pt modelId="{2AA8EBE8-EC24-4C15-B98E-EE37AAA65C6D}" type="parTrans" cxnId="{54C02BC3-1572-45A7-BF3C-CCFFD81F91BC}">
      <dgm:prSet/>
      <dgm:spPr/>
      <dgm:t>
        <a:bodyPr/>
        <a:lstStyle/>
        <a:p>
          <a:endParaRPr lang="en-IN"/>
        </a:p>
      </dgm:t>
    </dgm:pt>
    <dgm:pt modelId="{D75F7B62-E318-4219-981D-0D386C649C71}" type="sibTrans" cxnId="{54C02BC3-1572-45A7-BF3C-CCFFD81F91BC}">
      <dgm:prSet/>
      <dgm:spPr/>
      <dgm:t>
        <a:bodyPr/>
        <a:lstStyle/>
        <a:p>
          <a:endParaRPr lang="en-IN"/>
        </a:p>
      </dgm:t>
    </dgm:pt>
    <dgm:pt modelId="{1F911876-F9EB-41FD-9E55-9E050ADE46D2}">
      <dgm:prSet custT="1"/>
      <dgm:spPr/>
      <dgm:t>
        <a:bodyPr/>
        <a:lstStyle/>
        <a:p>
          <a:r>
            <a:rPr lang="en-IN" sz="2800" dirty="0"/>
            <a:t>Case Studies- Asian Paint</a:t>
          </a:r>
        </a:p>
      </dgm:t>
    </dgm:pt>
    <dgm:pt modelId="{D050149D-F50D-48FB-9CF4-6F62AE99FCB9}" type="parTrans" cxnId="{739ABC51-2B54-4716-A10B-D0774A9BB5E2}">
      <dgm:prSet/>
      <dgm:spPr/>
      <dgm:t>
        <a:bodyPr/>
        <a:lstStyle/>
        <a:p>
          <a:endParaRPr lang="en-IN"/>
        </a:p>
      </dgm:t>
    </dgm:pt>
    <dgm:pt modelId="{9CD5D660-EA2F-4639-B3AD-72BFB23A40EF}" type="sibTrans" cxnId="{739ABC51-2B54-4716-A10B-D0774A9BB5E2}">
      <dgm:prSet/>
      <dgm:spPr/>
      <dgm:t>
        <a:bodyPr/>
        <a:lstStyle/>
        <a:p>
          <a:endParaRPr lang="en-IN"/>
        </a:p>
      </dgm:t>
    </dgm:pt>
    <dgm:pt modelId="{5647F6BA-C10A-4521-AD6A-6D19FD750755}">
      <dgm:prSet custT="1"/>
      <dgm:spPr/>
      <dgm:t>
        <a:bodyPr/>
        <a:lstStyle/>
        <a:p>
          <a:r>
            <a:rPr lang="en-IN" sz="2800" dirty="0"/>
            <a:t>Case Studies- Dell Computer </a:t>
          </a:r>
        </a:p>
      </dgm:t>
    </dgm:pt>
    <dgm:pt modelId="{E1736388-EF97-47ED-95B7-296A155BA67A}" type="parTrans" cxnId="{F2F1BADA-DB9D-4D1E-8FAF-76E444A2E105}">
      <dgm:prSet/>
      <dgm:spPr/>
      <dgm:t>
        <a:bodyPr/>
        <a:lstStyle/>
        <a:p>
          <a:endParaRPr lang="en-IN"/>
        </a:p>
      </dgm:t>
    </dgm:pt>
    <dgm:pt modelId="{002F5C88-62AC-43A4-BE2C-EA3B04F9C508}" type="sibTrans" cxnId="{F2F1BADA-DB9D-4D1E-8FAF-76E444A2E105}">
      <dgm:prSet/>
      <dgm:spPr/>
      <dgm:t>
        <a:bodyPr/>
        <a:lstStyle/>
        <a:p>
          <a:endParaRPr lang="en-IN"/>
        </a:p>
      </dgm:t>
    </dgm:pt>
    <dgm:pt modelId="{49F6D743-8E91-4CBA-8F33-9DEAB0BAFEB9}" type="pres">
      <dgm:prSet presAssocID="{4B09B9A3-1290-4404-9930-AE025994ADA9}" presName="linear" presStyleCnt="0">
        <dgm:presLayoutVars>
          <dgm:animLvl val="lvl"/>
          <dgm:resizeHandles val="exact"/>
        </dgm:presLayoutVars>
      </dgm:prSet>
      <dgm:spPr/>
    </dgm:pt>
    <dgm:pt modelId="{CE680987-83F3-480C-86FD-B17517DF1A55}" type="pres">
      <dgm:prSet presAssocID="{F9F5E7DF-4763-436C-85CD-E4246FCCDBE0}" presName="parentText" presStyleLbl="node1" presStyleIdx="0" presStyleCnt="6">
        <dgm:presLayoutVars>
          <dgm:chMax val="0"/>
          <dgm:bulletEnabled val="1"/>
        </dgm:presLayoutVars>
      </dgm:prSet>
      <dgm:spPr/>
    </dgm:pt>
    <dgm:pt modelId="{D76CF0E6-F394-436B-9F21-C97E58E2A01D}" type="pres">
      <dgm:prSet presAssocID="{7CA1AF3D-38E4-4994-AD50-041A2ACF1306}" presName="spacer" presStyleCnt="0"/>
      <dgm:spPr/>
    </dgm:pt>
    <dgm:pt modelId="{BD876507-6AFE-4944-A66B-EEDE1BB9DBE7}" type="pres">
      <dgm:prSet presAssocID="{E260C1E4-9456-44C4-81DD-29FA3CACB6C2}" presName="parentText" presStyleLbl="node1" presStyleIdx="1" presStyleCnt="6">
        <dgm:presLayoutVars>
          <dgm:chMax val="0"/>
          <dgm:bulletEnabled val="1"/>
        </dgm:presLayoutVars>
      </dgm:prSet>
      <dgm:spPr/>
    </dgm:pt>
    <dgm:pt modelId="{0334ED08-0FB0-4510-A62B-D9FCCF98B6B7}" type="pres">
      <dgm:prSet presAssocID="{CE3054B4-71A0-4D10-AD81-D638CD4869E6}" presName="spacer" presStyleCnt="0"/>
      <dgm:spPr/>
    </dgm:pt>
    <dgm:pt modelId="{E39CFDAB-C12B-4527-A40F-D1CA46FAFC09}" type="pres">
      <dgm:prSet presAssocID="{3483F8DD-7651-4716-9E2D-F511731C1E89}" presName="parentText" presStyleLbl="node1" presStyleIdx="2" presStyleCnt="6">
        <dgm:presLayoutVars>
          <dgm:chMax val="0"/>
          <dgm:bulletEnabled val="1"/>
        </dgm:presLayoutVars>
      </dgm:prSet>
      <dgm:spPr/>
    </dgm:pt>
    <dgm:pt modelId="{CED67680-CD1F-4667-8046-CE4805914C22}" type="pres">
      <dgm:prSet presAssocID="{584AC2E5-69BD-4B14-8E30-6E407CCF26B9}" presName="spacer" presStyleCnt="0"/>
      <dgm:spPr/>
    </dgm:pt>
    <dgm:pt modelId="{85D3CF9B-B8E1-4D34-9A16-095B7CF456DE}" type="pres">
      <dgm:prSet presAssocID="{B37C7BC4-F93E-4511-A2B6-266CC948C2D1}" presName="parentText" presStyleLbl="node1" presStyleIdx="3" presStyleCnt="6">
        <dgm:presLayoutVars>
          <dgm:chMax val="0"/>
          <dgm:bulletEnabled val="1"/>
        </dgm:presLayoutVars>
      </dgm:prSet>
      <dgm:spPr/>
    </dgm:pt>
    <dgm:pt modelId="{43E77C1B-DBBD-462F-BC5A-D4D836029709}" type="pres">
      <dgm:prSet presAssocID="{D75F7B62-E318-4219-981D-0D386C649C71}" presName="spacer" presStyleCnt="0"/>
      <dgm:spPr/>
    </dgm:pt>
    <dgm:pt modelId="{EEBD3D1A-71AF-4AA3-A2E6-99808883DC58}" type="pres">
      <dgm:prSet presAssocID="{1F911876-F9EB-41FD-9E55-9E050ADE46D2}" presName="parentText" presStyleLbl="node1" presStyleIdx="4" presStyleCnt="6">
        <dgm:presLayoutVars>
          <dgm:chMax val="0"/>
          <dgm:bulletEnabled val="1"/>
        </dgm:presLayoutVars>
      </dgm:prSet>
      <dgm:spPr/>
    </dgm:pt>
    <dgm:pt modelId="{438F50D3-39BF-467E-971B-BE7B406FA427}" type="pres">
      <dgm:prSet presAssocID="{9CD5D660-EA2F-4639-B3AD-72BFB23A40EF}" presName="spacer" presStyleCnt="0"/>
      <dgm:spPr/>
    </dgm:pt>
    <dgm:pt modelId="{E324F0F1-010D-4B2D-8BA3-721DA5F92376}" type="pres">
      <dgm:prSet presAssocID="{5647F6BA-C10A-4521-AD6A-6D19FD750755}" presName="parentText" presStyleLbl="node1" presStyleIdx="5" presStyleCnt="6">
        <dgm:presLayoutVars>
          <dgm:chMax val="0"/>
          <dgm:bulletEnabled val="1"/>
        </dgm:presLayoutVars>
      </dgm:prSet>
      <dgm:spPr/>
    </dgm:pt>
  </dgm:ptLst>
  <dgm:cxnLst>
    <dgm:cxn modelId="{606A093B-D0C3-431B-9C8A-6B4473CD5EF0}" type="presOf" srcId="{F9F5E7DF-4763-436C-85CD-E4246FCCDBE0}" destId="{CE680987-83F3-480C-86FD-B17517DF1A55}" srcOrd="0" destOrd="0" presId="urn:microsoft.com/office/officeart/2005/8/layout/vList2"/>
    <dgm:cxn modelId="{037ECE3B-1BA1-48AD-94BA-7F773B94ED65}" srcId="{4B09B9A3-1290-4404-9930-AE025994ADA9}" destId="{F9F5E7DF-4763-436C-85CD-E4246FCCDBE0}" srcOrd="0" destOrd="0" parTransId="{65BEB3CB-3EBC-417E-AC09-CBB4B18693F8}" sibTransId="{7CA1AF3D-38E4-4994-AD50-041A2ACF1306}"/>
    <dgm:cxn modelId="{193C8A67-DE0C-4791-8E43-F05BA67E8999}" srcId="{4B09B9A3-1290-4404-9930-AE025994ADA9}" destId="{E260C1E4-9456-44C4-81DD-29FA3CACB6C2}" srcOrd="1" destOrd="0" parTransId="{7AC847CA-B148-4AB1-BC33-AF8B113A076C}" sibTransId="{CE3054B4-71A0-4D10-AD81-D638CD4869E6}"/>
    <dgm:cxn modelId="{2FD1DD49-FF7B-431E-A119-7924328387CA}" type="presOf" srcId="{4B09B9A3-1290-4404-9930-AE025994ADA9}" destId="{49F6D743-8E91-4CBA-8F33-9DEAB0BAFEB9}" srcOrd="0" destOrd="0" presId="urn:microsoft.com/office/officeart/2005/8/layout/vList2"/>
    <dgm:cxn modelId="{B9700270-2C61-4C59-9CD8-0B6E01C2B00F}" type="presOf" srcId="{E260C1E4-9456-44C4-81DD-29FA3CACB6C2}" destId="{BD876507-6AFE-4944-A66B-EEDE1BB9DBE7}" srcOrd="0" destOrd="0" presId="urn:microsoft.com/office/officeart/2005/8/layout/vList2"/>
    <dgm:cxn modelId="{30C86470-F28F-40F2-BBCE-37B0B63AB85C}" srcId="{4B09B9A3-1290-4404-9930-AE025994ADA9}" destId="{3483F8DD-7651-4716-9E2D-F511731C1E89}" srcOrd="2" destOrd="0" parTransId="{996A27F4-F26E-437C-B352-6E2205FDF63E}" sibTransId="{584AC2E5-69BD-4B14-8E30-6E407CCF26B9}"/>
    <dgm:cxn modelId="{739ABC51-2B54-4716-A10B-D0774A9BB5E2}" srcId="{4B09B9A3-1290-4404-9930-AE025994ADA9}" destId="{1F911876-F9EB-41FD-9E55-9E050ADE46D2}" srcOrd="4" destOrd="0" parTransId="{D050149D-F50D-48FB-9CF4-6F62AE99FCB9}" sibTransId="{9CD5D660-EA2F-4639-B3AD-72BFB23A40EF}"/>
    <dgm:cxn modelId="{496E2881-33C0-40F4-8101-373D2A02D3AA}" type="presOf" srcId="{1F911876-F9EB-41FD-9E55-9E050ADE46D2}" destId="{EEBD3D1A-71AF-4AA3-A2E6-99808883DC58}" srcOrd="0" destOrd="0" presId="urn:microsoft.com/office/officeart/2005/8/layout/vList2"/>
    <dgm:cxn modelId="{029663C2-7150-48CB-8381-1EE1ED36E060}" type="presOf" srcId="{B37C7BC4-F93E-4511-A2B6-266CC948C2D1}" destId="{85D3CF9B-B8E1-4D34-9A16-095B7CF456DE}" srcOrd="0" destOrd="0" presId="urn:microsoft.com/office/officeart/2005/8/layout/vList2"/>
    <dgm:cxn modelId="{54C02BC3-1572-45A7-BF3C-CCFFD81F91BC}" srcId="{4B09B9A3-1290-4404-9930-AE025994ADA9}" destId="{B37C7BC4-F93E-4511-A2B6-266CC948C2D1}" srcOrd="3" destOrd="0" parTransId="{2AA8EBE8-EC24-4C15-B98E-EE37AAA65C6D}" sibTransId="{D75F7B62-E318-4219-981D-0D386C649C71}"/>
    <dgm:cxn modelId="{F2F1BADA-DB9D-4D1E-8FAF-76E444A2E105}" srcId="{4B09B9A3-1290-4404-9930-AE025994ADA9}" destId="{5647F6BA-C10A-4521-AD6A-6D19FD750755}" srcOrd="5" destOrd="0" parTransId="{E1736388-EF97-47ED-95B7-296A155BA67A}" sibTransId="{002F5C88-62AC-43A4-BE2C-EA3B04F9C508}"/>
    <dgm:cxn modelId="{00CEEEE4-371F-4572-9C91-817A2F5A11A2}" type="presOf" srcId="{3483F8DD-7651-4716-9E2D-F511731C1E89}" destId="{E39CFDAB-C12B-4527-A40F-D1CA46FAFC09}" srcOrd="0" destOrd="0" presId="urn:microsoft.com/office/officeart/2005/8/layout/vList2"/>
    <dgm:cxn modelId="{E61E24EF-E451-4212-8939-54A42370DD87}" type="presOf" srcId="{5647F6BA-C10A-4521-AD6A-6D19FD750755}" destId="{E324F0F1-010D-4B2D-8BA3-721DA5F92376}" srcOrd="0" destOrd="0" presId="urn:microsoft.com/office/officeart/2005/8/layout/vList2"/>
    <dgm:cxn modelId="{09BD9207-4326-4F6B-B377-D0D8E75DFE1C}" type="presParOf" srcId="{49F6D743-8E91-4CBA-8F33-9DEAB0BAFEB9}" destId="{CE680987-83F3-480C-86FD-B17517DF1A55}" srcOrd="0" destOrd="0" presId="urn:microsoft.com/office/officeart/2005/8/layout/vList2"/>
    <dgm:cxn modelId="{E6EB481A-1C0B-4F15-9D4D-3A3EB759A792}" type="presParOf" srcId="{49F6D743-8E91-4CBA-8F33-9DEAB0BAFEB9}" destId="{D76CF0E6-F394-436B-9F21-C97E58E2A01D}" srcOrd="1" destOrd="0" presId="urn:microsoft.com/office/officeart/2005/8/layout/vList2"/>
    <dgm:cxn modelId="{838E75F4-B0D7-4436-8072-37C3C0E7D019}" type="presParOf" srcId="{49F6D743-8E91-4CBA-8F33-9DEAB0BAFEB9}" destId="{BD876507-6AFE-4944-A66B-EEDE1BB9DBE7}" srcOrd="2" destOrd="0" presId="urn:microsoft.com/office/officeart/2005/8/layout/vList2"/>
    <dgm:cxn modelId="{8F1EBBA0-7519-4D0D-BC8B-E8CB93B2FFEA}" type="presParOf" srcId="{49F6D743-8E91-4CBA-8F33-9DEAB0BAFEB9}" destId="{0334ED08-0FB0-4510-A62B-D9FCCF98B6B7}" srcOrd="3" destOrd="0" presId="urn:microsoft.com/office/officeart/2005/8/layout/vList2"/>
    <dgm:cxn modelId="{C58A33D0-B14D-4212-83C0-87E99D372567}" type="presParOf" srcId="{49F6D743-8E91-4CBA-8F33-9DEAB0BAFEB9}" destId="{E39CFDAB-C12B-4527-A40F-D1CA46FAFC09}" srcOrd="4" destOrd="0" presId="urn:microsoft.com/office/officeart/2005/8/layout/vList2"/>
    <dgm:cxn modelId="{D3CA9E5F-7999-41DF-9183-BD56D937343B}" type="presParOf" srcId="{49F6D743-8E91-4CBA-8F33-9DEAB0BAFEB9}" destId="{CED67680-CD1F-4667-8046-CE4805914C22}" srcOrd="5" destOrd="0" presId="urn:microsoft.com/office/officeart/2005/8/layout/vList2"/>
    <dgm:cxn modelId="{38D6A27A-61C8-42B3-97E4-383FA83EA890}" type="presParOf" srcId="{49F6D743-8E91-4CBA-8F33-9DEAB0BAFEB9}" destId="{85D3CF9B-B8E1-4D34-9A16-095B7CF456DE}" srcOrd="6" destOrd="0" presId="urn:microsoft.com/office/officeart/2005/8/layout/vList2"/>
    <dgm:cxn modelId="{B6886510-2BCE-475A-A19D-E92E1856C82E}" type="presParOf" srcId="{49F6D743-8E91-4CBA-8F33-9DEAB0BAFEB9}" destId="{43E77C1B-DBBD-462F-BC5A-D4D836029709}" srcOrd="7" destOrd="0" presId="urn:microsoft.com/office/officeart/2005/8/layout/vList2"/>
    <dgm:cxn modelId="{E0034F1E-C3BB-41C6-A745-D818613E150B}" type="presParOf" srcId="{49F6D743-8E91-4CBA-8F33-9DEAB0BAFEB9}" destId="{EEBD3D1A-71AF-4AA3-A2E6-99808883DC58}" srcOrd="8" destOrd="0" presId="urn:microsoft.com/office/officeart/2005/8/layout/vList2"/>
    <dgm:cxn modelId="{1316B2D3-CB90-45CF-8FDE-B99F58868F58}" type="presParOf" srcId="{49F6D743-8E91-4CBA-8F33-9DEAB0BAFEB9}" destId="{438F50D3-39BF-467E-971B-BE7B406FA427}" srcOrd="9" destOrd="0" presId="urn:microsoft.com/office/officeart/2005/8/layout/vList2"/>
    <dgm:cxn modelId="{B9AFBA87-1A10-4BF1-BAE0-F5F1EF0232C2}" type="presParOf" srcId="{49F6D743-8E91-4CBA-8F33-9DEAB0BAFEB9}" destId="{E324F0F1-010D-4B2D-8BA3-721DA5F9237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B42DDB7C-53DC-46F2-BE44-37625CD02D2A}"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60AD90-5B4A-4EF9-87E3-2CAC50C980EA}" type="doc">
      <dgm:prSet loTypeId="urn:microsoft.com/office/officeart/2005/8/layout/orgChart1" loCatId="hierarchy" qsTypeId="urn:microsoft.com/office/officeart/2005/8/quickstyle/simple1" qsCatId="simple" csTypeId="urn:microsoft.com/office/officeart/2005/8/colors/colorful5" csCatId="colorful"/>
      <dgm:spPr/>
      <dgm:t>
        <a:bodyPr/>
        <a:lstStyle/>
        <a:p>
          <a:endParaRPr lang="en-IN"/>
        </a:p>
      </dgm:t>
    </dgm:pt>
    <dgm:pt modelId="{683A0987-CDBE-4A06-AA8A-2C2FBEEE6968}">
      <dgm:prSet/>
      <dgm:spPr/>
      <dgm:t>
        <a:bodyPr/>
        <a:lstStyle/>
        <a:p>
          <a:r>
            <a:rPr lang="en-US" b="1" i="0"/>
            <a:t>Purpose</a:t>
          </a:r>
          <a:endParaRPr lang="en-IN"/>
        </a:p>
      </dgm:t>
    </dgm:pt>
    <dgm:pt modelId="{5542FC15-0757-4E2D-81C8-A07484D84029}" type="parTrans" cxnId="{5D8B95F5-0924-4B0F-A53E-AC7DA34E2559}">
      <dgm:prSet/>
      <dgm:spPr/>
      <dgm:t>
        <a:bodyPr/>
        <a:lstStyle/>
        <a:p>
          <a:endParaRPr lang="en-IN"/>
        </a:p>
      </dgm:t>
    </dgm:pt>
    <dgm:pt modelId="{2A70631D-8DBD-4D6C-B9FE-88387AA67FA7}" type="sibTrans" cxnId="{5D8B95F5-0924-4B0F-A53E-AC7DA34E2559}">
      <dgm:prSet/>
      <dgm:spPr/>
      <dgm:t>
        <a:bodyPr/>
        <a:lstStyle/>
        <a:p>
          <a:endParaRPr lang="en-IN"/>
        </a:p>
      </dgm:t>
    </dgm:pt>
    <dgm:pt modelId="{7628D169-CA1E-4439-8367-9012534930C3}">
      <dgm:prSet/>
      <dgm:spPr/>
      <dgm:t>
        <a:bodyPr/>
        <a:lstStyle/>
        <a:p>
          <a:r>
            <a:rPr lang="en-US"/>
            <a:t>R</a:t>
          </a:r>
          <a:r>
            <a:rPr lang="en-US" b="0" i="0"/>
            <a:t>educe cost</a:t>
          </a:r>
          <a:endParaRPr lang="en-IN"/>
        </a:p>
      </dgm:t>
    </dgm:pt>
    <dgm:pt modelId="{C12326EF-4B45-47DC-90C0-872BE7B4AB7C}" type="parTrans" cxnId="{A3420EA9-AD7D-4BD8-A099-71EDF56B4EB8}">
      <dgm:prSet/>
      <dgm:spPr/>
      <dgm:t>
        <a:bodyPr/>
        <a:lstStyle/>
        <a:p>
          <a:endParaRPr lang="en-IN"/>
        </a:p>
      </dgm:t>
    </dgm:pt>
    <dgm:pt modelId="{4F590DFF-BB4C-4BA8-9FC4-5A98F2A5BB93}" type="sibTrans" cxnId="{A3420EA9-AD7D-4BD8-A099-71EDF56B4EB8}">
      <dgm:prSet/>
      <dgm:spPr/>
      <dgm:t>
        <a:bodyPr/>
        <a:lstStyle/>
        <a:p>
          <a:endParaRPr lang="en-IN"/>
        </a:p>
      </dgm:t>
    </dgm:pt>
    <dgm:pt modelId="{48011D48-ADEB-40BB-8AD9-865B2ECA90DA}">
      <dgm:prSet/>
      <dgm:spPr/>
      <dgm:t>
        <a:bodyPr/>
        <a:lstStyle/>
        <a:p>
          <a:r>
            <a:rPr lang="en-US"/>
            <a:t>I</a:t>
          </a:r>
          <a:r>
            <a:rPr lang="en-US" b="0" i="0"/>
            <a:t>ncrease service level</a:t>
          </a:r>
          <a:endParaRPr lang="en-IN"/>
        </a:p>
      </dgm:t>
    </dgm:pt>
    <dgm:pt modelId="{8409503A-73E1-40DB-AFCF-274972FF9160}" type="parTrans" cxnId="{88A5FB19-32DB-4770-992C-2F7802AC8F98}">
      <dgm:prSet/>
      <dgm:spPr/>
      <dgm:t>
        <a:bodyPr/>
        <a:lstStyle/>
        <a:p>
          <a:endParaRPr lang="en-IN"/>
        </a:p>
      </dgm:t>
    </dgm:pt>
    <dgm:pt modelId="{B7CFB2DF-1891-49A3-9CD3-41DD2BD18159}" type="sibTrans" cxnId="{88A5FB19-32DB-4770-992C-2F7802AC8F98}">
      <dgm:prSet/>
      <dgm:spPr/>
      <dgm:t>
        <a:bodyPr/>
        <a:lstStyle/>
        <a:p>
          <a:endParaRPr lang="en-IN"/>
        </a:p>
      </dgm:t>
    </dgm:pt>
    <dgm:pt modelId="{961F2B2B-05EB-4808-AD09-7F27C50439A1}">
      <dgm:prSet/>
      <dgm:spPr/>
      <dgm:t>
        <a:bodyPr/>
        <a:lstStyle/>
        <a:p>
          <a:r>
            <a:rPr lang="en-US"/>
            <a:t>R</a:t>
          </a:r>
          <a:r>
            <a:rPr lang="en-US" b="0" i="0"/>
            <a:t>educe the bullwhip effect</a:t>
          </a:r>
          <a:endParaRPr lang="en-IN"/>
        </a:p>
      </dgm:t>
    </dgm:pt>
    <dgm:pt modelId="{FC3648DC-5847-4F3F-87AA-83A46979BDF5}" type="parTrans" cxnId="{43B046EC-480A-416B-B60D-B97725282EEF}">
      <dgm:prSet/>
      <dgm:spPr/>
      <dgm:t>
        <a:bodyPr/>
        <a:lstStyle/>
        <a:p>
          <a:endParaRPr lang="en-IN"/>
        </a:p>
      </dgm:t>
    </dgm:pt>
    <dgm:pt modelId="{4105E24F-81BA-43E2-B60D-37169174CFD0}" type="sibTrans" cxnId="{43B046EC-480A-416B-B60D-B97725282EEF}">
      <dgm:prSet/>
      <dgm:spPr/>
      <dgm:t>
        <a:bodyPr/>
        <a:lstStyle/>
        <a:p>
          <a:endParaRPr lang="en-IN"/>
        </a:p>
      </dgm:t>
    </dgm:pt>
    <dgm:pt modelId="{77404FEE-0ED2-45D0-91D9-263802099372}">
      <dgm:prSet/>
      <dgm:spPr/>
      <dgm:t>
        <a:bodyPr/>
        <a:lstStyle/>
        <a:p>
          <a:r>
            <a:rPr lang="en-US"/>
            <a:t>B</a:t>
          </a:r>
          <a:r>
            <a:rPr lang="en-US" b="0" i="0"/>
            <a:t>etter utilize resources</a:t>
          </a:r>
          <a:endParaRPr lang="en-IN"/>
        </a:p>
      </dgm:t>
    </dgm:pt>
    <dgm:pt modelId="{0BE8EBDC-3A4F-416B-BEEC-D874044B4B82}" type="parTrans" cxnId="{A06ACB75-4E0E-4A5B-BA42-4075A8177AAF}">
      <dgm:prSet/>
      <dgm:spPr/>
      <dgm:t>
        <a:bodyPr/>
        <a:lstStyle/>
        <a:p>
          <a:endParaRPr lang="en-IN"/>
        </a:p>
      </dgm:t>
    </dgm:pt>
    <dgm:pt modelId="{1FFBF63C-0364-45E4-962E-11E2E4949D3F}" type="sibTrans" cxnId="{A06ACB75-4E0E-4A5B-BA42-4075A8177AAF}">
      <dgm:prSet/>
      <dgm:spPr/>
      <dgm:t>
        <a:bodyPr/>
        <a:lstStyle/>
        <a:p>
          <a:endParaRPr lang="en-IN"/>
        </a:p>
      </dgm:t>
    </dgm:pt>
    <dgm:pt modelId="{429761DA-8EC1-4E13-9311-029A7CACD83A}">
      <dgm:prSet/>
      <dgm:spPr/>
      <dgm:t>
        <a:bodyPr/>
        <a:lstStyle/>
        <a:p>
          <a:r>
            <a:rPr lang="en-US" b="0" i="0"/>
            <a:t>effectively respond to changes in the market place</a:t>
          </a:r>
          <a:endParaRPr lang="en-IN"/>
        </a:p>
      </dgm:t>
    </dgm:pt>
    <dgm:pt modelId="{5AA23B17-4D84-4D78-8141-1373369DD42F}" type="parTrans" cxnId="{0C6E998A-8FD8-40F5-8BBB-AE63C88C652A}">
      <dgm:prSet/>
      <dgm:spPr/>
      <dgm:t>
        <a:bodyPr/>
        <a:lstStyle/>
        <a:p>
          <a:endParaRPr lang="en-IN"/>
        </a:p>
      </dgm:t>
    </dgm:pt>
    <dgm:pt modelId="{BA1A65A0-1E26-42B4-9736-EE494B4353D0}" type="sibTrans" cxnId="{0C6E998A-8FD8-40F5-8BBB-AE63C88C652A}">
      <dgm:prSet/>
      <dgm:spPr/>
      <dgm:t>
        <a:bodyPr/>
        <a:lstStyle/>
        <a:p>
          <a:endParaRPr lang="en-IN"/>
        </a:p>
      </dgm:t>
    </dgm:pt>
    <dgm:pt modelId="{8D6CA44E-D7C9-4704-835A-7EB239403762}" type="pres">
      <dgm:prSet presAssocID="{4760AD90-5B4A-4EF9-87E3-2CAC50C980EA}" presName="hierChild1" presStyleCnt="0">
        <dgm:presLayoutVars>
          <dgm:orgChart val="1"/>
          <dgm:chPref val="1"/>
          <dgm:dir/>
          <dgm:animOne val="branch"/>
          <dgm:animLvl val="lvl"/>
          <dgm:resizeHandles/>
        </dgm:presLayoutVars>
      </dgm:prSet>
      <dgm:spPr/>
    </dgm:pt>
    <dgm:pt modelId="{B7F68BFA-01A9-4A6F-952A-1971F5F39140}" type="pres">
      <dgm:prSet presAssocID="{683A0987-CDBE-4A06-AA8A-2C2FBEEE6968}" presName="hierRoot1" presStyleCnt="0">
        <dgm:presLayoutVars>
          <dgm:hierBranch val="init"/>
        </dgm:presLayoutVars>
      </dgm:prSet>
      <dgm:spPr/>
    </dgm:pt>
    <dgm:pt modelId="{14303134-60A5-4CA4-8F77-D3C2ADA848CA}" type="pres">
      <dgm:prSet presAssocID="{683A0987-CDBE-4A06-AA8A-2C2FBEEE6968}" presName="rootComposite1" presStyleCnt="0"/>
      <dgm:spPr/>
    </dgm:pt>
    <dgm:pt modelId="{570D001C-2B1C-4474-9794-57118F355C2E}" type="pres">
      <dgm:prSet presAssocID="{683A0987-CDBE-4A06-AA8A-2C2FBEEE6968}" presName="rootText1" presStyleLbl="node0" presStyleIdx="0" presStyleCnt="1">
        <dgm:presLayoutVars>
          <dgm:chPref val="3"/>
        </dgm:presLayoutVars>
      </dgm:prSet>
      <dgm:spPr/>
    </dgm:pt>
    <dgm:pt modelId="{CB8DBADB-0E47-49C6-91E9-7455D9F2AD18}" type="pres">
      <dgm:prSet presAssocID="{683A0987-CDBE-4A06-AA8A-2C2FBEEE6968}" presName="rootConnector1" presStyleLbl="node1" presStyleIdx="0" presStyleCnt="0"/>
      <dgm:spPr/>
    </dgm:pt>
    <dgm:pt modelId="{7AD99354-B003-4A1E-9642-7F40E7226AA9}" type="pres">
      <dgm:prSet presAssocID="{683A0987-CDBE-4A06-AA8A-2C2FBEEE6968}" presName="hierChild2" presStyleCnt="0"/>
      <dgm:spPr/>
    </dgm:pt>
    <dgm:pt modelId="{19D5EBA7-766C-4D8C-9DB1-F25DA983D40E}" type="pres">
      <dgm:prSet presAssocID="{C12326EF-4B45-47DC-90C0-872BE7B4AB7C}" presName="Name37" presStyleLbl="parChTrans1D2" presStyleIdx="0" presStyleCnt="5"/>
      <dgm:spPr/>
    </dgm:pt>
    <dgm:pt modelId="{0B8BFD51-51DB-46C5-BFC4-EE3FFA18596C}" type="pres">
      <dgm:prSet presAssocID="{7628D169-CA1E-4439-8367-9012534930C3}" presName="hierRoot2" presStyleCnt="0">
        <dgm:presLayoutVars>
          <dgm:hierBranch val="init"/>
        </dgm:presLayoutVars>
      </dgm:prSet>
      <dgm:spPr/>
    </dgm:pt>
    <dgm:pt modelId="{407A450C-F692-4C5A-ACD8-9BA1F20FE45B}" type="pres">
      <dgm:prSet presAssocID="{7628D169-CA1E-4439-8367-9012534930C3}" presName="rootComposite" presStyleCnt="0"/>
      <dgm:spPr/>
    </dgm:pt>
    <dgm:pt modelId="{FA6C1E4A-A42E-4B8C-8B63-0DE41EA81F13}" type="pres">
      <dgm:prSet presAssocID="{7628D169-CA1E-4439-8367-9012534930C3}" presName="rootText" presStyleLbl="node2" presStyleIdx="0" presStyleCnt="5">
        <dgm:presLayoutVars>
          <dgm:chPref val="3"/>
        </dgm:presLayoutVars>
      </dgm:prSet>
      <dgm:spPr/>
    </dgm:pt>
    <dgm:pt modelId="{5274F4EF-EDF4-4C65-A139-68506F67CD62}" type="pres">
      <dgm:prSet presAssocID="{7628D169-CA1E-4439-8367-9012534930C3}" presName="rootConnector" presStyleLbl="node2" presStyleIdx="0" presStyleCnt="5"/>
      <dgm:spPr/>
    </dgm:pt>
    <dgm:pt modelId="{B3AD0B2A-8A2F-4431-983C-CE840623FC8A}" type="pres">
      <dgm:prSet presAssocID="{7628D169-CA1E-4439-8367-9012534930C3}" presName="hierChild4" presStyleCnt="0"/>
      <dgm:spPr/>
    </dgm:pt>
    <dgm:pt modelId="{C7FDDE2D-7125-44AC-8F82-E20235FD57BE}" type="pres">
      <dgm:prSet presAssocID="{7628D169-CA1E-4439-8367-9012534930C3}" presName="hierChild5" presStyleCnt="0"/>
      <dgm:spPr/>
    </dgm:pt>
    <dgm:pt modelId="{60691095-7774-4795-8263-A0E489507D01}" type="pres">
      <dgm:prSet presAssocID="{8409503A-73E1-40DB-AFCF-274972FF9160}" presName="Name37" presStyleLbl="parChTrans1D2" presStyleIdx="1" presStyleCnt="5"/>
      <dgm:spPr/>
    </dgm:pt>
    <dgm:pt modelId="{D7C7CECF-3BA2-4F92-95CC-268F23C80E75}" type="pres">
      <dgm:prSet presAssocID="{48011D48-ADEB-40BB-8AD9-865B2ECA90DA}" presName="hierRoot2" presStyleCnt="0">
        <dgm:presLayoutVars>
          <dgm:hierBranch val="init"/>
        </dgm:presLayoutVars>
      </dgm:prSet>
      <dgm:spPr/>
    </dgm:pt>
    <dgm:pt modelId="{779DFCA7-67BD-4BDE-8CDC-4384134D7ADF}" type="pres">
      <dgm:prSet presAssocID="{48011D48-ADEB-40BB-8AD9-865B2ECA90DA}" presName="rootComposite" presStyleCnt="0"/>
      <dgm:spPr/>
    </dgm:pt>
    <dgm:pt modelId="{A56DBE11-1A96-4444-BFD1-A500B96D47DD}" type="pres">
      <dgm:prSet presAssocID="{48011D48-ADEB-40BB-8AD9-865B2ECA90DA}" presName="rootText" presStyleLbl="node2" presStyleIdx="1" presStyleCnt="5">
        <dgm:presLayoutVars>
          <dgm:chPref val="3"/>
        </dgm:presLayoutVars>
      </dgm:prSet>
      <dgm:spPr/>
    </dgm:pt>
    <dgm:pt modelId="{2396CA45-5A3B-433C-96FC-86FF047D57E6}" type="pres">
      <dgm:prSet presAssocID="{48011D48-ADEB-40BB-8AD9-865B2ECA90DA}" presName="rootConnector" presStyleLbl="node2" presStyleIdx="1" presStyleCnt="5"/>
      <dgm:spPr/>
    </dgm:pt>
    <dgm:pt modelId="{95C9A2A0-E15B-466C-917E-39EF8334BA90}" type="pres">
      <dgm:prSet presAssocID="{48011D48-ADEB-40BB-8AD9-865B2ECA90DA}" presName="hierChild4" presStyleCnt="0"/>
      <dgm:spPr/>
    </dgm:pt>
    <dgm:pt modelId="{B2A4FB04-9B6D-4D69-BA73-D2D1DC494815}" type="pres">
      <dgm:prSet presAssocID="{48011D48-ADEB-40BB-8AD9-865B2ECA90DA}" presName="hierChild5" presStyleCnt="0"/>
      <dgm:spPr/>
    </dgm:pt>
    <dgm:pt modelId="{C30DF644-FD4C-4040-84D9-B37E0C66C25F}" type="pres">
      <dgm:prSet presAssocID="{FC3648DC-5847-4F3F-87AA-83A46979BDF5}" presName="Name37" presStyleLbl="parChTrans1D2" presStyleIdx="2" presStyleCnt="5"/>
      <dgm:spPr/>
    </dgm:pt>
    <dgm:pt modelId="{C51910B8-D022-4385-87F4-208AEF97D089}" type="pres">
      <dgm:prSet presAssocID="{961F2B2B-05EB-4808-AD09-7F27C50439A1}" presName="hierRoot2" presStyleCnt="0">
        <dgm:presLayoutVars>
          <dgm:hierBranch val="init"/>
        </dgm:presLayoutVars>
      </dgm:prSet>
      <dgm:spPr/>
    </dgm:pt>
    <dgm:pt modelId="{43C54842-8B53-4329-8BEE-8409C42E2872}" type="pres">
      <dgm:prSet presAssocID="{961F2B2B-05EB-4808-AD09-7F27C50439A1}" presName="rootComposite" presStyleCnt="0"/>
      <dgm:spPr/>
    </dgm:pt>
    <dgm:pt modelId="{55D48003-718E-44BD-837C-F6470CE535DC}" type="pres">
      <dgm:prSet presAssocID="{961F2B2B-05EB-4808-AD09-7F27C50439A1}" presName="rootText" presStyleLbl="node2" presStyleIdx="2" presStyleCnt="5">
        <dgm:presLayoutVars>
          <dgm:chPref val="3"/>
        </dgm:presLayoutVars>
      </dgm:prSet>
      <dgm:spPr/>
    </dgm:pt>
    <dgm:pt modelId="{7D4FBBB8-D81F-4D83-BBE5-333FD079C077}" type="pres">
      <dgm:prSet presAssocID="{961F2B2B-05EB-4808-AD09-7F27C50439A1}" presName="rootConnector" presStyleLbl="node2" presStyleIdx="2" presStyleCnt="5"/>
      <dgm:spPr/>
    </dgm:pt>
    <dgm:pt modelId="{DE3602DD-6FA1-4300-8639-256E3B022BED}" type="pres">
      <dgm:prSet presAssocID="{961F2B2B-05EB-4808-AD09-7F27C50439A1}" presName="hierChild4" presStyleCnt="0"/>
      <dgm:spPr/>
    </dgm:pt>
    <dgm:pt modelId="{87039E67-D467-4996-8FF0-CEC53BC05E50}" type="pres">
      <dgm:prSet presAssocID="{961F2B2B-05EB-4808-AD09-7F27C50439A1}" presName="hierChild5" presStyleCnt="0"/>
      <dgm:spPr/>
    </dgm:pt>
    <dgm:pt modelId="{B8FE6DCA-3CD1-4E1B-9195-9F2344C7A956}" type="pres">
      <dgm:prSet presAssocID="{0BE8EBDC-3A4F-416B-BEEC-D874044B4B82}" presName="Name37" presStyleLbl="parChTrans1D2" presStyleIdx="3" presStyleCnt="5"/>
      <dgm:spPr/>
    </dgm:pt>
    <dgm:pt modelId="{0077E237-96F2-489F-8A7B-7AE9B29CFDE6}" type="pres">
      <dgm:prSet presAssocID="{77404FEE-0ED2-45D0-91D9-263802099372}" presName="hierRoot2" presStyleCnt="0">
        <dgm:presLayoutVars>
          <dgm:hierBranch val="init"/>
        </dgm:presLayoutVars>
      </dgm:prSet>
      <dgm:spPr/>
    </dgm:pt>
    <dgm:pt modelId="{1B239D31-20FA-4CAB-A478-6135375A76DD}" type="pres">
      <dgm:prSet presAssocID="{77404FEE-0ED2-45D0-91D9-263802099372}" presName="rootComposite" presStyleCnt="0"/>
      <dgm:spPr/>
    </dgm:pt>
    <dgm:pt modelId="{FC461E2F-A689-499C-8593-8A7559367D55}" type="pres">
      <dgm:prSet presAssocID="{77404FEE-0ED2-45D0-91D9-263802099372}" presName="rootText" presStyleLbl="node2" presStyleIdx="3" presStyleCnt="5">
        <dgm:presLayoutVars>
          <dgm:chPref val="3"/>
        </dgm:presLayoutVars>
      </dgm:prSet>
      <dgm:spPr/>
    </dgm:pt>
    <dgm:pt modelId="{6428BD7C-5CCC-4D10-898A-08D8732EEDBA}" type="pres">
      <dgm:prSet presAssocID="{77404FEE-0ED2-45D0-91D9-263802099372}" presName="rootConnector" presStyleLbl="node2" presStyleIdx="3" presStyleCnt="5"/>
      <dgm:spPr/>
    </dgm:pt>
    <dgm:pt modelId="{EAB9CFCA-2E33-405B-B2DD-056112ED62BC}" type="pres">
      <dgm:prSet presAssocID="{77404FEE-0ED2-45D0-91D9-263802099372}" presName="hierChild4" presStyleCnt="0"/>
      <dgm:spPr/>
    </dgm:pt>
    <dgm:pt modelId="{C9317E73-509A-4EC5-B7F9-3E278A33CC45}" type="pres">
      <dgm:prSet presAssocID="{77404FEE-0ED2-45D0-91D9-263802099372}" presName="hierChild5" presStyleCnt="0"/>
      <dgm:spPr/>
    </dgm:pt>
    <dgm:pt modelId="{642D44EF-8E13-431E-A908-E9E5ABDB297B}" type="pres">
      <dgm:prSet presAssocID="{5AA23B17-4D84-4D78-8141-1373369DD42F}" presName="Name37" presStyleLbl="parChTrans1D2" presStyleIdx="4" presStyleCnt="5"/>
      <dgm:spPr/>
    </dgm:pt>
    <dgm:pt modelId="{554B0EF4-AB88-41F7-9078-A900C8504CDA}" type="pres">
      <dgm:prSet presAssocID="{429761DA-8EC1-4E13-9311-029A7CACD83A}" presName="hierRoot2" presStyleCnt="0">
        <dgm:presLayoutVars>
          <dgm:hierBranch val="init"/>
        </dgm:presLayoutVars>
      </dgm:prSet>
      <dgm:spPr/>
    </dgm:pt>
    <dgm:pt modelId="{F8E174D9-F277-4DD4-AF8A-989B920C6200}" type="pres">
      <dgm:prSet presAssocID="{429761DA-8EC1-4E13-9311-029A7CACD83A}" presName="rootComposite" presStyleCnt="0"/>
      <dgm:spPr/>
    </dgm:pt>
    <dgm:pt modelId="{51A79C24-61C8-4B99-B4CB-7DD84D27666D}" type="pres">
      <dgm:prSet presAssocID="{429761DA-8EC1-4E13-9311-029A7CACD83A}" presName="rootText" presStyleLbl="node2" presStyleIdx="4" presStyleCnt="5">
        <dgm:presLayoutVars>
          <dgm:chPref val="3"/>
        </dgm:presLayoutVars>
      </dgm:prSet>
      <dgm:spPr/>
    </dgm:pt>
    <dgm:pt modelId="{FBD0454B-C03E-4D01-AFBB-FCD2FE6B4842}" type="pres">
      <dgm:prSet presAssocID="{429761DA-8EC1-4E13-9311-029A7CACD83A}" presName="rootConnector" presStyleLbl="node2" presStyleIdx="4" presStyleCnt="5"/>
      <dgm:spPr/>
    </dgm:pt>
    <dgm:pt modelId="{96D0BBC9-3E21-4C51-BFB0-8D6A1BE8C590}" type="pres">
      <dgm:prSet presAssocID="{429761DA-8EC1-4E13-9311-029A7CACD83A}" presName="hierChild4" presStyleCnt="0"/>
      <dgm:spPr/>
    </dgm:pt>
    <dgm:pt modelId="{03C48179-5F6E-462F-A551-08DF506D7C6F}" type="pres">
      <dgm:prSet presAssocID="{429761DA-8EC1-4E13-9311-029A7CACD83A}" presName="hierChild5" presStyleCnt="0"/>
      <dgm:spPr/>
    </dgm:pt>
    <dgm:pt modelId="{6A8CE002-5039-4412-ADFC-F4526F84A7B6}" type="pres">
      <dgm:prSet presAssocID="{683A0987-CDBE-4A06-AA8A-2C2FBEEE6968}" presName="hierChild3" presStyleCnt="0"/>
      <dgm:spPr/>
    </dgm:pt>
  </dgm:ptLst>
  <dgm:cxnLst>
    <dgm:cxn modelId="{8C65FE15-65EB-4AFD-BC4D-158F28ED0C2E}" type="presOf" srcId="{77404FEE-0ED2-45D0-91D9-263802099372}" destId="{6428BD7C-5CCC-4D10-898A-08D8732EEDBA}" srcOrd="1" destOrd="0" presId="urn:microsoft.com/office/officeart/2005/8/layout/orgChart1"/>
    <dgm:cxn modelId="{88A5FB19-32DB-4770-992C-2F7802AC8F98}" srcId="{683A0987-CDBE-4A06-AA8A-2C2FBEEE6968}" destId="{48011D48-ADEB-40BB-8AD9-865B2ECA90DA}" srcOrd="1" destOrd="0" parTransId="{8409503A-73E1-40DB-AFCF-274972FF9160}" sibTransId="{B7CFB2DF-1891-49A3-9CD3-41DD2BD18159}"/>
    <dgm:cxn modelId="{ADA1741B-0E60-4C96-80F3-73624F060966}" type="presOf" srcId="{429761DA-8EC1-4E13-9311-029A7CACD83A}" destId="{51A79C24-61C8-4B99-B4CB-7DD84D27666D}" srcOrd="0" destOrd="0" presId="urn:microsoft.com/office/officeart/2005/8/layout/orgChart1"/>
    <dgm:cxn modelId="{C198A028-AAD7-424E-B04E-460942EB3592}" type="presOf" srcId="{7628D169-CA1E-4439-8367-9012534930C3}" destId="{FA6C1E4A-A42E-4B8C-8B63-0DE41EA81F13}" srcOrd="0" destOrd="0" presId="urn:microsoft.com/office/officeart/2005/8/layout/orgChart1"/>
    <dgm:cxn modelId="{77135729-2DE4-4489-A1EB-DACCED183B0B}" type="presOf" srcId="{961F2B2B-05EB-4808-AD09-7F27C50439A1}" destId="{7D4FBBB8-D81F-4D83-BBE5-333FD079C077}" srcOrd="1" destOrd="0" presId="urn:microsoft.com/office/officeart/2005/8/layout/orgChart1"/>
    <dgm:cxn modelId="{073B782A-602E-4628-84BC-85D09DF032FA}" type="presOf" srcId="{5AA23B17-4D84-4D78-8141-1373369DD42F}" destId="{642D44EF-8E13-431E-A908-E9E5ABDB297B}" srcOrd="0" destOrd="0" presId="urn:microsoft.com/office/officeart/2005/8/layout/orgChart1"/>
    <dgm:cxn modelId="{614BBC40-30D3-4154-B669-064811D13488}" type="presOf" srcId="{48011D48-ADEB-40BB-8AD9-865B2ECA90DA}" destId="{2396CA45-5A3B-433C-96FC-86FF047D57E6}" srcOrd="1" destOrd="0" presId="urn:microsoft.com/office/officeart/2005/8/layout/orgChart1"/>
    <dgm:cxn modelId="{6EDA5A41-C63B-450F-B937-EA810815F457}" type="presOf" srcId="{0BE8EBDC-3A4F-416B-BEEC-D874044B4B82}" destId="{B8FE6DCA-3CD1-4E1B-9195-9F2344C7A956}" srcOrd="0" destOrd="0" presId="urn:microsoft.com/office/officeart/2005/8/layout/orgChart1"/>
    <dgm:cxn modelId="{23B5714E-DE77-40F1-BC50-BA5329639E69}" type="presOf" srcId="{4760AD90-5B4A-4EF9-87E3-2CAC50C980EA}" destId="{8D6CA44E-D7C9-4704-835A-7EB239403762}" srcOrd="0" destOrd="0" presId="urn:microsoft.com/office/officeart/2005/8/layout/orgChart1"/>
    <dgm:cxn modelId="{A0337052-7E01-4B12-99B3-1DADEE7C7F92}" type="presOf" srcId="{429761DA-8EC1-4E13-9311-029A7CACD83A}" destId="{FBD0454B-C03E-4D01-AFBB-FCD2FE6B4842}" srcOrd="1" destOrd="0" presId="urn:microsoft.com/office/officeart/2005/8/layout/orgChart1"/>
    <dgm:cxn modelId="{A06ACB75-4E0E-4A5B-BA42-4075A8177AAF}" srcId="{683A0987-CDBE-4A06-AA8A-2C2FBEEE6968}" destId="{77404FEE-0ED2-45D0-91D9-263802099372}" srcOrd="3" destOrd="0" parTransId="{0BE8EBDC-3A4F-416B-BEEC-D874044B4B82}" sibTransId="{1FFBF63C-0364-45E4-962E-11E2E4949D3F}"/>
    <dgm:cxn modelId="{52B93358-0B95-4971-B210-5368A962E780}" type="presOf" srcId="{FC3648DC-5847-4F3F-87AA-83A46979BDF5}" destId="{C30DF644-FD4C-4040-84D9-B37E0C66C25F}" srcOrd="0" destOrd="0" presId="urn:microsoft.com/office/officeart/2005/8/layout/orgChart1"/>
    <dgm:cxn modelId="{EB1CD37C-074D-4D64-B417-4A83D376D457}" type="presOf" srcId="{961F2B2B-05EB-4808-AD09-7F27C50439A1}" destId="{55D48003-718E-44BD-837C-F6470CE535DC}" srcOrd="0" destOrd="0" presId="urn:microsoft.com/office/officeart/2005/8/layout/orgChart1"/>
    <dgm:cxn modelId="{BC5CDF7C-F717-4A29-AC4A-C83B392C2B3E}" type="presOf" srcId="{77404FEE-0ED2-45D0-91D9-263802099372}" destId="{FC461E2F-A689-499C-8593-8A7559367D55}" srcOrd="0" destOrd="0" presId="urn:microsoft.com/office/officeart/2005/8/layout/orgChart1"/>
    <dgm:cxn modelId="{0C6E998A-8FD8-40F5-8BBB-AE63C88C652A}" srcId="{683A0987-CDBE-4A06-AA8A-2C2FBEEE6968}" destId="{429761DA-8EC1-4E13-9311-029A7CACD83A}" srcOrd="4" destOrd="0" parTransId="{5AA23B17-4D84-4D78-8141-1373369DD42F}" sibTransId="{BA1A65A0-1E26-42B4-9736-EE494B4353D0}"/>
    <dgm:cxn modelId="{8EAAF998-2B14-408A-B0E5-F193369D6A73}" type="presOf" srcId="{C12326EF-4B45-47DC-90C0-872BE7B4AB7C}" destId="{19D5EBA7-766C-4D8C-9DB1-F25DA983D40E}" srcOrd="0" destOrd="0" presId="urn:microsoft.com/office/officeart/2005/8/layout/orgChart1"/>
    <dgm:cxn modelId="{0BF5ED9A-2999-45A9-B867-983F83E9DD1D}" type="presOf" srcId="{683A0987-CDBE-4A06-AA8A-2C2FBEEE6968}" destId="{CB8DBADB-0E47-49C6-91E9-7455D9F2AD18}" srcOrd="1" destOrd="0" presId="urn:microsoft.com/office/officeart/2005/8/layout/orgChart1"/>
    <dgm:cxn modelId="{868796A7-A8DD-4C62-8A24-C45A114C0EAC}" type="presOf" srcId="{8409503A-73E1-40DB-AFCF-274972FF9160}" destId="{60691095-7774-4795-8263-A0E489507D01}" srcOrd="0" destOrd="0" presId="urn:microsoft.com/office/officeart/2005/8/layout/orgChart1"/>
    <dgm:cxn modelId="{A3420EA9-AD7D-4BD8-A099-71EDF56B4EB8}" srcId="{683A0987-CDBE-4A06-AA8A-2C2FBEEE6968}" destId="{7628D169-CA1E-4439-8367-9012534930C3}" srcOrd="0" destOrd="0" parTransId="{C12326EF-4B45-47DC-90C0-872BE7B4AB7C}" sibTransId="{4F590DFF-BB4C-4BA8-9FC4-5A98F2A5BB93}"/>
    <dgm:cxn modelId="{1A12DFB8-F2C3-4BC5-9D41-DCA86642E394}" type="presOf" srcId="{683A0987-CDBE-4A06-AA8A-2C2FBEEE6968}" destId="{570D001C-2B1C-4474-9794-57118F355C2E}" srcOrd="0" destOrd="0" presId="urn:microsoft.com/office/officeart/2005/8/layout/orgChart1"/>
    <dgm:cxn modelId="{FCEF26D2-7E0A-45F0-9322-5785BE992C8C}" type="presOf" srcId="{48011D48-ADEB-40BB-8AD9-865B2ECA90DA}" destId="{A56DBE11-1A96-4444-BFD1-A500B96D47DD}" srcOrd="0" destOrd="0" presId="urn:microsoft.com/office/officeart/2005/8/layout/orgChart1"/>
    <dgm:cxn modelId="{348D5ED8-F17B-4069-AAB7-6C20A08F2C57}" type="presOf" srcId="{7628D169-CA1E-4439-8367-9012534930C3}" destId="{5274F4EF-EDF4-4C65-A139-68506F67CD62}" srcOrd="1" destOrd="0" presId="urn:microsoft.com/office/officeart/2005/8/layout/orgChart1"/>
    <dgm:cxn modelId="{43B046EC-480A-416B-B60D-B97725282EEF}" srcId="{683A0987-CDBE-4A06-AA8A-2C2FBEEE6968}" destId="{961F2B2B-05EB-4808-AD09-7F27C50439A1}" srcOrd="2" destOrd="0" parTransId="{FC3648DC-5847-4F3F-87AA-83A46979BDF5}" sibTransId="{4105E24F-81BA-43E2-B60D-37169174CFD0}"/>
    <dgm:cxn modelId="{5D8B95F5-0924-4B0F-A53E-AC7DA34E2559}" srcId="{4760AD90-5B4A-4EF9-87E3-2CAC50C980EA}" destId="{683A0987-CDBE-4A06-AA8A-2C2FBEEE6968}" srcOrd="0" destOrd="0" parTransId="{5542FC15-0757-4E2D-81C8-A07484D84029}" sibTransId="{2A70631D-8DBD-4D6C-B9FE-88387AA67FA7}"/>
    <dgm:cxn modelId="{6CC67A54-73BF-4D96-95DF-82E7F14E2E4E}" type="presParOf" srcId="{8D6CA44E-D7C9-4704-835A-7EB239403762}" destId="{B7F68BFA-01A9-4A6F-952A-1971F5F39140}" srcOrd="0" destOrd="0" presId="urn:microsoft.com/office/officeart/2005/8/layout/orgChart1"/>
    <dgm:cxn modelId="{813D7BA4-027F-42C8-AB95-A57EC8180FF7}" type="presParOf" srcId="{B7F68BFA-01A9-4A6F-952A-1971F5F39140}" destId="{14303134-60A5-4CA4-8F77-D3C2ADA848CA}" srcOrd="0" destOrd="0" presId="urn:microsoft.com/office/officeart/2005/8/layout/orgChart1"/>
    <dgm:cxn modelId="{AE87A6DA-49C3-48C6-96E2-35AFB70F03A5}" type="presParOf" srcId="{14303134-60A5-4CA4-8F77-D3C2ADA848CA}" destId="{570D001C-2B1C-4474-9794-57118F355C2E}" srcOrd="0" destOrd="0" presId="urn:microsoft.com/office/officeart/2005/8/layout/orgChart1"/>
    <dgm:cxn modelId="{E72FA838-B392-45A9-9639-F675AB9E0061}" type="presParOf" srcId="{14303134-60A5-4CA4-8F77-D3C2ADA848CA}" destId="{CB8DBADB-0E47-49C6-91E9-7455D9F2AD18}" srcOrd="1" destOrd="0" presId="urn:microsoft.com/office/officeart/2005/8/layout/orgChart1"/>
    <dgm:cxn modelId="{C92408CA-A9DB-465D-AE5B-08DA24AE8803}" type="presParOf" srcId="{B7F68BFA-01A9-4A6F-952A-1971F5F39140}" destId="{7AD99354-B003-4A1E-9642-7F40E7226AA9}" srcOrd="1" destOrd="0" presId="urn:microsoft.com/office/officeart/2005/8/layout/orgChart1"/>
    <dgm:cxn modelId="{E6BC90DE-5AA4-4881-B282-92600127B042}" type="presParOf" srcId="{7AD99354-B003-4A1E-9642-7F40E7226AA9}" destId="{19D5EBA7-766C-4D8C-9DB1-F25DA983D40E}" srcOrd="0" destOrd="0" presId="urn:microsoft.com/office/officeart/2005/8/layout/orgChart1"/>
    <dgm:cxn modelId="{97D84052-10EB-4A69-9FD2-6D635E1A669A}" type="presParOf" srcId="{7AD99354-B003-4A1E-9642-7F40E7226AA9}" destId="{0B8BFD51-51DB-46C5-BFC4-EE3FFA18596C}" srcOrd="1" destOrd="0" presId="urn:microsoft.com/office/officeart/2005/8/layout/orgChart1"/>
    <dgm:cxn modelId="{330E6977-0EF4-4968-8243-F0AF37D20E88}" type="presParOf" srcId="{0B8BFD51-51DB-46C5-BFC4-EE3FFA18596C}" destId="{407A450C-F692-4C5A-ACD8-9BA1F20FE45B}" srcOrd="0" destOrd="0" presId="urn:microsoft.com/office/officeart/2005/8/layout/orgChart1"/>
    <dgm:cxn modelId="{99AF14BD-ADB5-4D3B-91D1-29D6418CEE40}" type="presParOf" srcId="{407A450C-F692-4C5A-ACD8-9BA1F20FE45B}" destId="{FA6C1E4A-A42E-4B8C-8B63-0DE41EA81F13}" srcOrd="0" destOrd="0" presId="urn:microsoft.com/office/officeart/2005/8/layout/orgChart1"/>
    <dgm:cxn modelId="{D155ECD1-50A8-4FF3-8A2A-DA7468E7555A}" type="presParOf" srcId="{407A450C-F692-4C5A-ACD8-9BA1F20FE45B}" destId="{5274F4EF-EDF4-4C65-A139-68506F67CD62}" srcOrd="1" destOrd="0" presId="urn:microsoft.com/office/officeart/2005/8/layout/orgChart1"/>
    <dgm:cxn modelId="{EB155041-3CE9-4A06-9C93-103F13BEDBFB}" type="presParOf" srcId="{0B8BFD51-51DB-46C5-BFC4-EE3FFA18596C}" destId="{B3AD0B2A-8A2F-4431-983C-CE840623FC8A}" srcOrd="1" destOrd="0" presId="urn:microsoft.com/office/officeart/2005/8/layout/orgChart1"/>
    <dgm:cxn modelId="{90A9F2E3-0949-4203-9511-2EFF11361C15}" type="presParOf" srcId="{0B8BFD51-51DB-46C5-BFC4-EE3FFA18596C}" destId="{C7FDDE2D-7125-44AC-8F82-E20235FD57BE}" srcOrd="2" destOrd="0" presId="urn:microsoft.com/office/officeart/2005/8/layout/orgChart1"/>
    <dgm:cxn modelId="{6671278F-1177-4874-9AF1-570108A0AF61}" type="presParOf" srcId="{7AD99354-B003-4A1E-9642-7F40E7226AA9}" destId="{60691095-7774-4795-8263-A0E489507D01}" srcOrd="2" destOrd="0" presId="urn:microsoft.com/office/officeart/2005/8/layout/orgChart1"/>
    <dgm:cxn modelId="{4CFAFF53-F76A-4054-9FBC-233C09EE8F86}" type="presParOf" srcId="{7AD99354-B003-4A1E-9642-7F40E7226AA9}" destId="{D7C7CECF-3BA2-4F92-95CC-268F23C80E75}" srcOrd="3" destOrd="0" presId="urn:microsoft.com/office/officeart/2005/8/layout/orgChart1"/>
    <dgm:cxn modelId="{7880DE99-A9AE-430D-9677-FDCB4B8E6BEC}" type="presParOf" srcId="{D7C7CECF-3BA2-4F92-95CC-268F23C80E75}" destId="{779DFCA7-67BD-4BDE-8CDC-4384134D7ADF}" srcOrd="0" destOrd="0" presId="urn:microsoft.com/office/officeart/2005/8/layout/orgChart1"/>
    <dgm:cxn modelId="{630805F3-F165-4A09-B6ED-6C18CE6400EA}" type="presParOf" srcId="{779DFCA7-67BD-4BDE-8CDC-4384134D7ADF}" destId="{A56DBE11-1A96-4444-BFD1-A500B96D47DD}" srcOrd="0" destOrd="0" presId="urn:microsoft.com/office/officeart/2005/8/layout/orgChart1"/>
    <dgm:cxn modelId="{80B225B0-6221-4662-8994-4EB05C64B50E}" type="presParOf" srcId="{779DFCA7-67BD-4BDE-8CDC-4384134D7ADF}" destId="{2396CA45-5A3B-433C-96FC-86FF047D57E6}" srcOrd="1" destOrd="0" presId="urn:microsoft.com/office/officeart/2005/8/layout/orgChart1"/>
    <dgm:cxn modelId="{783088D6-A20B-4703-B687-34924A7F4FD8}" type="presParOf" srcId="{D7C7CECF-3BA2-4F92-95CC-268F23C80E75}" destId="{95C9A2A0-E15B-466C-917E-39EF8334BA90}" srcOrd="1" destOrd="0" presId="urn:microsoft.com/office/officeart/2005/8/layout/orgChart1"/>
    <dgm:cxn modelId="{C1911A94-35FB-4173-B17A-CA05E5948531}" type="presParOf" srcId="{D7C7CECF-3BA2-4F92-95CC-268F23C80E75}" destId="{B2A4FB04-9B6D-4D69-BA73-D2D1DC494815}" srcOrd="2" destOrd="0" presId="urn:microsoft.com/office/officeart/2005/8/layout/orgChart1"/>
    <dgm:cxn modelId="{CC71D7AF-AC8D-4610-B34A-B5B8917352A3}" type="presParOf" srcId="{7AD99354-B003-4A1E-9642-7F40E7226AA9}" destId="{C30DF644-FD4C-4040-84D9-B37E0C66C25F}" srcOrd="4" destOrd="0" presId="urn:microsoft.com/office/officeart/2005/8/layout/orgChart1"/>
    <dgm:cxn modelId="{76D9BF0B-6006-47D7-A2B1-F793DFF2AA40}" type="presParOf" srcId="{7AD99354-B003-4A1E-9642-7F40E7226AA9}" destId="{C51910B8-D022-4385-87F4-208AEF97D089}" srcOrd="5" destOrd="0" presId="urn:microsoft.com/office/officeart/2005/8/layout/orgChart1"/>
    <dgm:cxn modelId="{D24C3E11-B419-4707-B6A8-5F423F07CBA8}" type="presParOf" srcId="{C51910B8-D022-4385-87F4-208AEF97D089}" destId="{43C54842-8B53-4329-8BEE-8409C42E2872}" srcOrd="0" destOrd="0" presId="urn:microsoft.com/office/officeart/2005/8/layout/orgChart1"/>
    <dgm:cxn modelId="{870AB885-2D1D-4D62-99BC-F2BB07338E88}" type="presParOf" srcId="{43C54842-8B53-4329-8BEE-8409C42E2872}" destId="{55D48003-718E-44BD-837C-F6470CE535DC}" srcOrd="0" destOrd="0" presId="urn:microsoft.com/office/officeart/2005/8/layout/orgChart1"/>
    <dgm:cxn modelId="{19953555-E2A9-451A-98D9-E7BFC689A831}" type="presParOf" srcId="{43C54842-8B53-4329-8BEE-8409C42E2872}" destId="{7D4FBBB8-D81F-4D83-BBE5-333FD079C077}" srcOrd="1" destOrd="0" presId="urn:microsoft.com/office/officeart/2005/8/layout/orgChart1"/>
    <dgm:cxn modelId="{33446BBB-CD16-484E-A3EE-77C04915CC6F}" type="presParOf" srcId="{C51910B8-D022-4385-87F4-208AEF97D089}" destId="{DE3602DD-6FA1-4300-8639-256E3B022BED}" srcOrd="1" destOrd="0" presId="urn:microsoft.com/office/officeart/2005/8/layout/orgChart1"/>
    <dgm:cxn modelId="{501E0D8B-FF96-43B3-B4B4-5467F95737CA}" type="presParOf" srcId="{C51910B8-D022-4385-87F4-208AEF97D089}" destId="{87039E67-D467-4996-8FF0-CEC53BC05E50}" srcOrd="2" destOrd="0" presId="urn:microsoft.com/office/officeart/2005/8/layout/orgChart1"/>
    <dgm:cxn modelId="{C8D26256-975F-44B9-9720-7876F2E7FB66}" type="presParOf" srcId="{7AD99354-B003-4A1E-9642-7F40E7226AA9}" destId="{B8FE6DCA-3CD1-4E1B-9195-9F2344C7A956}" srcOrd="6" destOrd="0" presId="urn:microsoft.com/office/officeart/2005/8/layout/orgChart1"/>
    <dgm:cxn modelId="{A534448C-7F14-4198-8668-31568C502F7F}" type="presParOf" srcId="{7AD99354-B003-4A1E-9642-7F40E7226AA9}" destId="{0077E237-96F2-489F-8A7B-7AE9B29CFDE6}" srcOrd="7" destOrd="0" presId="urn:microsoft.com/office/officeart/2005/8/layout/orgChart1"/>
    <dgm:cxn modelId="{BF26DC29-FE57-41F9-BE90-46403EEFF869}" type="presParOf" srcId="{0077E237-96F2-489F-8A7B-7AE9B29CFDE6}" destId="{1B239D31-20FA-4CAB-A478-6135375A76DD}" srcOrd="0" destOrd="0" presId="urn:microsoft.com/office/officeart/2005/8/layout/orgChart1"/>
    <dgm:cxn modelId="{73B84CB6-2E32-4174-B77E-30B4E4583700}" type="presParOf" srcId="{1B239D31-20FA-4CAB-A478-6135375A76DD}" destId="{FC461E2F-A689-499C-8593-8A7559367D55}" srcOrd="0" destOrd="0" presId="urn:microsoft.com/office/officeart/2005/8/layout/orgChart1"/>
    <dgm:cxn modelId="{03FAE6B4-9CAC-49BD-9994-80D2202694DC}" type="presParOf" srcId="{1B239D31-20FA-4CAB-A478-6135375A76DD}" destId="{6428BD7C-5CCC-4D10-898A-08D8732EEDBA}" srcOrd="1" destOrd="0" presId="urn:microsoft.com/office/officeart/2005/8/layout/orgChart1"/>
    <dgm:cxn modelId="{FEF414F7-40F5-49AB-8F1B-495C0F0F65EA}" type="presParOf" srcId="{0077E237-96F2-489F-8A7B-7AE9B29CFDE6}" destId="{EAB9CFCA-2E33-405B-B2DD-056112ED62BC}" srcOrd="1" destOrd="0" presId="urn:microsoft.com/office/officeart/2005/8/layout/orgChart1"/>
    <dgm:cxn modelId="{658A0600-6B7D-4246-9F64-4C663A8C9C9C}" type="presParOf" srcId="{0077E237-96F2-489F-8A7B-7AE9B29CFDE6}" destId="{C9317E73-509A-4EC5-B7F9-3E278A33CC45}" srcOrd="2" destOrd="0" presId="urn:microsoft.com/office/officeart/2005/8/layout/orgChart1"/>
    <dgm:cxn modelId="{865D107D-A2B7-4DB4-9CEB-6F29AF75CCAE}" type="presParOf" srcId="{7AD99354-B003-4A1E-9642-7F40E7226AA9}" destId="{642D44EF-8E13-431E-A908-E9E5ABDB297B}" srcOrd="8" destOrd="0" presId="urn:microsoft.com/office/officeart/2005/8/layout/orgChart1"/>
    <dgm:cxn modelId="{67E940D7-99F0-4775-950C-D904396ABC35}" type="presParOf" srcId="{7AD99354-B003-4A1E-9642-7F40E7226AA9}" destId="{554B0EF4-AB88-41F7-9078-A900C8504CDA}" srcOrd="9" destOrd="0" presId="urn:microsoft.com/office/officeart/2005/8/layout/orgChart1"/>
    <dgm:cxn modelId="{C496ED6D-02BD-40F2-95E2-0B75EC7BF126}" type="presParOf" srcId="{554B0EF4-AB88-41F7-9078-A900C8504CDA}" destId="{F8E174D9-F277-4DD4-AF8A-989B920C6200}" srcOrd="0" destOrd="0" presId="urn:microsoft.com/office/officeart/2005/8/layout/orgChart1"/>
    <dgm:cxn modelId="{88F4B26B-13F7-4136-BFB3-1416B1C2219F}" type="presParOf" srcId="{F8E174D9-F277-4DD4-AF8A-989B920C6200}" destId="{51A79C24-61C8-4B99-B4CB-7DD84D27666D}" srcOrd="0" destOrd="0" presId="urn:microsoft.com/office/officeart/2005/8/layout/orgChart1"/>
    <dgm:cxn modelId="{B5C5F26A-90F3-4DF0-8E75-5409D1B754DB}" type="presParOf" srcId="{F8E174D9-F277-4DD4-AF8A-989B920C6200}" destId="{FBD0454B-C03E-4D01-AFBB-FCD2FE6B4842}" srcOrd="1" destOrd="0" presId="urn:microsoft.com/office/officeart/2005/8/layout/orgChart1"/>
    <dgm:cxn modelId="{BE867C6D-197A-4608-A861-3982109D81D0}" type="presParOf" srcId="{554B0EF4-AB88-41F7-9078-A900C8504CDA}" destId="{96D0BBC9-3E21-4C51-BFB0-8D6A1BE8C590}" srcOrd="1" destOrd="0" presId="urn:microsoft.com/office/officeart/2005/8/layout/orgChart1"/>
    <dgm:cxn modelId="{9A06FDDD-FB7B-4A48-859C-EEA00CBC3485}" type="presParOf" srcId="{554B0EF4-AB88-41F7-9078-A900C8504CDA}" destId="{03C48179-5F6E-462F-A551-08DF506D7C6F}" srcOrd="2" destOrd="0" presId="urn:microsoft.com/office/officeart/2005/8/layout/orgChart1"/>
    <dgm:cxn modelId="{9C690D3D-FE88-48CA-BFE4-C092B4520E11}" type="presParOf" srcId="{B7F68BFA-01A9-4A6F-952A-1971F5F39140}" destId="{6A8CE002-5039-4412-ADFC-F4526F84A7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1F60FF00-4A55-46FC-B71B-FE1EAF6D12F7}">
      <dgm:prSet/>
      <dgm:spPr/>
      <dgm:t>
        <a:bodyPr/>
        <a:lstStyle/>
        <a:p>
          <a:r>
            <a:rPr lang="en-US" b="1" u="sng" dirty="0"/>
            <a:t>Coordinate activities </a:t>
          </a:r>
          <a:r>
            <a:rPr lang="en-US" dirty="0"/>
            <a:t>across the supply chain, including </a:t>
          </a:r>
          <a:r>
            <a:rPr lang="en-US" b="1" dirty="0"/>
            <a:t>coordinating production</a:t>
          </a:r>
          <a:r>
            <a:rPr lang="en-US" dirty="0"/>
            <a:t>, </a:t>
          </a:r>
          <a:r>
            <a:rPr lang="en-US" b="1" dirty="0"/>
            <a:t>transportation, inventory decisions </a:t>
          </a:r>
          <a:r>
            <a:rPr lang="en-US" dirty="0"/>
            <a:t>and more generally, </a:t>
          </a:r>
          <a:r>
            <a:rPr lang="en-US" b="1" dirty="0">
              <a:solidFill>
                <a:srgbClr val="FF0000"/>
              </a:solidFill>
              <a:highlight>
                <a:srgbClr val="FFFF00"/>
              </a:highlight>
            </a:rPr>
            <a:t>integrating the front-end of the supply chain – customer demand</a:t>
          </a:r>
          <a:r>
            <a:rPr lang="en-US" dirty="0">
              <a:solidFill>
                <a:srgbClr val="FF0000"/>
              </a:solidFill>
            </a:rPr>
            <a:t>, </a:t>
          </a:r>
          <a:r>
            <a:rPr lang="en-US" dirty="0"/>
            <a:t>to the </a:t>
          </a:r>
          <a:r>
            <a:rPr lang="en-US" b="1" dirty="0">
              <a:solidFill>
                <a:srgbClr val="FF0000"/>
              </a:solidFill>
              <a:highlight>
                <a:srgbClr val="FFFF00"/>
              </a:highlight>
            </a:rPr>
            <a:t>back-end of the supply chain – the production and manufacturing portion.</a:t>
          </a:r>
          <a:endParaRPr lang="en-IN" b="1" dirty="0">
            <a:solidFill>
              <a:srgbClr val="FF0000"/>
            </a:solidFill>
            <a:highlight>
              <a:srgbClr val="FFFF00"/>
            </a:highlight>
          </a:endParaRPr>
        </a:p>
      </dgm:t>
    </dgm:pt>
    <dgm:pt modelId="{6DFA625D-B1D2-4216-BEDE-09F86FE7F956}" type="parTrans" cxnId="{1B500BDE-7B66-44BB-843A-C5267EDFBC76}">
      <dgm:prSet/>
      <dgm:spPr/>
      <dgm:t>
        <a:bodyPr/>
        <a:lstStyle/>
        <a:p>
          <a:endParaRPr lang="en-IN"/>
        </a:p>
      </dgm:t>
    </dgm:pt>
    <dgm:pt modelId="{20D1CF94-A5BF-489D-BA8E-CF94955FEC59}" type="sibTrans" cxnId="{1B500BDE-7B66-44BB-843A-C5267EDFBC76}">
      <dgm:prSet/>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 modelId="{72E4E200-B2B7-4D3E-8CA1-47DDD1806F97}" type="pres">
      <dgm:prSet presAssocID="{1F60FF00-4A55-46FC-B71B-FE1EAF6D12F7}" presName="parentText" presStyleLbl="node1" presStyleIdx="0" presStyleCnt="1" custLinFactNeighborX="750" custLinFactNeighborY="8525">
        <dgm:presLayoutVars>
          <dgm:chMax val="0"/>
          <dgm:bulletEnabled val="1"/>
        </dgm:presLayoutVars>
      </dgm:prSet>
      <dgm:spPr/>
    </dgm:pt>
  </dgm:ptLst>
  <dgm:cxnLst>
    <dgm:cxn modelId="{27C0F623-36B1-4FEA-BC94-AEB453C3C1E7}" type="presOf" srcId="{74CBFABD-0B1C-42EC-8CC2-D04D748A8844}" destId="{622D8C2F-321B-435E-8BE3-650BCD74FB1B}" srcOrd="0" destOrd="0" presId="urn:microsoft.com/office/officeart/2005/8/layout/vList2"/>
    <dgm:cxn modelId="{538A049A-1688-4A67-8267-1FB378AC0ED8}" type="presOf" srcId="{1F60FF00-4A55-46FC-B71B-FE1EAF6D12F7}" destId="{72E4E200-B2B7-4D3E-8CA1-47DDD1806F97}" srcOrd="0" destOrd="0" presId="urn:microsoft.com/office/officeart/2005/8/layout/vList2"/>
    <dgm:cxn modelId="{1B500BDE-7B66-44BB-843A-C5267EDFBC76}" srcId="{74CBFABD-0B1C-42EC-8CC2-D04D748A8844}" destId="{1F60FF00-4A55-46FC-B71B-FE1EAF6D12F7}" srcOrd="0" destOrd="0" parTransId="{6DFA625D-B1D2-4216-BEDE-09F86FE7F956}" sibTransId="{20D1CF94-A5BF-489D-BA8E-CF94955FEC59}"/>
    <dgm:cxn modelId="{093FD66D-E008-453F-B799-EB722F6A18A2}" type="presParOf" srcId="{622D8C2F-321B-435E-8BE3-650BCD74FB1B}" destId="{72E4E200-B2B7-4D3E-8CA1-47DDD1806F97}"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1F60FF00-4A55-46FC-B71B-FE1EAF6D12F7}">
      <dgm:prSet/>
      <dgm:spPr/>
      <dgm:t>
        <a:bodyPr/>
        <a:lstStyle/>
        <a:p>
          <a:r>
            <a:rPr lang="en-US" b="1" u="sng" dirty="0"/>
            <a:t>Coordinate activities </a:t>
          </a:r>
          <a:r>
            <a:rPr lang="en-US" dirty="0"/>
            <a:t>across the supply chain, including </a:t>
          </a:r>
          <a:r>
            <a:rPr lang="en-US" b="1" dirty="0"/>
            <a:t>coordinating production</a:t>
          </a:r>
          <a:r>
            <a:rPr lang="en-US" dirty="0"/>
            <a:t>, </a:t>
          </a:r>
          <a:r>
            <a:rPr lang="en-US" b="1" dirty="0"/>
            <a:t>transportation, inventory decisions </a:t>
          </a:r>
          <a:r>
            <a:rPr lang="en-US" dirty="0"/>
            <a:t>and more generally, </a:t>
          </a:r>
          <a:r>
            <a:rPr lang="en-US" b="1" dirty="0">
              <a:solidFill>
                <a:srgbClr val="FF0000"/>
              </a:solidFill>
              <a:highlight>
                <a:srgbClr val="FFFF00"/>
              </a:highlight>
            </a:rPr>
            <a:t>integrating the front-end of the supply chain – customer demand</a:t>
          </a:r>
          <a:r>
            <a:rPr lang="en-US" dirty="0">
              <a:solidFill>
                <a:srgbClr val="FF0000"/>
              </a:solidFill>
            </a:rPr>
            <a:t>, </a:t>
          </a:r>
          <a:r>
            <a:rPr lang="en-US" dirty="0"/>
            <a:t>to the </a:t>
          </a:r>
          <a:r>
            <a:rPr lang="en-US" b="1" dirty="0">
              <a:solidFill>
                <a:srgbClr val="FF0000"/>
              </a:solidFill>
              <a:highlight>
                <a:srgbClr val="FFFF00"/>
              </a:highlight>
            </a:rPr>
            <a:t>back-end of the supply chain – the production and manufacturing portion.</a:t>
          </a:r>
          <a:endParaRPr lang="en-IN" b="1" dirty="0">
            <a:solidFill>
              <a:srgbClr val="FF0000"/>
            </a:solidFill>
            <a:highlight>
              <a:srgbClr val="FFFF00"/>
            </a:highlight>
          </a:endParaRPr>
        </a:p>
      </dgm:t>
    </dgm:pt>
    <dgm:pt modelId="{6DFA625D-B1D2-4216-BEDE-09F86FE7F956}" type="parTrans" cxnId="{1B500BDE-7B66-44BB-843A-C5267EDFBC76}">
      <dgm:prSet/>
      <dgm:spPr/>
      <dgm:t>
        <a:bodyPr/>
        <a:lstStyle/>
        <a:p>
          <a:endParaRPr lang="en-IN"/>
        </a:p>
      </dgm:t>
    </dgm:pt>
    <dgm:pt modelId="{20D1CF94-A5BF-489D-BA8E-CF94955FEC59}" type="sibTrans" cxnId="{1B500BDE-7B66-44BB-843A-C5267EDFBC76}">
      <dgm:prSet/>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 modelId="{72E4E200-B2B7-4D3E-8CA1-47DDD1806F97}" type="pres">
      <dgm:prSet presAssocID="{1F60FF00-4A55-46FC-B71B-FE1EAF6D12F7}" presName="parentText" presStyleLbl="node1" presStyleIdx="0" presStyleCnt="1" custLinFactNeighborX="750" custLinFactNeighborY="8525">
        <dgm:presLayoutVars>
          <dgm:chMax val="0"/>
          <dgm:bulletEnabled val="1"/>
        </dgm:presLayoutVars>
      </dgm:prSet>
      <dgm:spPr/>
    </dgm:pt>
  </dgm:ptLst>
  <dgm:cxnLst>
    <dgm:cxn modelId="{27C0F623-36B1-4FEA-BC94-AEB453C3C1E7}" type="presOf" srcId="{74CBFABD-0B1C-42EC-8CC2-D04D748A8844}" destId="{622D8C2F-321B-435E-8BE3-650BCD74FB1B}" srcOrd="0" destOrd="0" presId="urn:microsoft.com/office/officeart/2005/8/layout/vList2"/>
    <dgm:cxn modelId="{538A049A-1688-4A67-8267-1FB378AC0ED8}" type="presOf" srcId="{1F60FF00-4A55-46FC-B71B-FE1EAF6D12F7}" destId="{72E4E200-B2B7-4D3E-8CA1-47DDD1806F97}" srcOrd="0" destOrd="0" presId="urn:microsoft.com/office/officeart/2005/8/layout/vList2"/>
    <dgm:cxn modelId="{1B500BDE-7B66-44BB-843A-C5267EDFBC76}" srcId="{74CBFABD-0B1C-42EC-8CC2-D04D748A8844}" destId="{1F60FF00-4A55-46FC-B71B-FE1EAF6D12F7}" srcOrd="0" destOrd="0" parTransId="{6DFA625D-B1D2-4216-BEDE-09F86FE7F956}" sibTransId="{20D1CF94-A5BF-489D-BA8E-CF94955FEC59}"/>
    <dgm:cxn modelId="{093FD66D-E008-453F-B799-EB722F6A18A2}" type="presParOf" srcId="{622D8C2F-321B-435E-8BE3-650BCD74FB1B}" destId="{72E4E200-B2B7-4D3E-8CA1-47DDD1806F9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793510-9C55-4A1D-B8AB-D79A083EB505}"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IN"/>
        </a:p>
      </dgm:t>
    </dgm:pt>
    <dgm:pt modelId="{53474CC1-A86F-4206-AA0D-849D810002B1}">
      <dgm:prSet/>
      <dgm:spPr/>
      <dgm:t>
        <a:bodyPr/>
        <a:lstStyle/>
        <a:p>
          <a:r>
            <a:rPr lang="en-US" b="0" i="0"/>
            <a:t>React slow and large variability lead to:</a:t>
          </a:r>
          <a:endParaRPr lang="en-IN"/>
        </a:p>
      </dgm:t>
    </dgm:pt>
    <dgm:pt modelId="{5325F119-A9E8-49CB-A415-ADDE1B73B7A1}" type="parTrans" cxnId="{02AD4F56-72A2-44BB-B3DA-A805CFFA88EB}">
      <dgm:prSet/>
      <dgm:spPr/>
      <dgm:t>
        <a:bodyPr/>
        <a:lstStyle/>
        <a:p>
          <a:endParaRPr lang="en-IN"/>
        </a:p>
      </dgm:t>
    </dgm:pt>
    <dgm:pt modelId="{2C7F9E97-FF37-4FB3-AB78-54A4112E666F}" type="sibTrans" cxnId="{02AD4F56-72A2-44BB-B3DA-A805CFFA88EB}">
      <dgm:prSet/>
      <dgm:spPr/>
      <dgm:t>
        <a:bodyPr/>
        <a:lstStyle/>
        <a:p>
          <a:endParaRPr lang="en-IN"/>
        </a:p>
      </dgm:t>
    </dgm:pt>
    <dgm:pt modelId="{F8A43F17-6B80-4C3A-828E-A4775CCEEF28}">
      <dgm:prSet/>
      <dgm:spPr/>
      <dgm:t>
        <a:bodyPr/>
        <a:lstStyle/>
        <a:p>
          <a:r>
            <a:rPr lang="en-US" b="0" i="0"/>
            <a:t>Inability to meet changing demand patterns</a:t>
          </a:r>
          <a:endParaRPr lang="en-IN"/>
        </a:p>
      </dgm:t>
    </dgm:pt>
    <dgm:pt modelId="{72620DF8-2A73-4EB2-8641-20FE80B245F7}" type="parTrans" cxnId="{84D43A59-D0A9-4E70-A019-5E3F0AF3A794}">
      <dgm:prSet/>
      <dgm:spPr/>
      <dgm:t>
        <a:bodyPr/>
        <a:lstStyle/>
        <a:p>
          <a:endParaRPr lang="en-IN"/>
        </a:p>
      </dgm:t>
    </dgm:pt>
    <dgm:pt modelId="{B32F5601-C85E-4BAD-A25B-2D1377D94F47}" type="sibTrans" cxnId="{84D43A59-D0A9-4E70-A019-5E3F0AF3A794}">
      <dgm:prSet/>
      <dgm:spPr/>
      <dgm:t>
        <a:bodyPr/>
        <a:lstStyle/>
        <a:p>
          <a:endParaRPr lang="en-IN"/>
        </a:p>
      </dgm:t>
    </dgm:pt>
    <dgm:pt modelId="{9C0048A3-CAC3-4591-95EB-42E3884EF512}">
      <dgm:prSet/>
      <dgm:spPr/>
      <dgm:t>
        <a:bodyPr/>
        <a:lstStyle/>
        <a:p>
          <a:r>
            <a:rPr lang="en-US" b="0" i="0" dirty="0"/>
            <a:t>Excessive inventories</a:t>
          </a:r>
          <a:endParaRPr lang="en-IN" dirty="0"/>
        </a:p>
      </dgm:t>
    </dgm:pt>
    <dgm:pt modelId="{6CC94B2E-B5FC-46B4-BDFB-56340AE6C57D}" type="parTrans" cxnId="{DD931E22-2B5E-41D4-9155-3932B2295231}">
      <dgm:prSet/>
      <dgm:spPr/>
      <dgm:t>
        <a:bodyPr/>
        <a:lstStyle/>
        <a:p>
          <a:endParaRPr lang="en-IN"/>
        </a:p>
      </dgm:t>
    </dgm:pt>
    <dgm:pt modelId="{6CEF1BAF-A39D-4AEA-9444-03C6CBBE3B0A}" type="sibTrans" cxnId="{DD931E22-2B5E-41D4-9155-3932B2295231}">
      <dgm:prSet/>
      <dgm:spPr/>
      <dgm:t>
        <a:bodyPr/>
        <a:lstStyle/>
        <a:p>
          <a:endParaRPr lang="en-IN"/>
        </a:p>
      </dgm:t>
    </dgm:pt>
    <dgm:pt modelId="{F6CF8DB0-965C-490A-881D-7C463B7F5FC9}">
      <dgm:prSet/>
      <dgm:spPr/>
      <dgm:t>
        <a:bodyPr/>
        <a:lstStyle/>
        <a:p>
          <a:r>
            <a:rPr lang="en-US" b="0" i="0"/>
            <a:t>Larger and more variable production batches</a:t>
          </a:r>
          <a:endParaRPr lang="en-IN"/>
        </a:p>
      </dgm:t>
    </dgm:pt>
    <dgm:pt modelId="{58298153-BC9F-40AC-B33F-F8EEABA289D2}" type="parTrans" cxnId="{805F50AF-FE1A-4CFC-8044-C6D5CC1622A2}">
      <dgm:prSet/>
      <dgm:spPr/>
      <dgm:t>
        <a:bodyPr/>
        <a:lstStyle/>
        <a:p>
          <a:endParaRPr lang="en-IN"/>
        </a:p>
      </dgm:t>
    </dgm:pt>
    <dgm:pt modelId="{C6ACEBC3-0468-4EEC-9934-0F133C912C7D}" type="sibTrans" cxnId="{805F50AF-FE1A-4CFC-8044-C6D5CC1622A2}">
      <dgm:prSet/>
      <dgm:spPr/>
      <dgm:t>
        <a:bodyPr/>
        <a:lstStyle/>
        <a:p>
          <a:endParaRPr lang="en-IN"/>
        </a:p>
      </dgm:t>
    </dgm:pt>
    <dgm:pt modelId="{F0C4B3EE-3750-44AA-8379-18A5BDC14001}">
      <dgm:prSet/>
      <dgm:spPr/>
      <dgm:t>
        <a:bodyPr/>
        <a:lstStyle/>
        <a:p>
          <a:r>
            <a:rPr lang="en-US" b="0" i="0"/>
            <a:t>Unacceptable service levels</a:t>
          </a:r>
          <a:endParaRPr lang="en-IN"/>
        </a:p>
      </dgm:t>
    </dgm:pt>
    <dgm:pt modelId="{E8CF10BE-AD63-4D36-B5A8-2B40BBD035E7}" type="parTrans" cxnId="{5A067512-B3C2-45F8-8C67-B984C516CDE5}">
      <dgm:prSet/>
      <dgm:spPr/>
      <dgm:t>
        <a:bodyPr/>
        <a:lstStyle/>
        <a:p>
          <a:endParaRPr lang="en-IN"/>
        </a:p>
      </dgm:t>
    </dgm:pt>
    <dgm:pt modelId="{155A4A79-B7DA-4718-B12D-E0FBFC5AD561}" type="sibTrans" cxnId="{5A067512-B3C2-45F8-8C67-B984C516CDE5}">
      <dgm:prSet/>
      <dgm:spPr/>
      <dgm:t>
        <a:bodyPr/>
        <a:lstStyle/>
        <a:p>
          <a:endParaRPr lang="en-IN"/>
        </a:p>
      </dgm:t>
    </dgm:pt>
    <dgm:pt modelId="{61693B0E-6846-47F7-AE52-0C423F9DB7D8}">
      <dgm:prSet/>
      <dgm:spPr/>
      <dgm:t>
        <a:bodyPr/>
        <a:lstStyle/>
        <a:p>
          <a:r>
            <a:rPr lang="en-US" b="0" i="0"/>
            <a:t>Product obsolescence</a:t>
          </a:r>
          <a:endParaRPr lang="en-IN"/>
        </a:p>
      </dgm:t>
    </dgm:pt>
    <dgm:pt modelId="{54577A00-DAC7-42E0-AC43-136BF1CFFDB9}" type="parTrans" cxnId="{0A2B055B-ECAD-4645-9C7A-DA28953D530C}">
      <dgm:prSet/>
      <dgm:spPr/>
      <dgm:t>
        <a:bodyPr/>
        <a:lstStyle/>
        <a:p>
          <a:endParaRPr lang="en-IN"/>
        </a:p>
      </dgm:t>
    </dgm:pt>
    <dgm:pt modelId="{E66823D3-C956-4962-9A3E-5DA9C4354832}" type="sibTrans" cxnId="{0A2B055B-ECAD-4645-9C7A-DA28953D530C}">
      <dgm:prSet/>
      <dgm:spPr/>
      <dgm:t>
        <a:bodyPr/>
        <a:lstStyle/>
        <a:p>
          <a:endParaRPr lang="en-IN"/>
        </a:p>
      </dgm:t>
    </dgm:pt>
    <dgm:pt modelId="{E046069D-570F-43EB-BCA4-541F51905068}" type="pres">
      <dgm:prSet presAssocID="{8B793510-9C55-4A1D-B8AB-D79A083EB505}" presName="linearFlow" presStyleCnt="0">
        <dgm:presLayoutVars>
          <dgm:dir/>
          <dgm:animLvl val="lvl"/>
          <dgm:resizeHandles val="exact"/>
        </dgm:presLayoutVars>
      </dgm:prSet>
      <dgm:spPr/>
    </dgm:pt>
    <dgm:pt modelId="{AF5DC88B-14F2-4006-BAD1-F4AF45E9A3ED}" type="pres">
      <dgm:prSet presAssocID="{53474CC1-A86F-4206-AA0D-849D810002B1}" presName="composite" presStyleCnt="0"/>
      <dgm:spPr/>
    </dgm:pt>
    <dgm:pt modelId="{6B4F4882-B0F7-4747-8AD0-BB9F7A1432BC}" type="pres">
      <dgm:prSet presAssocID="{53474CC1-A86F-4206-AA0D-849D810002B1}" presName="parentText" presStyleLbl="alignNode1" presStyleIdx="0" presStyleCnt="1">
        <dgm:presLayoutVars>
          <dgm:chMax val="1"/>
          <dgm:bulletEnabled val="1"/>
        </dgm:presLayoutVars>
      </dgm:prSet>
      <dgm:spPr/>
    </dgm:pt>
    <dgm:pt modelId="{7292F3D0-0CF9-4364-A8E1-F69DBDC2F7CA}" type="pres">
      <dgm:prSet presAssocID="{53474CC1-A86F-4206-AA0D-849D810002B1}" presName="descendantText" presStyleLbl="alignAcc1" presStyleIdx="0" presStyleCnt="1">
        <dgm:presLayoutVars>
          <dgm:bulletEnabled val="1"/>
        </dgm:presLayoutVars>
      </dgm:prSet>
      <dgm:spPr/>
    </dgm:pt>
  </dgm:ptLst>
  <dgm:cxnLst>
    <dgm:cxn modelId="{5A067512-B3C2-45F8-8C67-B984C516CDE5}" srcId="{53474CC1-A86F-4206-AA0D-849D810002B1}" destId="{F0C4B3EE-3750-44AA-8379-18A5BDC14001}" srcOrd="3" destOrd="0" parTransId="{E8CF10BE-AD63-4D36-B5A8-2B40BBD035E7}" sibTransId="{155A4A79-B7DA-4718-B12D-E0FBFC5AD561}"/>
    <dgm:cxn modelId="{DD931E22-2B5E-41D4-9155-3932B2295231}" srcId="{53474CC1-A86F-4206-AA0D-849D810002B1}" destId="{9C0048A3-CAC3-4591-95EB-42E3884EF512}" srcOrd="1" destOrd="0" parTransId="{6CC94B2E-B5FC-46B4-BDFB-56340AE6C57D}" sibTransId="{6CEF1BAF-A39D-4AEA-9444-03C6CBBE3B0A}"/>
    <dgm:cxn modelId="{0A2B055B-ECAD-4645-9C7A-DA28953D530C}" srcId="{53474CC1-A86F-4206-AA0D-849D810002B1}" destId="{61693B0E-6846-47F7-AE52-0C423F9DB7D8}" srcOrd="4" destOrd="0" parTransId="{54577A00-DAC7-42E0-AC43-136BF1CFFDB9}" sibTransId="{E66823D3-C956-4962-9A3E-5DA9C4354832}"/>
    <dgm:cxn modelId="{02AD4F56-72A2-44BB-B3DA-A805CFFA88EB}" srcId="{8B793510-9C55-4A1D-B8AB-D79A083EB505}" destId="{53474CC1-A86F-4206-AA0D-849D810002B1}" srcOrd="0" destOrd="0" parTransId="{5325F119-A9E8-49CB-A415-ADDE1B73B7A1}" sibTransId="{2C7F9E97-FF37-4FB3-AB78-54A4112E666F}"/>
    <dgm:cxn modelId="{84D43A59-D0A9-4E70-A019-5E3F0AF3A794}" srcId="{53474CC1-A86F-4206-AA0D-849D810002B1}" destId="{F8A43F17-6B80-4C3A-828E-A4775CCEEF28}" srcOrd="0" destOrd="0" parTransId="{72620DF8-2A73-4EB2-8641-20FE80B245F7}" sibTransId="{B32F5601-C85E-4BAD-A25B-2D1377D94F47}"/>
    <dgm:cxn modelId="{4334F68E-0706-4210-917F-4F919528ADC2}" type="presOf" srcId="{F0C4B3EE-3750-44AA-8379-18A5BDC14001}" destId="{7292F3D0-0CF9-4364-A8E1-F69DBDC2F7CA}" srcOrd="0" destOrd="3" presId="urn:microsoft.com/office/officeart/2005/8/layout/chevron2"/>
    <dgm:cxn modelId="{50174D90-C634-4A36-A9B2-362BD1D3FA3B}" type="presOf" srcId="{61693B0E-6846-47F7-AE52-0C423F9DB7D8}" destId="{7292F3D0-0CF9-4364-A8E1-F69DBDC2F7CA}" srcOrd="0" destOrd="4" presId="urn:microsoft.com/office/officeart/2005/8/layout/chevron2"/>
    <dgm:cxn modelId="{F2F7D895-0856-4519-ACB7-837C4A97D935}" type="presOf" srcId="{8B793510-9C55-4A1D-B8AB-D79A083EB505}" destId="{E046069D-570F-43EB-BCA4-541F51905068}" srcOrd="0" destOrd="0" presId="urn:microsoft.com/office/officeart/2005/8/layout/chevron2"/>
    <dgm:cxn modelId="{805F50AF-FE1A-4CFC-8044-C6D5CC1622A2}" srcId="{53474CC1-A86F-4206-AA0D-849D810002B1}" destId="{F6CF8DB0-965C-490A-881D-7C463B7F5FC9}" srcOrd="2" destOrd="0" parTransId="{58298153-BC9F-40AC-B33F-F8EEABA289D2}" sibTransId="{C6ACEBC3-0468-4EEC-9934-0F133C912C7D}"/>
    <dgm:cxn modelId="{474A41D9-E070-41A6-A35A-21FC58DC14B0}" type="presOf" srcId="{F6CF8DB0-965C-490A-881D-7C463B7F5FC9}" destId="{7292F3D0-0CF9-4364-A8E1-F69DBDC2F7CA}" srcOrd="0" destOrd="2" presId="urn:microsoft.com/office/officeart/2005/8/layout/chevron2"/>
    <dgm:cxn modelId="{5BDA42E7-2E7E-448A-8E27-7D851CF3C702}" type="presOf" srcId="{9C0048A3-CAC3-4591-95EB-42E3884EF512}" destId="{7292F3D0-0CF9-4364-A8E1-F69DBDC2F7CA}" srcOrd="0" destOrd="1" presId="urn:microsoft.com/office/officeart/2005/8/layout/chevron2"/>
    <dgm:cxn modelId="{A900F6E9-2D98-4918-AF79-0AE8EE59CC7E}" type="presOf" srcId="{F8A43F17-6B80-4C3A-828E-A4775CCEEF28}" destId="{7292F3D0-0CF9-4364-A8E1-F69DBDC2F7CA}" srcOrd="0" destOrd="0" presId="urn:microsoft.com/office/officeart/2005/8/layout/chevron2"/>
    <dgm:cxn modelId="{FD5F03FA-90BD-45A4-A1FF-61136BA121C7}" type="presOf" srcId="{53474CC1-A86F-4206-AA0D-849D810002B1}" destId="{6B4F4882-B0F7-4747-8AD0-BB9F7A1432BC}" srcOrd="0" destOrd="0" presId="urn:microsoft.com/office/officeart/2005/8/layout/chevron2"/>
    <dgm:cxn modelId="{D119420E-CCDA-4BD3-9EA2-F5F8CD892437}" type="presParOf" srcId="{E046069D-570F-43EB-BCA4-541F51905068}" destId="{AF5DC88B-14F2-4006-BAD1-F4AF45E9A3ED}" srcOrd="0" destOrd="0" presId="urn:microsoft.com/office/officeart/2005/8/layout/chevron2"/>
    <dgm:cxn modelId="{80143E2C-C277-4F0F-8A48-C4A0C1D8D4DC}" type="presParOf" srcId="{AF5DC88B-14F2-4006-BAD1-F4AF45E9A3ED}" destId="{6B4F4882-B0F7-4747-8AD0-BB9F7A1432BC}" srcOrd="0" destOrd="0" presId="urn:microsoft.com/office/officeart/2005/8/layout/chevron2"/>
    <dgm:cxn modelId="{B43B108A-CE56-49BA-8783-655F156B8D06}" type="presParOf" srcId="{AF5DC88B-14F2-4006-BAD1-F4AF45E9A3ED}" destId="{7292F3D0-0CF9-4364-A8E1-F69DBDC2F7C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1F60FF00-4A55-46FC-B71B-FE1EAF6D12F7}">
      <dgm:prSet/>
      <dgm:spPr/>
      <dgm:t>
        <a:bodyPr/>
        <a:lstStyle/>
        <a:p>
          <a:r>
            <a:rPr lang="en-US" b="0" i="0" u="sng" dirty="0">
              <a:solidFill>
                <a:srgbClr val="FF0000"/>
              </a:solidFill>
              <a:effectLst/>
              <a:highlight>
                <a:srgbClr val="FFFF00"/>
              </a:highlight>
              <a:latin typeface="Open Sans" panose="020B0606030504020204" pitchFamily="34" charset="0"/>
            </a:rPr>
            <a:t>Push-based supply chain</a:t>
          </a:r>
        </a:p>
        <a:p>
          <a:pPr>
            <a:buNone/>
          </a:pPr>
          <a:r>
            <a:rPr lang="en-US" b="0" i="0" dirty="0">
              <a:solidFill>
                <a:schemeClr val="bg1"/>
              </a:solidFill>
              <a:effectLst/>
              <a:latin typeface="Open Sans" panose="020B0606030504020204" pitchFamily="34" charset="0"/>
            </a:rPr>
            <a:t>Production and distribution decisions are based on long-term forecasts</a:t>
          </a:r>
          <a:r>
            <a:rPr lang="en-US" b="0" i="0" dirty="0">
              <a:solidFill>
                <a:srgbClr val="444444"/>
              </a:solidFill>
              <a:effectLst/>
              <a:latin typeface="Open Sans" panose="020B0606030504020204" pitchFamily="34" charset="0"/>
            </a:rPr>
            <a:t>.</a:t>
          </a:r>
          <a:endParaRPr lang="en-IN" b="1" dirty="0">
            <a:solidFill>
              <a:srgbClr val="FF0000"/>
            </a:solidFill>
            <a:highlight>
              <a:srgbClr val="FFFF00"/>
            </a:highlight>
          </a:endParaRPr>
        </a:p>
      </dgm:t>
    </dgm:pt>
    <dgm:pt modelId="{20D1CF94-A5BF-489D-BA8E-CF94955FEC59}" type="sibTrans" cxnId="{1B500BDE-7B66-44BB-843A-C5267EDFBC76}">
      <dgm:prSet/>
      <dgm:spPr/>
      <dgm:t>
        <a:bodyPr/>
        <a:lstStyle/>
        <a:p>
          <a:endParaRPr lang="en-IN"/>
        </a:p>
      </dgm:t>
    </dgm:pt>
    <dgm:pt modelId="{6DFA625D-B1D2-4216-BEDE-09F86FE7F956}" type="parTrans" cxnId="{1B500BDE-7B66-44BB-843A-C5267EDFBC76}">
      <dgm:prSet/>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 modelId="{72E4E200-B2B7-4D3E-8CA1-47DDD1806F97}" type="pres">
      <dgm:prSet presAssocID="{1F60FF00-4A55-46FC-B71B-FE1EAF6D12F7}" presName="parentText" presStyleLbl="node1" presStyleIdx="0" presStyleCnt="1" custLinFactNeighborX="-225" custLinFactNeighborY="-1627">
        <dgm:presLayoutVars>
          <dgm:chMax val="0"/>
          <dgm:bulletEnabled val="1"/>
        </dgm:presLayoutVars>
      </dgm:prSet>
      <dgm:spPr/>
    </dgm:pt>
  </dgm:ptLst>
  <dgm:cxnLst>
    <dgm:cxn modelId="{27C0F623-36B1-4FEA-BC94-AEB453C3C1E7}" type="presOf" srcId="{74CBFABD-0B1C-42EC-8CC2-D04D748A8844}" destId="{622D8C2F-321B-435E-8BE3-650BCD74FB1B}" srcOrd="0" destOrd="0" presId="urn:microsoft.com/office/officeart/2005/8/layout/vList2"/>
    <dgm:cxn modelId="{538A049A-1688-4A67-8267-1FB378AC0ED8}" type="presOf" srcId="{1F60FF00-4A55-46FC-B71B-FE1EAF6D12F7}" destId="{72E4E200-B2B7-4D3E-8CA1-47DDD1806F97}" srcOrd="0" destOrd="0" presId="urn:microsoft.com/office/officeart/2005/8/layout/vList2"/>
    <dgm:cxn modelId="{1B500BDE-7B66-44BB-843A-C5267EDFBC76}" srcId="{74CBFABD-0B1C-42EC-8CC2-D04D748A8844}" destId="{1F60FF00-4A55-46FC-B71B-FE1EAF6D12F7}" srcOrd="0" destOrd="0" parTransId="{6DFA625D-B1D2-4216-BEDE-09F86FE7F956}" sibTransId="{20D1CF94-A5BF-489D-BA8E-CF94955FEC59}"/>
    <dgm:cxn modelId="{093FD66D-E008-453F-B799-EB722F6A18A2}" type="presParOf" srcId="{622D8C2F-321B-435E-8BE3-650BCD74FB1B}" destId="{72E4E200-B2B7-4D3E-8CA1-47DDD1806F97}"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B7B559-1C3B-464F-A033-967F13EEE6AC}"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IN"/>
        </a:p>
      </dgm:t>
    </dgm:pt>
    <dgm:pt modelId="{0EE468EC-A2F0-49C8-9447-34228BF1AD4C}">
      <dgm:prSet/>
      <dgm:spPr/>
      <dgm:t>
        <a:bodyPr/>
        <a:lstStyle/>
        <a:p>
          <a:r>
            <a:rPr lang="en-US" b="0" i="0"/>
            <a:t>Effect:</a:t>
          </a:r>
          <a:endParaRPr lang="en-IN"/>
        </a:p>
      </dgm:t>
    </dgm:pt>
    <dgm:pt modelId="{64AFA11D-20AF-403C-9296-1B65FE287394}" type="parTrans" cxnId="{5DE1C3FB-526A-45CA-9EB6-1E8910C6800D}">
      <dgm:prSet/>
      <dgm:spPr/>
      <dgm:t>
        <a:bodyPr/>
        <a:lstStyle/>
        <a:p>
          <a:endParaRPr lang="en-IN"/>
        </a:p>
      </dgm:t>
    </dgm:pt>
    <dgm:pt modelId="{839D1022-A574-4A6E-ADD9-BBE81DA69A4B}" type="sibTrans" cxnId="{5DE1C3FB-526A-45CA-9EB6-1E8910C6800D}">
      <dgm:prSet/>
      <dgm:spPr/>
      <dgm:t>
        <a:bodyPr/>
        <a:lstStyle/>
        <a:p>
          <a:endParaRPr lang="en-IN"/>
        </a:p>
      </dgm:t>
    </dgm:pt>
    <dgm:pt modelId="{34DDCF14-95AE-43B4-8C17-891EBD243181}">
      <dgm:prSet/>
      <dgm:spPr/>
      <dgm:t>
        <a:bodyPr/>
        <a:lstStyle/>
        <a:p>
          <a:r>
            <a:rPr lang="en-US"/>
            <a:t>D</a:t>
          </a:r>
          <a:r>
            <a:rPr lang="en-US" b="0" i="0"/>
            <a:t>ecrease lead times</a:t>
          </a:r>
          <a:endParaRPr lang="en-IN"/>
        </a:p>
      </dgm:t>
    </dgm:pt>
    <dgm:pt modelId="{E33430A4-924E-41DF-9C44-E66693547E50}" type="parTrans" cxnId="{355F85A0-D48B-47AE-A225-4663F567365B}">
      <dgm:prSet/>
      <dgm:spPr/>
      <dgm:t>
        <a:bodyPr/>
        <a:lstStyle/>
        <a:p>
          <a:endParaRPr lang="en-IN"/>
        </a:p>
      </dgm:t>
    </dgm:pt>
    <dgm:pt modelId="{CAD4DC0D-A64D-4861-8099-DA6C2249CF7D}" type="sibTrans" cxnId="{355F85A0-D48B-47AE-A225-4663F567365B}">
      <dgm:prSet/>
      <dgm:spPr/>
      <dgm:t>
        <a:bodyPr/>
        <a:lstStyle/>
        <a:p>
          <a:endParaRPr lang="en-IN"/>
        </a:p>
      </dgm:t>
    </dgm:pt>
    <dgm:pt modelId="{1A17B388-07BA-43A2-9AD6-710AFB37553E}">
      <dgm:prSet/>
      <dgm:spPr/>
      <dgm:t>
        <a:bodyPr/>
        <a:lstStyle/>
        <a:p>
          <a:r>
            <a:rPr lang="en-US"/>
            <a:t>D</a:t>
          </a:r>
          <a:r>
            <a:rPr lang="en-US" b="0" i="0"/>
            <a:t>ecrease inventory of retailers</a:t>
          </a:r>
          <a:endParaRPr lang="en-IN"/>
        </a:p>
      </dgm:t>
    </dgm:pt>
    <dgm:pt modelId="{8CC56D77-AFB5-42DE-AC25-4885AD571BC3}" type="parTrans" cxnId="{6E3DAB07-850D-49C8-9C77-7935C7F4A994}">
      <dgm:prSet/>
      <dgm:spPr/>
      <dgm:t>
        <a:bodyPr/>
        <a:lstStyle/>
        <a:p>
          <a:endParaRPr lang="en-IN"/>
        </a:p>
      </dgm:t>
    </dgm:pt>
    <dgm:pt modelId="{23C36F4C-38D8-43F3-A4AF-15757B38BFBE}" type="sibTrans" cxnId="{6E3DAB07-850D-49C8-9C77-7935C7F4A994}">
      <dgm:prSet/>
      <dgm:spPr/>
      <dgm:t>
        <a:bodyPr/>
        <a:lstStyle/>
        <a:p>
          <a:endParaRPr lang="en-IN"/>
        </a:p>
      </dgm:t>
    </dgm:pt>
    <dgm:pt modelId="{C329E19A-471D-4615-8535-3C1B3220874B}">
      <dgm:prSet/>
      <dgm:spPr/>
      <dgm:t>
        <a:bodyPr/>
        <a:lstStyle/>
        <a:p>
          <a:r>
            <a:rPr lang="en-US"/>
            <a:t>D</a:t>
          </a:r>
          <a:r>
            <a:rPr lang="en-US" b="0" i="0"/>
            <a:t>ecrease variability in the system</a:t>
          </a:r>
          <a:endParaRPr lang="en-IN"/>
        </a:p>
      </dgm:t>
    </dgm:pt>
    <dgm:pt modelId="{6E92C692-4A99-4016-BB90-675B8D3F8DA0}" type="parTrans" cxnId="{D4F42F7E-CAF3-4F8B-80E3-DC709B3ECE02}">
      <dgm:prSet/>
      <dgm:spPr/>
      <dgm:t>
        <a:bodyPr/>
        <a:lstStyle/>
        <a:p>
          <a:endParaRPr lang="en-IN"/>
        </a:p>
      </dgm:t>
    </dgm:pt>
    <dgm:pt modelId="{69286A87-EF14-4E9A-85E9-D5F7E1FC04E1}" type="sibTrans" cxnId="{D4F42F7E-CAF3-4F8B-80E3-DC709B3ECE02}">
      <dgm:prSet/>
      <dgm:spPr/>
      <dgm:t>
        <a:bodyPr/>
        <a:lstStyle/>
        <a:p>
          <a:endParaRPr lang="en-IN"/>
        </a:p>
      </dgm:t>
    </dgm:pt>
    <dgm:pt modelId="{ECA986F9-C8F3-473B-8B11-CF4753E03FBE}">
      <dgm:prSet/>
      <dgm:spPr/>
      <dgm:t>
        <a:bodyPr/>
        <a:lstStyle/>
        <a:p>
          <a:r>
            <a:rPr lang="en-US"/>
            <a:t>D</a:t>
          </a:r>
          <a:r>
            <a:rPr lang="en-US" b="0" i="0"/>
            <a:t>ecrease inventory of manufacturer</a:t>
          </a:r>
          <a:endParaRPr lang="en-IN"/>
        </a:p>
      </dgm:t>
    </dgm:pt>
    <dgm:pt modelId="{F889A769-A9E2-40F4-819E-6643A4D52FA3}" type="parTrans" cxnId="{26308831-9543-47A4-8E50-A11698953B91}">
      <dgm:prSet/>
      <dgm:spPr/>
      <dgm:t>
        <a:bodyPr/>
        <a:lstStyle/>
        <a:p>
          <a:endParaRPr lang="en-IN"/>
        </a:p>
      </dgm:t>
    </dgm:pt>
    <dgm:pt modelId="{B5CA24FE-A9FA-4E47-B3CC-5F9562199C8D}" type="sibTrans" cxnId="{26308831-9543-47A4-8E50-A11698953B91}">
      <dgm:prSet/>
      <dgm:spPr/>
      <dgm:t>
        <a:bodyPr/>
        <a:lstStyle/>
        <a:p>
          <a:endParaRPr lang="en-IN"/>
        </a:p>
      </dgm:t>
    </dgm:pt>
    <dgm:pt modelId="{A567A71E-68E3-4620-A286-298E7653110B}">
      <dgm:prSet/>
      <dgm:spPr/>
      <dgm:t>
        <a:bodyPr/>
        <a:lstStyle/>
        <a:p>
          <a:r>
            <a:rPr lang="en-US" b="0" i="0"/>
            <a:t>Lead times too long, difficult to implement pull-based systems</a:t>
          </a:r>
          <a:endParaRPr lang="en-IN"/>
        </a:p>
      </dgm:t>
    </dgm:pt>
    <dgm:pt modelId="{DED1012E-DC54-4C8F-9A88-9073D55D81E6}" type="parTrans" cxnId="{9EB8FC2F-7ECD-4749-B04D-883E574A154A}">
      <dgm:prSet/>
      <dgm:spPr/>
      <dgm:t>
        <a:bodyPr/>
        <a:lstStyle/>
        <a:p>
          <a:endParaRPr lang="en-IN"/>
        </a:p>
      </dgm:t>
    </dgm:pt>
    <dgm:pt modelId="{A2446984-42C1-4601-997D-9A1809D93B16}" type="sibTrans" cxnId="{9EB8FC2F-7ECD-4749-B04D-883E574A154A}">
      <dgm:prSet/>
      <dgm:spPr/>
      <dgm:t>
        <a:bodyPr/>
        <a:lstStyle/>
        <a:p>
          <a:endParaRPr lang="en-IN"/>
        </a:p>
      </dgm:t>
    </dgm:pt>
    <dgm:pt modelId="{80505E79-FE3A-40E0-A992-A209342D27FD}">
      <dgm:prSet/>
      <dgm:spPr/>
      <dgm:t>
        <a:bodyPr/>
        <a:lstStyle/>
        <a:p>
          <a:r>
            <a:rPr lang="en-US" b="0" i="0"/>
            <a:t>Difficult to take advantage of economies of scale in manufacturing and transportation</a:t>
          </a:r>
          <a:endParaRPr lang="en-IN"/>
        </a:p>
      </dgm:t>
    </dgm:pt>
    <dgm:pt modelId="{1EF90DB2-E8A9-4AA9-807C-F619A8AC3418}" type="parTrans" cxnId="{0E5623CD-7135-4F9F-8EC8-683C386F7A77}">
      <dgm:prSet/>
      <dgm:spPr/>
      <dgm:t>
        <a:bodyPr/>
        <a:lstStyle/>
        <a:p>
          <a:endParaRPr lang="en-IN"/>
        </a:p>
      </dgm:t>
    </dgm:pt>
    <dgm:pt modelId="{31DCF67A-1C2E-4181-A692-8A69337F0587}" type="sibTrans" cxnId="{0E5623CD-7135-4F9F-8EC8-683C386F7A77}">
      <dgm:prSet/>
      <dgm:spPr/>
      <dgm:t>
        <a:bodyPr/>
        <a:lstStyle/>
        <a:p>
          <a:endParaRPr lang="en-IN"/>
        </a:p>
      </dgm:t>
    </dgm:pt>
    <dgm:pt modelId="{2A2A3940-8E21-4DAC-8737-2C2045F537DB}" type="pres">
      <dgm:prSet presAssocID="{66B7B559-1C3B-464F-A033-967F13EEE6AC}" presName="linear" presStyleCnt="0">
        <dgm:presLayoutVars>
          <dgm:animLvl val="lvl"/>
          <dgm:resizeHandles val="exact"/>
        </dgm:presLayoutVars>
      </dgm:prSet>
      <dgm:spPr/>
    </dgm:pt>
    <dgm:pt modelId="{B07F4C11-70EC-4A4A-8D61-D4BEC6C43315}" type="pres">
      <dgm:prSet presAssocID="{0EE468EC-A2F0-49C8-9447-34228BF1AD4C}" presName="parentText" presStyleLbl="node1" presStyleIdx="0" presStyleCnt="3">
        <dgm:presLayoutVars>
          <dgm:chMax val="0"/>
          <dgm:bulletEnabled val="1"/>
        </dgm:presLayoutVars>
      </dgm:prSet>
      <dgm:spPr/>
    </dgm:pt>
    <dgm:pt modelId="{22CF4E96-DAA7-455D-A5AF-B444BDF2AB69}" type="pres">
      <dgm:prSet presAssocID="{0EE468EC-A2F0-49C8-9447-34228BF1AD4C}" presName="childText" presStyleLbl="revTx" presStyleIdx="0" presStyleCnt="1">
        <dgm:presLayoutVars>
          <dgm:bulletEnabled val="1"/>
        </dgm:presLayoutVars>
      </dgm:prSet>
      <dgm:spPr/>
    </dgm:pt>
    <dgm:pt modelId="{BCE43224-584F-4B2E-A17D-5DC30C0BD76D}" type="pres">
      <dgm:prSet presAssocID="{A567A71E-68E3-4620-A286-298E7653110B}" presName="parentText" presStyleLbl="node1" presStyleIdx="1" presStyleCnt="3">
        <dgm:presLayoutVars>
          <dgm:chMax val="0"/>
          <dgm:bulletEnabled val="1"/>
        </dgm:presLayoutVars>
      </dgm:prSet>
      <dgm:spPr/>
    </dgm:pt>
    <dgm:pt modelId="{8F9C1DCD-42E6-45F5-A01D-470C6280B38B}" type="pres">
      <dgm:prSet presAssocID="{A2446984-42C1-4601-997D-9A1809D93B16}" presName="spacer" presStyleCnt="0"/>
      <dgm:spPr/>
    </dgm:pt>
    <dgm:pt modelId="{2B7BD3B8-238A-4472-ACD6-1686E56D8C37}" type="pres">
      <dgm:prSet presAssocID="{80505E79-FE3A-40E0-A992-A209342D27FD}" presName="parentText" presStyleLbl="node1" presStyleIdx="2" presStyleCnt="3">
        <dgm:presLayoutVars>
          <dgm:chMax val="0"/>
          <dgm:bulletEnabled val="1"/>
        </dgm:presLayoutVars>
      </dgm:prSet>
      <dgm:spPr/>
    </dgm:pt>
  </dgm:ptLst>
  <dgm:cxnLst>
    <dgm:cxn modelId="{6E3DAB07-850D-49C8-9C77-7935C7F4A994}" srcId="{0EE468EC-A2F0-49C8-9447-34228BF1AD4C}" destId="{1A17B388-07BA-43A2-9AD6-710AFB37553E}" srcOrd="1" destOrd="0" parTransId="{8CC56D77-AFB5-42DE-AC25-4885AD571BC3}" sibTransId="{23C36F4C-38D8-43F3-A4AF-15757B38BFBE}"/>
    <dgm:cxn modelId="{D0271821-DECC-4E01-AC40-B1568B2830EE}" type="presOf" srcId="{1A17B388-07BA-43A2-9AD6-710AFB37553E}" destId="{22CF4E96-DAA7-455D-A5AF-B444BDF2AB69}" srcOrd="0" destOrd="1" presId="urn:microsoft.com/office/officeart/2005/8/layout/vList2"/>
    <dgm:cxn modelId="{357D732A-1992-4E65-AC23-4070EBAAAF6B}" type="presOf" srcId="{0EE468EC-A2F0-49C8-9447-34228BF1AD4C}" destId="{B07F4C11-70EC-4A4A-8D61-D4BEC6C43315}" srcOrd="0" destOrd="0" presId="urn:microsoft.com/office/officeart/2005/8/layout/vList2"/>
    <dgm:cxn modelId="{ADD51A2B-4A93-42FC-888F-264FA90336B8}" type="presOf" srcId="{34DDCF14-95AE-43B4-8C17-891EBD243181}" destId="{22CF4E96-DAA7-455D-A5AF-B444BDF2AB69}" srcOrd="0" destOrd="0" presId="urn:microsoft.com/office/officeart/2005/8/layout/vList2"/>
    <dgm:cxn modelId="{9EB8FC2F-7ECD-4749-B04D-883E574A154A}" srcId="{66B7B559-1C3B-464F-A033-967F13EEE6AC}" destId="{A567A71E-68E3-4620-A286-298E7653110B}" srcOrd="1" destOrd="0" parTransId="{DED1012E-DC54-4C8F-9A88-9073D55D81E6}" sibTransId="{A2446984-42C1-4601-997D-9A1809D93B16}"/>
    <dgm:cxn modelId="{26308831-9543-47A4-8E50-A11698953B91}" srcId="{0EE468EC-A2F0-49C8-9447-34228BF1AD4C}" destId="{ECA986F9-C8F3-473B-8B11-CF4753E03FBE}" srcOrd="3" destOrd="0" parTransId="{F889A769-A9E2-40F4-819E-6643A4D52FA3}" sibTransId="{B5CA24FE-A9FA-4E47-B3CC-5F9562199C8D}"/>
    <dgm:cxn modelId="{F613E33E-201C-4171-A32B-98CAE34CFA7C}" type="presOf" srcId="{ECA986F9-C8F3-473B-8B11-CF4753E03FBE}" destId="{22CF4E96-DAA7-455D-A5AF-B444BDF2AB69}" srcOrd="0" destOrd="3" presId="urn:microsoft.com/office/officeart/2005/8/layout/vList2"/>
    <dgm:cxn modelId="{E0534752-0868-4A0B-B38E-0F822EDB3FCC}" type="presOf" srcId="{80505E79-FE3A-40E0-A992-A209342D27FD}" destId="{2B7BD3B8-238A-4472-ACD6-1686E56D8C37}" srcOrd="0" destOrd="0" presId="urn:microsoft.com/office/officeart/2005/8/layout/vList2"/>
    <dgm:cxn modelId="{D4F42F7E-CAF3-4F8B-80E3-DC709B3ECE02}" srcId="{0EE468EC-A2F0-49C8-9447-34228BF1AD4C}" destId="{C329E19A-471D-4615-8535-3C1B3220874B}" srcOrd="2" destOrd="0" parTransId="{6E92C692-4A99-4016-BB90-675B8D3F8DA0}" sibTransId="{69286A87-EF14-4E9A-85E9-D5F7E1FC04E1}"/>
    <dgm:cxn modelId="{355F85A0-D48B-47AE-A225-4663F567365B}" srcId="{0EE468EC-A2F0-49C8-9447-34228BF1AD4C}" destId="{34DDCF14-95AE-43B4-8C17-891EBD243181}" srcOrd="0" destOrd="0" parTransId="{E33430A4-924E-41DF-9C44-E66693547E50}" sibTransId="{CAD4DC0D-A64D-4861-8099-DA6C2249CF7D}"/>
    <dgm:cxn modelId="{0E5623CD-7135-4F9F-8EC8-683C386F7A77}" srcId="{66B7B559-1C3B-464F-A033-967F13EEE6AC}" destId="{80505E79-FE3A-40E0-A992-A209342D27FD}" srcOrd="2" destOrd="0" parTransId="{1EF90DB2-E8A9-4AA9-807C-F619A8AC3418}" sibTransId="{31DCF67A-1C2E-4181-A692-8A69337F0587}"/>
    <dgm:cxn modelId="{727982D5-0A15-4588-8990-2727E82865F3}" type="presOf" srcId="{A567A71E-68E3-4620-A286-298E7653110B}" destId="{BCE43224-584F-4B2E-A17D-5DC30C0BD76D}" srcOrd="0" destOrd="0" presId="urn:microsoft.com/office/officeart/2005/8/layout/vList2"/>
    <dgm:cxn modelId="{019D39E8-6FC9-4387-857E-BA8B357B6027}" type="presOf" srcId="{C329E19A-471D-4615-8535-3C1B3220874B}" destId="{22CF4E96-DAA7-455D-A5AF-B444BDF2AB69}" srcOrd="0" destOrd="2" presId="urn:microsoft.com/office/officeart/2005/8/layout/vList2"/>
    <dgm:cxn modelId="{2EE8DEF4-6C6E-4875-890D-9D1372AE1EC0}" type="presOf" srcId="{66B7B559-1C3B-464F-A033-967F13EEE6AC}" destId="{2A2A3940-8E21-4DAC-8737-2C2045F537DB}" srcOrd="0" destOrd="0" presId="urn:microsoft.com/office/officeart/2005/8/layout/vList2"/>
    <dgm:cxn modelId="{5DE1C3FB-526A-45CA-9EB6-1E8910C6800D}" srcId="{66B7B559-1C3B-464F-A033-967F13EEE6AC}" destId="{0EE468EC-A2F0-49C8-9447-34228BF1AD4C}" srcOrd="0" destOrd="0" parTransId="{64AFA11D-20AF-403C-9296-1B65FE287394}" sibTransId="{839D1022-A574-4A6E-ADD9-BBE81DA69A4B}"/>
    <dgm:cxn modelId="{D15F0B77-E35E-4D44-9313-A09E99E33A23}" type="presParOf" srcId="{2A2A3940-8E21-4DAC-8737-2C2045F537DB}" destId="{B07F4C11-70EC-4A4A-8D61-D4BEC6C43315}" srcOrd="0" destOrd="0" presId="urn:microsoft.com/office/officeart/2005/8/layout/vList2"/>
    <dgm:cxn modelId="{671111D4-1C3E-41E1-B03B-697C145CBACA}" type="presParOf" srcId="{2A2A3940-8E21-4DAC-8737-2C2045F537DB}" destId="{22CF4E96-DAA7-455D-A5AF-B444BDF2AB69}" srcOrd="1" destOrd="0" presId="urn:microsoft.com/office/officeart/2005/8/layout/vList2"/>
    <dgm:cxn modelId="{E3B933D5-9BCB-4E48-9469-C36630760B76}" type="presParOf" srcId="{2A2A3940-8E21-4DAC-8737-2C2045F537DB}" destId="{BCE43224-584F-4B2E-A17D-5DC30C0BD76D}" srcOrd="2" destOrd="0" presId="urn:microsoft.com/office/officeart/2005/8/layout/vList2"/>
    <dgm:cxn modelId="{9BBB71AE-CC1F-4238-A3BD-6596B1CDB252}" type="presParOf" srcId="{2A2A3940-8E21-4DAC-8737-2C2045F537DB}" destId="{8F9C1DCD-42E6-45F5-A01D-470C6280B38B}" srcOrd="3" destOrd="0" presId="urn:microsoft.com/office/officeart/2005/8/layout/vList2"/>
    <dgm:cxn modelId="{8D0782CB-6019-46E7-AC1B-9C2C9EC5AB3F}" type="presParOf" srcId="{2A2A3940-8E21-4DAC-8737-2C2045F537DB}" destId="{2B7BD3B8-238A-4472-ACD6-1686E56D8C3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1F60FF00-4A55-46FC-B71B-FE1EAF6D12F7}">
      <dgm:prSet/>
      <dgm:spPr/>
      <dgm:t>
        <a:bodyPr/>
        <a:lstStyle/>
        <a:p>
          <a:r>
            <a:rPr lang="en-US" b="0" i="0" dirty="0">
              <a:solidFill>
                <a:srgbClr val="FF0000"/>
              </a:solidFill>
              <a:effectLst/>
              <a:highlight>
                <a:srgbClr val="FFFF00"/>
              </a:highlight>
              <a:latin typeface="Open Sans" panose="020B0606030504020204" pitchFamily="34" charset="0"/>
            </a:rPr>
            <a:t>Pull-based supply chain</a:t>
          </a:r>
        </a:p>
        <a:p>
          <a:r>
            <a:rPr lang="en-US" b="0" i="0" dirty="0">
              <a:solidFill>
                <a:schemeClr val="bg1"/>
              </a:solidFill>
              <a:effectLst/>
              <a:latin typeface="Open Sans" panose="020B0606030504020204" pitchFamily="34" charset="0"/>
            </a:rPr>
            <a:t>Production and distribution are demand driven.</a:t>
          </a:r>
          <a:endParaRPr lang="en-IN" b="1" dirty="0">
            <a:solidFill>
              <a:schemeClr val="bg1"/>
            </a:solidFill>
            <a:highlight>
              <a:srgbClr val="FFFF00"/>
            </a:highlight>
          </a:endParaRPr>
        </a:p>
      </dgm:t>
    </dgm:pt>
    <dgm:pt modelId="{20D1CF94-A5BF-489D-BA8E-CF94955FEC59}" type="sibTrans" cxnId="{1B500BDE-7B66-44BB-843A-C5267EDFBC76}">
      <dgm:prSet/>
      <dgm:spPr/>
      <dgm:t>
        <a:bodyPr/>
        <a:lstStyle/>
        <a:p>
          <a:endParaRPr lang="en-IN"/>
        </a:p>
      </dgm:t>
    </dgm:pt>
    <dgm:pt modelId="{6DFA625D-B1D2-4216-BEDE-09F86FE7F956}" type="parTrans" cxnId="{1B500BDE-7B66-44BB-843A-C5267EDFBC76}">
      <dgm:prSet/>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 modelId="{72E4E200-B2B7-4D3E-8CA1-47DDD1806F97}" type="pres">
      <dgm:prSet presAssocID="{1F60FF00-4A55-46FC-B71B-FE1EAF6D12F7}" presName="parentText" presStyleLbl="node1" presStyleIdx="0" presStyleCnt="1" custLinFactNeighborX="-225" custLinFactNeighborY="-1627">
        <dgm:presLayoutVars>
          <dgm:chMax val="0"/>
          <dgm:bulletEnabled val="1"/>
        </dgm:presLayoutVars>
      </dgm:prSet>
      <dgm:spPr/>
    </dgm:pt>
  </dgm:ptLst>
  <dgm:cxnLst>
    <dgm:cxn modelId="{27C0F623-36B1-4FEA-BC94-AEB453C3C1E7}" type="presOf" srcId="{74CBFABD-0B1C-42EC-8CC2-D04D748A8844}" destId="{622D8C2F-321B-435E-8BE3-650BCD74FB1B}" srcOrd="0" destOrd="0" presId="urn:microsoft.com/office/officeart/2005/8/layout/vList2"/>
    <dgm:cxn modelId="{538A049A-1688-4A67-8267-1FB378AC0ED8}" type="presOf" srcId="{1F60FF00-4A55-46FC-B71B-FE1EAF6D12F7}" destId="{72E4E200-B2B7-4D3E-8CA1-47DDD1806F97}" srcOrd="0" destOrd="0" presId="urn:microsoft.com/office/officeart/2005/8/layout/vList2"/>
    <dgm:cxn modelId="{1B500BDE-7B66-44BB-843A-C5267EDFBC76}" srcId="{74CBFABD-0B1C-42EC-8CC2-D04D748A8844}" destId="{1F60FF00-4A55-46FC-B71B-FE1EAF6D12F7}" srcOrd="0" destOrd="0" parTransId="{6DFA625D-B1D2-4216-BEDE-09F86FE7F956}" sibTransId="{20D1CF94-A5BF-489D-BA8E-CF94955FEC59}"/>
    <dgm:cxn modelId="{093FD66D-E008-453F-B799-EB722F6A18A2}" type="presParOf" srcId="{622D8C2F-321B-435E-8BE3-650BCD74FB1B}" destId="{72E4E200-B2B7-4D3E-8CA1-47DDD1806F97}"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1F60FF00-4A55-46FC-B71B-FE1EAF6D12F7}">
      <dgm:prSet/>
      <dgm:spPr/>
      <dgm:t>
        <a:bodyPr/>
        <a:lstStyle/>
        <a:p>
          <a:r>
            <a:rPr lang="en-US" b="0" i="0" dirty="0">
              <a:solidFill>
                <a:srgbClr val="FF0000"/>
              </a:solidFill>
              <a:effectLst/>
              <a:highlight>
                <a:srgbClr val="FFFF00"/>
              </a:highlight>
              <a:latin typeface="Open Sans" panose="020B0606030504020204" pitchFamily="34" charset="0"/>
            </a:rPr>
            <a:t>Push-Pull supply chain</a:t>
          </a:r>
        </a:p>
        <a:p>
          <a:r>
            <a:rPr lang="en-US" b="0" i="0" dirty="0">
              <a:solidFill>
                <a:schemeClr val="bg1"/>
              </a:solidFill>
              <a:effectLst/>
              <a:latin typeface="Open Sans" panose="020B0606030504020204" pitchFamily="34" charset="0"/>
            </a:rPr>
            <a:t>Some stages operated in a push-based manner; the remaining stages employ a pull-based strategy. (PC, delayed differentiation).</a:t>
          </a:r>
          <a:endParaRPr lang="en-IN" b="1" dirty="0">
            <a:solidFill>
              <a:schemeClr val="bg1"/>
            </a:solidFill>
            <a:highlight>
              <a:srgbClr val="FFFF00"/>
            </a:highlight>
          </a:endParaRPr>
        </a:p>
      </dgm:t>
    </dgm:pt>
    <dgm:pt modelId="{20D1CF94-A5BF-489D-BA8E-CF94955FEC59}" type="sibTrans" cxnId="{1B500BDE-7B66-44BB-843A-C5267EDFBC76}">
      <dgm:prSet/>
      <dgm:spPr/>
      <dgm:t>
        <a:bodyPr/>
        <a:lstStyle/>
        <a:p>
          <a:endParaRPr lang="en-IN"/>
        </a:p>
      </dgm:t>
    </dgm:pt>
    <dgm:pt modelId="{6DFA625D-B1D2-4216-BEDE-09F86FE7F956}" type="parTrans" cxnId="{1B500BDE-7B66-44BB-843A-C5267EDFBC76}">
      <dgm:prSet/>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 modelId="{72E4E200-B2B7-4D3E-8CA1-47DDD1806F97}" type="pres">
      <dgm:prSet presAssocID="{1F60FF00-4A55-46FC-B71B-FE1EAF6D12F7}" presName="parentText" presStyleLbl="node1" presStyleIdx="0" presStyleCnt="1" custLinFactNeighborX="-225" custLinFactNeighborY="-1627">
        <dgm:presLayoutVars>
          <dgm:chMax val="0"/>
          <dgm:bulletEnabled val="1"/>
        </dgm:presLayoutVars>
      </dgm:prSet>
      <dgm:spPr/>
    </dgm:pt>
  </dgm:ptLst>
  <dgm:cxnLst>
    <dgm:cxn modelId="{27C0F623-36B1-4FEA-BC94-AEB453C3C1E7}" type="presOf" srcId="{74CBFABD-0B1C-42EC-8CC2-D04D748A8844}" destId="{622D8C2F-321B-435E-8BE3-650BCD74FB1B}" srcOrd="0" destOrd="0" presId="urn:microsoft.com/office/officeart/2005/8/layout/vList2"/>
    <dgm:cxn modelId="{538A049A-1688-4A67-8267-1FB378AC0ED8}" type="presOf" srcId="{1F60FF00-4A55-46FC-B71B-FE1EAF6D12F7}" destId="{72E4E200-B2B7-4D3E-8CA1-47DDD1806F97}" srcOrd="0" destOrd="0" presId="urn:microsoft.com/office/officeart/2005/8/layout/vList2"/>
    <dgm:cxn modelId="{1B500BDE-7B66-44BB-843A-C5267EDFBC76}" srcId="{74CBFABD-0B1C-42EC-8CC2-D04D748A8844}" destId="{1F60FF00-4A55-46FC-B71B-FE1EAF6D12F7}" srcOrd="0" destOrd="0" parTransId="{6DFA625D-B1D2-4216-BEDE-09F86FE7F956}" sibTransId="{20D1CF94-A5BF-489D-BA8E-CF94955FEC59}"/>
    <dgm:cxn modelId="{093FD66D-E008-453F-B799-EB722F6A18A2}" type="presParOf" srcId="{622D8C2F-321B-435E-8BE3-650BCD74FB1B}" destId="{72E4E200-B2B7-4D3E-8CA1-47DDD1806F9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4CBFABD-0B1C-42EC-8CC2-D04D748A8844}"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IN"/>
        </a:p>
      </dgm:t>
    </dgm:pt>
    <dgm:pt modelId="{622D8C2F-321B-435E-8BE3-650BCD74FB1B}" type="pres">
      <dgm:prSet presAssocID="{74CBFABD-0B1C-42EC-8CC2-D04D748A8844}" presName="linear" presStyleCnt="0">
        <dgm:presLayoutVars>
          <dgm:animLvl val="lvl"/>
          <dgm:resizeHandles val="exact"/>
        </dgm:presLayoutVars>
      </dgm:prSet>
      <dgm:spPr/>
    </dgm:pt>
  </dgm:ptLst>
  <dgm:cxnLst>
    <dgm:cxn modelId="{27C0F623-36B1-4FEA-BC94-AEB453C3C1E7}" type="presOf" srcId="{74CBFABD-0B1C-42EC-8CC2-D04D748A8844}" destId="{622D8C2F-321B-435E-8BE3-650BCD74FB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C282701-9669-421E-81E4-5694128221DD}" type="doc">
      <dgm:prSet loTypeId="urn:microsoft.com/office/officeart/2005/8/layout/radial6" loCatId="cycle" qsTypeId="urn:microsoft.com/office/officeart/2005/8/quickstyle/simple1" qsCatId="simple" csTypeId="urn:microsoft.com/office/officeart/2005/8/colors/colorful1" csCatId="colorful" phldr="1"/>
      <dgm:spPr/>
      <dgm:t>
        <a:bodyPr/>
        <a:lstStyle/>
        <a:p>
          <a:endParaRPr lang="en-IN"/>
        </a:p>
      </dgm:t>
    </dgm:pt>
    <dgm:pt modelId="{BADE1CB4-6045-43A1-ABCC-505FEE6AD109}">
      <dgm:prSet phldrT="[Text]"/>
      <dgm:spPr/>
      <dgm:t>
        <a:bodyPr/>
        <a:lstStyle/>
        <a:p>
          <a:r>
            <a:rPr lang="en-IN" dirty="0"/>
            <a:t>Market forces driving the demand side</a:t>
          </a:r>
        </a:p>
      </dgm:t>
    </dgm:pt>
    <dgm:pt modelId="{A51D6394-1BC5-4345-8AB7-65B825E09993}" type="parTrans" cxnId="{44A76456-EA15-4622-A1E0-A06705D364E0}">
      <dgm:prSet/>
      <dgm:spPr/>
      <dgm:t>
        <a:bodyPr/>
        <a:lstStyle/>
        <a:p>
          <a:endParaRPr lang="en-IN"/>
        </a:p>
      </dgm:t>
    </dgm:pt>
    <dgm:pt modelId="{E329DF0A-BC15-44D3-A19A-2F91508088C7}" type="sibTrans" cxnId="{44A76456-EA15-4622-A1E0-A06705D364E0}">
      <dgm:prSet/>
      <dgm:spPr/>
      <dgm:t>
        <a:bodyPr/>
        <a:lstStyle/>
        <a:p>
          <a:endParaRPr lang="en-IN"/>
        </a:p>
      </dgm:t>
    </dgm:pt>
    <dgm:pt modelId="{B2041093-4263-496D-B22F-97A15C7C3BD7}">
      <dgm:prSet phldrT="[Text]"/>
      <dgm:spPr/>
      <dgm:t>
        <a:bodyPr/>
        <a:lstStyle/>
        <a:p>
          <a:r>
            <a:rPr lang="en-IN" dirty="0"/>
            <a:t>Growing customer aspirations</a:t>
          </a:r>
        </a:p>
      </dgm:t>
    </dgm:pt>
    <dgm:pt modelId="{8B433A2B-A368-4B4E-B0F1-4F5DB9E0458B}" type="parTrans" cxnId="{11E3A32C-BCA7-4EE3-BC55-203E3B95B4E4}">
      <dgm:prSet/>
      <dgm:spPr/>
      <dgm:t>
        <a:bodyPr/>
        <a:lstStyle/>
        <a:p>
          <a:endParaRPr lang="en-IN"/>
        </a:p>
      </dgm:t>
    </dgm:pt>
    <dgm:pt modelId="{95C508CD-84CD-4226-9F0B-6153DF4472C5}" type="sibTrans" cxnId="{11E3A32C-BCA7-4EE3-BC55-203E3B95B4E4}">
      <dgm:prSet/>
      <dgm:spPr/>
      <dgm:t>
        <a:bodyPr/>
        <a:lstStyle/>
        <a:p>
          <a:endParaRPr lang="en-IN"/>
        </a:p>
      </dgm:t>
    </dgm:pt>
    <dgm:pt modelId="{78C6B371-D3B8-48CB-8312-E382B872D96F}">
      <dgm:prSet phldrT="[Text]"/>
      <dgm:spPr/>
      <dgm:t>
        <a:bodyPr/>
        <a:lstStyle/>
        <a:p>
          <a:r>
            <a:rPr lang="en-IN" dirty="0"/>
            <a:t>Average frequency of home painting has gone up</a:t>
          </a:r>
        </a:p>
      </dgm:t>
    </dgm:pt>
    <dgm:pt modelId="{9A894189-E1CA-43F7-82EA-B30218151CF1}" type="parTrans" cxnId="{01FB1FB5-D6F9-495E-BE61-30BE342772B8}">
      <dgm:prSet/>
      <dgm:spPr/>
      <dgm:t>
        <a:bodyPr/>
        <a:lstStyle/>
        <a:p>
          <a:endParaRPr lang="en-IN"/>
        </a:p>
      </dgm:t>
    </dgm:pt>
    <dgm:pt modelId="{88AECC53-8071-4AB2-91B9-19F80CB47132}" type="sibTrans" cxnId="{01FB1FB5-D6F9-495E-BE61-30BE342772B8}">
      <dgm:prSet/>
      <dgm:spPr/>
      <dgm:t>
        <a:bodyPr/>
        <a:lstStyle/>
        <a:p>
          <a:endParaRPr lang="en-IN"/>
        </a:p>
      </dgm:t>
    </dgm:pt>
    <dgm:pt modelId="{50A05C24-77F6-4AFE-9626-9F19AADA5A2B}">
      <dgm:prSet phldrT="[Text]"/>
      <dgm:spPr/>
      <dgm:t>
        <a:bodyPr/>
        <a:lstStyle/>
        <a:p>
          <a:r>
            <a:rPr lang="en-IN" dirty="0"/>
            <a:t>Initiatives by Govt. of India</a:t>
          </a:r>
        </a:p>
      </dgm:t>
    </dgm:pt>
    <dgm:pt modelId="{5FB455FD-297E-4A65-83C8-EA79CF3F0A7D}" type="parTrans" cxnId="{607364DD-6FE5-4124-8882-271BA16B9307}">
      <dgm:prSet/>
      <dgm:spPr/>
      <dgm:t>
        <a:bodyPr/>
        <a:lstStyle/>
        <a:p>
          <a:endParaRPr lang="en-IN"/>
        </a:p>
      </dgm:t>
    </dgm:pt>
    <dgm:pt modelId="{526F70F5-6470-495E-ACD6-FE43BF33AFB5}" type="sibTrans" cxnId="{607364DD-6FE5-4124-8882-271BA16B9307}">
      <dgm:prSet/>
      <dgm:spPr/>
      <dgm:t>
        <a:bodyPr/>
        <a:lstStyle/>
        <a:p>
          <a:endParaRPr lang="en-IN"/>
        </a:p>
      </dgm:t>
    </dgm:pt>
    <dgm:pt modelId="{128B3AC8-9B60-4A12-A061-3A8E4DC5825D}">
      <dgm:prSet phldrT="[Text]"/>
      <dgm:spPr/>
      <dgm:t>
        <a:bodyPr/>
        <a:lstStyle/>
        <a:p>
          <a:r>
            <a:rPr lang="en-IN" dirty="0"/>
            <a:t>Paint Industry’s lowered to slab of 18% GST</a:t>
          </a:r>
        </a:p>
      </dgm:t>
    </dgm:pt>
    <dgm:pt modelId="{87294D8B-F9B8-4020-94E8-F98EC0758027}" type="parTrans" cxnId="{252903CB-C96B-4E9D-98A9-F9F634EF5D2F}">
      <dgm:prSet/>
      <dgm:spPr/>
      <dgm:t>
        <a:bodyPr/>
        <a:lstStyle/>
        <a:p>
          <a:endParaRPr lang="en-IN"/>
        </a:p>
      </dgm:t>
    </dgm:pt>
    <dgm:pt modelId="{3717927C-BAE2-48F3-A822-C09F98FC19C3}" type="sibTrans" cxnId="{252903CB-C96B-4E9D-98A9-F9F634EF5D2F}">
      <dgm:prSet/>
      <dgm:spPr/>
      <dgm:t>
        <a:bodyPr/>
        <a:lstStyle/>
        <a:p>
          <a:endParaRPr lang="en-IN"/>
        </a:p>
      </dgm:t>
    </dgm:pt>
    <dgm:pt modelId="{B10F71D5-CB59-43C5-80CB-C2A10E0A8DB5}">
      <dgm:prSet phldrT="[Text]"/>
      <dgm:spPr/>
      <dgm:t>
        <a:bodyPr/>
        <a:lstStyle/>
        <a:p>
          <a:r>
            <a:rPr lang="en-IN" dirty="0"/>
            <a:t>Demand from reality and construction sector</a:t>
          </a:r>
        </a:p>
      </dgm:t>
    </dgm:pt>
    <dgm:pt modelId="{323FAE36-1707-42E8-8AD8-DEC77A74C76C}" type="parTrans" cxnId="{71F780AC-DEBD-4B4B-B8B5-EFB63C12340D}">
      <dgm:prSet/>
      <dgm:spPr/>
      <dgm:t>
        <a:bodyPr/>
        <a:lstStyle/>
        <a:p>
          <a:endParaRPr lang="en-IN"/>
        </a:p>
      </dgm:t>
    </dgm:pt>
    <dgm:pt modelId="{31EAB258-E645-400E-9ED1-7381BE24D96B}" type="sibTrans" cxnId="{71F780AC-DEBD-4B4B-B8B5-EFB63C12340D}">
      <dgm:prSet/>
      <dgm:spPr/>
      <dgm:t>
        <a:bodyPr/>
        <a:lstStyle/>
        <a:p>
          <a:endParaRPr lang="en-IN"/>
        </a:p>
      </dgm:t>
    </dgm:pt>
    <dgm:pt modelId="{4942E82F-3334-4FB3-B47A-EF2F82A14C1A}" type="pres">
      <dgm:prSet presAssocID="{9C282701-9669-421E-81E4-5694128221DD}" presName="Name0" presStyleCnt="0">
        <dgm:presLayoutVars>
          <dgm:chMax val="1"/>
          <dgm:dir/>
          <dgm:animLvl val="ctr"/>
          <dgm:resizeHandles val="exact"/>
        </dgm:presLayoutVars>
      </dgm:prSet>
      <dgm:spPr/>
    </dgm:pt>
    <dgm:pt modelId="{000A556A-EA44-4818-829F-88751B94E4D9}" type="pres">
      <dgm:prSet presAssocID="{BADE1CB4-6045-43A1-ABCC-505FEE6AD109}" presName="centerShape" presStyleLbl="node0" presStyleIdx="0" presStyleCnt="1"/>
      <dgm:spPr/>
    </dgm:pt>
    <dgm:pt modelId="{097AF3CA-C2CE-40A2-AECB-9C4E1F73F48C}" type="pres">
      <dgm:prSet presAssocID="{B2041093-4263-496D-B22F-97A15C7C3BD7}" presName="node" presStyleLbl="node1" presStyleIdx="0" presStyleCnt="5">
        <dgm:presLayoutVars>
          <dgm:bulletEnabled val="1"/>
        </dgm:presLayoutVars>
      </dgm:prSet>
      <dgm:spPr/>
    </dgm:pt>
    <dgm:pt modelId="{3983F3B3-0945-49BB-BF1A-53BE9B7C107E}" type="pres">
      <dgm:prSet presAssocID="{B2041093-4263-496D-B22F-97A15C7C3BD7}" presName="dummy" presStyleCnt="0"/>
      <dgm:spPr/>
    </dgm:pt>
    <dgm:pt modelId="{3C4B524C-7AF0-41A3-9CC9-FDF3C37688D6}" type="pres">
      <dgm:prSet presAssocID="{95C508CD-84CD-4226-9F0B-6153DF4472C5}" presName="sibTrans" presStyleLbl="sibTrans2D1" presStyleIdx="0" presStyleCnt="5"/>
      <dgm:spPr/>
    </dgm:pt>
    <dgm:pt modelId="{BB54D38C-E3CC-4718-8300-D55F21A26C97}" type="pres">
      <dgm:prSet presAssocID="{78C6B371-D3B8-48CB-8312-E382B872D96F}" presName="node" presStyleLbl="node1" presStyleIdx="1" presStyleCnt="5" custRadScaleRad="99959" custRadScaleInc="-32">
        <dgm:presLayoutVars>
          <dgm:bulletEnabled val="1"/>
        </dgm:presLayoutVars>
      </dgm:prSet>
      <dgm:spPr/>
    </dgm:pt>
    <dgm:pt modelId="{6DCEB715-4DEF-4C45-97DA-5229B5A6E6EC}" type="pres">
      <dgm:prSet presAssocID="{78C6B371-D3B8-48CB-8312-E382B872D96F}" presName="dummy" presStyleCnt="0"/>
      <dgm:spPr/>
    </dgm:pt>
    <dgm:pt modelId="{6139E508-4336-463D-80A1-9BFE858D29EC}" type="pres">
      <dgm:prSet presAssocID="{88AECC53-8071-4AB2-91B9-19F80CB47132}" presName="sibTrans" presStyleLbl="sibTrans2D1" presStyleIdx="1" presStyleCnt="5"/>
      <dgm:spPr/>
    </dgm:pt>
    <dgm:pt modelId="{1796CD5C-571A-49EA-9AA7-C23AE16A9568}" type="pres">
      <dgm:prSet presAssocID="{50A05C24-77F6-4AFE-9626-9F19AADA5A2B}" presName="node" presStyleLbl="node1" presStyleIdx="2" presStyleCnt="5">
        <dgm:presLayoutVars>
          <dgm:bulletEnabled val="1"/>
        </dgm:presLayoutVars>
      </dgm:prSet>
      <dgm:spPr/>
    </dgm:pt>
    <dgm:pt modelId="{4C496EBC-3359-479E-8BED-6AD4F8BBE09F}" type="pres">
      <dgm:prSet presAssocID="{50A05C24-77F6-4AFE-9626-9F19AADA5A2B}" presName="dummy" presStyleCnt="0"/>
      <dgm:spPr/>
    </dgm:pt>
    <dgm:pt modelId="{82E0C873-C278-478F-B973-CE86A2D60C3F}" type="pres">
      <dgm:prSet presAssocID="{526F70F5-6470-495E-ACD6-FE43BF33AFB5}" presName="sibTrans" presStyleLbl="sibTrans2D1" presStyleIdx="2" presStyleCnt="5"/>
      <dgm:spPr/>
    </dgm:pt>
    <dgm:pt modelId="{E4D521F3-F48D-477E-BD69-E1FEF43BAE11}" type="pres">
      <dgm:prSet presAssocID="{128B3AC8-9B60-4A12-A061-3A8E4DC5825D}" presName="node" presStyleLbl="node1" presStyleIdx="3" presStyleCnt="5">
        <dgm:presLayoutVars>
          <dgm:bulletEnabled val="1"/>
        </dgm:presLayoutVars>
      </dgm:prSet>
      <dgm:spPr/>
    </dgm:pt>
    <dgm:pt modelId="{16F20565-2003-4FEC-BBE0-D106F58540C7}" type="pres">
      <dgm:prSet presAssocID="{128B3AC8-9B60-4A12-A061-3A8E4DC5825D}" presName="dummy" presStyleCnt="0"/>
      <dgm:spPr/>
    </dgm:pt>
    <dgm:pt modelId="{560AEA5A-88E7-477A-9922-520097B97852}" type="pres">
      <dgm:prSet presAssocID="{3717927C-BAE2-48F3-A822-C09F98FC19C3}" presName="sibTrans" presStyleLbl="sibTrans2D1" presStyleIdx="3" presStyleCnt="5"/>
      <dgm:spPr/>
    </dgm:pt>
    <dgm:pt modelId="{230AB770-8469-4BA2-AB16-AF26CE75999E}" type="pres">
      <dgm:prSet presAssocID="{B10F71D5-CB59-43C5-80CB-C2A10E0A8DB5}" presName="node" presStyleLbl="node1" presStyleIdx="4" presStyleCnt="5">
        <dgm:presLayoutVars>
          <dgm:bulletEnabled val="1"/>
        </dgm:presLayoutVars>
      </dgm:prSet>
      <dgm:spPr/>
    </dgm:pt>
    <dgm:pt modelId="{A4079B9D-305B-416F-90E1-E39E87DC8636}" type="pres">
      <dgm:prSet presAssocID="{B10F71D5-CB59-43C5-80CB-C2A10E0A8DB5}" presName="dummy" presStyleCnt="0"/>
      <dgm:spPr/>
    </dgm:pt>
    <dgm:pt modelId="{50911D32-F5F6-4529-BB71-C1ABE1246991}" type="pres">
      <dgm:prSet presAssocID="{31EAB258-E645-400E-9ED1-7381BE24D96B}" presName="sibTrans" presStyleLbl="sibTrans2D1" presStyleIdx="4" presStyleCnt="5"/>
      <dgm:spPr/>
    </dgm:pt>
  </dgm:ptLst>
  <dgm:cxnLst>
    <dgm:cxn modelId="{A6027B17-2C42-4C96-AB70-30CE912751A3}" type="presOf" srcId="{95C508CD-84CD-4226-9F0B-6153DF4472C5}" destId="{3C4B524C-7AF0-41A3-9CC9-FDF3C37688D6}" srcOrd="0" destOrd="0" presId="urn:microsoft.com/office/officeart/2005/8/layout/radial6"/>
    <dgm:cxn modelId="{8FEA701F-1FD0-46DB-882D-D5C93E866945}" type="presOf" srcId="{50A05C24-77F6-4AFE-9626-9F19AADA5A2B}" destId="{1796CD5C-571A-49EA-9AA7-C23AE16A9568}" srcOrd="0" destOrd="0" presId="urn:microsoft.com/office/officeart/2005/8/layout/radial6"/>
    <dgm:cxn modelId="{11E3A32C-BCA7-4EE3-BC55-203E3B95B4E4}" srcId="{BADE1CB4-6045-43A1-ABCC-505FEE6AD109}" destId="{B2041093-4263-496D-B22F-97A15C7C3BD7}" srcOrd="0" destOrd="0" parTransId="{8B433A2B-A368-4B4E-B0F1-4F5DB9E0458B}" sibTransId="{95C508CD-84CD-4226-9F0B-6153DF4472C5}"/>
    <dgm:cxn modelId="{089E3031-3BEE-4AD3-9872-CAFE6ADA18DE}" type="presOf" srcId="{78C6B371-D3B8-48CB-8312-E382B872D96F}" destId="{BB54D38C-E3CC-4718-8300-D55F21A26C97}" srcOrd="0" destOrd="0" presId="urn:microsoft.com/office/officeart/2005/8/layout/radial6"/>
    <dgm:cxn modelId="{34EC7A39-5DEA-4CC2-B4A7-62E3DE66B867}" type="presOf" srcId="{B2041093-4263-496D-B22F-97A15C7C3BD7}" destId="{097AF3CA-C2CE-40A2-AECB-9C4E1F73F48C}" srcOrd="0" destOrd="0" presId="urn:microsoft.com/office/officeart/2005/8/layout/radial6"/>
    <dgm:cxn modelId="{BB2E653D-2289-4866-9BC3-EDDF8342CCDC}" type="presOf" srcId="{B10F71D5-CB59-43C5-80CB-C2A10E0A8DB5}" destId="{230AB770-8469-4BA2-AB16-AF26CE75999E}" srcOrd="0" destOrd="0" presId="urn:microsoft.com/office/officeart/2005/8/layout/radial6"/>
    <dgm:cxn modelId="{C2D3555B-3CB5-4605-9175-7649623BA442}" type="presOf" srcId="{128B3AC8-9B60-4A12-A061-3A8E4DC5825D}" destId="{E4D521F3-F48D-477E-BD69-E1FEF43BAE11}" srcOrd="0" destOrd="0" presId="urn:microsoft.com/office/officeart/2005/8/layout/radial6"/>
    <dgm:cxn modelId="{18FCD96A-BA2D-41BE-B5AE-A49B221E7F9B}" type="presOf" srcId="{88AECC53-8071-4AB2-91B9-19F80CB47132}" destId="{6139E508-4336-463D-80A1-9BFE858D29EC}" srcOrd="0" destOrd="0" presId="urn:microsoft.com/office/officeart/2005/8/layout/radial6"/>
    <dgm:cxn modelId="{E1C3F251-4931-44BA-9F29-10C87D1495BF}" type="presOf" srcId="{BADE1CB4-6045-43A1-ABCC-505FEE6AD109}" destId="{000A556A-EA44-4818-829F-88751B94E4D9}" srcOrd="0" destOrd="0" presId="urn:microsoft.com/office/officeart/2005/8/layout/radial6"/>
    <dgm:cxn modelId="{44A76456-EA15-4622-A1E0-A06705D364E0}" srcId="{9C282701-9669-421E-81E4-5694128221DD}" destId="{BADE1CB4-6045-43A1-ABCC-505FEE6AD109}" srcOrd="0" destOrd="0" parTransId="{A51D6394-1BC5-4345-8AB7-65B825E09993}" sibTransId="{E329DF0A-BC15-44D3-A19A-2F91508088C7}"/>
    <dgm:cxn modelId="{71F780AC-DEBD-4B4B-B8B5-EFB63C12340D}" srcId="{BADE1CB4-6045-43A1-ABCC-505FEE6AD109}" destId="{B10F71D5-CB59-43C5-80CB-C2A10E0A8DB5}" srcOrd="4" destOrd="0" parTransId="{323FAE36-1707-42E8-8AD8-DEC77A74C76C}" sibTransId="{31EAB258-E645-400E-9ED1-7381BE24D96B}"/>
    <dgm:cxn modelId="{B8E6C5B0-2DC3-4B74-9250-D49538CEA025}" type="presOf" srcId="{9C282701-9669-421E-81E4-5694128221DD}" destId="{4942E82F-3334-4FB3-B47A-EF2F82A14C1A}" srcOrd="0" destOrd="0" presId="urn:microsoft.com/office/officeart/2005/8/layout/radial6"/>
    <dgm:cxn modelId="{01FB1FB5-D6F9-495E-BE61-30BE342772B8}" srcId="{BADE1CB4-6045-43A1-ABCC-505FEE6AD109}" destId="{78C6B371-D3B8-48CB-8312-E382B872D96F}" srcOrd="1" destOrd="0" parTransId="{9A894189-E1CA-43F7-82EA-B30218151CF1}" sibTransId="{88AECC53-8071-4AB2-91B9-19F80CB47132}"/>
    <dgm:cxn modelId="{EDB8BDB5-0F6A-48C9-84D3-F2638EDC7722}" type="presOf" srcId="{526F70F5-6470-495E-ACD6-FE43BF33AFB5}" destId="{82E0C873-C278-478F-B973-CE86A2D60C3F}" srcOrd="0" destOrd="0" presId="urn:microsoft.com/office/officeart/2005/8/layout/radial6"/>
    <dgm:cxn modelId="{252903CB-C96B-4E9D-98A9-F9F634EF5D2F}" srcId="{BADE1CB4-6045-43A1-ABCC-505FEE6AD109}" destId="{128B3AC8-9B60-4A12-A061-3A8E4DC5825D}" srcOrd="3" destOrd="0" parTransId="{87294D8B-F9B8-4020-94E8-F98EC0758027}" sibTransId="{3717927C-BAE2-48F3-A822-C09F98FC19C3}"/>
    <dgm:cxn modelId="{B6FFECCB-165E-4BDA-938A-A55DC8E6CA4F}" type="presOf" srcId="{3717927C-BAE2-48F3-A822-C09F98FC19C3}" destId="{560AEA5A-88E7-477A-9922-520097B97852}" srcOrd="0" destOrd="0" presId="urn:microsoft.com/office/officeart/2005/8/layout/radial6"/>
    <dgm:cxn modelId="{76244ECE-DF2D-4DEA-B0D0-0442B9EDBCB8}" type="presOf" srcId="{31EAB258-E645-400E-9ED1-7381BE24D96B}" destId="{50911D32-F5F6-4529-BB71-C1ABE1246991}" srcOrd="0" destOrd="0" presId="urn:microsoft.com/office/officeart/2005/8/layout/radial6"/>
    <dgm:cxn modelId="{607364DD-6FE5-4124-8882-271BA16B9307}" srcId="{BADE1CB4-6045-43A1-ABCC-505FEE6AD109}" destId="{50A05C24-77F6-4AFE-9626-9F19AADA5A2B}" srcOrd="2" destOrd="0" parTransId="{5FB455FD-297E-4A65-83C8-EA79CF3F0A7D}" sibTransId="{526F70F5-6470-495E-ACD6-FE43BF33AFB5}"/>
    <dgm:cxn modelId="{2313FCFF-CC36-4756-8519-ED6B0685946C}" type="presParOf" srcId="{4942E82F-3334-4FB3-B47A-EF2F82A14C1A}" destId="{000A556A-EA44-4818-829F-88751B94E4D9}" srcOrd="0" destOrd="0" presId="urn:microsoft.com/office/officeart/2005/8/layout/radial6"/>
    <dgm:cxn modelId="{415F948B-9FE6-4988-A683-E11A4FEBDD55}" type="presParOf" srcId="{4942E82F-3334-4FB3-B47A-EF2F82A14C1A}" destId="{097AF3CA-C2CE-40A2-AECB-9C4E1F73F48C}" srcOrd="1" destOrd="0" presId="urn:microsoft.com/office/officeart/2005/8/layout/radial6"/>
    <dgm:cxn modelId="{8754D51D-4A67-45DA-AE88-21F91C55E72E}" type="presParOf" srcId="{4942E82F-3334-4FB3-B47A-EF2F82A14C1A}" destId="{3983F3B3-0945-49BB-BF1A-53BE9B7C107E}" srcOrd="2" destOrd="0" presId="urn:microsoft.com/office/officeart/2005/8/layout/radial6"/>
    <dgm:cxn modelId="{69ADB07D-508B-4117-8D5D-1BBA2B5BB190}" type="presParOf" srcId="{4942E82F-3334-4FB3-B47A-EF2F82A14C1A}" destId="{3C4B524C-7AF0-41A3-9CC9-FDF3C37688D6}" srcOrd="3" destOrd="0" presId="urn:microsoft.com/office/officeart/2005/8/layout/radial6"/>
    <dgm:cxn modelId="{41EAD113-7159-43E2-B868-6672DB92241B}" type="presParOf" srcId="{4942E82F-3334-4FB3-B47A-EF2F82A14C1A}" destId="{BB54D38C-E3CC-4718-8300-D55F21A26C97}" srcOrd="4" destOrd="0" presId="urn:microsoft.com/office/officeart/2005/8/layout/radial6"/>
    <dgm:cxn modelId="{094A2B1B-42B5-4E8C-B497-D93DE325D7DF}" type="presParOf" srcId="{4942E82F-3334-4FB3-B47A-EF2F82A14C1A}" destId="{6DCEB715-4DEF-4C45-97DA-5229B5A6E6EC}" srcOrd="5" destOrd="0" presId="urn:microsoft.com/office/officeart/2005/8/layout/radial6"/>
    <dgm:cxn modelId="{B1C789D7-E538-4819-ADE3-25FFAB7BEADC}" type="presParOf" srcId="{4942E82F-3334-4FB3-B47A-EF2F82A14C1A}" destId="{6139E508-4336-463D-80A1-9BFE858D29EC}" srcOrd="6" destOrd="0" presId="urn:microsoft.com/office/officeart/2005/8/layout/radial6"/>
    <dgm:cxn modelId="{BB814A8A-87FB-4069-ABB8-F14123CD9DC0}" type="presParOf" srcId="{4942E82F-3334-4FB3-B47A-EF2F82A14C1A}" destId="{1796CD5C-571A-49EA-9AA7-C23AE16A9568}" srcOrd="7" destOrd="0" presId="urn:microsoft.com/office/officeart/2005/8/layout/radial6"/>
    <dgm:cxn modelId="{6F6E1800-6B10-423F-8CB3-C9A2E0DB248D}" type="presParOf" srcId="{4942E82F-3334-4FB3-B47A-EF2F82A14C1A}" destId="{4C496EBC-3359-479E-8BED-6AD4F8BBE09F}" srcOrd="8" destOrd="0" presId="urn:microsoft.com/office/officeart/2005/8/layout/radial6"/>
    <dgm:cxn modelId="{C365A4DF-CDCC-4775-9DD7-7736C201BC57}" type="presParOf" srcId="{4942E82F-3334-4FB3-B47A-EF2F82A14C1A}" destId="{82E0C873-C278-478F-B973-CE86A2D60C3F}" srcOrd="9" destOrd="0" presId="urn:microsoft.com/office/officeart/2005/8/layout/radial6"/>
    <dgm:cxn modelId="{C6557F95-9BCE-443E-B6A4-92280BE92F46}" type="presParOf" srcId="{4942E82F-3334-4FB3-B47A-EF2F82A14C1A}" destId="{E4D521F3-F48D-477E-BD69-E1FEF43BAE11}" srcOrd="10" destOrd="0" presId="urn:microsoft.com/office/officeart/2005/8/layout/radial6"/>
    <dgm:cxn modelId="{88F1BA64-36E8-4C58-AE15-AA04F6E57BCF}" type="presParOf" srcId="{4942E82F-3334-4FB3-B47A-EF2F82A14C1A}" destId="{16F20565-2003-4FEC-BBE0-D106F58540C7}" srcOrd="11" destOrd="0" presId="urn:microsoft.com/office/officeart/2005/8/layout/radial6"/>
    <dgm:cxn modelId="{FEA37BE0-7FE3-497C-950E-E8D0E349531E}" type="presParOf" srcId="{4942E82F-3334-4FB3-B47A-EF2F82A14C1A}" destId="{560AEA5A-88E7-477A-9922-520097B97852}" srcOrd="12" destOrd="0" presId="urn:microsoft.com/office/officeart/2005/8/layout/radial6"/>
    <dgm:cxn modelId="{D9169313-96C3-48FA-93D3-828511CC83AE}" type="presParOf" srcId="{4942E82F-3334-4FB3-B47A-EF2F82A14C1A}" destId="{230AB770-8469-4BA2-AB16-AF26CE75999E}" srcOrd="13" destOrd="0" presId="urn:microsoft.com/office/officeart/2005/8/layout/radial6"/>
    <dgm:cxn modelId="{455DE08F-CA00-4647-BDA6-1D2D8543FDB9}" type="presParOf" srcId="{4942E82F-3334-4FB3-B47A-EF2F82A14C1A}" destId="{A4079B9D-305B-416F-90E1-E39E87DC8636}" srcOrd="14" destOrd="0" presId="urn:microsoft.com/office/officeart/2005/8/layout/radial6"/>
    <dgm:cxn modelId="{62C800EB-D08E-4164-B940-2C28CE74E9E2}" type="presParOf" srcId="{4942E82F-3334-4FB3-B47A-EF2F82A14C1A}" destId="{50911D32-F5F6-4529-BB71-C1ABE1246991}" srcOrd="15"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A26005F-D82B-483F-BD2E-58C1D7A9F10B}"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n-IN"/>
        </a:p>
      </dgm:t>
    </dgm:pt>
    <dgm:pt modelId="{2808A60E-A45C-4162-B034-EA0F6DBA4E5E}">
      <dgm:prSet custT="1"/>
      <dgm:spPr/>
      <dgm:t>
        <a:bodyPr/>
        <a:lstStyle/>
        <a:p>
          <a:r>
            <a:rPr lang="en-IN" sz="1800" dirty="0"/>
            <a:t>Inaccuracy of the forecast has a detrimental impact on supply chain performance: </a:t>
          </a:r>
          <a:br>
            <a:rPr lang="en-IN" sz="1800" dirty="0"/>
          </a:br>
          <a:endParaRPr lang="en-IN" sz="1800" dirty="0"/>
        </a:p>
      </dgm:t>
    </dgm:pt>
    <dgm:pt modelId="{8BABA636-6E4C-4669-98FA-FF970340AB29}" type="parTrans" cxnId="{E4241F70-4AC3-4C83-9892-A693242392A6}">
      <dgm:prSet/>
      <dgm:spPr/>
      <dgm:t>
        <a:bodyPr/>
        <a:lstStyle/>
        <a:p>
          <a:endParaRPr lang="en-IN"/>
        </a:p>
      </dgm:t>
    </dgm:pt>
    <dgm:pt modelId="{4BF3C5AC-4901-445F-A0E6-41B7232F6DE4}" type="sibTrans" cxnId="{E4241F70-4AC3-4C83-9892-A693242392A6}">
      <dgm:prSet/>
      <dgm:spPr/>
      <dgm:t>
        <a:bodyPr/>
        <a:lstStyle/>
        <a:p>
          <a:endParaRPr lang="en-IN"/>
        </a:p>
      </dgm:t>
    </dgm:pt>
    <dgm:pt modelId="{F13B7ADF-0949-4E0F-AE35-A848E86628A8}">
      <dgm:prSet custT="1"/>
      <dgm:spPr/>
      <dgm:t>
        <a:bodyPr/>
        <a:lstStyle/>
        <a:p>
          <a:r>
            <a:rPr lang="en-IN" sz="1800" dirty="0"/>
            <a:t>Lost Sales</a:t>
          </a:r>
        </a:p>
      </dgm:t>
    </dgm:pt>
    <dgm:pt modelId="{3C77C300-3FC1-496C-826E-CEBA19C75A74}" type="parTrans" cxnId="{8A12D255-48B8-4457-8120-7701CBA0BC55}">
      <dgm:prSet/>
      <dgm:spPr/>
      <dgm:t>
        <a:bodyPr/>
        <a:lstStyle/>
        <a:p>
          <a:endParaRPr lang="en-IN" sz="1800"/>
        </a:p>
      </dgm:t>
    </dgm:pt>
    <dgm:pt modelId="{0C8F525C-4978-46AF-B0CF-BCA8F82A6DB3}" type="sibTrans" cxnId="{8A12D255-48B8-4457-8120-7701CBA0BC55}">
      <dgm:prSet/>
      <dgm:spPr/>
      <dgm:t>
        <a:bodyPr/>
        <a:lstStyle/>
        <a:p>
          <a:endParaRPr lang="en-IN"/>
        </a:p>
      </dgm:t>
    </dgm:pt>
    <dgm:pt modelId="{E9E18A62-ECEC-4D9B-93F5-F9D06EEE2BC2}">
      <dgm:prSet custT="1"/>
      <dgm:spPr/>
      <dgm:t>
        <a:bodyPr/>
        <a:lstStyle/>
        <a:p>
          <a:r>
            <a:rPr lang="en-IN" sz="1800" dirty="0"/>
            <a:t>Obsolete inventory </a:t>
          </a:r>
        </a:p>
      </dgm:t>
    </dgm:pt>
    <dgm:pt modelId="{032128E4-AB40-48A4-B5F3-4DE29E798ECA}" type="parTrans" cxnId="{41DDD956-BBB5-44B7-899B-0DB7EC4577A4}">
      <dgm:prSet/>
      <dgm:spPr/>
      <dgm:t>
        <a:bodyPr/>
        <a:lstStyle/>
        <a:p>
          <a:endParaRPr lang="en-IN" sz="1800"/>
        </a:p>
      </dgm:t>
    </dgm:pt>
    <dgm:pt modelId="{37DBF64E-9B3F-45DA-9B64-E7FA329856A8}" type="sibTrans" cxnId="{41DDD956-BBB5-44B7-899B-0DB7EC4577A4}">
      <dgm:prSet/>
      <dgm:spPr/>
      <dgm:t>
        <a:bodyPr/>
        <a:lstStyle/>
        <a:p>
          <a:endParaRPr lang="en-IN"/>
        </a:p>
      </dgm:t>
    </dgm:pt>
    <dgm:pt modelId="{DB1C6C60-FDD8-43EB-A877-06EF752D5B87}">
      <dgm:prSet custT="1"/>
      <dgm:spPr/>
      <dgm:t>
        <a:bodyPr/>
        <a:lstStyle/>
        <a:p>
          <a:r>
            <a:rPr lang="en-IN" sz="1800" dirty="0"/>
            <a:t>Inefficient resource utilization</a:t>
          </a:r>
        </a:p>
      </dgm:t>
    </dgm:pt>
    <dgm:pt modelId="{B8DA551C-4DAB-4879-AEEB-2380AC983DC3}" type="parTrans" cxnId="{40D6C694-BBF2-433C-A3B1-38FABC3C5D81}">
      <dgm:prSet/>
      <dgm:spPr/>
      <dgm:t>
        <a:bodyPr/>
        <a:lstStyle/>
        <a:p>
          <a:endParaRPr lang="en-IN" sz="1800"/>
        </a:p>
      </dgm:t>
    </dgm:pt>
    <dgm:pt modelId="{335F08CB-2642-4B3B-8287-E5906E0E2CDE}" type="sibTrans" cxnId="{40D6C694-BBF2-433C-A3B1-38FABC3C5D81}">
      <dgm:prSet/>
      <dgm:spPr/>
      <dgm:t>
        <a:bodyPr/>
        <a:lstStyle/>
        <a:p>
          <a:endParaRPr lang="en-IN"/>
        </a:p>
      </dgm:t>
    </dgm:pt>
    <dgm:pt modelId="{0B913E2F-D7BD-42F3-9163-D61CC1A4FC2F}" type="pres">
      <dgm:prSet presAssocID="{EA26005F-D82B-483F-BD2E-58C1D7A9F10B}" presName="hierChild1" presStyleCnt="0">
        <dgm:presLayoutVars>
          <dgm:orgChart val="1"/>
          <dgm:chPref val="1"/>
          <dgm:dir/>
          <dgm:animOne val="branch"/>
          <dgm:animLvl val="lvl"/>
          <dgm:resizeHandles/>
        </dgm:presLayoutVars>
      </dgm:prSet>
      <dgm:spPr/>
    </dgm:pt>
    <dgm:pt modelId="{3142E963-C852-44E0-8334-359E33CF6D29}" type="pres">
      <dgm:prSet presAssocID="{2808A60E-A45C-4162-B034-EA0F6DBA4E5E}" presName="hierRoot1" presStyleCnt="0">
        <dgm:presLayoutVars>
          <dgm:hierBranch val="init"/>
        </dgm:presLayoutVars>
      </dgm:prSet>
      <dgm:spPr/>
    </dgm:pt>
    <dgm:pt modelId="{82DB7BF7-5417-4611-80D4-BF21E370BC78}" type="pres">
      <dgm:prSet presAssocID="{2808A60E-A45C-4162-B034-EA0F6DBA4E5E}" presName="rootComposite1" presStyleCnt="0"/>
      <dgm:spPr/>
    </dgm:pt>
    <dgm:pt modelId="{F2772CA6-AD97-49C3-8C8C-3463289242D9}" type="pres">
      <dgm:prSet presAssocID="{2808A60E-A45C-4162-B034-EA0F6DBA4E5E}" presName="rootText1" presStyleLbl="node0" presStyleIdx="0" presStyleCnt="1" custScaleX="147563">
        <dgm:presLayoutVars>
          <dgm:chPref val="3"/>
        </dgm:presLayoutVars>
      </dgm:prSet>
      <dgm:spPr/>
    </dgm:pt>
    <dgm:pt modelId="{9EC3A16D-7F16-4367-86AF-ED5407951B26}" type="pres">
      <dgm:prSet presAssocID="{2808A60E-A45C-4162-B034-EA0F6DBA4E5E}" presName="rootConnector1" presStyleLbl="node1" presStyleIdx="0" presStyleCnt="0"/>
      <dgm:spPr/>
    </dgm:pt>
    <dgm:pt modelId="{AE71C74B-EED3-4599-981D-E00A92EBF865}" type="pres">
      <dgm:prSet presAssocID="{2808A60E-A45C-4162-B034-EA0F6DBA4E5E}" presName="hierChild2" presStyleCnt="0"/>
      <dgm:spPr/>
    </dgm:pt>
    <dgm:pt modelId="{6FDB9ADD-ECF5-4DBF-8A6E-5CD4A269940A}" type="pres">
      <dgm:prSet presAssocID="{3C77C300-3FC1-496C-826E-CEBA19C75A74}" presName="Name37" presStyleLbl="parChTrans1D2" presStyleIdx="0" presStyleCnt="3"/>
      <dgm:spPr/>
    </dgm:pt>
    <dgm:pt modelId="{24685B5B-C8F1-47A4-8AAB-CDA87508908F}" type="pres">
      <dgm:prSet presAssocID="{F13B7ADF-0949-4E0F-AE35-A848E86628A8}" presName="hierRoot2" presStyleCnt="0">
        <dgm:presLayoutVars>
          <dgm:hierBranch val="init"/>
        </dgm:presLayoutVars>
      </dgm:prSet>
      <dgm:spPr/>
    </dgm:pt>
    <dgm:pt modelId="{92A11611-82B1-4210-9798-7E4604E67A72}" type="pres">
      <dgm:prSet presAssocID="{F13B7ADF-0949-4E0F-AE35-A848E86628A8}" presName="rootComposite" presStyleCnt="0"/>
      <dgm:spPr/>
    </dgm:pt>
    <dgm:pt modelId="{F96AE8B3-AE18-4307-8678-2C2DB8F6DEC0}" type="pres">
      <dgm:prSet presAssocID="{F13B7ADF-0949-4E0F-AE35-A848E86628A8}" presName="rootText" presStyleLbl="node2" presStyleIdx="0" presStyleCnt="3">
        <dgm:presLayoutVars>
          <dgm:chPref val="3"/>
        </dgm:presLayoutVars>
      </dgm:prSet>
      <dgm:spPr/>
    </dgm:pt>
    <dgm:pt modelId="{F13C24C9-AE1A-4C36-8651-2FD5380514A4}" type="pres">
      <dgm:prSet presAssocID="{F13B7ADF-0949-4E0F-AE35-A848E86628A8}" presName="rootConnector" presStyleLbl="node2" presStyleIdx="0" presStyleCnt="3"/>
      <dgm:spPr/>
    </dgm:pt>
    <dgm:pt modelId="{D77E0C45-8222-4D31-B4AE-1A5383A67931}" type="pres">
      <dgm:prSet presAssocID="{F13B7ADF-0949-4E0F-AE35-A848E86628A8}" presName="hierChild4" presStyleCnt="0"/>
      <dgm:spPr/>
    </dgm:pt>
    <dgm:pt modelId="{6D1A25F1-F95A-4008-B08D-699AE9F97417}" type="pres">
      <dgm:prSet presAssocID="{F13B7ADF-0949-4E0F-AE35-A848E86628A8}" presName="hierChild5" presStyleCnt="0"/>
      <dgm:spPr/>
    </dgm:pt>
    <dgm:pt modelId="{92FA9B29-4C92-4937-9234-7C7EC5E56028}" type="pres">
      <dgm:prSet presAssocID="{032128E4-AB40-48A4-B5F3-4DE29E798ECA}" presName="Name37" presStyleLbl="parChTrans1D2" presStyleIdx="1" presStyleCnt="3"/>
      <dgm:spPr/>
    </dgm:pt>
    <dgm:pt modelId="{B9FE58DB-D62C-4A78-93E1-A9F13879612D}" type="pres">
      <dgm:prSet presAssocID="{E9E18A62-ECEC-4D9B-93F5-F9D06EEE2BC2}" presName="hierRoot2" presStyleCnt="0">
        <dgm:presLayoutVars>
          <dgm:hierBranch val="init"/>
        </dgm:presLayoutVars>
      </dgm:prSet>
      <dgm:spPr/>
    </dgm:pt>
    <dgm:pt modelId="{4EBA71A5-9197-4DC6-BCB9-3DE0B275EFB7}" type="pres">
      <dgm:prSet presAssocID="{E9E18A62-ECEC-4D9B-93F5-F9D06EEE2BC2}" presName="rootComposite" presStyleCnt="0"/>
      <dgm:spPr/>
    </dgm:pt>
    <dgm:pt modelId="{405E7692-50DE-4DB0-B663-7CF39056F917}" type="pres">
      <dgm:prSet presAssocID="{E9E18A62-ECEC-4D9B-93F5-F9D06EEE2BC2}" presName="rootText" presStyleLbl="node2" presStyleIdx="1" presStyleCnt="3">
        <dgm:presLayoutVars>
          <dgm:chPref val="3"/>
        </dgm:presLayoutVars>
      </dgm:prSet>
      <dgm:spPr/>
    </dgm:pt>
    <dgm:pt modelId="{32C70006-94B3-4AC4-A77E-25297BDA0764}" type="pres">
      <dgm:prSet presAssocID="{E9E18A62-ECEC-4D9B-93F5-F9D06EEE2BC2}" presName="rootConnector" presStyleLbl="node2" presStyleIdx="1" presStyleCnt="3"/>
      <dgm:spPr/>
    </dgm:pt>
    <dgm:pt modelId="{B7B06597-9B35-4AE9-B907-08A63BA95F16}" type="pres">
      <dgm:prSet presAssocID="{E9E18A62-ECEC-4D9B-93F5-F9D06EEE2BC2}" presName="hierChild4" presStyleCnt="0"/>
      <dgm:spPr/>
    </dgm:pt>
    <dgm:pt modelId="{3EF2D0C4-F883-4BD0-ABDC-D700DE5743BE}" type="pres">
      <dgm:prSet presAssocID="{E9E18A62-ECEC-4D9B-93F5-F9D06EEE2BC2}" presName="hierChild5" presStyleCnt="0"/>
      <dgm:spPr/>
    </dgm:pt>
    <dgm:pt modelId="{7A6F81E3-81A1-48F2-BBDE-381401F431AE}" type="pres">
      <dgm:prSet presAssocID="{B8DA551C-4DAB-4879-AEEB-2380AC983DC3}" presName="Name37" presStyleLbl="parChTrans1D2" presStyleIdx="2" presStyleCnt="3"/>
      <dgm:spPr/>
    </dgm:pt>
    <dgm:pt modelId="{768AAEE1-8CEB-48AA-ABF6-A3B47FD029E0}" type="pres">
      <dgm:prSet presAssocID="{DB1C6C60-FDD8-43EB-A877-06EF752D5B87}" presName="hierRoot2" presStyleCnt="0">
        <dgm:presLayoutVars>
          <dgm:hierBranch val="init"/>
        </dgm:presLayoutVars>
      </dgm:prSet>
      <dgm:spPr/>
    </dgm:pt>
    <dgm:pt modelId="{A7A8A1C6-C4D6-4BB5-91F3-6E307FC0E81F}" type="pres">
      <dgm:prSet presAssocID="{DB1C6C60-FDD8-43EB-A877-06EF752D5B87}" presName="rootComposite" presStyleCnt="0"/>
      <dgm:spPr/>
    </dgm:pt>
    <dgm:pt modelId="{15F9DE93-784D-4A88-96E0-A66C46258868}" type="pres">
      <dgm:prSet presAssocID="{DB1C6C60-FDD8-43EB-A877-06EF752D5B87}" presName="rootText" presStyleLbl="node2" presStyleIdx="2" presStyleCnt="3">
        <dgm:presLayoutVars>
          <dgm:chPref val="3"/>
        </dgm:presLayoutVars>
      </dgm:prSet>
      <dgm:spPr/>
    </dgm:pt>
    <dgm:pt modelId="{FE2ACB5A-CB4D-40B8-89EE-8C6118589849}" type="pres">
      <dgm:prSet presAssocID="{DB1C6C60-FDD8-43EB-A877-06EF752D5B87}" presName="rootConnector" presStyleLbl="node2" presStyleIdx="2" presStyleCnt="3"/>
      <dgm:spPr/>
    </dgm:pt>
    <dgm:pt modelId="{0D87B863-7D72-43E6-ABC0-DFF09CCE7BCA}" type="pres">
      <dgm:prSet presAssocID="{DB1C6C60-FDD8-43EB-A877-06EF752D5B87}" presName="hierChild4" presStyleCnt="0"/>
      <dgm:spPr/>
    </dgm:pt>
    <dgm:pt modelId="{73E2402D-3976-42C6-BAC2-8B49276F66B5}" type="pres">
      <dgm:prSet presAssocID="{DB1C6C60-FDD8-43EB-A877-06EF752D5B87}" presName="hierChild5" presStyleCnt="0"/>
      <dgm:spPr/>
    </dgm:pt>
    <dgm:pt modelId="{5D2EAF9F-11B4-4B36-9F51-D0F470BECB8E}" type="pres">
      <dgm:prSet presAssocID="{2808A60E-A45C-4162-B034-EA0F6DBA4E5E}" presName="hierChild3" presStyleCnt="0"/>
      <dgm:spPr/>
    </dgm:pt>
  </dgm:ptLst>
  <dgm:cxnLst>
    <dgm:cxn modelId="{77AF615D-C7A6-491E-ADE5-D8F999DC6752}" type="presOf" srcId="{3C77C300-3FC1-496C-826E-CEBA19C75A74}" destId="{6FDB9ADD-ECF5-4DBF-8A6E-5CD4A269940A}" srcOrd="0" destOrd="0" presId="urn:microsoft.com/office/officeart/2005/8/layout/orgChart1"/>
    <dgm:cxn modelId="{E4241F70-4AC3-4C83-9892-A693242392A6}" srcId="{EA26005F-D82B-483F-BD2E-58C1D7A9F10B}" destId="{2808A60E-A45C-4162-B034-EA0F6DBA4E5E}" srcOrd="0" destOrd="0" parTransId="{8BABA636-6E4C-4669-98FA-FF970340AB29}" sibTransId="{4BF3C5AC-4901-445F-A0E6-41B7232F6DE4}"/>
    <dgm:cxn modelId="{41257775-D1FD-4324-BD97-49FF94BF3C95}" type="presOf" srcId="{2808A60E-A45C-4162-B034-EA0F6DBA4E5E}" destId="{F2772CA6-AD97-49C3-8C8C-3463289242D9}" srcOrd="0" destOrd="0" presId="urn:microsoft.com/office/officeart/2005/8/layout/orgChart1"/>
    <dgm:cxn modelId="{8A12D255-48B8-4457-8120-7701CBA0BC55}" srcId="{2808A60E-A45C-4162-B034-EA0F6DBA4E5E}" destId="{F13B7ADF-0949-4E0F-AE35-A848E86628A8}" srcOrd="0" destOrd="0" parTransId="{3C77C300-3FC1-496C-826E-CEBA19C75A74}" sibTransId="{0C8F525C-4978-46AF-B0CF-BCA8F82A6DB3}"/>
    <dgm:cxn modelId="{41DDD956-BBB5-44B7-899B-0DB7EC4577A4}" srcId="{2808A60E-A45C-4162-B034-EA0F6DBA4E5E}" destId="{E9E18A62-ECEC-4D9B-93F5-F9D06EEE2BC2}" srcOrd="1" destOrd="0" parTransId="{032128E4-AB40-48A4-B5F3-4DE29E798ECA}" sibTransId="{37DBF64E-9B3F-45DA-9B64-E7FA329856A8}"/>
    <dgm:cxn modelId="{312CA158-A890-429A-8914-67CE1631EEDC}" type="presOf" srcId="{B8DA551C-4DAB-4879-AEEB-2380AC983DC3}" destId="{7A6F81E3-81A1-48F2-BBDE-381401F431AE}" srcOrd="0" destOrd="0" presId="urn:microsoft.com/office/officeart/2005/8/layout/orgChart1"/>
    <dgm:cxn modelId="{686BFD93-C49C-4A2C-AAB7-BD11047A7F48}" type="presOf" srcId="{EA26005F-D82B-483F-BD2E-58C1D7A9F10B}" destId="{0B913E2F-D7BD-42F3-9163-D61CC1A4FC2F}" srcOrd="0" destOrd="0" presId="urn:microsoft.com/office/officeart/2005/8/layout/orgChart1"/>
    <dgm:cxn modelId="{40D6C694-BBF2-433C-A3B1-38FABC3C5D81}" srcId="{2808A60E-A45C-4162-B034-EA0F6DBA4E5E}" destId="{DB1C6C60-FDD8-43EB-A877-06EF752D5B87}" srcOrd="2" destOrd="0" parTransId="{B8DA551C-4DAB-4879-AEEB-2380AC983DC3}" sibTransId="{335F08CB-2642-4B3B-8287-E5906E0E2CDE}"/>
    <dgm:cxn modelId="{FEF4A49A-2ED5-4324-8711-660AE7F3D246}" type="presOf" srcId="{F13B7ADF-0949-4E0F-AE35-A848E86628A8}" destId="{F13C24C9-AE1A-4C36-8651-2FD5380514A4}" srcOrd="1" destOrd="0" presId="urn:microsoft.com/office/officeart/2005/8/layout/orgChart1"/>
    <dgm:cxn modelId="{6CEDBAAF-A948-4BC0-BD92-392019E5F682}" type="presOf" srcId="{E9E18A62-ECEC-4D9B-93F5-F9D06EEE2BC2}" destId="{405E7692-50DE-4DB0-B663-7CF39056F917}" srcOrd="0" destOrd="0" presId="urn:microsoft.com/office/officeart/2005/8/layout/orgChart1"/>
    <dgm:cxn modelId="{D4627BBC-8D5D-468F-A5E8-EE7DB3850C54}" type="presOf" srcId="{DB1C6C60-FDD8-43EB-A877-06EF752D5B87}" destId="{15F9DE93-784D-4A88-96E0-A66C46258868}" srcOrd="0" destOrd="0" presId="urn:microsoft.com/office/officeart/2005/8/layout/orgChart1"/>
    <dgm:cxn modelId="{1FA814C3-E517-4390-BFCA-07033235F422}" type="presOf" srcId="{DB1C6C60-FDD8-43EB-A877-06EF752D5B87}" destId="{FE2ACB5A-CB4D-40B8-89EE-8C6118589849}" srcOrd="1" destOrd="0" presId="urn:microsoft.com/office/officeart/2005/8/layout/orgChart1"/>
    <dgm:cxn modelId="{CAB97CD1-06CF-4D4B-B337-57F62C816A71}" type="presOf" srcId="{032128E4-AB40-48A4-B5F3-4DE29E798ECA}" destId="{92FA9B29-4C92-4937-9234-7C7EC5E56028}" srcOrd="0" destOrd="0" presId="urn:microsoft.com/office/officeart/2005/8/layout/orgChart1"/>
    <dgm:cxn modelId="{E8A47BF1-741E-4D69-AABF-E9DDD060E246}" type="presOf" srcId="{E9E18A62-ECEC-4D9B-93F5-F9D06EEE2BC2}" destId="{32C70006-94B3-4AC4-A77E-25297BDA0764}" srcOrd="1" destOrd="0" presId="urn:microsoft.com/office/officeart/2005/8/layout/orgChart1"/>
    <dgm:cxn modelId="{5D4806FD-0FD4-4B2F-BA26-282F0932FB8D}" type="presOf" srcId="{F13B7ADF-0949-4E0F-AE35-A848E86628A8}" destId="{F96AE8B3-AE18-4307-8678-2C2DB8F6DEC0}" srcOrd="0" destOrd="0" presId="urn:microsoft.com/office/officeart/2005/8/layout/orgChart1"/>
    <dgm:cxn modelId="{56CA5AFF-C2A1-45E3-8E68-C2DE1A89D503}" type="presOf" srcId="{2808A60E-A45C-4162-B034-EA0F6DBA4E5E}" destId="{9EC3A16D-7F16-4367-86AF-ED5407951B26}" srcOrd="1" destOrd="0" presId="urn:microsoft.com/office/officeart/2005/8/layout/orgChart1"/>
    <dgm:cxn modelId="{3D2CF10B-C598-467A-A26C-EACA8A33B0BE}" type="presParOf" srcId="{0B913E2F-D7BD-42F3-9163-D61CC1A4FC2F}" destId="{3142E963-C852-44E0-8334-359E33CF6D29}" srcOrd="0" destOrd="0" presId="urn:microsoft.com/office/officeart/2005/8/layout/orgChart1"/>
    <dgm:cxn modelId="{B7AA62BC-D442-4DC4-9EE4-611CE883E748}" type="presParOf" srcId="{3142E963-C852-44E0-8334-359E33CF6D29}" destId="{82DB7BF7-5417-4611-80D4-BF21E370BC78}" srcOrd="0" destOrd="0" presId="urn:microsoft.com/office/officeart/2005/8/layout/orgChart1"/>
    <dgm:cxn modelId="{5D08E665-3949-4EB8-A823-3F616EE61E29}" type="presParOf" srcId="{82DB7BF7-5417-4611-80D4-BF21E370BC78}" destId="{F2772CA6-AD97-49C3-8C8C-3463289242D9}" srcOrd="0" destOrd="0" presId="urn:microsoft.com/office/officeart/2005/8/layout/orgChart1"/>
    <dgm:cxn modelId="{1D47638C-F1F4-4F1D-AE31-5E48AF3749DA}" type="presParOf" srcId="{82DB7BF7-5417-4611-80D4-BF21E370BC78}" destId="{9EC3A16D-7F16-4367-86AF-ED5407951B26}" srcOrd="1" destOrd="0" presId="urn:microsoft.com/office/officeart/2005/8/layout/orgChart1"/>
    <dgm:cxn modelId="{625EEDC3-D9FF-4404-A405-C58A47FAF89A}" type="presParOf" srcId="{3142E963-C852-44E0-8334-359E33CF6D29}" destId="{AE71C74B-EED3-4599-981D-E00A92EBF865}" srcOrd="1" destOrd="0" presId="urn:microsoft.com/office/officeart/2005/8/layout/orgChart1"/>
    <dgm:cxn modelId="{1A359A17-79CF-412B-9F23-C02BA7E2CC26}" type="presParOf" srcId="{AE71C74B-EED3-4599-981D-E00A92EBF865}" destId="{6FDB9ADD-ECF5-4DBF-8A6E-5CD4A269940A}" srcOrd="0" destOrd="0" presId="urn:microsoft.com/office/officeart/2005/8/layout/orgChart1"/>
    <dgm:cxn modelId="{CAE93FE7-4DA1-45FA-B1A9-817B67355999}" type="presParOf" srcId="{AE71C74B-EED3-4599-981D-E00A92EBF865}" destId="{24685B5B-C8F1-47A4-8AAB-CDA87508908F}" srcOrd="1" destOrd="0" presId="urn:microsoft.com/office/officeart/2005/8/layout/orgChart1"/>
    <dgm:cxn modelId="{1583AE6F-9FD5-48A8-87CA-F63856976021}" type="presParOf" srcId="{24685B5B-C8F1-47A4-8AAB-CDA87508908F}" destId="{92A11611-82B1-4210-9798-7E4604E67A72}" srcOrd="0" destOrd="0" presId="urn:microsoft.com/office/officeart/2005/8/layout/orgChart1"/>
    <dgm:cxn modelId="{467D3743-7226-45AD-8E96-96B5FEB57EC7}" type="presParOf" srcId="{92A11611-82B1-4210-9798-7E4604E67A72}" destId="{F96AE8B3-AE18-4307-8678-2C2DB8F6DEC0}" srcOrd="0" destOrd="0" presId="urn:microsoft.com/office/officeart/2005/8/layout/orgChart1"/>
    <dgm:cxn modelId="{61B73D5A-EBDD-4D6E-B751-BFCF12D21E7F}" type="presParOf" srcId="{92A11611-82B1-4210-9798-7E4604E67A72}" destId="{F13C24C9-AE1A-4C36-8651-2FD5380514A4}" srcOrd="1" destOrd="0" presId="urn:microsoft.com/office/officeart/2005/8/layout/orgChart1"/>
    <dgm:cxn modelId="{2032DC66-FFE6-4AF9-B713-AFECAF90275A}" type="presParOf" srcId="{24685B5B-C8F1-47A4-8AAB-CDA87508908F}" destId="{D77E0C45-8222-4D31-B4AE-1A5383A67931}" srcOrd="1" destOrd="0" presId="urn:microsoft.com/office/officeart/2005/8/layout/orgChart1"/>
    <dgm:cxn modelId="{704A655E-0C12-476D-8BCE-A449A0965654}" type="presParOf" srcId="{24685B5B-C8F1-47A4-8AAB-CDA87508908F}" destId="{6D1A25F1-F95A-4008-B08D-699AE9F97417}" srcOrd="2" destOrd="0" presId="urn:microsoft.com/office/officeart/2005/8/layout/orgChart1"/>
    <dgm:cxn modelId="{B6F3D4B7-776C-499C-A501-BD4C566D0E1B}" type="presParOf" srcId="{AE71C74B-EED3-4599-981D-E00A92EBF865}" destId="{92FA9B29-4C92-4937-9234-7C7EC5E56028}" srcOrd="2" destOrd="0" presId="urn:microsoft.com/office/officeart/2005/8/layout/orgChart1"/>
    <dgm:cxn modelId="{16BCC294-9B24-4C35-BFF4-1D90B1A8D66A}" type="presParOf" srcId="{AE71C74B-EED3-4599-981D-E00A92EBF865}" destId="{B9FE58DB-D62C-4A78-93E1-A9F13879612D}" srcOrd="3" destOrd="0" presId="urn:microsoft.com/office/officeart/2005/8/layout/orgChart1"/>
    <dgm:cxn modelId="{0AAC9EE0-1E09-4F77-9DE4-189E03147DD1}" type="presParOf" srcId="{B9FE58DB-D62C-4A78-93E1-A9F13879612D}" destId="{4EBA71A5-9197-4DC6-BCB9-3DE0B275EFB7}" srcOrd="0" destOrd="0" presId="urn:microsoft.com/office/officeart/2005/8/layout/orgChart1"/>
    <dgm:cxn modelId="{CDF59448-C84E-413D-8012-F2EAA6B2BED8}" type="presParOf" srcId="{4EBA71A5-9197-4DC6-BCB9-3DE0B275EFB7}" destId="{405E7692-50DE-4DB0-B663-7CF39056F917}" srcOrd="0" destOrd="0" presId="urn:microsoft.com/office/officeart/2005/8/layout/orgChart1"/>
    <dgm:cxn modelId="{01EA92DA-DAEB-4220-929A-0E9390BD4725}" type="presParOf" srcId="{4EBA71A5-9197-4DC6-BCB9-3DE0B275EFB7}" destId="{32C70006-94B3-4AC4-A77E-25297BDA0764}" srcOrd="1" destOrd="0" presId="urn:microsoft.com/office/officeart/2005/8/layout/orgChart1"/>
    <dgm:cxn modelId="{616D8EBA-4602-4613-8440-FC6653D67014}" type="presParOf" srcId="{B9FE58DB-D62C-4A78-93E1-A9F13879612D}" destId="{B7B06597-9B35-4AE9-B907-08A63BA95F16}" srcOrd="1" destOrd="0" presId="urn:microsoft.com/office/officeart/2005/8/layout/orgChart1"/>
    <dgm:cxn modelId="{50CFF86D-83B0-486D-B274-DB26B178468A}" type="presParOf" srcId="{B9FE58DB-D62C-4A78-93E1-A9F13879612D}" destId="{3EF2D0C4-F883-4BD0-ABDC-D700DE5743BE}" srcOrd="2" destOrd="0" presId="urn:microsoft.com/office/officeart/2005/8/layout/orgChart1"/>
    <dgm:cxn modelId="{36C1AB07-7AA2-46C0-B0A2-BC4B0259EECF}" type="presParOf" srcId="{AE71C74B-EED3-4599-981D-E00A92EBF865}" destId="{7A6F81E3-81A1-48F2-BBDE-381401F431AE}" srcOrd="4" destOrd="0" presId="urn:microsoft.com/office/officeart/2005/8/layout/orgChart1"/>
    <dgm:cxn modelId="{7C4FEB70-0160-4FBB-8FA1-E3E307C0BA58}" type="presParOf" srcId="{AE71C74B-EED3-4599-981D-E00A92EBF865}" destId="{768AAEE1-8CEB-48AA-ABF6-A3B47FD029E0}" srcOrd="5" destOrd="0" presId="urn:microsoft.com/office/officeart/2005/8/layout/orgChart1"/>
    <dgm:cxn modelId="{AE5349C1-FE70-4072-9D4A-B508C2B5B5DC}" type="presParOf" srcId="{768AAEE1-8CEB-48AA-ABF6-A3B47FD029E0}" destId="{A7A8A1C6-C4D6-4BB5-91F3-6E307FC0E81F}" srcOrd="0" destOrd="0" presId="urn:microsoft.com/office/officeart/2005/8/layout/orgChart1"/>
    <dgm:cxn modelId="{BFA0FC95-5754-4C70-A490-62D7C7A2CEAF}" type="presParOf" srcId="{A7A8A1C6-C4D6-4BB5-91F3-6E307FC0E81F}" destId="{15F9DE93-784D-4A88-96E0-A66C46258868}" srcOrd="0" destOrd="0" presId="urn:microsoft.com/office/officeart/2005/8/layout/orgChart1"/>
    <dgm:cxn modelId="{69F450D2-F8CD-45FA-AFDB-138DC3A49A23}" type="presParOf" srcId="{A7A8A1C6-C4D6-4BB5-91F3-6E307FC0E81F}" destId="{FE2ACB5A-CB4D-40B8-89EE-8C6118589849}" srcOrd="1" destOrd="0" presId="urn:microsoft.com/office/officeart/2005/8/layout/orgChart1"/>
    <dgm:cxn modelId="{4588682E-FE4D-4F92-B24D-6B15D63F3F9D}" type="presParOf" srcId="{768AAEE1-8CEB-48AA-ABF6-A3B47FD029E0}" destId="{0D87B863-7D72-43E6-ABC0-DFF09CCE7BCA}" srcOrd="1" destOrd="0" presId="urn:microsoft.com/office/officeart/2005/8/layout/orgChart1"/>
    <dgm:cxn modelId="{898E3D88-D0AA-43E9-BFE8-0A8B8C8AE1D6}" type="presParOf" srcId="{768AAEE1-8CEB-48AA-ABF6-A3B47FD029E0}" destId="{73E2402D-3976-42C6-BAC2-8B49276F66B5}" srcOrd="2" destOrd="0" presId="urn:microsoft.com/office/officeart/2005/8/layout/orgChart1"/>
    <dgm:cxn modelId="{D6B83558-9158-48E5-B819-A08C9999E262}" type="presParOf" srcId="{3142E963-C852-44E0-8334-359E33CF6D29}" destId="{5D2EAF9F-11B4-4B36-9F51-D0F470BECB8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6140BAD-F6B7-420B-80BA-D03839C720C7}" type="doc">
      <dgm:prSet loTypeId="urn:microsoft.com/office/officeart/2005/8/layout/vList2" loCatId="list" qsTypeId="urn:microsoft.com/office/officeart/2005/8/quickstyle/simple4" qsCatId="simple" csTypeId="urn:microsoft.com/office/officeart/2005/8/colors/accent6_2" csCatId="accent6" phldr="1"/>
      <dgm:spPr/>
      <dgm:t>
        <a:bodyPr/>
        <a:lstStyle/>
        <a:p>
          <a:endParaRPr lang="en-IN"/>
        </a:p>
      </dgm:t>
    </dgm:pt>
    <dgm:pt modelId="{8B1549B8-B387-43DB-9DB6-00D4974365E9}">
      <dgm:prSet phldrT="[Text]"/>
      <dgm:spPr/>
      <dgm:t>
        <a:bodyPr/>
        <a:lstStyle/>
        <a:p>
          <a:r>
            <a:rPr lang="en-US" dirty="0"/>
            <a:t>New Product Launches</a:t>
          </a:r>
          <a:endParaRPr lang="en-IN" dirty="0"/>
        </a:p>
      </dgm:t>
    </dgm:pt>
    <dgm:pt modelId="{C5CCE876-B600-4C07-BDB0-ED1F8B59DE06}" type="parTrans" cxnId="{F817FEB1-E8EF-45DE-B041-30CB3BE4BAD1}">
      <dgm:prSet/>
      <dgm:spPr/>
      <dgm:t>
        <a:bodyPr/>
        <a:lstStyle/>
        <a:p>
          <a:endParaRPr lang="en-IN"/>
        </a:p>
      </dgm:t>
    </dgm:pt>
    <dgm:pt modelId="{51956FF3-AEB0-421E-9461-675E8215A2EA}" type="sibTrans" cxnId="{F817FEB1-E8EF-45DE-B041-30CB3BE4BAD1}">
      <dgm:prSet/>
      <dgm:spPr/>
      <dgm:t>
        <a:bodyPr/>
        <a:lstStyle/>
        <a:p>
          <a:endParaRPr lang="en-IN"/>
        </a:p>
      </dgm:t>
    </dgm:pt>
    <dgm:pt modelId="{A6D74190-E2D8-4B77-AD3A-D55DE13E66CB}">
      <dgm:prSet/>
      <dgm:spPr/>
      <dgm:t>
        <a:bodyPr/>
        <a:lstStyle/>
        <a:p>
          <a:r>
            <a:rPr lang="en-US"/>
            <a:t>Price optimization</a:t>
          </a:r>
          <a:endParaRPr lang="en-US" dirty="0"/>
        </a:p>
      </dgm:t>
    </dgm:pt>
    <dgm:pt modelId="{950C8029-B89E-479B-8684-120593AADA56}" type="parTrans" cxnId="{240A0D5D-1A50-47F6-95D4-8977FABAB12D}">
      <dgm:prSet/>
      <dgm:spPr/>
      <dgm:t>
        <a:bodyPr/>
        <a:lstStyle/>
        <a:p>
          <a:endParaRPr lang="en-IN"/>
        </a:p>
      </dgm:t>
    </dgm:pt>
    <dgm:pt modelId="{93B43394-5795-4AB8-8ACE-AD327DD6D894}" type="sibTrans" cxnId="{240A0D5D-1A50-47F6-95D4-8977FABAB12D}">
      <dgm:prSet/>
      <dgm:spPr/>
      <dgm:t>
        <a:bodyPr/>
        <a:lstStyle/>
        <a:p>
          <a:endParaRPr lang="en-IN"/>
        </a:p>
      </dgm:t>
    </dgm:pt>
    <dgm:pt modelId="{8B3B27BE-E703-47D3-9C6C-AC664F738ED1}">
      <dgm:prSet/>
      <dgm:spPr/>
      <dgm:t>
        <a:bodyPr/>
        <a:lstStyle/>
        <a:p>
          <a:r>
            <a:rPr lang="en-US"/>
            <a:t>Sales promotions &amp; Deals offered</a:t>
          </a:r>
          <a:endParaRPr lang="en-US" dirty="0"/>
        </a:p>
      </dgm:t>
    </dgm:pt>
    <dgm:pt modelId="{0AB7E654-2C1F-4FEF-8AA6-0B4D5AED476B}" type="parTrans" cxnId="{0AB0AD7C-72BC-4200-AD82-0479D1C3E4FD}">
      <dgm:prSet/>
      <dgm:spPr/>
      <dgm:t>
        <a:bodyPr/>
        <a:lstStyle/>
        <a:p>
          <a:endParaRPr lang="en-IN"/>
        </a:p>
      </dgm:t>
    </dgm:pt>
    <dgm:pt modelId="{87B194A0-AEBA-4F8F-AA17-F9B84C4DB32C}" type="sibTrans" cxnId="{0AB0AD7C-72BC-4200-AD82-0479D1C3E4FD}">
      <dgm:prSet/>
      <dgm:spPr/>
      <dgm:t>
        <a:bodyPr/>
        <a:lstStyle/>
        <a:p>
          <a:endParaRPr lang="en-IN"/>
        </a:p>
      </dgm:t>
    </dgm:pt>
    <dgm:pt modelId="{7CC68449-7BB3-4C16-844B-669745E30FBC}">
      <dgm:prSet/>
      <dgm:spPr/>
      <dgm:t>
        <a:bodyPr/>
        <a:lstStyle/>
        <a:p>
          <a:r>
            <a:rPr lang="en-US"/>
            <a:t>Capacity Utilization</a:t>
          </a:r>
          <a:endParaRPr lang="en-IN" dirty="0"/>
        </a:p>
      </dgm:t>
    </dgm:pt>
    <dgm:pt modelId="{89DE0419-E772-48B0-A13E-A6A4B3B403F6}" type="parTrans" cxnId="{430F735D-FF87-4E8D-8A44-7E45531BE1D4}">
      <dgm:prSet/>
      <dgm:spPr/>
      <dgm:t>
        <a:bodyPr/>
        <a:lstStyle/>
        <a:p>
          <a:endParaRPr lang="en-IN"/>
        </a:p>
      </dgm:t>
    </dgm:pt>
    <dgm:pt modelId="{56CFE005-1705-434D-84D6-B8239FDDD01F}" type="sibTrans" cxnId="{430F735D-FF87-4E8D-8A44-7E45531BE1D4}">
      <dgm:prSet/>
      <dgm:spPr/>
      <dgm:t>
        <a:bodyPr/>
        <a:lstStyle/>
        <a:p>
          <a:endParaRPr lang="en-IN"/>
        </a:p>
      </dgm:t>
    </dgm:pt>
    <dgm:pt modelId="{AB3B0039-A9AB-4EF6-88E1-C3FFD9E01C27}" type="pres">
      <dgm:prSet presAssocID="{B6140BAD-F6B7-420B-80BA-D03839C720C7}" presName="linear" presStyleCnt="0">
        <dgm:presLayoutVars>
          <dgm:animLvl val="lvl"/>
          <dgm:resizeHandles val="exact"/>
        </dgm:presLayoutVars>
      </dgm:prSet>
      <dgm:spPr/>
    </dgm:pt>
    <dgm:pt modelId="{6235C023-2A38-4594-865E-615E9189F7B1}" type="pres">
      <dgm:prSet presAssocID="{8B1549B8-B387-43DB-9DB6-00D4974365E9}" presName="parentText" presStyleLbl="node1" presStyleIdx="0" presStyleCnt="4">
        <dgm:presLayoutVars>
          <dgm:chMax val="0"/>
          <dgm:bulletEnabled val="1"/>
        </dgm:presLayoutVars>
      </dgm:prSet>
      <dgm:spPr/>
    </dgm:pt>
    <dgm:pt modelId="{0F22BB50-4A1D-43D9-85B6-75531063A496}" type="pres">
      <dgm:prSet presAssocID="{51956FF3-AEB0-421E-9461-675E8215A2EA}" presName="spacer" presStyleCnt="0"/>
      <dgm:spPr/>
    </dgm:pt>
    <dgm:pt modelId="{5EF231AB-063B-40A5-9B83-0F2071FBB522}" type="pres">
      <dgm:prSet presAssocID="{A6D74190-E2D8-4B77-AD3A-D55DE13E66CB}" presName="parentText" presStyleLbl="node1" presStyleIdx="1" presStyleCnt="4">
        <dgm:presLayoutVars>
          <dgm:chMax val="0"/>
          <dgm:bulletEnabled val="1"/>
        </dgm:presLayoutVars>
      </dgm:prSet>
      <dgm:spPr/>
    </dgm:pt>
    <dgm:pt modelId="{FC62A7D6-2623-445B-8E56-B95CDA36AFF3}" type="pres">
      <dgm:prSet presAssocID="{93B43394-5795-4AB8-8ACE-AD327DD6D894}" presName="spacer" presStyleCnt="0"/>
      <dgm:spPr/>
    </dgm:pt>
    <dgm:pt modelId="{C5813732-6C20-41A2-8B97-406FEB4225B8}" type="pres">
      <dgm:prSet presAssocID="{8B3B27BE-E703-47D3-9C6C-AC664F738ED1}" presName="parentText" presStyleLbl="node1" presStyleIdx="2" presStyleCnt="4">
        <dgm:presLayoutVars>
          <dgm:chMax val="0"/>
          <dgm:bulletEnabled val="1"/>
        </dgm:presLayoutVars>
      </dgm:prSet>
      <dgm:spPr/>
    </dgm:pt>
    <dgm:pt modelId="{91CEAA2E-CA3B-460B-822E-F9DF1692F167}" type="pres">
      <dgm:prSet presAssocID="{87B194A0-AEBA-4F8F-AA17-F9B84C4DB32C}" presName="spacer" presStyleCnt="0"/>
      <dgm:spPr/>
    </dgm:pt>
    <dgm:pt modelId="{8C211314-6D2F-453D-BC11-D1DDE3514E71}" type="pres">
      <dgm:prSet presAssocID="{7CC68449-7BB3-4C16-844B-669745E30FBC}" presName="parentText" presStyleLbl="node1" presStyleIdx="3" presStyleCnt="4">
        <dgm:presLayoutVars>
          <dgm:chMax val="0"/>
          <dgm:bulletEnabled val="1"/>
        </dgm:presLayoutVars>
      </dgm:prSet>
      <dgm:spPr/>
    </dgm:pt>
  </dgm:ptLst>
  <dgm:cxnLst>
    <dgm:cxn modelId="{EBFD2A14-E94C-4FAE-9ECE-296E8AC22C9E}" type="presOf" srcId="{7CC68449-7BB3-4C16-844B-669745E30FBC}" destId="{8C211314-6D2F-453D-BC11-D1DDE3514E71}" srcOrd="0" destOrd="0" presId="urn:microsoft.com/office/officeart/2005/8/layout/vList2"/>
    <dgm:cxn modelId="{E7A9EF18-17F6-49C0-9783-8C76587FA75A}" type="presOf" srcId="{8B3B27BE-E703-47D3-9C6C-AC664F738ED1}" destId="{C5813732-6C20-41A2-8B97-406FEB4225B8}" srcOrd="0" destOrd="0" presId="urn:microsoft.com/office/officeart/2005/8/layout/vList2"/>
    <dgm:cxn modelId="{240A0D5D-1A50-47F6-95D4-8977FABAB12D}" srcId="{B6140BAD-F6B7-420B-80BA-D03839C720C7}" destId="{A6D74190-E2D8-4B77-AD3A-D55DE13E66CB}" srcOrd="1" destOrd="0" parTransId="{950C8029-B89E-479B-8684-120593AADA56}" sibTransId="{93B43394-5795-4AB8-8ACE-AD327DD6D894}"/>
    <dgm:cxn modelId="{430F735D-FF87-4E8D-8A44-7E45531BE1D4}" srcId="{B6140BAD-F6B7-420B-80BA-D03839C720C7}" destId="{7CC68449-7BB3-4C16-844B-669745E30FBC}" srcOrd="3" destOrd="0" parTransId="{89DE0419-E772-48B0-A13E-A6A4B3B403F6}" sibTransId="{56CFE005-1705-434D-84D6-B8239FDDD01F}"/>
    <dgm:cxn modelId="{98C1EB6C-5D17-4B20-AAC0-439BDFE9F4A8}" type="presOf" srcId="{B6140BAD-F6B7-420B-80BA-D03839C720C7}" destId="{AB3B0039-A9AB-4EF6-88E1-C3FFD9E01C27}" srcOrd="0" destOrd="0" presId="urn:microsoft.com/office/officeart/2005/8/layout/vList2"/>
    <dgm:cxn modelId="{0AB0AD7C-72BC-4200-AD82-0479D1C3E4FD}" srcId="{B6140BAD-F6B7-420B-80BA-D03839C720C7}" destId="{8B3B27BE-E703-47D3-9C6C-AC664F738ED1}" srcOrd="2" destOrd="0" parTransId="{0AB7E654-2C1F-4FEF-8AA6-0B4D5AED476B}" sibTransId="{87B194A0-AEBA-4F8F-AA17-F9B84C4DB32C}"/>
    <dgm:cxn modelId="{4EB006B0-C4CE-4E56-8831-B229860108A1}" type="presOf" srcId="{8B1549B8-B387-43DB-9DB6-00D4974365E9}" destId="{6235C023-2A38-4594-865E-615E9189F7B1}" srcOrd="0" destOrd="0" presId="urn:microsoft.com/office/officeart/2005/8/layout/vList2"/>
    <dgm:cxn modelId="{F817FEB1-E8EF-45DE-B041-30CB3BE4BAD1}" srcId="{B6140BAD-F6B7-420B-80BA-D03839C720C7}" destId="{8B1549B8-B387-43DB-9DB6-00D4974365E9}" srcOrd="0" destOrd="0" parTransId="{C5CCE876-B600-4C07-BDB0-ED1F8B59DE06}" sibTransId="{51956FF3-AEB0-421E-9461-675E8215A2EA}"/>
    <dgm:cxn modelId="{DF0EE7FC-F66B-4BDD-BF5F-4458CD49D6E2}" type="presOf" srcId="{A6D74190-E2D8-4B77-AD3A-D55DE13E66CB}" destId="{5EF231AB-063B-40A5-9B83-0F2071FBB522}" srcOrd="0" destOrd="0" presId="urn:microsoft.com/office/officeart/2005/8/layout/vList2"/>
    <dgm:cxn modelId="{D1E5E544-47E5-422A-9EE9-F7F3CEC377E2}" type="presParOf" srcId="{AB3B0039-A9AB-4EF6-88E1-C3FFD9E01C27}" destId="{6235C023-2A38-4594-865E-615E9189F7B1}" srcOrd="0" destOrd="0" presId="urn:microsoft.com/office/officeart/2005/8/layout/vList2"/>
    <dgm:cxn modelId="{2F308F1E-6009-4B19-AD42-7153F820EFB3}" type="presParOf" srcId="{AB3B0039-A9AB-4EF6-88E1-C3FFD9E01C27}" destId="{0F22BB50-4A1D-43D9-85B6-75531063A496}" srcOrd="1" destOrd="0" presId="urn:microsoft.com/office/officeart/2005/8/layout/vList2"/>
    <dgm:cxn modelId="{53395A28-EB6A-4AFE-B498-98ED8D7354C4}" type="presParOf" srcId="{AB3B0039-A9AB-4EF6-88E1-C3FFD9E01C27}" destId="{5EF231AB-063B-40A5-9B83-0F2071FBB522}" srcOrd="2" destOrd="0" presId="urn:microsoft.com/office/officeart/2005/8/layout/vList2"/>
    <dgm:cxn modelId="{5CE9E794-4A2B-413A-A8A0-1A5411935542}" type="presParOf" srcId="{AB3B0039-A9AB-4EF6-88E1-C3FFD9E01C27}" destId="{FC62A7D6-2623-445B-8E56-B95CDA36AFF3}" srcOrd="3" destOrd="0" presId="urn:microsoft.com/office/officeart/2005/8/layout/vList2"/>
    <dgm:cxn modelId="{43C4B9D3-5AC2-4CF6-8D8F-C63CFACFF644}" type="presParOf" srcId="{AB3B0039-A9AB-4EF6-88E1-C3FFD9E01C27}" destId="{C5813732-6C20-41A2-8B97-406FEB4225B8}" srcOrd="4" destOrd="0" presId="urn:microsoft.com/office/officeart/2005/8/layout/vList2"/>
    <dgm:cxn modelId="{1E82DAE2-4EA5-4533-BA82-B29772F76F85}" type="presParOf" srcId="{AB3B0039-A9AB-4EF6-88E1-C3FFD9E01C27}" destId="{91CEAA2E-CA3B-460B-822E-F9DF1692F167}" srcOrd="5" destOrd="0" presId="urn:microsoft.com/office/officeart/2005/8/layout/vList2"/>
    <dgm:cxn modelId="{DD88C191-47BD-483F-88F4-0F921742445A}" type="presParOf" srcId="{AB3B0039-A9AB-4EF6-88E1-C3FFD9E01C27}" destId="{8C211314-6D2F-453D-BC11-D1DDE3514E71}"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F9EC43FB-CEE5-4A0D-8B16-6BE962F57A3E}"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n-IN"/>
        </a:p>
      </dgm:t>
    </dgm:pt>
    <dgm:pt modelId="{6BF6728A-5C93-4DC3-B129-0521F0325631}" type="asst">
      <dgm:prSet phldrT="[Text]"/>
      <dgm:spPr/>
      <dgm:t>
        <a:bodyPr/>
        <a:lstStyle/>
        <a:p>
          <a:r>
            <a:rPr lang="en-US" dirty="0"/>
            <a:t>Price Incentive</a:t>
          </a:r>
        </a:p>
      </dgm:t>
    </dgm:pt>
    <dgm:pt modelId="{ED294874-4820-4836-8713-BEA96970ED7E}" type="parTrans" cxnId="{8E687EEC-9658-42B9-9F5D-27050441DA2B}">
      <dgm:prSet/>
      <dgm:spPr/>
      <dgm:t>
        <a:bodyPr/>
        <a:lstStyle/>
        <a:p>
          <a:endParaRPr lang="en-IN"/>
        </a:p>
      </dgm:t>
    </dgm:pt>
    <dgm:pt modelId="{0CE25382-96C2-4F8E-9A44-0173CB992C79}" type="sibTrans" cxnId="{8E687EEC-9658-42B9-9F5D-27050441DA2B}">
      <dgm:prSet/>
      <dgm:spPr/>
      <dgm:t>
        <a:bodyPr/>
        <a:lstStyle/>
        <a:p>
          <a:endParaRPr lang="en-IN"/>
        </a:p>
      </dgm:t>
    </dgm:pt>
    <dgm:pt modelId="{D2F51438-07D3-4B8D-A450-D2FB5D75BB1A}" type="asst">
      <dgm:prSet phldrT="[Text]"/>
      <dgm:spPr/>
      <dgm:t>
        <a:bodyPr/>
        <a:lstStyle/>
        <a:p>
          <a:r>
            <a:rPr lang="en-US" dirty="0"/>
            <a:t>Cost Incentive</a:t>
          </a:r>
        </a:p>
      </dgm:t>
    </dgm:pt>
    <dgm:pt modelId="{3D9DE0C5-ECB8-4817-AC4E-6A86DB0FC894}" type="parTrans" cxnId="{E5DD4B23-7076-4327-9700-5763046A8890}">
      <dgm:prSet/>
      <dgm:spPr/>
      <dgm:t>
        <a:bodyPr/>
        <a:lstStyle/>
        <a:p>
          <a:endParaRPr lang="en-IN"/>
        </a:p>
      </dgm:t>
    </dgm:pt>
    <dgm:pt modelId="{C9CE6B61-7C85-4629-9EA1-4B5F20CA8B77}" type="sibTrans" cxnId="{E5DD4B23-7076-4327-9700-5763046A8890}">
      <dgm:prSet/>
      <dgm:spPr/>
      <dgm:t>
        <a:bodyPr/>
        <a:lstStyle/>
        <a:p>
          <a:endParaRPr lang="en-IN"/>
        </a:p>
      </dgm:t>
    </dgm:pt>
    <dgm:pt modelId="{78FB2184-F0E2-4292-A92B-BE6FAAA413C0}" type="asst">
      <dgm:prSet phldrT="[Text]"/>
      <dgm:spPr/>
      <dgm:t>
        <a:bodyPr/>
        <a:lstStyle/>
        <a:p>
          <a:r>
            <a:rPr lang="en-US" dirty="0"/>
            <a:t>Cost Modification</a:t>
          </a:r>
        </a:p>
      </dgm:t>
    </dgm:pt>
    <dgm:pt modelId="{FB69E76C-182C-49E5-87DC-715BE9C32CD9}" type="parTrans" cxnId="{0FCFC836-325E-41BE-A249-912EBAA3AFA7}">
      <dgm:prSet/>
      <dgm:spPr/>
      <dgm:t>
        <a:bodyPr/>
        <a:lstStyle/>
        <a:p>
          <a:endParaRPr lang="en-IN"/>
        </a:p>
      </dgm:t>
    </dgm:pt>
    <dgm:pt modelId="{9696C6FE-5CBC-46D1-A913-EEBB153EE3C8}" type="sibTrans" cxnId="{0FCFC836-325E-41BE-A249-912EBAA3AFA7}">
      <dgm:prSet/>
      <dgm:spPr/>
      <dgm:t>
        <a:bodyPr/>
        <a:lstStyle/>
        <a:p>
          <a:endParaRPr lang="en-IN"/>
        </a:p>
      </dgm:t>
    </dgm:pt>
    <dgm:pt modelId="{ADE69B84-2E3D-482D-BB0F-79AEC0C7B8C5}">
      <dgm:prSet phldrT="[Text]"/>
      <dgm:spPr/>
      <dgm:t>
        <a:bodyPr/>
        <a:lstStyle/>
        <a:p>
          <a:r>
            <a:rPr lang="en-US" dirty="0"/>
            <a:t>Dynamic Pricing</a:t>
          </a:r>
          <a:endParaRPr lang="en-IN" dirty="0"/>
        </a:p>
      </dgm:t>
    </dgm:pt>
    <dgm:pt modelId="{30E948C4-A265-479D-A277-4A58481AA1D3}" type="parTrans" cxnId="{4950BE3E-2F17-4CB1-9EEA-376374959188}">
      <dgm:prSet/>
      <dgm:spPr/>
      <dgm:t>
        <a:bodyPr/>
        <a:lstStyle/>
        <a:p>
          <a:endParaRPr lang="en-IN"/>
        </a:p>
      </dgm:t>
    </dgm:pt>
    <dgm:pt modelId="{87BE2D9E-CA3C-4733-9E24-D66B60B27C8E}" type="sibTrans" cxnId="{4950BE3E-2F17-4CB1-9EEA-376374959188}">
      <dgm:prSet/>
      <dgm:spPr/>
      <dgm:t>
        <a:bodyPr/>
        <a:lstStyle/>
        <a:p>
          <a:endParaRPr lang="en-IN"/>
        </a:p>
      </dgm:t>
    </dgm:pt>
    <dgm:pt modelId="{74739AC3-64C4-4B73-9771-758B34F2192A}">
      <dgm:prSet phldrT="[Text]"/>
      <dgm:spPr/>
      <dgm:t>
        <a:bodyPr/>
        <a:lstStyle/>
        <a:p>
          <a:r>
            <a:rPr lang="en-US" dirty="0"/>
            <a:t>Product Substitution</a:t>
          </a:r>
          <a:endParaRPr lang="en-IN" dirty="0"/>
        </a:p>
      </dgm:t>
    </dgm:pt>
    <dgm:pt modelId="{8AFA5E77-CE8D-4FD5-B528-954BBDC1D973}" type="parTrans" cxnId="{B33C4273-894B-4FE2-B5DF-78804BDB4B72}">
      <dgm:prSet/>
      <dgm:spPr/>
      <dgm:t>
        <a:bodyPr/>
        <a:lstStyle/>
        <a:p>
          <a:endParaRPr lang="en-IN"/>
        </a:p>
      </dgm:t>
    </dgm:pt>
    <dgm:pt modelId="{6C6D4BB4-6337-48E1-93FB-294884483CD7}" type="sibTrans" cxnId="{B33C4273-894B-4FE2-B5DF-78804BDB4B72}">
      <dgm:prSet/>
      <dgm:spPr/>
      <dgm:t>
        <a:bodyPr/>
        <a:lstStyle/>
        <a:p>
          <a:endParaRPr lang="en-IN"/>
        </a:p>
      </dgm:t>
    </dgm:pt>
    <dgm:pt modelId="{A4DCE4AD-BF4D-47BE-968E-CC0EE6D25682}" type="pres">
      <dgm:prSet presAssocID="{F9EC43FB-CEE5-4A0D-8B16-6BE962F57A3E}" presName="linear" presStyleCnt="0">
        <dgm:presLayoutVars>
          <dgm:dir/>
          <dgm:animLvl val="lvl"/>
          <dgm:resizeHandles val="exact"/>
        </dgm:presLayoutVars>
      </dgm:prSet>
      <dgm:spPr/>
    </dgm:pt>
    <dgm:pt modelId="{E9502D9C-FE1B-4D1C-90DF-698BD08446A6}" type="pres">
      <dgm:prSet presAssocID="{74739AC3-64C4-4B73-9771-758B34F2192A}" presName="parentLin" presStyleCnt="0"/>
      <dgm:spPr/>
    </dgm:pt>
    <dgm:pt modelId="{F658D9CA-0456-41AC-96D6-09A8577DA8BD}" type="pres">
      <dgm:prSet presAssocID="{74739AC3-64C4-4B73-9771-758B34F2192A}" presName="parentLeftMargin" presStyleLbl="node1" presStyleIdx="0" presStyleCnt="2"/>
      <dgm:spPr/>
    </dgm:pt>
    <dgm:pt modelId="{AD1065D1-6FFA-4BBD-BDC7-297D99762783}" type="pres">
      <dgm:prSet presAssocID="{74739AC3-64C4-4B73-9771-758B34F2192A}" presName="parentText" presStyleLbl="node1" presStyleIdx="0" presStyleCnt="2">
        <dgm:presLayoutVars>
          <dgm:chMax val="0"/>
          <dgm:bulletEnabled val="1"/>
        </dgm:presLayoutVars>
      </dgm:prSet>
      <dgm:spPr/>
    </dgm:pt>
    <dgm:pt modelId="{68B14974-75DD-49F0-8471-38DCDFB9D887}" type="pres">
      <dgm:prSet presAssocID="{74739AC3-64C4-4B73-9771-758B34F2192A}" presName="negativeSpace" presStyleCnt="0"/>
      <dgm:spPr/>
    </dgm:pt>
    <dgm:pt modelId="{807C1D56-B3DE-46E9-93C3-61F8DACFBD17}" type="pres">
      <dgm:prSet presAssocID="{74739AC3-64C4-4B73-9771-758B34F2192A}" presName="childText" presStyleLbl="conFgAcc1" presStyleIdx="0" presStyleCnt="2">
        <dgm:presLayoutVars>
          <dgm:bulletEnabled val="1"/>
        </dgm:presLayoutVars>
      </dgm:prSet>
      <dgm:spPr/>
    </dgm:pt>
    <dgm:pt modelId="{10A60720-45F5-4D41-B1E4-6E2F22D3D1DB}" type="pres">
      <dgm:prSet presAssocID="{6C6D4BB4-6337-48E1-93FB-294884483CD7}" presName="spaceBetweenRectangles" presStyleCnt="0"/>
      <dgm:spPr/>
    </dgm:pt>
    <dgm:pt modelId="{3B5657A3-9A96-4C53-B384-1176D3D0C71C}" type="pres">
      <dgm:prSet presAssocID="{ADE69B84-2E3D-482D-BB0F-79AEC0C7B8C5}" presName="parentLin" presStyleCnt="0"/>
      <dgm:spPr/>
    </dgm:pt>
    <dgm:pt modelId="{5F4E6341-220B-4C9B-9E6C-66D3E6C0F3D9}" type="pres">
      <dgm:prSet presAssocID="{ADE69B84-2E3D-482D-BB0F-79AEC0C7B8C5}" presName="parentLeftMargin" presStyleLbl="node1" presStyleIdx="0" presStyleCnt="2"/>
      <dgm:spPr/>
    </dgm:pt>
    <dgm:pt modelId="{F9F78109-D37A-4920-B65C-E48CBCC491EB}" type="pres">
      <dgm:prSet presAssocID="{ADE69B84-2E3D-482D-BB0F-79AEC0C7B8C5}" presName="parentText" presStyleLbl="node1" presStyleIdx="1" presStyleCnt="2">
        <dgm:presLayoutVars>
          <dgm:chMax val="0"/>
          <dgm:bulletEnabled val="1"/>
        </dgm:presLayoutVars>
      </dgm:prSet>
      <dgm:spPr/>
    </dgm:pt>
    <dgm:pt modelId="{8FFC0444-6E27-494D-8634-23D9ED6FE8D0}" type="pres">
      <dgm:prSet presAssocID="{ADE69B84-2E3D-482D-BB0F-79AEC0C7B8C5}" presName="negativeSpace" presStyleCnt="0"/>
      <dgm:spPr/>
    </dgm:pt>
    <dgm:pt modelId="{8BCA90D1-558E-44E5-A65F-E5ECEDCBFC3F}" type="pres">
      <dgm:prSet presAssocID="{ADE69B84-2E3D-482D-BB0F-79AEC0C7B8C5}" presName="childText" presStyleLbl="conFgAcc1" presStyleIdx="1" presStyleCnt="2">
        <dgm:presLayoutVars>
          <dgm:bulletEnabled val="1"/>
        </dgm:presLayoutVars>
      </dgm:prSet>
      <dgm:spPr/>
    </dgm:pt>
  </dgm:ptLst>
  <dgm:cxnLst>
    <dgm:cxn modelId="{A625A212-2B8C-443C-87AD-44C3D630C9BE}" type="presOf" srcId="{6BF6728A-5C93-4DC3-B129-0521F0325631}" destId="{8BCA90D1-558E-44E5-A65F-E5ECEDCBFC3F}" srcOrd="0" destOrd="0" presId="urn:microsoft.com/office/officeart/2005/8/layout/list1"/>
    <dgm:cxn modelId="{E5DD4B23-7076-4327-9700-5763046A8890}" srcId="{ADE69B84-2E3D-482D-BB0F-79AEC0C7B8C5}" destId="{D2F51438-07D3-4B8D-A450-D2FB5D75BB1A}" srcOrd="1" destOrd="0" parTransId="{3D9DE0C5-ECB8-4817-AC4E-6A86DB0FC894}" sibTransId="{C9CE6B61-7C85-4629-9EA1-4B5F20CA8B77}"/>
    <dgm:cxn modelId="{4D9EC02D-5025-4B7F-A357-0A30996B21A9}" type="presOf" srcId="{74739AC3-64C4-4B73-9771-758B34F2192A}" destId="{F658D9CA-0456-41AC-96D6-09A8577DA8BD}" srcOrd="0" destOrd="0" presId="urn:microsoft.com/office/officeart/2005/8/layout/list1"/>
    <dgm:cxn modelId="{0FCFC836-325E-41BE-A249-912EBAA3AFA7}" srcId="{ADE69B84-2E3D-482D-BB0F-79AEC0C7B8C5}" destId="{78FB2184-F0E2-4292-A92B-BE6FAAA413C0}" srcOrd="2" destOrd="0" parTransId="{FB69E76C-182C-49E5-87DC-715BE9C32CD9}" sibTransId="{9696C6FE-5CBC-46D1-A913-EEBB153EE3C8}"/>
    <dgm:cxn modelId="{4950BE3E-2F17-4CB1-9EEA-376374959188}" srcId="{F9EC43FB-CEE5-4A0D-8B16-6BE962F57A3E}" destId="{ADE69B84-2E3D-482D-BB0F-79AEC0C7B8C5}" srcOrd="1" destOrd="0" parTransId="{30E948C4-A265-479D-A277-4A58481AA1D3}" sibTransId="{87BE2D9E-CA3C-4733-9E24-D66B60B27C8E}"/>
    <dgm:cxn modelId="{907DE34B-465B-4BBF-BEE8-F1FFF76AF843}" type="presOf" srcId="{ADE69B84-2E3D-482D-BB0F-79AEC0C7B8C5}" destId="{5F4E6341-220B-4C9B-9E6C-66D3E6C0F3D9}" srcOrd="0" destOrd="0" presId="urn:microsoft.com/office/officeart/2005/8/layout/list1"/>
    <dgm:cxn modelId="{82E1A06D-2B28-4230-ADB1-F40649295F01}" type="presOf" srcId="{F9EC43FB-CEE5-4A0D-8B16-6BE962F57A3E}" destId="{A4DCE4AD-BF4D-47BE-968E-CC0EE6D25682}" srcOrd="0" destOrd="0" presId="urn:microsoft.com/office/officeart/2005/8/layout/list1"/>
    <dgm:cxn modelId="{B33C4273-894B-4FE2-B5DF-78804BDB4B72}" srcId="{F9EC43FB-CEE5-4A0D-8B16-6BE962F57A3E}" destId="{74739AC3-64C4-4B73-9771-758B34F2192A}" srcOrd="0" destOrd="0" parTransId="{8AFA5E77-CE8D-4FD5-B528-954BBDC1D973}" sibTransId="{6C6D4BB4-6337-48E1-93FB-294884483CD7}"/>
    <dgm:cxn modelId="{45844A88-1693-4FA7-8A5A-F9EB2FFEC72D}" type="presOf" srcId="{ADE69B84-2E3D-482D-BB0F-79AEC0C7B8C5}" destId="{F9F78109-D37A-4920-B65C-E48CBCC491EB}" srcOrd="1" destOrd="0" presId="urn:microsoft.com/office/officeart/2005/8/layout/list1"/>
    <dgm:cxn modelId="{2ACD4890-B5BD-47CB-806A-DF8EF531221E}" type="presOf" srcId="{78FB2184-F0E2-4292-A92B-BE6FAAA413C0}" destId="{8BCA90D1-558E-44E5-A65F-E5ECEDCBFC3F}" srcOrd="0" destOrd="2" presId="urn:microsoft.com/office/officeart/2005/8/layout/list1"/>
    <dgm:cxn modelId="{A6A782BA-1CCB-4603-BA98-7CAFCADA79D4}" type="presOf" srcId="{74739AC3-64C4-4B73-9771-758B34F2192A}" destId="{AD1065D1-6FFA-4BBD-BDC7-297D99762783}" srcOrd="1" destOrd="0" presId="urn:microsoft.com/office/officeart/2005/8/layout/list1"/>
    <dgm:cxn modelId="{8E687EEC-9658-42B9-9F5D-27050441DA2B}" srcId="{ADE69B84-2E3D-482D-BB0F-79AEC0C7B8C5}" destId="{6BF6728A-5C93-4DC3-B129-0521F0325631}" srcOrd="0" destOrd="0" parTransId="{ED294874-4820-4836-8713-BEA96970ED7E}" sibTransId="{0CE25382-96C2-4F8E-9A44-0173CB992C79}"/>
    <dgm:cxn modelId="{3289B5F5-F175-4E31-8281-CE24F6DEEA80}" type="presOf" srcId="{D2F51438-07D3-4B8D-A450-D2FB5D75BB1A}" destId="{8BCA90D1-558E-44E5-A65F-E5ECEDCBFC3F}" srcOrd="0" destOrd="1" presId="urn:microsoft.com/office/officeart/2005/8/layout/list1"/>
    <dgm:cxn modelId="{8F4A07DD-6915-4598-B4E7-B03BFEBE9A46}" type="presParOf" srcId="{A4DCE4AD-BF4D-47BE-968E-CC0EE6D25682}" destId="{E9502D9C-FE1B-4D1C-90DF-698BD08446A6}" srcOrd="0" destOrd="0" presId="urn:microsoft.com/office/officeart/2005/8/layout/list1"/>
    <dgm:cxn modelId="{C8B088AF-D6BA-4A37-90BE-761E3B27DBE5}" type="presParOf" srcId="{E9502D9C-FE1B-4D1C-90DF-698BD08446A6}" destId="{F658D9CA-0456-41AC-96D6-09A8577DA8BD}" srcOrd="0" destOrd="0" presId="urn:microsoft.com/office/officeart/2005/8/layout/list1"/>
    <dgm:cxn modelId="{91805BEC-7173-4CB6-A4AA-E2BEB74FDBDA}" type="presParOf" srcId="{E9502D9C-FE1B-4D1C-90DF-698BD08446A6}" destId="{AD1065D1-6FFA-4BBD-BDC7-297D99762783}" srcOrd="1" destOrd="0" presId="urn:microsoft.com/office/officeart/2005/8/layout/list1"/>
    <dgm:cxn modelId="{77105406-D1EC-4161-ACB1-DF0BF1C09253}" type="presParOf" srcId="{A4DCE4AD-BF4D-47BE-968E-CC0EE6D25682}" destId="{68B14974-75DD-49F0-8471-38DCDFB9D887}" srcOrd="1" destOrd="0" presId="urn:microsoft.com/office/officeart/2005/8/layout/list1"/>
    <dgm:cxn modelId="{EDD7FEB7-CD0C-4442-B2C8-9771A16B7C6F}" type="presParOf" srcId="{A4DCE4AD-BF4D-47BE-968E-CC0EE6D25682}" destId="{807C1D56-B3DE-46E9-93C3-61F8DACFBD17}" srcOrd="2" destOrd="0" presId="urn:microsoft.com/office/officeart/2005/8/layout/list1"/>
    <dgm:cxn modelId="{5485E16A-0D4C-44E9-B9E5-5BF1A0F7540F}" type="presParOf" srcId="{A4DCE4AD-BF4D-47BE-968E-CC0EE6D25682}" destId="{10A60720-45F5-4D41-B1E4-6E2F22D3D1DB}" srcOrd="3" destOrd="0" presId="urn:microsoft.com/office/officeart/2005/8/layout/list1"/>
    <dgm:cxn modelId="{D5CB30A1-8654-48A7-8AAB-5AFC67C498E2}" type="presParOf" srcId="{A4DCE4AD-BF4D-47BE-968E-CC0EE6D25682}" destId="{3B5657A3-9A96-4C53-B384-1176D3D0C71C}" srcOrd="4" destOrd="0" presId="urn:microsoft.com/office/officeart/2005/8/layout/list1"/>
    <dgm:cxn modelId="{8C83C950-0048-4E6E-A370-0C3365487FF9}" type="presParOf" srcId="{3B5657A3-9A96-4C53-B384-1176D3D0C71C}" destId="{5F4E6341-220B-4C9B-9E6C-66D3E6C0F3D9}" srcOrd="0" destOrd="0" presId="urn:microsoft.com/office/officeart/2005/8/layout/list1"/>
    <dgm:cxn modelId="{ABCF28EA-ECCD-4C7C-803F-9BE19277C4E5}" type="presParOf" srcId="{3B5657A3-9A96-4C53-B384-1176D3D0C71C}" destId="{F9F78109-D37A-4920-B65C-E48CBCC491EB}" srcOrd="1" destOrd="0" presId="urn:microsoft.com/office/officeart/2005/8/layout/list1"/>
    <dgm:cxn modelId="{D406B416-61D5-4F2B-A9A3-4ADD73723B96}" type="presParOf" srcId="{A4DCE4AD-BF4D-47BE-968E-CC0EE6D25682}" destId="{8FFC0444-6E27-494D-8634-23D9ED6FE8D0}" srcOrd="5" destOrd="0" presId="urn:microsoft.com/office/officeart/2005/8/layout/list1"/>
    <dgm:cxn modelId="{BF46D90E-410E-4E73-A799-FF613B52277E}" type="presParOf" srcId="{A4DCE4AD-BF4D-47BE-968E-CC0EE6D25682}" destId="{8BCA90D1-558E-44E5-A65F-E5ECEDCBFC3F}"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80987-83F3-480C-86FD-B17517DF1A55}">
      <dsp:nvSpPr>
        <dsp:cNvPr id="0" name=""/>
        <dsp:cNvSpPr/>
      </dsp:nvSpPr>
      <dsp:spPr>
        <a:xfrm>
          <a:off x="0" y="809"/>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t>What is Supply Chain Integration?   </a:t>
          </a:r>
        </a:p>
      </dsp:txBody>
      <dsp:txXfrm>
        <a:off x="39578" y="40387"/>
        <a:ext cx="11132404" cy="731610"/>
      </dsp:txXfrm>
    </dsp:sp>
    <dsp:sp modelId="{BD876507-6AFE-4944-A66B-EEDE1BB9DBE7}">
      <dsp:nvSpPr>
        <dsp:cNvPr id="0" name=""/>
        <dsp:cNvSpPr/>
      </dsp:nvSpPr>
      <dsp:spPr>
        <a:xfrm>
          <a:off x="0" y="817693"/>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t> Push and Pull Strategies</a:t>
          </a:r>
        </a:p>
      </dsp:txBody>
      <dsp:txXfrm>
        <a:off x="39578" y="857271"/>
        <a:ext cx="11132404" cy="731610"/>
      </dsp:txXfrm>
    </dsp:sp>
    <dsp:sp modelId="{E39CFDAB-C12B-4527-A40F-D1CA46FAFC09}">
      <dsp:nvSpPr>
        <dsp:cNvPr id="0" name=""/>
        <dsp:cNvSpPr/>
      </dsp:nvSpPr>
      <dsp:spPr>
        <a:xfrm>
          <a:off x="0" y="1634576"/>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endParaRPr lang="en-US" sz="2800" kern="1200" dirty="0"/>
        </a:p>
        <a:p>
          <a:pPr marL="0" lvl="0" indent="0" algn="l" defTabSz="1244600">
            <a:lnSpc>
              <a:spcPct val="90000"/>
            </a:lnSpc>
            <a:spcBef>
              <a:spcPct val="0"/>
            </a:spcBef>
            <a:spcAft>
              <a:spcPct val="35000"/>
            </a:spcAft>
            <a:buNone/>
          </a:pPr>
          <a:r>
            <a:rPr lang="en-US" sz="2800" kern="1200" dirty="0"/>
            <a:t>Manufacturing strategies, Demand Strategies</a:t>
          </a:r>
          <a:endParaRPr lang="en-IN" sz="2800" kern="1200" dirty="0"/>
        </a:p>
        <a:p>
          <a:pPr marL="0" lvl="0" indent="0" algn="l" defTabSz="1244600">
            <a:lnSpc>
              <a:spcPct val="90000"/>
            </a:lnSpc>
            <a:spcBef>
              <a:spcPct val="0"/>
            </a:spcBef>
            <a:spcAft>
              <a:spcPct val="35000"/>
            </a:spcAft>
            <a:buNone/>
          </a:pPr>
          <a:endParaRPr lang="en-IN" sz="2800" kern="1200" dirty="0"/>
        </a:p>
      </dsp:txBody>
      <dsp:txXfrm>
        <a:off x="39578" y="1674154"/>
        <a:ext cx="11132404" cy="731610"/>
      </dsp:txXfrm>
    </dsp:sp>
    <dsp:sp modelId="{85D3CF9B-B8E1-4D34-9A16-095B7CF456DE}">
      <dsp:nvSpPr>
        <dsp:cNvPr id="0" name=""/>
        <dsp:cNvSpPr/>
      </dsp:nvSpPr>
      <dsp:spPr>
        <a:xfrm>
          <a:off x="0" y="2451460"/>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Framework for Supply Chain Network </a:t>
          </a:r>
          <a:endParaRPr lang="en-IN" sz="2800" kern="1200" dirty="0"/>
        </a:p>
      </dsp:txBody>
      <dsp:txXfrm>
        <a:off x="39578" y="2491038"/>
        <a:ext cx="11132404" cy="731610"/>
      </dsp:txXfrm>
    </dsp:sp>
    <dsp:sp modelId="{EEBD3D1A-71AF-4AA3-A2E6-99808883DC58}">
      <dsp:nvSpPr>
        <dsp:cNvPr id="0" name=""/>
        <dsp:cNvSpPr/>
      </dsp:nvSpPr>
      <dsp:spPr>
        <a:xfrm>
          <a:off x="0" y="3268343"/>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t>Case Studies- Asian Paint</a:t>
          </a:r>
        </a:p>
      </dsp:txBody>
      <dsp:txXfrm>
        <a:off x="39578" y="3307921"/>
        <a:ext cx="11132404" cy="731610"/>
      </dsp:txXfrm>
    </dsp:sp>
    <dsp:sp modelId="{E324F0F1-010D-4B2D-8BA3-721DA5F92376}">
      <dsp:nvSpPr>
        <dsp:cNvPr id="0" name=""/>
        <dsp:cNvSpPr/>
      </dsp:nvSpPr>
      <dsp:spPr>
        <a:xfrm>
          <a:off x="0" y="4085227"/>
          <a:ext cx="11211560" cy="81076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t>Case Studies- Dell Computer </a:t>
          </a:r>
        </a:p>
      </dsp:txBody>
      <dsp:txXfrm>
        <a:off x="39578" y="4124805"/>
        <a:ext cx="11132404" cy="7316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D44EF-8E13-431E-A908-E9E5ABDB297B}">
      <dsp:nvSpPr>
        <dsp:cNvPr id="0" name=""/>
        <dsp:cNvSpPr/>
      </dsp:nvSpPr>
      <dsp:spPr>
        <a:xfrm>
          <a:off x="5257800" y="1784441"/>
          <a:ext cx="4356747" cy="378064"/>
        </a:xfrm>
        <a:custGeom>
          <a:avLst/>
          <a:gdLst/>
          <a:ahLst/>
          <a:cxnLst/>
          <a:rect l="0" t="0" r="0" b="0"/>
          <a:pathLst>
            <a:path>
              <a:moveTo>
                <a:pt x="0" y="0"/>
              </a:moveTo>
              <a:lnTo>
                <a:pt x="0" y="189032"/>
              </a:lnTo>
              <a:lnTo>
                <a:pt x="4356747" y="189032"/>
              </a:lnTo>
              <a:lnTo>
                <a:pt x="4356747" y="3780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FE6DCA-3CD1-4E1B-9195-9F2344C7A956}">
      <dsp:nvSpPr>
        <dsp:cNvPr id="0" name=""/>
        <dsp:cNvSpPr/>
      </dsp:nvSpPr>
      <dsp:spPr>
        <a:xfrm>
          <a:off x="5257800" y="1784441"/>
          <a:ext cx="2178373" cy="378064"/>
        </a:xfrm>
        <a:custGeom>
          <a:avLst/>
          <a:gdLst/>
          <a:ahLst/>
          <a:cxnLst/>
          <a:rect l="0" t="0" r="0" b="0"/>
          <a:pathLst>
            <a:path>
              <a:moveTo>
                <a:pt x="0" y="0"/>
              </a:moveTo>
              <a:lnTo>
                <a:pt x="0" y="189032"/>
              </a:lnTo>
              <a:lnTo>
                <a:pt x="2178373" y="189032"/>
              </a:lnTo>
              <a:lnTo>
                <a:pt x="2178373" y="3780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DF644-FD4C-4040-84D9-B37E0C66C25F}">
      <dsp:nvSpPr>
        <dsp:cNvPr id="0" name=""/>
        <dsp:cNvSpPr/>
      </dsp:nvSpPr>
      <dsp:spPr>
        <a:xfrm>
          <a:off x="5212080" y="1784441"/>
          <a:ext cx="91440" cy="378064"/>
        </a:xfrm>
        <a:custGeom>
          <a:avLst/>
          <a:gdLst/>
          <a:ahLst/>
          <a:cxnLst/>
          <a:rect l="0" t="0" r="0" b="0"/>
          <a:pathLst>
            <a:path>
              <a:moveTo>
                <a:pt x="45720" y="0"/>
              </a:moveTo>
              <a:lnTo>
                <a:pt x="45720" y="3780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691095-7774-4795-8263-A0E489507D01}">
      <dsp:nvSpPr>
        <dsp:cNvPr id="0" name=""/>
        <dsp:cNvSpPr/>
      </dsp:nvSpPr>
      <dsp:spPr>
        <a:xfrm>
          <a:off x="3079426" y="1784441"/>
          <a:ext cx="2178373" cy="378064"/>
        </a:xfrm>
        <a:custGeom>
          <a:avLst/>
          <a:gdLst/>
          <a:ahLst/>
          <a:cxnLst/>
          <a:rect l="0" t="0" r="0" b="0"/>
          <a:pathLst>
            <a:path>
              <a:moveTo>
                <a:pt x="2178373" y="0"/>
              </a:moveTo>
              <a:lnTo>
                <a:pt x="2178373" y="189032"/>
              </a:lnTo>
              <a:lnTo>
                <a:pt x="0" y="189032"/>
              </a:lnTo>
              <a:lnTo>
                <a:pt x="0" y="3780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D5EBA7-766C-4D8C-9DB1-F25DA983D40E}">
      <dsp:nvSpPr>
        <dsp:cNvPr id="0" name=""/>
        <dsp:cNvSpPr/>
      </dsp:nvSpPr>
      <dsp:spPr>
        <a:xfrm>
          <a:off x="901052" y="1784441"/>
          <a:ext cx="4356747" cy="378064"/>
        </a:xfrm>
        <a:custGeom>
          <a:avLst/>
          <a:gdLst/>
          <a:ahLst/>
          <a:cxnLst/>
          <a:rect l="0" t="0" r="0" b="0"/>
          <a:pathLst>
            <a:path>
              <a:moveTo>
                <a:pt x="4356747" y="0"/>
              </a:moveTo>
              <a:lnTo>
                <a:pt x="4356747" y="189032"/>
              </a:lnTo>
              <a:lnTo>
                <a:pt x="0" y="189032"/>
              </a:lnTo>
              <a:lnTo>
                <a:pt x="0" y="3780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0D001C-2B1C-4474-9794-57118F355C2E}">
      <dsp:nvSpPr>
        <dsp:cNvPr id="0" name=""/>
        <dsp:cNvSpPr/>
      </dsp:nvSpPr>
      <dsp:spPr>
        <a:xfrm>
          <a:off x="4357645" y="884286"/>
          <a:ext cx="1800308" cy="90015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i="0" kern="1200"/>
            <a:t>Purpose</a:t>
          </a:r>
          <a:endParaRPr lang="en-IN" sz="1800" kern="1200"/>
        </a:p>
      </dsp:txBody>
      <dsp:txXfrm>
        <a:off x="4357645" y="884286"/>
        <a:ext cx="1800308" cy="900154"/>
      </dsp:txXfrm>
    </dsp:sp>
    <dsp:sp modelId="{FA6C1E4A-A42E-4B8C-8B63-0DE41EA81F13}">
      <dsp:nvSpPr>
        <dsp:cNvPr id="0" name=""/>
        <dsp:cNvSpPr/>
      </dsp:nvSpPr>
      <dsp:spPr>
        <a:xfrm>
          <a:off x="898" y="2162505"/>
          <a:ext cx="1800308" cy="90015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R</a:t>
          </a:r>
          <a:r>
            <a:rPr lang="en-US" sz="1800" b="0" i="0" kern="1200"/>
            <a:t>educe cost</a:t>
          </a:r>
          <a:endParaRPr lang="en-IN" sz="1800" kern="1200"/>
        </a:p>
      </dsp:txBody>
      <dsp:txXfrm>
        <a:off x="898" y="2162505"/>
        <a:ext cx="1800308" cy="900154"/>
      </dsp:txXfrm>
    </dsp:sp>
    <dsp:sp modelId="{A56DBE11-1A96-4444-BFD1-A500B96D47DD}">
      <dsp:nvSpPr>
        <dsp:cNvPr id="0" name=""/>
        <dsp:cNvSpPr/>
      </dsp:nvSpPr>
      <dsp:spPr>
        <a:xfrm>
          <a:off x="2179272" y="2162505"/>
          <a:ext cx="1800308" cy="90015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I</a:t>
          </a:r>
          <a:r>
            <a:rPr lang="en-US" sz="1800" b="0" i="0" kern="1200"/>
            <a:t>ncrease service level</a:t>
          </a:r>
          <a:endParaRPr lang="en-IN" sz="1800" kern="1200"/>
        </a:p>
      </dsp:txBody>
      <dsp:txXfrm>
        <a:off x="2179272" y="2162505"/>
        <a:ext cx="1800308" cy="900154"/>
      </dsp:txXfrm>
    </dsp:sp>
    <dsp:sp modelId="{55D48003-718E-44BD-837C-F6470CE535DC}">
      <dsp:nvSpPr>
        <dsp:cNvPr id="0" name=""/>
        <dsp:cNvSpPr/>
      </dsp:nvSpPr>
      <dsp:spPr>
        <a:xfrm>
          <a:off x="4357645" y="2162505"/>
          <a:ext cx="1800308" cy="90015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R</a:t>
          </a:r>
          <a:r>
            <a:rPr lang="en-US" sz="1800" b="0" i="0" kern="1200"/>
            <a:t>educe the bullwhip effect</a:t>
          </a:r>
          <a:endParaRPr lang="en-IN" sz="1800" kern="1200"/>
        </a:p>
      </dsp:txBody>
      <dsp:txXfrm>
        <a:off x="4357645" y="2162505"/>
        <a:ext cx="1800308" cy="900154"/>
      </dsp:txXfrm>
    </dsp:sp>
    <dsp:sp modelId="{FC461E2F-A689-499C-8593-8A7559367D55}">
      <dsp:nvSpPr>
        <dsp:cNvPr id="0" name=""/>
        <dsp:cNvSpPr/>
      </dsp:nvSpPr>
      <dsp:spPr>
        <a:xfrm>
          <a:off x="6536019" y="2162505"/>
          <a:ext cx="1800308" cy="90015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B</a:t>
          </a:r>
          <a:r>
            <a:rPr lang="en-US" sz="1800" b="0" i="0" kern="1200"/>
            <a:t>etter utilize resources</a:t>
          </a:r>
          <a:endParaRPr lang="en-IN" sz="1800" kern="1200"/>
        </a:p>
      </dsp:txBody>
      <dsp:txXfrm>
        <a:off x="6536019" y="2162505"/>
        <a:ext cx="1800308" cy="900154"/>
      </dsp:txXfrm>
    </dsp:sp>
    <dsp:sp modelId="{51A79C24-61C8-4B99-B4CB-7DD84D27666D}">
      <dsp:nvSpPr>
        <dsp:cNvPr id="0" name=""/>
        <dsp:cNvSpPr/>
      </dsp:nvSpPr>
      <dsp:spPr>
        <a:xfrm>
          <a:off x="8714392" y="2162505"/>
          <a:ext cx="1800308" cy="90015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i="0" kern="1200"/>
            <a:t>effectively respond to changes in the market place</a:t>
          </a:r>
          <a:endParaRPr lang="en-IN" sz="1800" kern="1200"/>
        </a:p>
      </dsp:txBody>
      <dsp:txXfrm>
        <a:off x="8714392" y="2162505"/>
        <a:ext cx="1800308" cy="900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4E200-B2B7-4D3E-8CA1-47DDD1806F97}">
      <dsp:nvSpPr>
        <dsp:cNvPr id="0" name=""/>
        <dsp:cNvSpPr/>
      </dsp:nvSpPr>
      <dsp:spPr>
        <a:xfrm>
          <a:off x="0" y="53403"/>
          <a:ext cx="11066105" cy="164150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u="sng" kern="1200" dirty="0"/>
            <a:t>Coordinate activities </a:t>
          </a:r>
          <a:r>
            <a:rPr lang="en-US" sz="2300" kern="1200" dirty="0"/>
            <a:t>across the supply chain, including </a:t>
          </a:r>
          <a:r>
            <a:rPr lang="en-US" sz="2300" b="1" kern="1200" dirty="0"/>
            <a:t>coordinating production</a:t>
          </a:r>
          <a:r>
            <a:rPr lang="en-US" sz="2300" kern="1200" dirty="0"/>
            <a:t>, </a:t>
          </a:r>
          <a:r>
            <a:rPr lang="en-US" sz="2300" b="1" kern="1200" dirty="0"/>
            <a:t>transportation, inventory decisions </a:t>
          </a:r>
          <a:r>
            <a:rPr lang="en-US" sz="2300" kern="1200" dirty="0"/>
            <a:t>and more generally, </a:t>
          </a:r>
          <a:r>
            <a:rPr lang="en-US" sz="2300" b="1" kern="1200" dirty="0">
              <a:solidFill>
                <a:srgbClr val="FF0000"/>
              </a:solidFill>
              <a:highlight>
                <a:srgbClr val="FFFF00"/>
              </a:highlight>
            </a:rPr>
            <a:t>integrating the front-end of the supply chain – customer demand</a:t>
          </a:r>
          <a:r>
            <a:rPr lang="en-US" sz="2300" kern="1200" dirty="0">
              <a:solidFill>
                <a:srgbClr val="FF0000"/>
              </a:solidFill>
            </a:rPr>
            <a:t>, </a:t>
          </a:r>
          <a:r>
            <a:rPr lang="en-US" sz="2300" kern="1200" dirty="0"/>
            <a:t>to the </a:t>
          </a:r>
          <a:r>
            <a:rPr lang="en-US" sz="2300" b="1" kern="1200" dirty="0">
              <a:solidFill>
                <a:srgbClr val="FF0000"/>
              </a:solidFill>
              <a:highlight>
                <a:srgbClr val="FFFF00"/>
              </a:highlight>
            </a:rPr>
            <a:t>back-end of the supply chain – the production and manufacturing portion.</a:t>
          </a:r>
          <a:endParaRPr lang="en-IN" sz="2300" b="1" kern="1200" dirty="0">
            <a:solidFill>
              <a:srgbClr val="FF0000"/>
            </a:solidFill>
            <a:highlight>
              <a:srgbClr val="FFFF00"/>
            </a:highlight>
          </a:endParaRPr>
        </a:p>
      </dsp:txBody>
      <dsp:txXfrm>
        <a:off x="80132" y="133535"/>
        <a:ext cx="10905841" cy="14812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4E200-B2B7-4D3E-8CA1-47DDD1806F97}">
      <dsp:nvSpPr>
        <dsp:cNvPr id="0" name=""/>
        <dsp:cNvSpPr/>
      </dsp:nvSpPr>
      <dsp:spPr>
        <a:xfrm>
          <a:off x="0" y="53403"/>
          <a:ext cx="11066105" cy="164150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u="sng" kern="1200" dirty="0"/>
            <a:t>Coordinate activities </a:t>
          </a:r>
          <a:r>
            <a:rPr lang="en-US" sz="2300" kern="1200" dirty="0"/>
            <a:t>across the supply chain, including </a:t>
          </a:r>
          <a:r>
            <a:rPr lang="en-US" sz="2300" b="1" kern="1200" dirty="0"/>
            <a:t>coordinating production</a:t>
          </a:r>
          <a:r>
            <a:rPr lang="en-US" sz="2300" kern="1200" dirty="0"/>
            <a:t>, </a:t>
          </a:r>
          <a:r>
            <a:rPr lang="en-US" sz="2300" b="1" kern="1200" dirty="0"/>
            <a:t>transportation, inventory decisions </a:t>
          </a:r>
          <a:r>
            <a:rPr lang="en-US" sz="2300" kern="1200" dirty="0"/>
            <a:t>and more generally, </a:t>
          </a:r>
          <a:r>
            <a:rPr lang="en-US" sz="2300" b="1" kern="1200" dirty="0">
              <a:solidFill>
                <a:srgbClr val="FF0000"/>
              </a:solidFill>
              <a:highlight>
                <a:srgbClr val="FFFF00"/>
              </a:highlight>
            </a:rPr>
            <a:t>integrating the front-end of the supply chain – customer demand</a:t>
          </a:r>
          <a:r>
            <a:rPr lang="en-US" sz="2300" kern="1200" dirty="0">
              <a:solidFill>
                <a:srgbClr val="FF0000"/>
              </a:solidFill>
            </a:rPr>
            <a:t>, </a:t>
          </a:r>
          <a:r>
            <a:rPr lang="en-US" sz="2300" kern="1200" dirty="0"/>
            <a:t>to the </a:t>
          </a:r>
          <a:r>
            <a:rPr lang="en-US" sz="2300" b="1" kern="1200" dirty="0">
              <a:solidFill>
                <a:srgbClr val="FF0000"/>
              </a:solidFill>
              <a:highlight>
                <a:srgbClr val="FFFF00"/>
              </a:highlight>
            </a:rPr>
            <a:t>back-end of the supply chain – the production and manufacturing portion.</a:t>
          </a:r>
          <a:endParaRPr lang="en-IN" sz="2300" b="1" kern="1200" dirty="0">
            <a:solidFill>
              <a:srgbClr val="FF0000"/>
            </a:solidFill>
            <a:highlight>
              <a:srgbClr val="FFFF00"/>
            </a:highlight>
          </a:endParaRPr>
        </a:p>
      </dsp:txBody>
      <dsp:txXfrm>
        <a:off x="80132" y="133535"/>
        <a:ext cx="10905841" cy="14812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F4882-B0F7-4747-8AD0-BB9F7A1432BC}">
      <dsp:nvSpPr>
        <dsp:cNvPr id="0" name=""/>
        <dsp:cNvSpPr/>
      </dsp:nvSpPr>
      <dsp:spPr>
        <a:xfrm rot="5400000">
          <a:off x="-592042" y="592042"/>
          <a:ext cx="3946947" cy="276286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b="0" i="0" kern="1200"/>
            <a:t>React slow and large variability lead to:</a:t>
          </a:r>
          <a:endParaRPr lang="en-IN" sz="2700" kern="1200"/>
        </a:p>
      </dsp:txBody>
      <dsp:txXfrm rot="-5400000">
        <a:off x="1" y="1381430"/>
        <a:ext cx="2762862" cy="1184085"/>
      </dsp:txXfrm>
    </dsp:sp>
    <dsp:sp modelId="{7292F3D0-0CF9-4364-A8E1-F69DBDC2F7CA}">
      <dsp:nvSpPr>
        <dsp:cNvPr id="0" name=""/>
        <dsp:cNvSpPr/>
      </dsp:nvSpPr>
      <dsp:spPr>
        <a:xfrm rot="5400000">
          <a:off x="5356473" y="-2593610"/>
          <a:ext cx="2565515" cy="775273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b="0" i="0" kern="1200"/>
            <a:t>Inability to meet changing demand patterns</a:t>
          </a:r>
          <a:endParaRPr lang="en-IN" sz="2800" kern="1200"/>
        </a:p>
        <a:p>
          <a:pPr marL="285750" lvl="1" indent="-285750" algn="l" defTabSz="1244600">
            <a:lnSpc>
              <a:spcPct val="90000"/>
            </a:lnSpc>
            <a:spcBef>
              <a:spcPct val="0"/>
            </a:spcBef>
            <a:spcAft>
              <a:spcPct val="15000"/>
            </a:spcAft>
            <a:buChar char="•"/>
          </a:pPr>
          <a:r>
            <a:rPr lang="en-US" sz="2800" b="0" i="0" kern="1200" dirty="0"/>
            <a:t>Excessive inventories</a:t>
          </a:r>
          <a:endParaRPr lang="en-IN" sz="2800" kern="1200" dirty="0"/>
        </a:p>
        <a:p>
          <a:pPr marL="285750" lvl="1" indent="-285750" algn="l" defTabSz="1244600">
            <a:lnSpc>
              <a:spcPct val="90000"/>
            </a:lnSpc>
            <a:spcBef>
              <a:spcPct val="0"/>
            </a:spcBef>
            <a:spcAft>
              <a:spcPct val="15000"/>
            </a:spcAft>
            <a:buChar char="•"/>
          </a:pPr>
          <a:r>
            <a:rPr lang="en-US" sz="2800" b="0" i="0" kern="1200"/>
            <a:t>Larger and more variable production batches</a:t>
          </a:r>
          <a:endParaRPr lang="en-IN" sz="2800" kern="1200"/>
        </a:p>
        <a:p>
          <a:pPr marL="285750" lvl="1" indent="-285750" algn="l" defTabSz="1244600">
            <a:lnSpc>
              <a:spcPct val="90000"/>
            </a:lnSpc>
            <a:spcBef>
              <a:spcPct val="0"/>
            </a:spcBef>
            <a:spcAft>
              <a:spcPct val="15000"/>
            </a:spcAft>
            <a:buChar char="•"/>
          </a:pPr>
          <a:r>
            <a:rPr lang="en-US" sz="2800" b="0" i="0" kern="1200"/>
            <a:t>Unacceptable service levels</a:t>
          </a:r>
          <a:endParaRPr lang="en-IN" sz="2800" kern="1200"/>
        </a:p>
        <a:p>
          <a:pPr marL="285750" lvl="1" indent="-285750" algn="l" defTabSz="1244600">
            <a:lnSpc>
              <a:spcPct val="90000"/>
            </a:lnSpc>
            <a:spcBef>
              <a:spcPct val="0"/>
            </a:spcBef>
            <a:spcAft>
              <a:spcPct val="15000"/>
            </a:spcAft>
            <a:buChar char="•"/>
          </a:pPr>
          <a:r>
            <a:rPr lang="en-US" sz="2800" b="0" i="0" kern="1200"/>
            <a:t>Product obsolescence</a:t>
          </a:r>
          <a:endParaRPr lang="en-IN" sz="2800" kern="1200"/>
        </a:p>
      </dsp:txBody>
      <dsp:txXfrm rot="-5400000">
        <a:off x="2762862" y="125239"/>
        <a:ext cx="7627499" cy="23150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4E200-B2B7-4D3E-8CA1-47DDD1806F97}">
      <dsp:nvSpPr>
        <dsp:cNvPr id="0" name=""/>
        <dsp:cNvSpPr/>
      </dsp:nvSpPr>
      <dsp:spPr>
        <a:xfrm>
          <a:off x="0" y="198117"/>
          <a:ext cx="11066105" cy="125775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u="sng" kern="1200" dirty="0">
              <a:solidFill>
                <a:srgbClr val="FF0000"/>
              </a:solidFill>
              <a:effectLst/>
              <a:highlight>
                <a:srgbClr val="FFFF00"/>
              </a:highlight>
              <a:latin typeface="Open Sans" panose="020B0606030504020204" pitchFamily="34" charset="0"/>
            </a:rPr>
            <a:t>Push-based supply chain</a:t>
          </a:r>
        </a:p>
        <a:p>
          <a:pPr marL="0" lvl="0" indent="0" algn="l" defTabSz="1111250">
            <a:lnSpc>
              <a:spcPct val="90000"/>
            </a:lnSpc>
            <a:spcBef>
              <a:spcPct val="0"/>
            </a:spcBef>
            <a:spcAft>
              <a:spcPct val="35000"/>
            </a:spcAft>
            <a:buNone/>
          </a:pPr>
          <a:r>
            <a:rPr lang="en-US" sz="2500" b="0" i="0" kern="1200" dirty="0">
              <a:solidFill>
                <a:schemeClr val="bg1"/>
              </a:solidFill>
              <a:effectLst/>
              <a:latin typeface="Open Sans" panose="020B0606030504020204" pitchFamily="34" charset="0"/>
            </a:rPr>
            <a:t>Production and distribution decisions are based on long-term forecasts</a:t>
          </a:r>
          <a:r>
            <a:rPr lang="en-US" sz="2500" b="0" i="0" kern="1200" dirty="0">
              <a:solidFill>
                <a:srgbClr val="444444"/>
              </a:solidFill>
              <a:effectLst/>
              <a:latin typeface="Open Sans" panose="020B0606030504020204" pitchFamily="34" charset="0"/>
            </a:rPr>
            <a:t>.</a:t>
          </a:r>
          <a:endParaRPr lang="en-IN" sz="2500" b="1" kern="1200" dirty="0">
            <a:solidFill>
              <a:srgbClr val="FF0000"/>
            </a:solidFill>
            <a:highlight>
              <a:srgbClr val="FFFF00"/>
            </a:highlight>
          </a:endParaRPr>
        </a:p>
      </dsp:txBody>
      <dsp:txXfrm>
        <a:off x="61398" y="259515"/>
        <a:ext cx="10943309" cy="11349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F4C11-70EC-4A4A-8D61-D4BEC6C43315}">
      <dsp:nvSpPr>
        <dsp:cNvPr id="0" name=""/>
        <dsp:cNvSpPr/>
      </dsp:nvSpPr>
      <dsp:spPr>
        <a:xfrm>
          <a:off x="0" y="37060"/>
          <a:ext cx="10515600" cy="9534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Effect:</a:t>
          </a:r>
          <a:endParaRPr lang="en-IN" sz="2400" kern="1200"/>
        </a:p>
      </dsp:txBody>
      <dsp:txXfrm>
        <a:off x="46541" y="83601"/>
        <a:ext cx="10422518" cy="860321"/>
      </dsp:txXfrm>
    </dsp:sp>
    <dsp:sp modelId="{22CF4E96-DAA7-455D-A5AF-B444BDF2AB69}">
      <dsp:nvSpPr>
        <dsp:cNvPr id="0" name=""/>
        <dsp:cNvSpPr/>
      </dsp:nvSpPr>
      <dsp:spPr>
        <a:xfrm>
          <a:off x="0" y="990464"/>
          <a:ext cx="10515600"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D</a:t>
          </a:r>
          <a:r>
            <a:rPr lang="en-US" sz="1900" b="0" i="0" kern="1200"/>
            <a:t>ecrease lead times</a:t>
          </a:r>
          <a:endParaRPr lang="en-IN" sz="1900" kern="1200"/>
        </a:p>
        <a:p>
          <a:pPr marL="171450" lvl="1" indent="-171450" algn="l" defTabSz="844550">
            <a:lnSpc>
              <a:spcPct val="90000"/>
            </a:lnSpc>
            <a:spcBef>
              <a:spcPct val="0"/>
            </a:spcBef>
            <a:spcAft>
              <a:spcPct val="20000"/>
            </a:spcAft>
            <a:buChar char="•"/>
          </a:pPr>
          <a:r>
            <a:rPr lang="en-US" sz="1900" kern="1200"/>
            <a:t>D</a:t>
          </a:r>
          <a:r>
            <a:rPr lang="en-US" sz="1900" b="0" i="0" kern="1200"/>
            <a:t>ecrease inventory of retailers</a:t>
          </a:r>
          <a:endParaRPr lang="en-IN" sz="1900" kern="1200"/>
        </a:p>
        <a:p>
          <a:pPr marL="171450" lvl="1" indent="-171450" algn="l" defTabSz="844550">
            <a:lnSpc>
              <a:spcPct val="90000"/>
            </a:lnSpc>
            <a:spcBef>
              <a:spcPct val="0"/>
            </a:spcBef>
            <a:spcAft>
              <a:spcPct val="20000"/>
            </a:spcAft>
            <a:buChar char="•"/>
          </a:pPr>
          <a:r>
            <a:rPr lang="en-US" sz="1900" kern="1200"/>
            <a:t>D</a:t>
          </a:r>
          <a:r>
            <a:rPr lang="en-US" sz="1900" b="0" i="0" kern="1200"/>
            <a:t>ecrease variability in the system</a:t>
          </a:r>
          <a:endParaRPr lang="en-IN" sz="1900" kern="1200"/>
        </a:p>
        <a:p>
          <a:pPr marL="171450" lvl="1" indent="-171450" algn="l" defTabSz="844550">
            <a:lnSpc>
              <a:spcPct val="90000"/>
            </a:lnSpc>
            <a:spcBef>
              <a:spcPct val="0"/>
            </a:spcBef>
            <a:spcAft>
              <a:spcPct val="20000"/>
            </a:spcAft>
            <a:buChar char="•"/>
          </a:pPr>
          <a:r>
            <a:rPr lang="en-US" sz="1900" kern="1200"/>
            <a:t>D</a:t>
          </a:r>
          <a:r>
            <a:rPr lang="en-US" sz="1900" b="0" i="0" kern="1200"/>
            <a:t>ecrease inventory of manufacturer</a:t>
          </a:r>
          <a:endParaRPr lang="en-IN" sz="1900" kern="1200"/>
        </a:p>
      </dsp:txBody>
      <dsp:txXfrm>
        <a:off x="0" y="990464"/>
        <a:ext cx="10515600" cy="1316520"/>
      </dsp:txXfrm>
    </dsp:sp>
    <dsp:sp modelId="{BCE43224-584F-4B2E-A17D-5DC30C0BD76D}">
      <dsp:nvSpPr>
        <dsp:cNvPr id="0" name=""/>
        <dsp:cNvSpPr/>
      </dsp:nvSpPr>
      <dsp:spPr>
        <a:xfrm>
          <a:off x="0" y="2306984"/>
          <a:ext cx="10515600" cy="953403"/>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Lead times too long, difficult to implement pull-based systems</a:t>
          </a:r>
          <a:endParaRPr lang="en-IN" sz="2400" kern="1200"/>
        </a:p>
      </dsp:txBody>
      <dsp:txXfrm>
        <a:off x="46541" y="2353525"/>
        <a:ext cx="10422518" cy="860321"/>
      </dsp:txXfrm>
    </dsp:sp>
    <dsp:sp modelId="{2B7BD3B8-238A-4472-ACD6-1686E56D8C37}">
      <dsp:nvSpPr>
        <dsp:cNvPr id="0" name=""/>
        <dsp:cNvSpPr/>
      </dsp:nvSpPr>
      <dsp:spPr>
        <a:xfrm>
          <a:off x="0" y="3329508"/>
          <a:ext cx="10515600" cy="95340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Difficult to take advantage of economies of scale in manufacturing and transportation</a:t>
          </a:r>
          <a:endParaRPr lang="en-IN" sz="2400" kern="1200"/>
        </a:p>
      </dsp:txBody>
      <dsp:txXfrm>
        <a:off x="46541" y="3376049"/>
        <a:ext cx="10422518" cy="8603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4E200-B2B7-4D3E-8CA1-47DDD1806F97}">
      <dsp:nvSpPr>
        <dsp:cNvPr id="0" name=""/>
        <dsp:cNvSpPr/>
      </dsp:nvSpPr>
      <dsp:spPr>
        <a:xfrm>
          <a:off x="0" y="0"/>
          <a:ext cx="11066105" cy="135836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solidFill>
                <a:srgbClr val="FF0000"/>
              </a:solidFill>
              <a:effectLst/>
              <a:highlight>
                <a:srgbClr val="FFFF00"/>
              </a:highlight>
              <a:latin typeface="Open Sans" panose="020B0606030504020204" pitchFamily="34" charset="0"/>
            </a:rPr>
            <a:t>Pull-based supply chain</a:t>
          </a:r>
        </a:p>
        <a:p>
          <a:pPr marL="0" lvl="0" indent="0" algn="l" defTabSz="1200150">
            <a:lnSpc>
              <a:spcPct val="90000"/>
            </a:lnSpc>
            <a:spcBef>
              <a:spcPct val="0"/>
            </a:spcBef>
            <a:spcAft>
              <a:spcPct val="35000"/>
            </a:spcAft>
            <a:buNone/>
          </a:pPr>
          <a:r>
            <a:rPr lang="en-US" sz="2700" b="0" i="0" kern="1200" dirty="0">
              <a:solidFill>
                <a:schemeClr val="bg1"/>
              </a:solidFill>
              <a:effectLst/>
              <a:latin typeface="Open Sans" panose="020B0606030504020204" pitchFamily="34" charset="0"/>
            </a:rPr>
            <a:t>Production and distribution are demand driven.</a:t>
          </a:r>
          <a:endParaRPr lang="en-IN" sz="2700" b="1" kern="1200" dirty="0">
            <a:solidFill>
              <a:schemeClr val="bg1"/>
            </a:solidFill>
            <a:highlight>
              <a:srgbClr val="FFFF00"/>
            </a:highlight>
          </a:endParaRPr>
        </a:p>
      </dsp:txBody>
      <dsp:txXfrm>
        <a:off x="66310" y="66310"/>
        <a:ext cx="10933485" cy="122574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4E200-B2B7-4D3E-8CA1-47DDD1806F97}">
      <dsp:nvSpPr>
        <dsp:cNvPr id="0" name=""/>
        <dsp:cNvSpPr/>
      </dsp:nvSpPr>
      <dsp:spPr>
        <a:xfrm>
          <a:off x="0" y="0"/>
          <a:ext cx="11066105" cy="13572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solidFill>
                <a:srgbClr val="FF0000"/>
              </a:solidFill>
              <a:effectLst/>
              <a:highlight>
                <a:srgbClr val="FFFF00"/>
              </a:highlight>
              <a:latin typeface="Open Sans" panose="020B0606030504020204" pitchFamily="34" charset="0"/>
            </a:rPr>
            <a:t>Push-Pull supply chain</a:t>
          </a:r>
        </a:p>
        <a:p>
          <a:pPr marL="0" lvl="0" indent="0" algn="l" defTabSz="889000">
            <a:lnSpc>
              <a:spcPct val="90000"/>
            </a:lnSpc>
            <a:spcBef>
              <a:spcPct val="0"/>
            </a:spcBef>
            <a:spcAft>
              <a:spcPct val="35000"/>
            </a:spcAft>
            <a:buNone/>
          </a:pPr>
          <a:r>
            <a:rPr lang="en-US" sz="2000" b="0" i="0" kern="1200" dirty="0">
              <a:solidFill>
                <a:schemeClr val="bg1"/>
              </a:solidFill>
              <a:effectLst/>
              <a:latin typeface="Open Sans" panose="020B0606030504020204" pitchFamily="34" charset="0"/>
            </a:rPr>
            <a:t>Some stages operated in a push-based manner; the remaining stages employ a pull-based strategy. (PC, delayed differentiation).</a:t>
          </a:r>
          <a:endParaRPr lang="en-IN" sz="2000" b="1" kern="1200" dirty="0">
            <a:solidFill>
              <a:schemeClr val="bg1"/>
            </a:solidFill>
            <a:highlight>
              <a:srgbClr val="FFFF00"/>
            </a:highlight>
          </a:endParaRPr>
        </a:p>
      </dsp:txBody>
      <dsp:txXfrm>
        <a:off x="66253" y="66253"/>
        <a:ext cx="10933599" cy="122469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11D32-F5F6-4529-BB71-C1ABE1246991}">
      <dsp:nvSpPr>
        <dsp:cNvPr id="0" name=""/>
        <dsp:cNvSpPr/>
      </dsp:nvSpPr>
      <dsp:spPr>
        <a:xfrm>
          <a:off x="1641178" y="756357"/>
          <a:ext cx="5052985" cy="5052985"/>
        </a:xfrm>
        <a:prstGeom prst="blockArc">
          <a:avLst>
            <a:gd name="adj1" fmla="val 11880000"/>
            <a:gd name="adj2" fmla="val 16200000"/>
            <a:gd name="adj3" fmla="val 4644"/>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0AEA5A-88E7-477A-9922-520097B97852}">
      <dsp:nvSpPr>
        <dsp:cNvPr id="0" name=""/>
        <dsp:cNvSpPr/>
      </dsp:nvSpPr>
      <dsp:spPr>
        <a:xfrm>
          <a:off x="1641178" y="756357"/>
          <a:ext cx="5052985" cy="5052985"/>
        </a:xfrm>
        <a:prstGeom prst="blockArc">
          <a:avLst>
            <a:gd name="adj1" fmla="val 7560000"/>
            <a:gd name="adj2" fmla="val 11880000"/>
            <a:gd name="adj3" fmla="val 4644"/>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2E0C873-C278-478F-B973-CE86A2D60C3F}">
      <dsp:nvSpPr>
        <dsp:cNvPr id="0" name=""/>
        <dsp:cNvSpPr/>
      </dsp:nvSpPr>
      <dsp:spPr>
        <a:xfrm>
          <a:off x="1641178" y="756357"/>
          <a:ext cx="5052985" cy="5052985"/>
        </a:xfrm>
        <a:prstGeom prst="blockArc">
          <a:avLst>
            <a:gd name="adj1" fmla="val 3240000"/>
            <a:gd name="adj2" fmla="val 7560000"/>
            <a:gd name="adj3" fmla="val 4644"/>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39E508-4336-463D-80A1-9BFE858D29EC}">
      <dsp:nvSpPr>
        <dsp:cNvPr id="0" name=""/>
        <dsp:cNvSpPr/>
      </dsp:nvSpPr>
      <dsp:spPr>
        <a:xfrm>
          <a:off x="1640318" y="756982"/>
          <a:ext cx="5052985" cy="5052985"/>
        </a:xfrm>
        <a:prstGeom prst="blockArc">
          <a:avLst>
            <a:gd name="adj1" fmla="val 20519081"/>
            <a:gd name="adj2" fmla="val 3238518"/>
            <a:gd name="adj3" fmla="val 4644"/>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4B524C-7AF0-41A3-9CC9-FDF3C37688D6}">
      <dsp:nvSpPr>
        <dsp:cNvPr id="0" name=""/>
        <dsp:cNvSpPr/>
      </dsp:nvSpPr>
      <dsp:spPr>
        <a:xfrm>
          <a:off x="1640114" y="756356"/>
          <a:ext cx="5052985" cy="5052985"/>
        </a:xfrm>
        <a:prstGeom prst="blockArc">
          <a:avLst>
            <a:gd name="adj1" fmla="val 16201482"/>
            <a:gd name="adj2" fmla="val 20519998"/>
            <a:gd name="adj3" fmla="val 4644"/>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00A556A-EA44-4818-829F-88751B94E4D9}">
      <dsp:nvSpPr>
        <dsp:cNvPr id="0" name=""/>
        <dsp:cNvSpPr/>
      </dsp:nvSpPr>
      <dsp:spPr>
        <a:xfrm>
          <a:off x="3003653" y="2118832"/>
          <a:ext cx="2328035" cy="23280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dirty="0"/>
            <a:t>Market forces driving the demand side</a:t>
          </a:r>
        </a:p>
      </dsp:txBody>
      <dsp:txXfrm>
        <a:off x="3344586" y="2459765"/>
        <a:ext cx="1646169" cy="1646169"/>
      </dsp:txXfrm>
    </dsp:sp>
    <dsp:sp modelId="{097AF3CA-C2CE-40A2-AECB-9C4E1F73F48C}">
      <dsp:nvSpPr>
        <dsp:cNvPr id="0" name=""/>
        <dsp:cNvSpPr/>
      </dsp:nvSpPr>
      <dsp:spPr>
        <a:xfrm>
          <a:off x="3352859" y="211"/>
          <a:ext cx="1629624" cy="162962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IN" sz="1500" kern="1200" dirty="0"/>
            <a:t>Growing customer aspirations</a:t>
          </a:r>
        </a:p>
      </dsp:txBody>
      <dsp:txXfrm>
        <a:off x="3591512" y="238864"/>
        <a:ext cx="1152318" cy="1152318"/>
      </dsp:txXfrm>
    </dsp:sp>
    <dsp:sp modelId="{BB54D38C-E3CC-4718-8300-D55F21A26C97}">
      <dsp:nvSpPr>
        <dsp:cNvPr id="0" name=""/>
        <dsp:cNvSpPr/>
      </dsp:nvSpPr>
      <dsp:spPr>
        <a:xfrm>
          <a:off x="5698836" y="1705435"/>
          <a:ext cx="1629624" cy="162962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IN" sz="1500" kern="1200" dirty="0"/>
            <a:t>Average frequency of home painting has gone up</a:t>
          </a:r>
        </a:p>
      </dsp:txBody>
      <dsp:txXfrm>
        <a:off x="5937489" y="1944088"/>
        <a:ext cx="1152318" cy="1152318"/>
      </dsp:txXfrm>
    </dsp:sp>
    <dsp:sp modelId="{1796CD5C-571A-49EA-9AA7-C23AE16A9568}">
      <dsp:nvSpPr>
        <dsp:cNvPr id="0" name=""/>
        <dsp:cNvSpPr/>
      </dsp:nvSpPr>
      <dsp:spPr>
        <a:xfrm>
          <a:off x="4803411" y="4464550"/>
          <a:ext cx="1629624" cy="162962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IN" sz="1500" kern="1200" dirty="0"/>
            <a:t>Initiatives by Govt. of India</a:t>
          </a:r>
        </a:p>
      </dsp:txBody>
      <dsp:txXfrm>
        <a:off x="5042064" y="4703203"/>
        <a:ext cx="1152318" cy="1152318"/>
      </dsp:txXfrm>
    </dsp:sp>
    <dsp:sp modelId="{E4D521F3-F48D-477E-BD69-E1FEF43BAE11}">
      <dsp:nvSpPr>
        <dsp:cNvPr id="0" name=""/>
        <dsp:cNvSpPr/>
      </dsp:nvSpPr>
      <dsp:spPr>
        <a:xfrm>
          <a:off x="1902307" y="4464550"/>
          <a:ext cx="1629624" cy="1629624"/>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IN" sz="1500" kern="1200" dirty="0"/>
            <a:t>Paint Industry’s lowered to slab of 18% GST</a:t>
          </a:r>
        </a:p>
      </dsp:txBody>
      <dsp:txXfrm>
        <a:off x="2140960" y="4703203"/>
        <a:ext cx="1152318" cy="1152318"/>
      </dsp:txXfrm>
    </dsp:sp>
    <dsp:sp modelId="{230AB770-8469-4BA2-AB16-AF26CE75999E}">
      <dsp:nvSpPr>
        <dsp:cNvPr id="0" name=""/>
        <dsp:cNvSpPr/>
      </dsp:nvSpPr>
      <dsp:spPr>
        <a:xfrm>
          <a:off x="1005816" y="1705437"/>
          <a:ext cx="1629624" cy="1629624"/>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IN" sz="1500" kern="1200" dirty="0"/>
            <a:t>Demand from reality and construction sector</a:t>
          </a:r>
        </a:p>
      </dsp:txBody>
      <dsp:txXfrm>
        <a:off x="1244469" y="1944090"/>
        <a:ext cx="1152318" cy="115231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F81E3-81A1-48F2-BBDE-381401F431AE}">
      <dsp:nvSpPr>
        <dsp:cNvPr id="0" name=""/>
        <dsp:cNvSpPr/>
      </dsp:nvSpPr>
      <dsp:spPr>
        <a:xfrm>
          <a:off x="4847253" y="1361059"/>
          <a:ext cx="3293433" cy="571587"/>
        </a:xfrm>
        <a:custGeom>
          <a:avLst/>
          <a:gdLst/>
          <a:ahLst/>
          <a:cxnLst/>
          <a:rect l="0" t="0" r="0" b="0"/>
          <a:pathLst>
            <a:path>
              <a:moveTo>
                <a:pt x="0" y="0"/>
              </a:moveTo>
              <a:lnTo>
                <a:pt x="0" y="285793"/>
              </a:lnTo>
              <a:lnTo>
                <a:pt x="3293433" y="285793"/>
              </a:lnTo>
              <a:lnTo>
                <a:pt x="3293433" y="5715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FA9B29-4C92-4937-9234-7C7EC5E56028}">
      <dsp:nvSpPr>
        <dsp:cNvPr id="0" name=""/>
        <dsp:cNvSpPr/>
      </dsp:nvSpPr>
      <dsp:spPr>
        <a:xfrm>
          <a:off x="4801532" y="1361059"/>
          <a:ext cx="91440" cy="571587"/>
        </a:xfrm>
        <a:custGeom>
          <a:avLst/>
          <a:gdLst/>
          <a:ahLst/>
          <a:cxnLst/>
          <a:rect l="0" t="0" r="0" b="0"/>
          <a:pathLst>
            <a:path>
              <a:moveTo>
                <a:pt x="45720" y="0"/>
              </a:moveTo>
              <a:lnTo>
                <a:pt x="45720" y="5715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DB9ADD-ECF5-4DBF-8A6E-5CD4A269940A}">
      <dsp:nvSpPr>
        <dsp:cNvPr id="0" name=""/>
        <dsp:cNvSpPr/>
      </dsp:nvSpPr>
      <dsp:spPr>
        <a:xfrm>
          <a:off x="1553819" y="1361059"/>
          <a:ext cx="3293433" cy="571587"/>
        </a:xfrm>
        <a:custGeom>
          <a:avLst/>
          <a:gdLst/>
          <a:ahLst/>
          <a:cxnLst/>
          <a:rect l="0" t="0" r="0" b="0"/>
          <a:pathLst>
            <a:path>
              <a:moveTo>
                <a:pt x="3293433" y="0"/>
              </a:moveTo>
              <a:lnTo>
                <a:pt x="3293433" y="285793"/>
              </a:lnTo>
              <a:lnTo>
                <a:pt x="0" y="285793"/>
              </a:lnTo>
              <a:lnTo>
                <a:pt x="0" y="5715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772CA6-AD97-49C3-8C8C-3463289242D9}">
      <dsp:nvSpPr>
        <dsp:cNvPr id="0" name=""/>
        <dsp:cNvSpPr/>
      </dsp:nvSpPr>
      <dsp:spPr>
        <a:xfrm>
          <a:off x="2839034" y="136"/>
          <a:ext cx="4016437" cy="136092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Inaccuracy of the forecast has a detrimental impact on supply chain performance: </a:t>
          </a:r>
          <a:br>
            <a:rPr lang="en-IN" sz="1800" kern="1200" dirty="0"/>
          </a:br>
          <a:endParaRPr lang="en-IN" sz="1800" kern="1200" dirty="0"/>
        </a:p>
      </dsp:txBody>
      <dsp:txXfrm>
        <a:off x="2839034" y="136"/>
        <a:ext cx="4016437" cy="1360923"/>
      </dsp:txXfrm>
    </dsp:sp>
    <dsp:sp modelId="{F96AE8B3-AE18-4307-8678-2C2DB8F6DEC0}">
      <dsp:nvSpPr>
        <dsp:cNvPr id="0" name=""/>
        <dsp:cNvSpPr/>
      </dsp:nvSpPr>
      <dsp:spPr>
        <a:xfrm>
          <a:off x="192896" y="1932646"/>
          <a:ext cx="2721846" cy="136092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Lost Sales</a:t>
          </a:r>
        </a:p>
      </dsp:txBody>
      <dsp:txXfrm>
        <a:off x="192896" y="1932646"/>
        <a:ext cx="2721846" cy="1360923"/>
      </dsp:txXfrm>
    </dsp:sp>
    <dsp:sp modelId="{405E7692-50DE-4DB0-B663-7CF39056F917}">
      <dsp:nvSpPr>
        <dsp:cNvPr id="0" name=""/>
        <dsp:cNvSpPr/>
      </dsp:nvSpPr>
      <dsp:spPr>
        <a:xfrm>
          <a:off x="3486329" y="1932646"/>
          <a:ext cx="2721846" cy="136092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Obsolete inventory </a:t>
          </a:r>
        </a:p>
      </dsp:txBody>
      <dsp:txXfrm>
        <a:off x="3486329" y="1932646"/>
        <a:ext cx="2721846" cy="1360923"/>
      </dsp:txXfrm>
    </dsp:sp>
    <dsp:sp modelId="{15F9DE93-784D-4A88-96E0-A66C46258868}">
      <dsp:nvSpPr>
        <dsp:cNvPr id="0" name=""/>
        <dsp:cNvSpPr/>
      </dsp:nvSpPr>
      <dsp:spPr>
        <a:xfrm>
          <a:off x="6779763" y="1932646"/>
          <a:ext cx="2721846" cy="136092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Inefficient resource utilization</a:t>
          </a:r>
        </a:p>
      </dsp:txBody>
      <dsp:txXfrm>
        <a:off x="6779763" y="1932646"/>
        <a:ext cx="2721846" cy="136092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35C023-2A38-4594-865E-615E9189F7B1}">
      <dsp:nvSpPr>
        <dsp:cNvPr id="0" name=""/>
        <dsp:cNvSpPr/>
      </dsp:nvSpPr>
      <dsp:spPr>
        <a:xfrm>
          <a:off x="0" y="266708"/>
          <a:ext cx="5127171" cy="67158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New Product Launches</a:t>
          </a:r>
          <a:endParaRPr lang="en-IN" sz="2800" kern="1200" dirty="0"/>
        </a:p>
      </dsp:txBody>
      <dsp:txXfrm>
        <a:off x="32784" y="299492"/>
        <a:ext cx="5061603" cy="606012"/>
      </dsp:txXfrm>
    </dsp:sp>
    <dsp:sp modelId="{5EF231AB-063B-40A5-9B83-0F2071FBB522}">
      <dsp:nvSpPr>
        <dsp:cNvPr id="0" name=""/>
        <dsp:cNvSpPr/>
      </dsp:nvSpPr>
      <dsp:spPr>
        <a:xfrm>
          <a:off x="0" y="1018929"/>
          <a:ext cx="5127171" cy="67158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Price optimization</a:t>
          </a:r>
          <a:endParaRPr lang="en-US" sz="2800" kern="1200" dirty="0"/>
        </a:p>
      </dsp:txBody>
      <dsp:txXfrm>
        <a:off x="32784" y="1051713"/>
        <a:ext cx="5061603" cy="606012"/>
      </dsp:txXfrm>
    </dsp:sp>
    <dsp:sp modelId="{C5813732-6C20-41A2-8B97-406FEB4225B8}">
      <dsp:nvSpPr>
        <dsp:cNvPr id="0" name=""/>
        <dsp:cNvSpPr/>
      </dsp:nvSpPr>
      <dsp:spPr>
        <a:xfrm>
          <a:off x="0" y="1771149"/>
          <a:ext cx="5127171" cy="67158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Sales promotions &amp; Deals offered</a:t>
          </a:r>
          <a:endParaRPr lang="en-US" sz="2800" kern="1200" dirty="0"/>
        </a:p>
      </dsp:txBody>
      <dsp:txXfrm>
        <a:off x="32784" y="1803933"/>
        <a:ext cx="5061603" cy="606012"/>
      </dsp:txXfrm>
    </dsp:sp>
    <dsp:sp modelId="{8C211314-6D2F-453D-BC11-D1DDE3514E71}">
      <dsp:nvSpPr>
        <dsp:cNvPr id="0" name=""/>
        <dsp:cNvSpPr/>
      </dsp:nvSpPr>
      <dsp:spPr>
        <a:xfrm>
          <a:off x="0" y="2523369"/>
          <a:ext cx="5127171" cy="67158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Capacity Utilization</a:t>
          </a:r>
          <a:endParaRPr lang="en-IN" sz="2800" kern="1200" dirty="0"/>
        </a:p>
      </dsp:txBody>
      <dsp:txXfrm>
        <a:off x="32784" y="2556153"/>
        <a:ext cx="5061603"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C1D56-B3DE-46E9-93C3-61F8DACFBD17}">
      <dsp:nvSpPr>
        <dsp:cNvPr id="0" name=""/>
        <dsp:cNvSpPr/>
      </dsp:nvSpPr>
      <dsp:spPr>
        <a:xfrm>
          <a:off x="0" y="446745"/>
          <a:ext cx="5846063" cy="6804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1065D1-6FFA-4BBD-BDC7-297D99762783}">
      <dsp:nvSpPr>
        <dsp:cNvPr id="0" name=""/>
        <dsp:cNvSpPr/>
      </dsp:nvSpPr>
      <dsp:spPr>
        <a:xfrm>
          <a:off x="292303" y="48225"/>
          <a:ext cx="4092244" cy="7970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677" tIns="0" rIns="154677" bIns="0" numCol="1" spcCol="1270" anchor="ctr" anchorCtr="0">
          <a:noAutofit/>
        </a:bodyPr>
        <a:lstStyle/>
        <a:p>
          <a:pPr marL="0" lvl="0" indent="0" algn="l" defTabSz="1200150">
            <a:lnSpc>
              <a:spcPct val="90000"/>
            </a:lnSpc>
            <a:spcBef>
              <a:spcPct val="0"/>
            </a:spcBef>
            <a:spcAft>
              <a:spcPct val="35000"/>
            </a:spcAft>
            <a:buNone/>
          </a:pPr>
          <a:r>
            <a:rPr lang="en-US" sz="2700" kern="1200" dirty="0"/>
            <a:t>Product Substitution</a:t>
          </a:r>
          <a:endParaRPr lang="en-IN" sz="2700" kern="1200" dirty="0"/>
        </a:p>
      </dsp:txBody>
      <dsp:txXfrm>
        <a:off x="331211" y="87133"/>
        <a:ext cx="4014428" cy="719224"/>
      </dsp:txXfrm>
    </dsp:sp>
    <dsp:sp modelId="{8BCA90D1-558E-44E5-A65F-E5ECEDCBFC3F}">
      <dsp:nvSpPr>
        <dsp:cNvPr id="0" name=""/>
        <dsp:cNvSpPr/>
      </dsp:nvSpPr>
      <dsp:spPr>
        <a:xfrm>
          <a:off x="0" y="1671465"/>
          <a:ext cx="5846063" cy="2041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3719" tIns="562356" rIns="453719"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Price Incentive</a:t>
          </a:r>
        </a:p>
        <a:p>
          <a:pPr marL="228600" lvl="1" indent="-228600" algn="l" defTabSz="1200150">
            <a:lnSpc>
              <a:spcPct val="90000"/>
            </a:lnSpc>
            <a:spcBef>
              <a:spcPct val="0"/>
            </a:spcBef>
            <a:spcAft>
              <a:spcPct val="15000"/>
            </a:spcAft>
            <a:buChar char="•"/>
          </a:pPr>
          <a:r>
            <a:rPr lang="en-US" sz="2700" kern="1200" dirty="0"/>
            <a:t>Cost Incentive</a:t>
          </a:r>
        </a:p>
        <a:p>
          <a:pPr marL="228600" lvl="1" indent="-228600" algn="l" defTabSz="1200150">
            <a:lnSpc>
              <a:spcPct val="90000"/>
            </a:lnSpc>
            <a:spcBef>
              <a:spcPct val="0"/>
            </a:spcBef>
            <a:spcAft>
              <a:spcPct val="15000"/>
            </a:spcAft>
            <a:buChar char="•"/>
          </a:pPr>
          <a:r>
            <a:rPr lang="en-US" sz="2700" kern="1200" dirty="0"/>
            <a:t>Cost Modification</a:t>
          </a:r>
        </a:p>
      </dsp:txBody>
      <dsp:txXfrm>
        <a:off x="0" y="1671465"/>
        <a:ext cx="5846063" cy="2041200"/>
      </dsp:txXfrm>
    </dsp:sp>
    <dsp:sp modelId="{F9F78109-D37A-4920-B65C-E48CBCC491EB}">
      <dsp:nvSpPr>
        <dsp:cNvPr id="0" name=""/>
        <dsp:cNvSpPr/>
      </dsp:nvSpPr>
      <dsp:spPr>
        <a:xfrm>
          <a:off x="292303" y="1272945"/>
          <a:ext cx="4092244" cy="7970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677" tIns="0" rIns="154677" bIns="0" numCol="1" spcCol="1270" anchor="ctr" anchorCtr="0">
          <a:noAutofit/>
        </a:bodyPr>
        <a:lstStyle/>
        <a:p>
          <a:pPr marL="0" lvl="0" indent="0" algn="l" defTabSz="1200150">
            <a:lnSpc>
              <a:spcPct val="90000"/>
            </a:lnSpc>
            <a:spcBef>
              <a:spcPct val="0"/>
            </a:spcBef>
            <a:spcAft>
              <a:spcPct val="35000"/>
            </a:spcAft>
            <a:buNone/>
          </a:pPr>
          <a:r>
            <a:rPr lang="en-US" sz="2700" kern="1200" dirty="0"/>
            <a:t>Dynamic Pricing</a:t>
          </a:r>
          <a:endParaRPr lang="en-IN" sz="2700" kern="1200" dirty="0"/>
        </a:p>
      </dsp:txBody>
      <dsp:txXfrm>
        <a:off x="331211" y="1311853"/>
        <a:ext cx="4014428"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930A772A-64EC-4AE9-8FE1-33BBEA2319D4}" type="datetimeFigureOut">
              <a:rPr lang="en-IN" smtClean="0"/>
              <a:t>14-10-2025</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1209EA5-A0E3-4BEA-B36A-3E87323A4D84}" type="slidenum">
              <a:rPr lang="en-IN" smtClean="0"/>
              <a:t>‹#›</a:t>
            </a:fld>
            <a:endParaRPr lang="en-IN"/>
          </a:p>
        </p:txBody>
      </p:sp>
    </p:spTree>
    <p:extLst>
      <p:ext uri="{BB962C8B-B14F-4D97-AF65-F5344CB8AC3E}">
        <p14:creationId xmlns:p14="http://schemas.microsoft.com/office/powerpoint/2010/main" val="4110269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209EA5-A0E3-4BEA-B36A-3E87323A4D84}" type="slidenum">
              <a:rPr lang="en-IN" smtClean="0"/>
              <a:t>1</a:t>
            </a:fld>
            <a:endParaRPr lang="en-IN"/>
          </a:p>
        </p:txBody>
      </p:sp>
    </p:spTree>
    <p:extLst>
      <p:ext uri="{BB962C8B-B14F-4D97-AF65-F5344CB8AC3E}">
        <p14:creationId xmlns:p14="http://schemas.microsoft.com/office/powerpoint/2010/main" val="2697057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1: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endParaRPr/>
          </a:p>
        </p:txBody>
      </p:sp>
      <p:sp>
        <p:nvSpPr>
          <p:cNvPr id="404" name="Google Shape;404;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5049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7: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endParaRPr/>
          </a:p>
        </p:txBody>
      </p:sp>
      <p:sp>
        <p:nvSpPr>
          <p:cNvPr id="486" name="Google Shape;486;p1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1822027-B698-4EA4-AB00-3530128B9E1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5CEF444F-73B7-45EC-87A4-874723432B73}" type="slidenum">
              <a:rPr lang="en-US" altLang="en-US">
                <a:solidFill>
                  <a:srgbClr val="000000"/>
                </a:solidFill>
              </a:rPr>
              <a:pPr defTabSz="966612" fontAlgn="base">
                <a:spcBef>
                  <a:spcPct val="0"/>
                </a:spcBef>
                <a:spcAft>
                  <a:spcPct val="0"/>
                </a:spcAft>
                <a:defRPr/>
              </a:pPr>
              <a:t>60</a:t>
            </a:fld>
            <a:endParaRPr lang="en-US" altLang="en-US">
              <a:solidFill>
                <a:srgbClr val="000000"/>
              </a:solidFill>
            </a:endParaRPr>
          </a:p>
        </p:txBody>
      </p:sp>
      <p:sp>
        <p:nvSpPr>
          <p:cNvPr id="37891" name="Rectangle 2">
            <a:extLst>
              <a:ext uri="{FF2B5EF4-FFF2-40B4-BE49-F238E27FC236}">
                <a16:creationId xmlns:a16="http://schemas.microsoft.com/office/drawing/2014/main" id="{AE75839B-8E27-A3B5-F519-C70C3C453A16}"/>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37892" name="Rectangle 3">
            <a:extLst>
              <a:ext uri="{FF2B5EF4-FFF2-40B4-BE49-F238E27FC236}">
                <a16:creationId xmlns:a16="http://schemas.microsoft.com/office/drawing/2014/main" id="{B6819655-3B76-9D6E-4A4A-FC16A36CA7DE}"/>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14</a:t>
            </a:r>
          </a:p>
        </p:txBody>
      </p:sp>
      <p:sp>
        <p:nvSpPr>
          <p:cNvPr id="37893" name="Rectangle 4">
            <a:extLst>
              <a:ext uri="{FF2B5EF4-FFF2-40B4-BE49-F238E27FC236}">
                <a16:creationId xmlns:a16="http://schemas.microsoft.com/office/drawing/2014/main" id="{EF25B5C6-1C0E-98B7-5A24-21C081B25191}"/>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37894" name="Rectangle 5">
            <a:extLst>
              <a:ext uri="{FF2B5EF4-FFF2-40B4-BE49-F238E27FC236}">
                <a16:creationId xmlns:a16="http://schemas.microsoft.com/office/drawing/2014/main" id="{8DAB057A-2A92-9FDC-D83E-C28971159682}"/>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37895" name="Rectangle 6">
            <a:extLst>
              <a:ext uri="{FF2B5EF4-FFF2-40B4-BE49-F238E27FC236}">
                <a16:creationId xmlns:a16="http://schemas.microsoft.com/office/drawing/2014/main" id="{8313E51F-B672-81D9-BA22-81FF064413EB}"/>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37896" name="Rectangle 7">
            <a:extLst>
              <a:ext uri="{FF2B5EF4-FFF2-40B4-BE49-F238E27FC236}">
                <a16:creationId xmlns:a16="http://schemas.microsoft.com/office/drawing/2014/main" id="{26E519BE-9AEA-56EE-277A-A027C7B744E3}"/>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6CCFC5A-199E-7164-C326-84B9B8E10BB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DEA5FCA0-24E1-4F9A-ABF9-E3CC72BBECC2}" type="slidenum">
              <a:rPr lang="en-US" altLang="en-US">
                <a:solidFill>
                  <a:srgbClr val="000000"/>
                </a:solidFill>
              </a:rPr>
              <a:pPr defTabSz="966612" fontAlgn="base">
                <a:spcBef>
                  <a:spcPct val="0"/>
                </a:spcBef>
                <a:spcAft>
                  <a:spcPct val="0"/>
                </a:spcAft>
                <a:defRPr/>
              </a:pPr>
              <a:t>61</a:t>
            </a:fld>
            <a:endParaRPr lang="en-US" altLang="en-US">
              <a:solidFill>
                <a:srgbClr val="000000"/>
              </a:solidFill>
            </a:endParaRPr>
          </a:p>
        </p:txBody>
      </p:sp>
      <p:sp>
        <p:nvSpPr>
          <p:cNvPr id="39939" name="Rectangle 2">
            <a:extLst>
              <a:ext uri="{FF2B5EF4-FFF2-40B4-BE49-F238E27FC236}">
                <a16:creationId xmlns:a16="http://schemas.microsoft.com/office/drawing/2014/main" id="{1EB8201C-AC0E-FAA5-8AB1-49EF5F5C084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39940" name="Rectangle 3">
            <a:extLst>
              <a:ext uri="{FF2B5EF4-FFF2-40B4-BE49-F238E27FC236}">
                <a16:creationId xmlns:a16="http://schemas.microsoft.com/office/drawing/2014/main" id="{90CDCDA9-E717-0A3D-8B8B-DB1837E38418}"/>
              </a:ext>
            </a:extLst>
          </p:cNvPr>
          <p:cNvSpPr>
            <a:spLocks noGrp="1" noRot="1" noChangeAspect="1" noChangeArrowheads="1" noTextEdit="1"/>
          </p:cNvSpPr>
          <p:nvPr>
            <p:ph type="sldImg"/>
          </p:nvPr>
        </p:nvSpPr>
        <p:spPr>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1768D27-ECE3-E5DB-1B5F-5452DFF06A2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028BC696-7543-4D3D-867E-528BA8B55D92}" type="slidenum">
              <a:rPr lang="en-US" altLang="en-US">
                <a:solidFill>
                  <a:srgbClr val="000000"/>
                </a:solidFill>
              </a:rPr>
              <a:pPr defTabSz="966612" fontAlgn="base">
                <a:spcBef>
                  <a:spcPct val="0"/>
                </a:spcBef>
                <a:spcAft>
                  <a:spcPct val="0"/>
                </a:spcAft>
                <a:defRPr/>
              </a:pPr>
              <a:t>62</a:t>
            </a:fld>
            <a:endParaRPr lang="en-US" altLang="en-US">
              <a:solidFill>
                <a:srgbClr val="000000"/>
              </a:solidFill>
            </a:endParaRPr>
          </a:p>
        </p:txBody>
      </p:sp>
      <p:sp>
        <p:nvSpPr>
          <p:cNvPr id="41987" name="Rectangle 2">
            <a:extLst>
              <a:ext uri="{FF2B5EF4-FFF2-40B4-BE49-F238E27FC236}">
                <a16:creationId xmlns:a16="http://schemas.microsoft.com/office/drawing/2014/main" id="{4EB98422-0AB4-4A80-22D3-E7B7A57E9DDB}"/>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93C75910-77D4-7650-C479-6CD124ABAA0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This slide illustrates a typical demand curve.  You might ask students why it is important to know more than simply the actual demand over time.  Why, for example, would one wish to be able to break out a “seasonality” factor?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4F28C0A-C790-BBC7-D4C3-A294304D0FD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554D496B-C5FA-4CE6-BA51-E6BC82EDF2D2}" type="slidenum">
              <a:rPr lang="en-US" altLang="en-US">
                <a:solidFill>
                  <a:srgbClr val="000000"/>
                </a:solidFill>
              </a:rPr>
              <a:pPr defTabSz="966612" fontAlgn="base">
                <a:spcBef>
                  <a:spcPct val="0"/>
                </a:spcBef>
                <a:spcAft>
                  <a:spcPct val="0"/>
                </a:spcAft>
                <a:defRPr/>
              </a:pPr>
              <a:t>63</a:t>
            </a:fld>
            <a:endParaRPr lang="en-US" altLang="en-US">
              <a:solidFill>
                <a:srgbClr val="000000"/>
              </a:solidFill>
            </a:endParaRPr>
          </a:p>
        </p:txBody>
      </p:sp>
      <p:sp>
        <p:nvSpPr>
          <p:cNvPr id="44035" name="Rectangle 2">
            <a:extLst>
              <a:ext uri="{FF2B5EF4-FFF2-40B4-BE49-F238E27FC236}">
                <a16:creationId xmlns:a16="http://schemas.microsoft.com/office/drawing/2014/main" id="{D7469C96-E1A1-6EF7-E2D1-5DFB20BDD1C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BCDC6A2-3E9F-EB32-531D-16798B0F5BC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This slide illustrates a typical demand curve.  You might ask students why it is important to know more than simply the actual demand over time.  Why, for example, would one wish to be able to break out a “seasonality” factor?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E11FA300-D061-E3D2-3E8B-2523D2797A5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601EFA42-297A-4AF4-BFBC-62CB21973B50}" type="slidenum">
              <a:rPr lang="en-US" altLang="en-US">
                <a:solidFill>
                  <a:srgbClr val="000000"/>
                </a:solidFill>
              </a:rPr>
              <a:pPr defTabSz="966612" fontAlgn="base">
                <a:spcBef>
                  <a:spcPct val="0"/>
                </a:spcBef>
                <a:spcAft>
                  <a:spcPct val="0"/>
                </a:spcAft>
                <a:defRPr/>
              </a:pPr>
              <a:t>64</a:t>
            </a:fld>
            <a:endParaRPr lang="en-US" altLang="en-US">
              <a:solidFill>
                <a:srgbClr val="000000"/>
              </a:solidFill>
            </a:endParaRPr>
          </a:p>
        </p:txBody>
      </p:sp>
      <p:sp>
        <p:nvSpPr>
          <p:cNvPr id="50179" name="Rectangle 2">
            <a:extLst>
              <a:ext uri="{FF2B5EF4-FFF2-40B4-BE49-F238E27FC236}">
                <a16:creationId xmlns:a16="http://schemas.microsoft.com/office/drawing/2014/main" id="{3228786D-4700-57D8-2E0D-E64052B146D3}"/>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50180" name="Rectangle 3">
            <a:extLst>
              <a:ext uri="{FF2B5EF4-FFF2-40B4-BE49-F238E27FC236}">
                <a16:creationId xmlns:a16="http://schemas.microsoft.com/office/drawing/2014/main" id="{4290E891-2B15-3E91-8CBC-6B73DA0F28B5}"/>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15</a:t>
            </a:r>
          </a:p>
        </p:txBody>
      </p:sp>
      <p:sp>
        <p:nvSpPr>
          <p:cNvPr id="50181" name="Rectangle 4">
            <a:extLst>
              <a:ext uri="{FF2B5EF4-FFF2-40B4-BE49-F238E27FC236}">
                <a16:creationId xmlns:a16="http://schemas.microsoft.com/office/drawing/2014/main" id="{527B5B76-A157-674A-A7EF-50792A42B124}"/>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50182" name="Rectangle 5">
            <a:extLst>
              <a:ext uri="{FF2B5EF4-FFF2-40B4-BE49-F238E27FC236}">
                <a16:creationId xmlns:a16="http://schemas.microsoft.com/office/drawing/2014/main" id="{0A043382-A874-7F4B-178D-63B5BCE6CC82}"/>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50183" name="Rectangle 6">
            <a:extLst>
              <a:ext uri="{FF2B5EF4-FFF2-40B4-BE49-F238E27FC236}">
                <a16:creationId xmlns:a16="http://schemas.microsoft.com/office/drawing/2014/main" id="{FB287A2B-7437-DF5A-B8A8-7147C00D614D}"/>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50184" name="Rectangle 7">
            <a:extLst>
              <a:ext uri="{FF2B5EF4-FFF2-40B4-BE49-F238E27FC236}">
                <a16:creationId xmlns:a16="http://schemas.microsoft.com/office/drawing/2014/main" id="{27346562-6387-4BD2-CFE9-E6EE36005367}"/>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D56935AB-08BB-F816-F43D-117DFA3A2C9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903A20C0-437D-49BD-9597-259AFCE31872}" type="slidenum">
              <a:rPr lang="en-US" altLang="en-US">
                <a:solidFill>
                  <a:srgbClr val="000000"/>
                </a:solidFill>
              </a:rPr>
              <a:pPr defTabSz="966612" fontAlgn="base">
                <a:spcBef>
                  <a:spcPct val="0"/>
                </a:spcBef>
                <a:spcAft>
                  <a:spcPct val="0"/>
                </a:spcAft>
                <a:defRPr/>
              </a:pPr>
              <a:t>65</a:t>
            </a:fld>
            <a:endParaRPr lang="en-US" altLang="en-US">
              <a:solidFill>
                <a:srgbClr val="000000"/>
              </a:solidFill>
            </a:endParaRPr>
          </a:p>
        </p:txBody>
      </p:sp>
      <p:sp>
        <p:nvSpPr>
          <p:cNvPr id="52227" name="Rectangle 2">
            <a:extLst>
              <a:ext uri="{FF2B5EF4-FFF2-40B4-BE49-F238E27FC236}">
                <a16:creationId xmlns:a16="http://schemas.microsoft.com/office/drawing/2014/main" id="{8ECB60B7-3E42-AAA0-FA5A-69D75B90FA3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52228" name="Rectangle 3">
            <a:extLst>
              <a:ext uri="{FF2B5EF4-FFF2-40B4-BE49-F238E27FC236}">
                <a16:creationId xmlns:a16="http://schemas.microsoft.com/office/drawing/2014/main" id="{E5A53453-1F76-EFA6-D3EB-EA43B384212D}"/>
              </a:ext>
            </a:extLst>
          </p:cNvPr>
          <p:cNvSpPr>
            <a:spLocks noGrp="1" noRot="1" noChangeAspect="1" noChangeArrowheads="1" noTextEdit="1"/>
          </p:cNvSpPr>
          <p:nvPr>
            <p:ph type="sldImg"/>
          </p:nvPr>
        </p:nvSpPr>
        <p:spPr>
          <a:ln w="12700" cap="flat">
            <a:solidFill>
              <a:schemeClr val="tx1"/>
            </a:solid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0968A7F7-2CF3-BA97-961F-2F130E7F1E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7A814A2A-586B-416D-A45A-D945A097E39C}" type="slidenum">
              <a:rPr lang="en-US" altLang="en-US">
                <a:solidFill>
                  <a:srgbClr val="000000"/>
                </a:solidFill>
              </a:rPr>
              <a:pPr defTabSz="966612" fontAlgn="base">
                <a:spcBef>
                  <a:spcPct val="0"/>
                </a:spcBef>
                <a:spcAft>
                  <a:spcPct val="0"/>
                </a:spcAft>
                <a:defRPr/>
              </a:pPr>
              <a:t>71</a:t>
            </a:fld>
            <a:endParaRPr lang="en-US" altLang="en-US">
              <a:solidFill>
                <a:srgbClr val="000000"/>
              </a:solidFill>
            </a:endParaRPr>
          </a:p>
        </p:txBody>
      </p:sp>
      <p:sp>
        <p:nvSpPr>
          <p:cNvPr id="59395" name="Rectangle 2">
            <a:extLst>
              <a:ext uri="{FF2B5EF4-FFF2-40B4-BE49-F238E27FC236}">
                <a16:creationId xmlns:a16="http://schemas.microsoft.com/office/drawing/2014/main" id="{F5758192-7A1A-1275-1630-955614679573}"/>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6206BCA5-A630-FC38-A01D-8BE69B2E05F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This slide introduces the “weighted moving average” method.  It is probably most important to discuss choice of the weights.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ED78006-4043-8354-1198-529A1DA346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90789750-00F5-4AC8-8A05-E0DCCC691BA6}" type="slidenum">
              <a:rPr lang="en-US" altLang="en-US">
                <a:solidFill>
                  <a:srgbClr val="000000"/>
                </a:solidFill>
              </a:rPr>
              <a:pPr defTabSz="966612" fontAlgn="base">
                <a:spcBef>
                  <a:spcPct val="0"/>
                </a:spcBef>
                <a:spcAft>
                  <a:spcPct val="0"/>
                </a:spcAft>
                <a:defRPr/>
              </a:pPr>
              <a:t>74</a:t>
            </a:fld>
            <a:endParaRPr lang="en-US" altLang="en-US">
              <a:solidFill>
                <a:srgbClr val="000000"/>
              </a:solidFill>
            </a:endParaRPr>
          </a:p>
        </p:txBody>
      </p:sp>
      <p:sp>
        <p:nvSpPr>
          <p:cNvPr id="63491" name="Rectangle 2">
            <a:extLst>
              <a:ext uri="{FF2B5EF4-FFF2-40B4-BE49-F238E27FC236}">
                <a16:creationId xmlns:a16="http://schemas.microsoft.com/office/drawing/2014/main" id="{CFFBFCE4-D15B-9851-3244-A6DC598B01C1}"/>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3492" name="Rectangle 3">
            <a:extLst>
              <a:ext uri="{FF2B5EF4-FFF2-40B4-BE49-F238E27FC236}">
                <a16:creationId xmlns:a16="http://schemas.microsoft.com/office/drawing/2014/main" id="{952D7A2F-DB42-0902-0849-0A78E9ED08A0}"/>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24</a:t>
            </a:r>
          </a:p>
        </p:txBody>
      </p:sp>
      <p:sp>
        <p:nvSpPr>
          <p:cNvPr id="63493" name="Rectangle 4">
            <a:extLst>
              <a:ext uri="{FF2B5EF4-FFF2-40B4-BE49-F238E27FC236}">
                <a16:creationId xmlns:a16="http://schemas.microsoft.com/office/drawing/2014/main" id="{3F02C971-B5BD-F863-88AE-D54F4539F90F}"/>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3494" name="Rectangle 5">
            <a:extLst>
              <a:ext uri="{FF2B5EF4-FFF2-40B4-BE49-F238E27FC236}">
                <a16:creationId xmlns:a16="http://schemas.microsoft.com/office/drawing/2014/main" id="{8BDC5D30-789B-F224-A75D-76C3AD0248E8}"/>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3495" name="Rectangle 6">
            <a:extLst>
              <a:ext uri="{FF2B5EF4-FFF2-40B4-BE49-F238E27FC236}">
                <a16:creationId xmlns:a16="http://schemas.microsoft.com/office/drawing/2014/main" id="{D520F9F1-42E3-CD1C-81B5-4C278B85F046}"/>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63496" name="Rectangle 7">
            <a:extLst>
              <a:ext uri="{FF2B5EF4-FFF2-40B4-BE49-F238E27FC236}">
                <a16:creationId xmlns:a16="http://schemas.microsoft.com/office/drawing/2014/main" id="{8D5CE289-007D-0EFD-62B7-D29462C4CB4B}"/>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565B6C4E-9187-07C8-C261-036A4017FB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7589585F-1C81-4FFB-9037-721D3E0A6C53}" type="slidenum">
              <a:rPr lang="en-US" altLang="en-US">
                <a:solidFill>
                  <a:srgbClr val="000000"/>
                </a:solidFill>
              </a:rPr>
              <a:pPr defTabSz="966612" fontAlgn="base">
                <a:spcBef>
                  <a:spcPct val="0"/>
                </a:spcBef>
                <a:spcAft>
                  <a:spcPct val="0"/>
                </a:spcAft>
                <a:defRPr/>
              </a:pPr>
              <a:t>75</a:t>
            </a:fld>
            <a:endParaRPr lang="en-US" altLang="en-US">
              <a:solidFill>
                <a:srgbClr val="000000"/>
              </a:solidFill>
            </a:endParaRPr>
          </a:p>
        </p:txBody>
      </p:sp>
      <p:sp>
        <p:nvSpPr>
          <p:cNvPr id="67587" name="Rectangle 2">
            <a:extLst>
              <a:ext uri="{FF2B5EF4-FFF2-40B4-BE49-F238E27FC236}">
                <a16:creationId xmlns:a16="http://schemas.microsoft.com/office/drawing/2014/main" id="{3025B129-F269-A9F8-C19C-9E5631C6CD01}"/>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7588" name="Rectangle 3">
            <a:extLst>
              <a:ext uri="{FF2B5EF4-FFF2-40B4-BE49-F238E27FC236}">
                <a16:creationId xmlns:a16="http://schemas.microsoft.com/office/drawing/2014/main" id="{E035EACB-112E-F93F-014B-F14F3AE1AF2C}"/>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26</a:t>
            </a:r>
          </a:p>
        </p:txBody>
      </p:sp>
      <p:sp>
        <p:nvSpPr>
          <p:cNvPr id="67589" name="Rectangle 4">
            <a:extLst>
              <a:ext uri="{FF2B5EF4-FFF2-40B4-BE49-F238E27FC236}">
                <a16:creationId xmlns:a16="http://schemas.microsoft.com/office/drawing/2014/main" id="{2F37631D-E47D-FFE4-A208-D0F1881977DB}"/>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7590" name="Rectangle 5">
            <a:extLst>
              <a:ext uri="{FF2B5EF4-FFF2-40B4-BE49-F238E27FC236}">
                <a16:creationId xmlns:a16="http://schemas.microsoft.com/office/drawing/2014/main" id="{B63E37D1-5339-90EE-357F-A90AC7AF5E61}"/>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67591" name="Rectangle 6">
            <a:extLst>
              <a:ext uri="{FF2B5EF4-FFF2-40B4-BE49-F238E27FC236}">
                <a16:creationId xmlns:a16="http://schemas.microsoft.com/office/drawing/2014/main" id="{BDF506A7-F525-9FB1-E3BE-ABC042D223C3}"/>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67592" name="Rectangle 7">
            <a:extLst>
              <a:ext uri="{FF2B5EF4-FFF2-40B4-BE49-F238E27FC236}">
                <a16:creationId xmlns:a16="http://schemas.microsoft.com/office/drawing/2014/main" id="{38401C3A-DB09-CF4E-1DFA-C9A733DD54CC}"/>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AF946EB-727F-113D-F54C-0076E8257B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EFA8FDDA-E662-4D3E-B54A-D010B33963E6}" type="slidenum">
              <a:rPr lang="en-US" altLang="en-US">
                <a:solidFill>
                  <a:srgbClr val="000000"/>
                </a:solidFill>
              </a:rPr>
              <a:pPr defTabSz="966612" fontAlgn="base">
                <a:spcBef>
                  <a:spcPct val="0"/>
                </a:spcBef>
                <a:spcAft>
                  <a:spcPct val="0"/>
                </a:spcAft>
                <a:defRPr/>
              </a:pPr>
              <a:t>76</a:t>
            </a:fld>
            <a:endParaRPr lang="en-US" altLang="en-US">
              <a:solidFill>
                <a:srgbClr val="000000"/>
              </a:solidFill>
            </a:endParaRPr>
          </a:p>
        </p:txBody>
      </p:sp>
      <p:sp>
        <p:nvSpPr>
          <p:cNvPr id="71683" name="Rectangle 2">
            <a:extLst>
              <a:ext uri="{FF2B5EF4-FFF2-40B4-BE49-F238E27FC236}">
                <a16:creationId xmlns:a16="http://schemas.microsoft.com/office/drawing/2014/main" id="{5D686E8C-6F5B-93F1-442F-651348B5B3C7}"/>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71684" name="Rectangle 3">
            <a:extLst>
              <a:ext uri="{FF2B5EF4-FFF2-40B4-BE49-F238E27FC236}">
                <a16:creationId xmlns:a16="http://schemas.microsoft.com/office/drawing/2014/main" id="{2BAE7AD2-A4C9-433D-4F3B-FED87E6ABD94}"/>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26</a:t>
            </a:r>
          </a:p>
        </p:txBody>
      </p:sp>
      <p:sp>
        <p:nvSpPr>
          <p:cNvPr id="71685" name="Rectangle 4">
            <a:extLst>
              <a:ext uri="{FF2B5EF4-FFF2-40B4-BE49-F238E27FC236}">
                <a16:creationId xmlns:a16="http://schemas.microsoft.com/office/drawing/2014/main" id="{BC3EF8FA-EF82-DCCB-8043-52A6A602CF2C}"/>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71686" name="Rectangle 5">
            <a:extLst>
              <a:ext uri="{FF2B5EF4-FFF2-40B4-BE49-F238E27FC236}">
                <a16:creationId xmlns:a16="http://schemas.microsoft.com/office/drawing/2014/main" id="{BDB3F483-A6EA-EFBE-B00C-8DACF925CDAD}"/>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71687" name="Rectangle 6">
            <a:extLst>
              <a:ext uri="{FF2B5EF4-FFF2-40B4-BE49-F238E27FC236}">
                <a16:creationId xmlns:a16="http://schemas.microsoft.com/office/drawing/2014/main" id="{5D1F30DE-FBC6-252D-B145-993950A6D26D}"/>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71688" name="Rectangle 7">
            <a:extLst>
              <a:ext uri="{FF2B5EF4-FFF2-40B4-BE49-F238E27FC236}">
                <a16:creationId xmlns:a16="http://schemas.microsoft.com/office/drawing/2014/main" id="{5F60235D-A149-8FAD-C49E-046E41BBF31F}"/>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E1C94863-AC8E-18A0-7385-DA1D05B6836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a:spcBef>
                <a:spcPct val="0"/>
              </a:spcBef>
            </a:pPr>
            <a:fld id="{FEFD5896-57C0-4EE6-A55A-66A7B7588FD6}" type="slidenum">
              <a:rPr lang="en-US" altLang="en-US" smtClean="0"/>
              <a:pPr>
                <a:spcBef>
                  <a:spcPct val="0"/>
                </a:spcBef>
              </a:pPr>
              <a:t>77</a:t>
            </a:fld>
            <a:endParaRPr lang="en-US" altLang="en-US"/>
          </a:p>
        </p:txBody>
      </p:sp>
      <p:sp>
        <p:nvSpPr>
          <p:cNvPr id="86019" name="Rectangle 2">
            <a:extLst>
              <a:ext uri="{FF2B5EF4-FFF2-40B4-BE49-F238E27FC236}">
                <a16:creationId xmlns:a16="http://schemas.microsoft.com/office/drawing/2014/main" id="{925A3D87-F61D-298A-C388-9329D9D0E78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r>
              <a:rPr lang="en-US" altLang="en-US"/>
              <a:t>This slide introduces the exponential smoothing method of time series forecasting.  The following slide contains the equations, and an example follows.</a:t>
            </a:r>
          </a:p>
        </p:txBody>
      </p:sp>
      <p:sp>
        <p:nvSpPr>
          <p:cNvPr id="86020" name="Rectangle 3">
            <a:extLst>
              <a:ext uri="{FF2B5EF4-FFF2-40B4-BE49-F238E27FC236}">
                <a16:creationId xmlns:a16="http://schemas.microsoft.com/office/drawing/2014/main" id="{095E0527-5218-C6FF-B03A-EBF8D617ADB6}"/>
              </a:ext>
            </a:extLst>
          </p:cNvPr>
          <p:cNvSpPr>
            <a:spLocks noGrp="1" noRot="1" noChangeAspect="1" noChangeArrowheads="1" noTextEdit="1"/>
          </p:cNvSpPr>
          <p:nvPr>
            <p:ph type="sldImg"/>
          </p:nvPr>
        </p:nvSpPr>
        <p:spPr>
          <a:ln w="12700" cap="flat">
            <a:solidFill>
              <a:schemeClr val="tx1"/>
            </a:solid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A095169-8F23-B0DB-307F-FA693F645E2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F6369496-FCF8-497B-9E1A-1BCA8F79CC82}" type="slidenum">
              <a:rPr lang="en-US" altLang="en-US">
                <a:solidFill>
                  <a:srgbClr val="000000"/>
                </a:solidFill>
              </a:rPr>
              <a:pPr defTabSz="966612" fontAlgn="base">
                <a:spcBef>
                  <a:spcPct val="0"/>
                </a:spcBef>
                <a:spcAft>
                  <a:spcPct val="0"/>
                </a:spcAft>
                <a:defRPr/>
              </a:pPr>
              <a:t>78</a:t>
            </a:fld>
            <a:endParaRPr lang="en-US" altLang="en-US">
              <a:solidFill>
                <a:srgbClr val="000000"/>
              </a:solidFill>
            </a:endParaRPr>
          </a:p>
        </p:txBody>
      </p:sp>
      <p:sp>
        <p:nvSpPr>
          <p:cNvPr id="88067" name="Rectangle 2">
            <a:extLst>
              <a:ext uri="{FF2B5EF4-FFF2-40B4-BE49-F238E27FC236}">
                <a16:creationId xmlns:a16="http://schemas.microsoft.com/office/drawing/2014/main" id="{FEB9F4FF-18C7-825D-7125-B81E2B85AD67}"/>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5E92D23C-17E3-1292-DBBE-228E511A2C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This slide indicates one method of selecting </a:t>
            </a:r>
            <a:r>
              <a:rPr lang="en-US" altLang="en-US">
                <a:sym typeface="Symbol" panose="05050102010706020507" pitchFamily="18" charset="2"/>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7EA2841E-48A8-DE22-2EFE-D5F8BFFFCB0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0536EC68-792C-4CAE-988A-887162CF421F}" type="slidenum">
              <a:rPr lang="en-US" altLang="en-US">
                <a:solidFill>
                  <a:srgbClr val="000000"/>
                </a:solidFill>
              </a:rPr>
              <a:pPr defTabSz="966612" fontAlgn="base">
                <a:spcBef>
                  <a:spcPct val="0"/>
                </a:spcBef>
                <a:spcAft>
                  <a:spcPct val="0"/>
                </a:spcAft>
                <a:defRPr/>
              </a:pPr>
              <a:t>79</a:t>
            </a:fld>
            <a:endParaRPr lang="en-US" altLang="en-US">
              <a:solidFill>
                <a:srgbClr val="000000"/>
              </a:solidFill>
            </a:endParaRPr>
          </a:p>
        </p:txBody>
      </p:sp>
      <p:sp>
        <p:nvSpPr>
          <p:cNvPr id="90115" name="Rectangle 2">
            <a:extLst>
              <a:ext uri="{FF2B5EF4-FFF2-40B4-BE49-F238E27FC236}">
                <a16:creationId xmlns:a16="http://schemas.microsoft.com/office/drawing/2014/main" id="{2003225A-5B34-AE8A-8251-FE6FC1D8A64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r>
              <a:rPr lang="en-US" altLang="en-US"/>
              <a:t>This slide illustrates the equations for two measures of forecast error.  Students might be asked if there is an occasion when one method might be preferred over the other.</a:t>
            </a:r>
          </a:p>
        </p:txBody>
      </p:sp>
      <p:sp>
        <p:nvSpPr>
          <p:cNvPr id="90116" name="Rectangle 3">
            <a:extLst>
              <a:ext uri="{FF2B5EF4-FFF2-40B4-BE49-F238E27FC236}">
                <a16:creationId xmlns:a16="http://schemas.microsoft.com/office/drawing/2014/main" id="{159DFB07-7304-7B6E-44D4-D51FD2A87320}"/>
              </a:ext>
            </a:extLst>
          </p:cNvPr>
          <p:cNvSpPr>
            <a:spLocks noGrp="1" noRot="1" noChangeAspect="1" noChangeArrowheads="1" noTextEdit="1"/>
          </p:cNvSpPr>
          <p:nvPr>
            <p:ph type="sldImg"/>
          </p:nvPr>
        </p:nvSpPr>
        <p:spPr>
          <a:ln w="12700" cap="flat">
            <a:solidFill>
              <a:schemeClr val="tx1"/>
            </a:solid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302323F-86FE-8D61-C905-4FD14311A07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F275CDBF-80AD-4107-A4D8-B4803FCD49E7}" type="slidenum">
              <a:rPr lang="en-US" altLang="en-US">
                <a:solidFill>
                  <a:srgbClr val="000000"/>
                </a:solidFill>
              </a:rPr>
              <a:pPr defTabSz="966612" fontAlgn="base">
                <a:spcBef>
                  <a:spcPct val="0"/>
                </a:spcBef>
                <a:spcAft>
                  <a:spcPct val="0"/>
                </a:spcAft>
                <a:defRPr/>
              </a:pPr>
              <a:t>80</a:t>
            </a:fld>
            <a:endParaRPr lang="en-US" altLang="en-US">
              <a:solidFill>
                <a:srgbClr val="000000"/>
              </a:solidFill>
            </a:endParaRPr>
          </a:p>
        </p:txBody>
      </p:sp>
      <p:sp>
        <p:nvSpPr>
          <p:cNvPr id="92163" name="Rectangle 2">
            <a:extLst>
              <a:ext uri="{FF2B5EF4-FFF2-40B4-BE49-F238E27FC236}">
                <a16:creationId xmlns:a16="http://schemas.microsoft.com/office/drawing/2014/main" id="{EB845AF0-3D05-66D8-2BE3-BD529429C5AE}"/>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2164" name="Rectangle 3">
            <a:extLst>
              <a:ext uri="{FF2B5EF4-FFF2-40B4-BE49-F238E27FC236}">
                <a16:creationId xmlns:a16="http://schemas.microsoft.com/office/drawing/2014/main" id="{15BA4CC0-8DB6-970E-630D-16BB94D9BF02}"/>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31</a:t>
            </a:r>
          </a:p>
        </p:txBody>
      </p:sp>
      <p:sp>
        <p:nvSpPr>
          <p:cNvPr id="92165" name="Rectangle 4">
            <a:extLst>
              <a:ext uri="{FF2B5EF4-FFF2-40B4-BE49-F238E27FC236}">
                <a16:creationId xmlns:a16="http://schemas.microsoft.com/office/drawing/2014/main" id="{0D9B81E5-2C2E-1AFD-79BE-86C6982859FA}"/>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2166" name="Rectangle 5">
            <a:extLst>
              <a:ext uri="{FF2B5EF4-FFF2-40B4-BE49-F238E27FC236}">
                <a16:creationId xmlns:a16="http://schemas.microsoft.com/office/drawing/2014/main" id="{379842DB-B164-7F0D-CDEB-AE3371840F19}"/>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2167" name="Rectangle 6">
            <a:extLst>
              <a:ext uri="{FF2B5EF4-FFF2-40B4-BE49-F238E27FC236}">
                <a16:creationId xmlns:a16="http://schemas.microsoft.com/office/drawing/2014/main" id="{C477E7FB-C9B6-C970-EB53-BF5EDDFD1CC3}"/>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92168" name="Rectangle 7">
            <a:extLst>
              <a:ext uri="{FF2B5EF4-FFF2-40B4-BE49-F238E27FC236}">
                <a16:creationId xmlns:a16="http://schemas.microsoft.com/office/drawing/2014/main" id="{96E0857B-5411-439A-EAEE-FBA3664ED2DB}"/>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E7D149E1-5EF4-D842-EF6D-4E881468085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defTabSz="966612" fontAlgn="base">
              <a:spcBef>
                <a:spcPct val="0"/>
              </a:spcBef>
              <a:spcAft>
                <a:spcPct val="0"/>
              </a:spcAft>
              <a:defRPr/>
            </a:pPr>
            <a:fld id="{32B7E828-51CA-490F-88D1-E992DD46F760}" type="slidenum">
              <a:rPr lang="en-US" altLang="en-US">
                <a:solidFill>
                  <a:srgbClr val="000000"/>
                </a:solidFill>
              </a:rPr>
              <a:pPr defTabSz="966612" fontAlgn="base">
                <a:spcBef>
                  <a:spcPct val="0"/>
                </a:spcBef>
                <a:spcAft>
                  <a:spcPct val="0"/>
                </a:spcAft>
                <a:defRPr/>
              </a:pPr>
              <a:t>81</a:t>
            </a:fld>
            <a:endParaRPr lang="en-US" altLang="en-US">
              <a:solidFill>
                <a:srgbClr val="000000"/>
              </a:solidFill>
            </a:endParaRPr>
          </a:p>
        </p:txBody>
      </p:sp>
      <p:sp>
        <p:nvSpPr>
          <p:cNvPr id="94211" name="Rectangle 2">
            <a:extLst>
              <a:ext uri="{FF2B5EF4-FFF2-40B4-BE49-F238E27FC236}">
                <a16:creationId xmlns:a16="http://schemas.microsoft.com/office/drawing/2014/main" id="{1AA5ED13-5556-55FA-42BD-8AF49A58540D}"/>
              </a:ext>
            </a:extLst>
          </p:cNvPr>
          <p:cNvSpPr>
            <a:spLocks noChangeArrowheads="1"/>
          </p:cNvSpPr>
          <p:nvPr/>
        </p:nvSpPr>
        <p:spPr bwMode="auto">
          <a:xfrm>
            <a:off x="414528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4212" name="Rectangle 3">
            <a:extLst>
              <a:ext uri="{FF2B5EF4-FFF2-40B4-BE49-F238E27FC236}">
                <a16:creationId xmlns:a16="http://schemas.microsoft.com/office/drawing/2014/main" id="{D6BC9F97-11A3-951A-411F-68F3CA3590E2}"/>
              </a:ext>
            </a:extLst>
          </p:cNvPr>
          <p:cNvSpPr>
            <a:spLocks noChangeArrowheads="1"/>
          </p:cNvSpPr>
          <p:nvPr/>
        </p:nvSpPr>
        <p:spPr bwMode="auto">
          <a:xfrm>
            <a:off x="414528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0138" tIns="0" rIns="20138" bIns="0"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defTabSz="966612" eaLnBrk="0" fontAlgn="base" hangingPunct="0">
              <a:spcBef>
                <a:spcPct val="0"/>
              </a:spcBef>
              <a:spcAft>
                <a:spcPct val="0"/>
              </a:spcAft>
              <a:defRPr/>
            </a:pPr>
            <a:r>
              <a:rPr lang="en-US" altLang="en-US" sz="1100">
                <a:solidFill>
                  <a:srgbClr val="000000"/>
                </a:solidFill>
                <a:latin typeface="Times New Roman" panose="02020603050405020304" pitchFamily="18" charset="0"/>
              </a:rPr>
              <a:t>31</a:t>
            </a:r>
          </a:p>
        </p:txBody>
      </p:sp>
      <p:sp>
        <p:nvSpPr>
          <p:cNvPr id="94213" name="Rectangle 4">
            <a:extLst>
              <a:ext uri="{FF2B5EF4-FFF2-40B4-BE49-F238E27FC236}">
                <a16:creationId xmlns:a16="http://schemas.microsoft.com/office/drawing/2014/main" id="{4B9F709A-7E55-D230-8173-CA7A3621022A}"/>
              </a:ext>
            </a:extLst>
          </p:cNvPr>
          <p:cNvSpPr>
            <a:spLocks noChangeArrowheads="1"/>
          </p:cNvSpPr>
          <p:nvPr/>
        </p:nvSpPr>
        <p:spPr bwMode="auto">
          <a:xfrm>
            <a:off x="0" y="9119474"/>
            <a:ext cx="3169920" cy="48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4214" name="Rectangle 5">
            <a:extLst>
              <a:ext uri="{FF2B5EF4-FFF2-40B4-BE49-F238E27FC236}">
                <a16:creationId xmlns:a16="http://schemas.microsoft.com/office/drawing/2014/main" id="{D5C522CC-A514-E220-3FB8-ED914022C622}"/>
              </a:ext>
            </a:extLst>
          </p:cNvPr>
          <p:cNvSpPr>
            <a:spLocks noChangeArrowheads="1"/>
          </p:cNvSpPr>
          <p:nvPr/>
        </p:nvSpPr>
        <p:spPr bwMode="auto">
          <a:xfrm>
            <a:off x="0" y="0"/>
            <a:ext cx="3169920" cy="48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661" tIns="48331" rIns="96661" bIns="48331"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defTabSz="966612" eaLnBrk="0" fontAlgn="base" hangingPunct="0">
              <a:spcBef>
                <a:spcPct val="0"/>
              </a:spcBef>
              <a:spcAft>
                <a:spcPct val="0"/>
              </a:spcAft>
              <a:buClr>
                <a:srgbClr val="B82629"/>
              </a:buClr>
              <a:defRPr/>
            </a:pPr>
            <a:endParaRPr lang="en-US" altLang="en-US" sz="2700" b="1">
              <a:solidFill>
                <a:srgbClr val="000000"/>
              </a:solidFill>
            </a:endParaRPr>
          </a:p>
        </p:txBody>
      </p:sp>
      <p:sp>
        <p:nvSpPr>
          <p:cNvPr id="94215" name="Rectangle 6">
            <a:extLst>
              <a:ext uri="{FF2B5EF4-FFF2-40B4-BE49-F238E27FC236}">
                <a16:creationId xmlns:a16="http://schemas.microsoft.com/office/drawing/2014/main" id="{661EE193-5363-3361-96D4-32544BB285F8}"/>
              </a:ext>
            </a:extLst>
          </p:cNvPr>
          <p:cNvSpPr>
            <a:spLocks noGrp="1" noChangeArrowheads="1"/>
          </p:cNvSpPr>
          <p:nvPr>
            <p:ph type="body" idx="1"/>
          </p:nvPr>
        </p:nvSpPr>
        <p:spPr>
          <a:xfrm>
            <a:off x="487680" y="3488770"/>
            <a:ext cx="6258560" cy="5390674"/>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655" tIns="46988" rIns="95655" bIns="46988"/>
          <a:lstStyle/>
          <a:p>
            <a:endParaRPr lang="en-US" altLang="en-US"/>
          </a:p>
        </p:txBody>
      </p:sp>
      <p:sp>
        <p:nvSpPr>
          <p:cNvPr id="94216" name="Rectangle 7">
            <a:extLst>
              <a:ext uri="{FF2B5EF4-FFF2-40B4-BE49-F238E27FC236}">
                <a16:creationId xmlns:a16="http://schemas.microsoft.com/office/drawing/2014/main" id="{EC8597BD-2ABD-A73D-C7F1-D0741D7C759E}"/>
              </a:ext>
            </a:extLst>
          </p:cNvPr>
          <p:cNvSpPr>
            <a:spLocks noGrp="1" noRot="1" noChangeAspect="1" noChangeArrowheads="1" noTextEdit="1"/>
          </p:cNvSpPr>
          <p:nvPr>
            <p:ph type="sldImg"/>
          </p:nvPr>
        </p:nvSpPr>
        <p:spPr>
          <a:xfrm>
            <a:off x="469900" y="727075"/>
            <a:ext cx="6375400" cy="3586163"/>
          </a:xfrm>
          <a:ln w="12700" cap="flat">
            <a:solidFill>
              <a:schemeClr val="tx1"/>
            </a:solid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ECCB4-B288-4196-BC67-541C27327AF2}" type="slidenum">
              <a:rPr lang="en-IN" smtClean="0"/>
              <a:t>87</a:t>
            </a:fld>
            <a:endParaRPr lang="en-IN"/>
          </a:p>
        </p:txBody>
      </p:sp>
    </p:spTree>
    <p:extLst>
      <p:ext uri="{BB962C8B-B14F-4D97-AF65-F5344CB8AC3E}">
        <p14:creationId xmlns:p14="http://schemas.microsoft.com/office/powerpoint/2010/main" val="2143620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ECCB4-B288-4196-BC67-541C27327AF2}" type="slidenum">
              <a:rPr lang="en-IN" smtClean="0"/>
              <a:t>88</a:t>
            </a:fld>
            <a:endParaRPr lang="en-IN"/>
          </a:p>
        </p:txBody>
      </p:sp>
    </p:spTree>
    <p:extLst>
      <p:ext uri="{BB962C8B-B14F-4D97-AF65-F5344CB8AC3E}">
        <p14:creationId xmlns:p14="http://schemas.microsoft.com/office/powerpoint/2010/main" val="1696140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8ECCB4-B288-4196-BC67-541C27327AF2}" type="slidenum">
              <a:rPr lang="en-IN" smtClean="0"/>
              <a:t>89</a:t>
            </a:fld>
            <a:endParaRPr lang="en-IN"/>
          </a:p>
        </p:txBody>
      </p:sp>
    </p:spTree>
    <p:extLst>
      <p:ext uri="{BB962C8B-B14F-4D97-AF65-F5344CB8AC3E}">
        <p14:creationId xmlns:p14="http://schemas.microsoft.com/office/powerpoint/2010/main" val="188164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CBD33-FB93-EB32-A141-31E96C7DB8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7C35C3-D893-96F1-F970-09CDED6632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35730E-CBA9-A3AE-A460-3CA41A823A72}"/>
              </a:ext>
            </a:extLst>
          </p:cNvPr>
          <p:cNvSpPr>
            <a:spLocks noGrp="1"/>
          </p:cNvSpPr>
          <p:nvPr>
            <p:ph type="dt" sz="half" idx="10"/>
          </p:nvPr>
        </p:nvSpPr>
        <p:spPr/>
        <p:txBody>
          <a:bodyPr/>
          <a:lstStyle/>
          <a:p>
            <a:fld id="{23CD3C03-F5C7-4099-BAF5-526CA0ACFC72}" type="datetime1">
              <a:rPr lang="en-IN" smtClean="0"/>
              <a:t>14-10-2025</a:t>
            </a:fld>
            <a:endParaRPr lang="en-IN"/>
          </a:p>
        </p:txBody>
      </p:sp>
      <p:sp>
        <p:nvSpPr>
          <p:cNvPr id="5" name="Footer Placeholder 4">
            <a:extLst>
              <a:ext uri="{FF2B5EF4-FFF2-40B4-BE49-F238E27FC236}">
                <a16:creationId xmlns:a16="http://schemas.microsoft.com/office/drawing/2014/main" id="{03BF2E67-B154-8EEB-BF6D-8E9C36BCC3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13B37-8518-28EC-5AE8-3B960AF999F0}"/>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388676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B665C-979B-9DBC-16A0-BA0C1E1AA2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4143DE-3B2B-A02D-1D6C-11D79DA2CE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71CD2F-090D-320A-C21B-AB95F02BC8E0}"/>
              </a:ext>
            </a:extLst>
          </p:cNvPr>
          <p:cNvSpPr>
            <a:spLocks noGrp="1"/>
          </p:cNvSpPr>
          <p:nvPr>
            <p:ph type="dt" sz="half" idx="10"/>
          </p:nvPr>
        </p:nvSpPr>
        <p:spPr/>
        <p:txBody>
          <a:bodyPr/>
          <a:lstStyle/>
          <a:p>
            <a:fld id="{1DA7A5F5-A0C6-4BEA-B68B-615BBC527FEF}" type="datetime1">
              <a:rPr lang="en-IN" smtClean="0"/>
              <a:t>14-10-2025</a:t>
            </a:fld>
            <a:endParaRPr lang="en-IN"/>
          </a:p>
        </p:txBody>
      </p:sp>
      <p:sp>
        <p:nvSpPr>
          <p:cNvPr id="5" name="Footer Placeholder 4">
            <a:extLst>
              <a:ext uri="{FF2B5EF4-FFF2-40B4-BE49-F238E27FC236}">
                <a16:creationId xmlns:a16="http://schemas.microsoft.com/office/drawing/2014/main" id="{644F8A9B-17E7-BE3E-EC88-3B56C22095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7CC4BF-C8CC-C074-55B7-D0B7B5C71F33}"/>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2044602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524D-B6C0-AB33-43BB-1B1A49A8AE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4B7DCF-5027-0A70-EFC1-872DB94854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0D165D-8FBC-684D-B3A1-3282BD99B2CE}"/>
              </a:ext>
            </a:extLst>
          </p:cNvPr>
          <p:cNvSpPr>
            <a:spLocks noGrp="1"/>
          </p:cNvSpPr>
          <p:nvPr>
            <p:ph type="dt" sz="half" idx="10"/>
          </p:nvPr>
        </p:nvSpPr>
        <p:spPr/>
        <p:txBody>
          <a:bodyPr/>
          <a:lstStyle/>
          <a:p>
            <a:fld id="{837C1DAC-E7A8-45E6-9615-55638E97C921}" type="datetime1">
              <a:rPr lang="en-IN" smtClean="0"/>
              <a:t>14-10-2025</a:t>
            </a:fld>
            <a:endParaRPr lang="en-IN"/>
          </a:p>
        </p:txBody>
      </p:sp>
      <p:sp>
        <p:nvSpPr>
          <p:cNvPr id="5" name="Footer Placeholder 4">
            <a:extLst>
              <a:ext uri="{FF2B5EF4-FFF2-40B4-BE49-F238E27FC236}">
                <a16:creationId xmlns:a16="http://schemas.microsoft.com/office/drawing/2014/main" id="{25AAC79C-8E70-A11D-A631-6F5CFBE614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41767-DCD4-B39D-7EE7-042988E3B64A}"/>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162636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0314-45B3-C876-44C4-605AA3C981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3B033E-A74A-A518-4711-C634412B44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F3329B-7FEB-B350-A96E-BD9151C122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012F68-C8FA-0BA8-0586-2F5244BBB8BC}"/>
              </a:ext>
            </a:extLst>
          </p:cNvPr>
          <p:cNvSpPr>
            <a:spLocks noGrp="1"/>
          </p:cNvSpPr>
          <p:nvPr>
            <p:ph type="dt" sz="half" idx="10"/>
          </p:nvPr>
        </p:nvSpPr>
        <p:spPr/>
        <p:txBody>
          <a:bodyPr/>
          <a:lstStyle/>
          <a:p>
            <a:fld id="{954355C3-F8DE-47DC-BFB0-A663B25FCF35}" type="datetime1">
              <a:rPr lang="en-IN" smtClean="0"/>
              <a:t>14-10-2025</a:t>
            </a:fld>
            <a:endParaRPr lang="en-IN"/>
          </a:p>
        </p:txBody>
      </p:sp>
      <p:sp>
        <p:nvSpPr>
          <p:cNvPr id="6" name="Footer Placeholder 5">
            <a:extLst>
              <a:ext uri="{FF2B5EF4-FFF2-40B4-BE49-F238E27FC236}">
                <a16:creationId xmlns:a16="http://schemas.microsoft.com/office/drawing/2014/main" id="{1942EC22-FEF1-30AB-68EB-91D27FE134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DEF75D-24F4-54ED-40FF-B540E487B0A6}"/>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1518424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311C4-3132-0FB0-0943-5F76935ACE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D7B5C2-F589-DB4C-C89F-6957A0087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79D925-F2F7-66BE-AF41-C1558C8D27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80DF60-BAE8-1229-8B83-A510D1C7D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FCA16B-F456-3FCA-47CB-D847C0C6F7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2B5B8E-4A94-F6A7-7E72-B7277BD5BF57}"/>
              </a:ext>
            </a:extLst>
          </p:cNvPr>
          <p:cNvSpPr>
            <a:spLocks noGrp="1"/>
          </p:cNvSpPr>
          <p:nvPr>
            <p:ph type="dt" sz="half" idx="10"/>
          </p:nvPr>
        </p:nvSpPr>
        <p:spPr/>
        <p:txBody>
          <a:bodyPr/>
          <a:lstStyle/>
          <a:p>
            <a:fld id="{2FA6C38D-B29E-462B-909E-D53385ED11DF}" type="datetime1">
              <a:rPr lang="en-IN" smtClean="0"/>
              <a:t>14-10-2025</a:t>
            </a:fld>
            <a:endParaRPr lang="en-IN"/>
          </a:p>
        </p:txBody>
      </p:sp>
      <p:sp>
        <p:nvSpPr>
          <p:cNvPr id="8" name="Footer Placeholder 7">
            <a:extLst>
              <a:ext uri="{FF2B5EF4-FFF2-40B4-BE49-F238E27FC236}">
                <a16:creationId xmlns:a16="http://schemas.microsoft.com/office/drawing/2014/main" id="{C5BFF691-77B8-72DE-E234-C355BB1AC8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2102CF-14F6-32C3-146E-6D9DA7C79775}"/>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3357695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3AB2-06D5-3086-1F53-6BF4CAF62A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65A371-8A0A-0BB3-88AE-49C1A2C67BF7}"/>
              </a:ext>
            </a:extLst>
          </p:cNvPr>
          <p:cNvSpPr>
            <a:spLocks noGrp="1"/>
          </p:cNvSpPr>
          <p:nvPr>
            <p:ph type="dt" sz="half" idx="10"/>
          </p:nvPr>
        </p:nvSpPr>
        <p:spPr/>
        <p:txBody>
          <a:bodyPr/>
          <a:lstStyle/>
          <a:p>
            <a:fld id="{7F51A4CD-48CF-4D80-A5E1-3B2D1651419E}" type="datetime1">
              <a:rPr lang="en-IN" smtClean="0"/>
              <a:t>14-10-2025</a:t>
            </a:fld>
            <a:endParaRPr lang="en-IN"/>
          </a:p>
        </p:txBody>
      </p:sp>
      <p:sp>
        <p:nvSpPr>
          <p:cNvPr id="4" name="Footer Placeholder 3">
            <a:extLst>
              <a:ext uri="{FF2B5EF4-FFF2-40B4-BE49-F238E27FC236}">
                <a16:creationId xmlns:a16="http://schemas.microsoft.com/office/drawing/2014/main" id="{9373A25E-3BA6-A15B-42E8-5B3FD93577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196A27-C861-43C5-D654-E3981AABB8CF}"/>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964333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37755C-909A-CF91-F58B-AF7FA697220E}"/>
              </a:ext>
            </a:extLst>
          </p:cNvPr>
          <p:cNvSpPr>
            <a:spLocks noGrp="1"/>
          </p:cNvSpPr>
          <p:nvPr>
            <p:ph type="dt" sz="half" idx="10"/>
          </p:nvPr>
        </p:nvSpPr>
        <p:spPr/>
        <p:txBody>
          <a:bodyPr/>
          <a:lstStyle/>
          <a:p>
            <a:fld id="{7D38B175-A446-4D30-8A63-74699ACB04F0}" type="datetime1">
              <a:rPr lang="en-IN" smtClean="0"/>
              <a:t>14-10-2025</a:t>
            </a:fld>
            <a:endParaRPr lang="en-IN"/>
          </a:p>
        </p:txBody>
      </p:sp>
      <p:sp>
        <p:nvSpPr>
          <p:cNvPr id="3" name="Footer Placeholder 2">
            <a:extLst>
              <a:ext uri="{FF2B5EF4-FFF2-40B4-BE49-F238E27FC236}">
                <a16:creationId xmlns:a16="http://schemas.microsoft.com/office/drawing/2014/main" id="{62201803-75B7-058D-E1B0-66B8C6EFAB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A58BC7-C797-CC09-4F67-CDE1B8D28ABD}"/>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318645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E25EF-72D9-C09A-60E0-60490709D3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08B599-6590-57DF-E228-8E8D42FC39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2F443A-60F9-CA87-6813-48691086A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28981F-E015-5850-0463-0F0D624EFB9A}"/>
              </a:ext>
            </a:extLst>
          </p:cNvPr>
          <p:cNvSpPr>
            <a:spLocks noGrp="1"/>
          </p:cNvSpPr>
          <p:nvPr>
            <p:ph type="dt" sz="half" idx="10"/>
          </p:nvPr>
        </p:nvSpPr>
        <p:spPr/>
        <p:txBody>
          <a:bodyPr/>
          <a:lstStyle/>
          <a:p>
            <a:fld id="{C7AB9950-44FF-47DD-97A7-330A3FC49216}" type="datetime1">
              <a:rPr lang="en-IN" smtClean="0"/>
              <a:t>14-10-2025</a:t>
            </a:fld>
            <a:endParaRPr lang="en-IN"/>
          </a:p>
        </p:txBody>
      </p:sp>
      <p:sp>
        <p:nvSpPr>
          <p:cNvPr id="6" name="Footer Placeholder 5">
            <a:extLst>
              <a:ext uri="{FF2B5EF4-FFF2-40B4-BE49-F238E27FC236}">
                <a16:creationId xmlns:a16="http://schemas.microsoft.com/office/drawing/2014/main" id="{4C15EE30-92DC-F3F6-C9B9-A9582A81A8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D551D8-CCDA-C763-32AA-662FFD4A8968}"/>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65390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80B-187F-04EF-B03D-10A7E7A0E0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F7470F-288C-FBEB-88B1-2BC56A818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F5610E-6981-7D3D-B40C-ECCCEEC7A1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190DD-EE75-8670-1DF8-28E749D4098A}"/>
              </a:ext>
            </a:extLst>
          </p:cNvPr>
          <p:cNvSpPr>
            <a:spLocks noGrp="1"/>
          </p:cNvSpPr>
          <p:nvPr>
            <p:ph type="dt" sz="half" idx="10"/>
          </p:nvPr>
        </p:nvSpPr>
        <p:spPr/>
        <p:txBody>
          <a:bodyPr/>
          <a:lstStyle/>
          <a:p>
            <a:fld id="{36402AF0-62ED-4C9E-9A42-3BDEEC0B6E0B}" type="datetime1">
              <a:rPr lang="en-IN" smtClean="0"/>
              <a:t>14-10-2025</a:t>
            </a:fld>
            <a:endParaRPr lang="en-IN"/>
          </a:p>
        </p:txBody>
      </p:sp>
      <p:sp>
        <p:nvSpPr>
          <p:cNvPr id="6" name="Footer Placeholder 5">
            <a:extLst>
              <a:ext uri="{FF2B5EF4-FFF2-40B4-BE49-F238E27FC236}">
                <a16:creationId xmlns:a16="http://schemas.microsoft.com/office/drawing/2014/main" id="{C487FBE5-DA40-AB7E-BFD0-2194037C14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C186DB-0EBA-1AC6-669D-08365120E4EC}"/>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1698545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027BC-3FE8-1569-B401-A309D2E8E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38BD8E-6130-D8A2-0EB6-E891879D56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CDC0D6-B489-44C7-B818-6764744B3F0A}"/>
              </a:ext>
            </a:extLst>
          </p:cNvPr>
          <p:cNvSpPr>
            <a:spLocks noGrp="1"/>
          </p:cNvSpPr>
          <p:nvPr>
            <p:ph type="dt" sz="half" idx="10"/>
          </p:nvPr>
        </p:nvSpPr>
        <p:spPr/>
        <p:txBody>
          <a:bodyPr/>
          <a:lstStyle/>
          <a:p>
            <a:fld id="{C3046DDD-AF38-4C81-A06C-CD53849DB914}" type="datetime1">
              <a:rPr lang="en-IN" smtClean="0"/>
              <a:t>14-10-2025</a:t>
            </a:fld>
            <a:endParaRPr lang="en-IN"/>
          </a:p>
        </p:txBody>
      </p:sp>
      <p:sp>
        <p:nvSpPr>
          <p:cNvPr id="5" name="Footer Placeholder 4">
            <a:extLst>
              <a:ext uri="{FF2B5EF4-FFF2-40B4-BE49-F238E27FC236}">
                <a16:creationId xmlns:a16="http://schemas.microsoft.com/office/drawing/2014/main" id="{7E77612D-FC2D-C69C-D460-CD931D94D6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40D43B-9D31-CB6F-871B-C438E76A2771}"/>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3709785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CBC9A-37F3-C5B3-0B4B-3434B4852D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BBD16D-7D9C-554D-03D1-21B97002AC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8C7C4F-5C5E-2E48-E1A7-A72BC2FF3DEE}"/>
              </a:ext>
            </a:extLst>
          </p:cNvPr>
          <p:cNvSpPr>
            <a:spLocks noGrp="1"/>
          </p:cNvSpPr>
          <p:nvPr>
            <p:ph type="dt" sz="half" idx="10"/>
          </p:nvPr>
        </p:nvSpPr>
        <p:spPr/>
        <p:txBody>
          <a:bodyPr/>
          <a:lstStyle/>
          <a:p>
            <a:fld id="{32EE1202-88D6-413A-9D65-EDF2EB0A946E}" type="datetime1">
              <a:rPr lang="en-IN" smtClean="0"/>
              <a:t>14-10-2025</a:t>
            </a:fld>
            <a:endParaRPr lang="en-IN"/>
          </a:p>
        </p:txBody>
      </p:sp>
      <p:sp>
        <p:nvSpPr>
          <p:cNvPr id="5" name="Footer Placeholder 4">
            <a:extLst>
              <a:ext uri="{FF2B5EF4-FFF2-40B4-BE49-F238E27FC236}">
                <a16:creationId xmlns:a16="http://schemas.microsoft.com/office/drawing/2014/main" id="{3DC6AEF8-7A54-9B6D-BE54-BBED48D449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1BBBD1-21CD-FCA7-4A67-9328437D6280}"/>
              </a:ext>
            </a:extLst>
          </p:cNvPr>
          <p:cNvSpPr>
            <a:spLocks noGrp="1"/>
          </p:cNvSpPr>
          <p:nvPr>
            <p:ph type="sldNum" sz="quarter" idx="12"/>
          </p:nvPr>
        </p:nvSpPr>
        <p:spPr/>
        <p:txBody>
          <a:bodyPr/>
          <a:lstStyle/>
          <a:p>
            <a:fld id="{6B07C8CD-4FE2-46F0-9611-E3B643750200}" type="slidenum">
              <a:rPr lang="en-IN" smtClean="0"/>
              <a:t>‹#›</a:t>
            </a:fld>
            <a:endParaRPr lang="en-IN"/>
          </a:p>
        </p:txBody>
      </p:sp>
    </p:spTree>
    <p:extLst>
      <p:ext uri="{BB962C8B-B14F-4D97-AF65-F5344CB8AC3E}">
        <p14:creationId xmlns:p14="http://schemas.microsoft.com/office/powerpoint/2010/main" val="1959729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251598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304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2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B998F8-5F60-4F3A-941E-65C7CA793196}"/>
              </a:ext>
            </a:extLst>
          </p:cNvPr>
          <p:cNvSpPr/>
          <p:nvPr userDrawn="1"/>
        </p:nvSpPr>
        <p:spPr>
          <a:xfrm>
            <a:off x="0" y="0"/>
            <a:ext cx="398145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16E2B211-279E-47AD-8321-BBE0A034E63C}"/>
              </a:ext>
            </a:extLst>
          </p:cNvPr>
          <p:cNvGrpSpPr/>
          <p:nvPr userDrawn="1"/>
        </p:nvGrpSpPr>
        <p:grpSpPr>
          <a:xfrm rot="12911792" flipH="1" flipV="1">
            <a:off x="2790331" y="4225532"/>
            <a:ext cx="706431" cy="492914"/>
            <a:chOff x="5405974" y="1533288"/>
            <a:chExt cx="608646" cy="424685"/>
          </a:xfrm>
        </p:grpSpPr>
        <p:sp>
          <p:nvSpPr>
            <p:cNvPr id="18" name="Trapezoid 17">
              <a:extLst>
                <a:ext uri="{FF2B5EF4-FFF2-40B4-BE49-F238E27FC236}">
                  <a16:creationId xmlns:a16="http://schemas.microsoft.com/office/drawing/2014/main" id="{3DECB3E9-32A4-485B-873B-63C6C59490D1}"/>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a:extLst>
                <a:ext uri="{FF2B5EF4-FFF2-40B4-BE49-F238E27FC236}">
                  <a16:creationId xmlns:a16="http://schemas.microsoft.com/office/drawing/2014/main" id="{B97B4F36-AF1D-4D48-AB73-9687DD625973}"/>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a:extLst>
                <a:ext uri="{FF2B5EF4-FFF2-40B4-BE49-F238E27FC236}">
                  <a16:creationId xmlns:a16="http://schemas.microsoft.com/office/drawing/2014/main" id="{18628655-B24C-4AA8-B86F-E4649EC635E8}"/>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a:extLst>
                <a:ext uri="{FF2B5EF4-FFF2-40B4-BE49-F238E27FC236}">
                  <a16:creationId xmlns:a16="http://schemas.microsoft.com/office/drawing/2014/main" id="{3A6B24C9-2F1F-4C5E-B867-73AE6CD03838}"/>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2AA7F5E5-BC6C-4756-A8EB-16B8328FA881}"/>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497CDF6D-E63B-4A20-B935-7F27169038D3}"/>
              </a:ext>
            </a:extLst>
          </p:cNvPr>
          <p:cNvGrpSpPr/>
          <p:nvPr userDrawn="1"/>
        </p:nvGrpSpPr>
        <p:grpSpPr>
          <a:xfrm rot="20269720">
            <a:off x="2788843" y="4597087"/>
            <a:ext cx="773065" cy="771576"/>
            <a:chOff x="7167947" y="1624190"/>
            <a:chExt cx="2677920" cy="2672764"/>
          </a:xfrm>
          <a:solidFill>
            <a:schemeClr val="bg1"/>
          </a:solidFill>
        </p:grpSpPr>
        <p:sp>
          <p:nvSpPr>
            <p:cNvPr id="24" name="Freeform: Shape 23">
              <a:extLst>
                <a:ext uri="{FF2B5EF4-FFF2-40B4-BE49-F238E27FC236}">
                  <a16:creationId xmlns:a16="http://schemas.microsoft.com/office/drawing/2014/main" id="{B45EA29E-0702-4F6E-81A2-E3C8EFB2FBFE}"/>
                </a:ext>
              </a:extLst>
            </p:cNvPr>
            <p:cNvSpPr/>
            <p:nvPr/>
          </p:nvSpPr>
          <p:spPr>
            <a:xfrm>
              <a:off x="7167947" y="1624190"/>
              <a:ext cx="2677920" cy="2672764"/>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1270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429830-A1B2-46C6-8E1F-3CDD87BDE661}"/>
                </a:ext>
              </a:extLst>
            </p:cNvPr>
            <p:cNvSpPr/>
            <p:nvPr/>
          </p:nvSpPr>
          <p:spPr>
            <a:xfrm>
              <a:off x="7628244" y="2084297"/>
              <a:ext cx="1757326" cy="1752551"/>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12700" cap="flat">
              <a:noFill/>
              <a:prstDash val="solid"/>
              <a:miter/>
            </a:ln>
          </p:spPr>
          <p:txBody>
            <a:bodyPr rtlCol="0" anchor="ctr"/>
            <a:lstStyle/>
            <a:p>
              <a:endParaRPr lang="en-US" dirty="0"/>
            </a:p>
          </p:txBody>
        </p:sp>
      </p:grpSp>
      <p:grpSp>
        <p:nvGrpSpPr>
          <p:cNvPr id="26" name="Group 25">
            <a:extLst>
              <a:ext uri="{FF2B5EF4-FFF2-40B4-BE49-F238E27FC236}">
                <a16:creationId xmlns:a16="http://schemas.microsoft.com/office/drawing/2014/main" id="{4A5EFBF7-A8A4-4D6E-8808-92696D9AC638}"/>
              </a:ext>
            </a:extLst>
          </p:cNvPr>
          <p:cNvGrpSpPr/>
          <p:nvPr userDrawn="1"/>
        </p:nvGrpSpPr>
        <p:grpSpPr>
          <a:xfrm rot="6679697" flipV="1">
            <a:off x="2514190" y="4250744"/>
            <a:ext cx="709209" cy="493240"/>
            <a:chOff x="5405974" y="1533288"/>
            <a:chExt cx="611040" cy="424965"/>
          </a:xfrm>
        </p:grpSpPr>
        <p:sp>
          <p:nvSpPr>
            <p:cNvPr id="27" name="Trapezoid 26">
              <a:extLst>
                <a:ext uri="{FF2B5EF4-FFF2-40B4-BE49-F238E27FC236}">
                  <a16:creationId xmlns:a16="http://schemas.microsoft.com/office/drawing/2014/main" id="{F604488B-1EF4-42B1-A6B5-7312ADA6A9C3}"/>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apezoid 27">
              <a:extLst>
                <a:ext uri="{FF2B5EF4-FFF2-40B4-BE49-F238E27FC236}">
                  <a16:creationId xmlns:a16="http://schemas.microsoft.com/office/drawing/2014/main" id="{D7D307F1-17F2-4B95-9A10-54A9B7C0CFD4}"/>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rapezoid 28">
              <a:extLst>
                <a:ext uri="{FF2B5EF4-FFF2-40B4-BE49-F238E27FC236}">
                  <a16:creationId xmlns:a16="http://schemas.microsoft.com/office/drawing/2014/main" id="{1B2CFD6B-D5DB-4797-A1E8-D6713BECCFF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apezoid 29">
              <a:extLst>
                <a:ext uri="{FF2B5EF4-FFF2-40B4-BE49-F238E27FC236}">
                  <a16:creationId xmlns:a16="http://schemas.microsoft.com/office/drawing/2014/main" id="{240F08C5-AEE4-4DA8-B595-DFD5AAB6DE0D}"/>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apezoid 30">
              <a:extLst>
                <a:ext uri="{FF2B5EF4-FFF2-40B4-BE49-F238E27FC236}">
                  <a16:creationId xmlns:a16="http://schemas.microsoft.com/office/drawing/2014/main" id="{FB146A5D-87C6-47F6-BF4F-3E2D584E5F89}"/>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6A379968-FE4C-4380-9AD8-FCC2F2902ED8}"/>
              </a:ext>
            </a:extLst>
          </p:cNvPr>
          <p:cNvGrpSpPr/>
          <p:nvPr userDrawn="1"/>
        </p:nvGrpSpPr>
        <p:grpSpPr>
          <a:xfrm rot="2246763">
            <a:off x="1974127" y="1362251"/>
            <a:ext cx="2028524" cy="1778017"/>
            <a:chOff x="2753518" y="2997140"/>
            <a:chExt cx="2028524" cy="1778017"/>
          </a:xfrm>
          <a:solidFill>
            <a:schemeClr val="bg1">
              <a:alpha val="5000"/>
            </a:schemeClr>
          </a:solidFill>
        </p:grpSpPr>
        <p:sp>
          <p:nvSpPr>
            <p:cNvPr id="5" name="Freeform: Shape 4">
              <a:extLst>
                <a:ext uri="{FF2B5EF4-FFF2-40B4-BE49-F238E27FC236}">
                  <a16:creationId xmlns:a16="http://schemas.microsoft.com/office/drawing/2014/main" id="{CED8DA23-991A-4F5A-84D7-7BDAEC9B967B}"/>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7272C85-BFE8-4E25-B0D2-727926AA6B5E}"/>
                </a:ext>
              </a:extLst>
            </p:cNvPr>
            <p:cNvGrpSpPr/>
            <p:nvPr/>
          </p:nvGrpSpPr>
          <p:grpSpPr>
            <a:xfrm>
              <a:off x="3563163" y="3556278"/>
              <a:ext cx="1218879" cy="1218879"/>
              <a:chOff x="3264582" y="1870309"/>
              <a:chExt cx="1774962" cy="1774962"/>
            </a:xfrm>
            <a:grpFill/>
          </p:grpSpPr>
          <p:sp>
            <p:nvSpPr>
              <p:cNvPr id="8" name="Freeform: Shape 7">
                <a:extLst>
                  <a:ext uri="{FF2B5EF4-FFF2-40B4-BE49-F238E27FC236}">
                    <a16:creationId xmlns:a16="http://schemas.microsoft.com/office/drawing/2014/main" id="{1324B715-E1E3-414A-B516-E282A0E568CA}"/>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505C034-B686-4751-AF7C-F1443083293B}"/>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7" name="Freeform: Shape 6">
              <a:extLst>
                <a:ext uri="{FF2B5EF4-FFF2-40B4-BE49-F238E27FC236}">
                  <a16:creationId xmlns:a16="http://schemas.microsoft.com/office/drawing/2014/main" id="{932CE2BE-5153-4691-A210-F5CEED8B7852}"/>
                </a:ext>
              </a:extLst>
            </p:cNvPr>
            <p:cNvSpPr/>
            <p:nvPr/>
          </p:nvSpPr>
          <p:spPr>
            <a:xfrm>
              <a:off x="3308806" y="2997140"/>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BECD3404-3EA6-420D-8DBC-6D3A595FBFA2}"/>
              </a:ext>
            </a:extLst>
          </p:cNvPr>
          <p:cNvGrpSpPr/>
          <p:nvPr userDrawn="1"/>
        </p:nvGrpSpPr>
        <p:grpSpPr>
          <a:xfrm>
            <a:off x="0" y="2766599"/>
            <a:ext cx="2745260" cy="2471860"/>
            <a:chOff x="6486650" y="2648852"/>
            <a:chExt cx="2745260" cy="2471860"/>
          </a:xfrm>
          <a:solidFill>
            <a:schemeClr val="bg1">
              <a:alpha val="5000"/>
            </a:schemeClr>
          </a:solidFill>
        </p:grpSpPr>
        <p:sp>
          <p:nvSpPr>
            <p:cNvPr id="11" name="Freeform: Shape 10">
              <a:extLst>
                <a:ext uri="{FF2B5EF4-FFF2-40B4-BE49-F238E27FC236}">
                  <a16:creationId xmlns:a16="http://schemas.microsoft.com/office/drawing/2014/main" id="{18ECA3BD-4287-4CAB-8CFB-CC4BBC00858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2" name="Group 11">
              <a:extLst>
                <a:ext uri="{FF2B5EF4-FFF2-40B4-BE49-F238E27FC236}">
                  <a16:creationId xmlns:a16="http://schemas.microsoft.com/office/drawing/2014/main" id="{B404465C-B632-42F2-8273-BA2C7FFDA7A2}"/>
                </a:ext>
              </a:extLst>
            </p:cNvPr>
            <p:cNvGrpSpPr/>
            <p:nvPr/>
          </p:nvGrpSpPr>
          <p:grpSpPr>
            <a:xfrm>
              <a:off x="7392963" y="2648852"/>
              <a:ext cx="1838947" cy="1835405"/>
              <a:chOff x="7167947" y="1624190"/>
              <a:chExt cx="2677922" cy="2672763"/>
            </a:xfrm>
            <a:grpFill/>
          </p:grpSpPr>
          <p:sp>
            <p:nvSpPr>
              <p:cNvPr id="13" name="Freeform: Shape 12">
                <a:extLst>
                  <a:ext uri="{FF2B5EF4-FFF2-40B4-BE49-F238E27FC236}">
                    <a16:creationId xmlns:a16="http://schemas.microsoft.com/office/drawing/2014/main" id="{100150D0-F178-431E-B2C4-A43288E12324}"/>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E443C86-7937-4604-892A-31CBB4C3B2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5" name="Freeform: Shape 14">
            <a:extLst>
              <a:ext uri="{FF2B5EF4-FFF2-40B4-BE49-F238E27FC236}">
                <a16:creationId xmlns:a16="http://schemas.microsoft.com/office/drawing/2014/main" id="{33011AC2-F2FD-44CD-BF51-A2C7AB4FB7F5}"/>
              </a:ext>
            </a:extLst>
          </p:cNvPr>
          <p:cNvSpPr/>
          <p:nvPr userDrawn="1"/>
        </p:nvSpPr>
        <p:spPr>
          <a:xfrm>
            <a:off x="3140906" y="3608100"/>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795D01C-5E4D-42EF-81C8-036347FC14D7}"/>
              </a:ext>
            </a:extLst>
          </p:cNvPr>
          <p:cNvSpPr/>
          <p:nvPr userDrawn="1"/>
        </p:nvSpPr>
        <p:spPr>
          <a:xfrm rot="2246763">
            <a:off x="103562" y="2021654"/>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32" name="Rectangle: Top Corners Rounded 31">
            <a:extLst>
              <a:ext uri="{FF2B5EF4-FFF2-40B4-BE49-F238E27FC236}">
                <a16:creationId xmlns:a16="http://schemas.microsoft.com/office/drawing/2014/main" id="{11BA3E48-397A-40E6-82CD-AFA7318A5754}"/>
              </a:ext>
            </a:extLst>
          </p:cNvPr>
          <p:cNvSpPr/>
          <p:nvPr userDrawn="1"/>
        </p:nvSpPr>
        <p:spPr>
          <a:xfrm rot="10800000" flipH="1">
            <a:off x="292045" y="0"/>
            <a:ext cx="1618488"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FC3E8D1C-B4B0-4270-BF60-0AB071A5B57A}"/>
              </a:ext>
            </a:extLst>
          </p:cNvPr>
          <p:cNvGrpSpPr/>
          <p:nvPr userDrawn="1"/>
        </p:nvGrpSpPr>
        <p:grpSpPr>
          <a:xfrm rot="20249292" flipH="1" flipV="1">
            <a:off x="2408466" y="3007856"/>
            <a:ext cx="405220" cy="1013819"/>
            <a:chOff x="4130248" y="650162"/>
            <a:chExt cx="502279" cy="1664988"/>
          </a:xfrm>
          <a:solidFill>
            <a:schemeClr val="accent2"/>
          </a:solidFill>
        </p:grpSpPr>
        <p:sp>
          <p:nvSpPr>
            <p:cNvPr id="34" name="Trapezoid 33">
              <a:extLst>
                <a:ext uri="{FF2B5EF4-FFF2-40B4-BE49-F238E27FC236}">
                  <a16:creationId xmlns:a16="http://schemas.microsoft.com/office/drawing/2014/main" id="{01E654A2-A845-4D9C-AC7E-DD1A1FB316D8}"/>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rapezoid 94">
              <a:extLst>
                <a:ext uri="{FF2B5EF4-FFF2-40B4-BE49-F238E27FC236}">
                  <a16:creationId xmlns:a16="http://schemas.microsoft.com/office/drawing/2014/main" id="{49392ED5-842E-4BB8-9F02-6F05DBDAC68A}"/>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3F7416A9-09BE-4355-8142-7849BBC59832}"/>
              </a:ext>
            </a:extLst>
          </p:cNvPr>
          <p:cNvGrpSpPr/>
          <p:nvPr userDrawn="1"/>
        </p:nvGrpSpPr>
        <p:grpSpPr>
          <a:xfrm rot="15704020" flipH="1" flipV="1">
            <a:off x="2663420" y="3873638"/>
            <a:ext cx="340169" cy="340171"/>
            <a:chOff x="5108323" y="1463792"/>
            <a:chExt cx="374636" cy="374638"/>
          </a:xfrm>
        </p:grpSpPr>
        <p:sp>
          <p:nvSpPr>
            <p:cNvPr id="37" name="Oval 36">
              <a:extLst>
                <a:ext uri="{FF2B5EF4-FFF2-40B4-BE49-F238E27FC236}">
                  <a16:creationId xmlns:a16="http://schemas.microsoft.com/office/drawing/2014/main" id="{71F29D26-D2C3-4D21-B19D-E7708FC9FF28}"/>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5AB344E1-E2AB-4438-8DF4-30253B57B63D}"/>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endParaRPr lang="en-US"/>
            </a:p>
          </p:txBody>
        </p:sp>
      </p:grpSp>
      <p:grpSp>
        <p:nvGrpSpPr>
          <p:cNvPr id="39" name="Group 38">
            <a:extLst>
              <a:ext uri="{FF2B5EF4-FFF2-40B4-BE49-F238E27FC236}">
                <a16:creationId xmlns:a16="http://schemas.microsoft.com/office/drawing/2014/main" id="{3EE38B58-01FE-4D5B-B52B-DF7FB23D2B2C}"/>
              </a:ext>
            </a:extLst>
          </p:cNvPr>
          <p:cNvGrpSpPr/>
          <p:nvPr userDrawn="1"/>
        </p:nvGrpSpPr>
        <p:grpSpPr>
          <a:xfrm rot="17572368" flipH="1">
            <a:off x="1480750" y="1474295"/>
            <a:ext cx="487113" cy="1701453"/>
            <a:chOff x="391499" y="630207"/>
            <a:chExt cx="531848" cy="1593194"/>
          </a:xfrm>
        </p:grpSpPr>
        <p:sp>
          <p:nvSpPr>
            <p:cNvPr id="40" name="Rectangle: Rounded Corners 39">
              <a:extLst>
                <a:ext uri="{FF2B5EF4-FFF2-40B4-BE49-F238E27FC236}">
                  <a16:creationId xmlns:a16="http://schemas.microsoft.com/office/drawing/2014/main" id="{ADC60DCB-AA80-49A7-A330-6DEA44AF3C32}"/>
                </a:ext>
              </a:extLst>
            </p:cNvPr>
            <p:cNvSpPr/>
            <p:nvPr/>
          </p:nvSpPr>
          <p:spPr>
            <a:xfrm rot="20495611">
              <a:off x="400453" y="630207"/>
              <a:ext cx="522894" cy="1539139"/>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8126044E-368C-440B-B94F-7A414E81ED0E}"/>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609EA3D-BF09-4750-8B89-52062CCAA8D8}"/>
              </a:ext>
            </a:extLst>
          </p:cNvPr>
          <p:cNvGrpSpPr/>
          <p:nvPr userDrawn="1"/>
        </p:nvGrpSpPr>
        <p:grpSpPr>
          <a:xfrm rot="9737426" flipH="1">
            <a:off x="2091150" y="2624217"/>
            <a:ext cx="514460" cy="514460"/>
            <a:chOff x="121429" y="411151"/>
            <a:chExt cx="607375" cy="607375"/>
          </a:xfrm>
        </p:grpSpPr>
        <p:sp>
          <p:nvSpPr>
            <p:cNvPr id="43" name="Oval 42">
              <a:extLst>
                <a:ext uri="{FF2B5EF4-FFF2-40B4-BE49-F238E27FC236}">
                  <a16:creationId xmlns:a16="http://schemas.microsoft.com/office/drawing/2014/main" id="{8CD88CA8-507A-4052-B3D1-5825B8BBAFFC}"/>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29BC079D-A9B7-4437-8CA1-2DF8E7A33A14}"/>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8F9EC3F-3387-4CF3-A03F-AC9058376362}"/>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CC56068D-EB7D-490A-87C5-924066AB69B5}"/>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23646BA1-CE2A-4CBB-97E9-9222C9AD8E3F}"/>
              </a:ext>
            </a:extLst>
          </p:cNvPr>
          <p:cNvGrpSpPr/>
          <p:nvPr userDrawn="1"/>
        </p:nvGrpSpPr>
        <p:grpSpPr>
          <a:xfrm rot="9743765" flipH="1">
            <a:off x="849043" y="392925"/>
            <a:ext cx="459928" cy="1377757"/>
            <a:chOff x="391499" y="630207"/>
            <a:chExt cx="531845" cy="1593193"/>
          </a:xfrm>
        </p:grpSpPr>
        <p:sp>
          <p:nvSpPr>
            <p:cNvPr id="48" name="Rectangle: Rounded Corners 47">
              <a:extLst>
                <a:ext uri="{FF2B5EF4-FFF2-40B4-BE49-F238E27FC236}">
                  <a16:creationId xmlns:a16="http://schemas.microsoft.com/office/drawing/2014/main" id="{DE287937-2334-4531-AC46-A7DC53F51BD5}"/>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A1EE65D8-6FBD-4080-AA95-429B44E248D1}"/>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Oval 49">
            <a:extLst>
              <a:ext uri="{FF2B5EF4-FFF2-40B4-BE49-F238E27FC236}">
                <a16:creationId xmlns:a16="http://schemas.microsoft.com/office/drawing/2014/main" id="{6227990C-BB00-45E1-9810-8A586B2334D7}"/>
              </a:ext>
            </a:extLst>
          </p:cNvPr>
          <p:cNvSpPr/>
          <p:nvPr userDrawn="1"/>
        </p:nvSpPr>
        <p:spPr>
          <a:xfrm rot="10800000" flipH="1">
            <a:off x="747743" y="1420860"/>
            <a:ext cx="618628" cy="618628"/>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7FC309BA-165E-4651-AC85-AA6CD5F0458E}"/>
              </a:ext>
            </a:extLst>
          </p:cNvPr>
          <p:cNvSpPr/>
          <p:nvPr userDrawn="1"/>
        </p:nvSpPr>
        <p:spPr>
          <a:xfrm rot="10800000" flipH="1">
            <a:off x="814461" y="1487577"/>
            <a:ext cx="485192" cy="485192"/>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54C48116-DF0F-4187-A190-7F66C44BF701}"/>
              </a:ext>
            </a:extLst>
          </p:cNvPr>
          <p:cNvSpPr/>
          <p:nvPr userDrawn="1"/>
        </p:nvSpPr>
        <p:spPr>
          <a:xfrm rot="10800000" flipH="1">
            <a:off x="936003" y="1609750"/>
            <a:ext cx="242109" cy="24084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3" name="Oval 52">
            <a:extLst>
              <a:ext uri="{FF2B5EF4-FFF2-40B4-BE49-F238E27FC236}">
                <a16:creationId xmlns:a16="http://schemas.microsoft.com/office/drawing/2014/main" id="{1CB88625-BD84-4AC0-8A04-F9D426252DC6}"/>
              </a:ext>
            </a:extLst>
          </p:cNvPr>
          <p:cNvSpPr/>
          <p:nvPr userDrawn="1"/>
        </p:nvSpPr>
        <p:spPr>
          <a:xfrm rot="10800000" flipH="1">
            <a:off x="1016764" y="1689879"/>
            <a:ext cx="80588" cy="80588"/>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Top Corners Rounded 53">
            <a:extLst>
              <a:ext uri="{FF2B5EF4-FFF2-40B4-BE49-F238E27FC236}">
                <a16:creationId xmlns:a16="http://schemas.microsoft.com/office/drawing/2014/main" id="{FDB0D61A-55FF-42B8-B442-7B044B1376C5}"/>
              </a:ext>
            </a:extLst>
          </p:cNvPr>
          <p:cNvSpPr/>
          <p:nvPr userDrawn="1"/>
        </p:nvSpPr>
        <p:spPr>
          <a:xfrm rot="10800000" flipH="1">
            <a:off x="478272" y="255586"/>
            <a:ext cx="1246034" cy="71186"/>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Top Corners Rounded 54">
            <a:extLst>
              <a:ext uri="{FF2B5EF4-FFF2-40B4-BE49-F238E27FC236}">
                <a16:creationId xmlns:a16="http://schemas.microsoft.com/office/drawing/2014/main" id="{18A1D6DB-506D-44F9-B480-A76B310C3E71}"/>
              </a:ext>
            </a:extLst>
          </p:cNvPr>
          <p:cNvSpPr/>
          <p:nvPr userDrawn="1"/>
        </p:nvSpPr>
        <p:spPr>
          <a:xfrm rot="10800000" flipH="1">
            <a:off x="640963" y="322185"/>
            <a:ext cx="920653"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C50F240-F8DE-4A86-B350-32B373D2B6BC}"/>
              </a:ext>
            </a:extLst>
          </p:cNvPr>
          <p:cNvSpPr txBox="1"/>
          <p:nvPr userDrawn="1"/>
        </p:nvSpPr>
        <p:spPr>
          <a:xfrm>
            <a:off x="292045" y="6035759"/>
            <a:ext cx="3434108" cy="500056"/>
          </a:xfrm>
          <a:custGeom>
            <a:avLst/>
            <a:gdLst>
              <a:gd name="connsiteX0" fmla="*/ 918715 w 3349328"/>
              <a:gd name="connsiteY0" fmla="*/ 111816 h 487710"/>
              <a:gd name="connsiteX1" fmla="*/ 918715 w 3349328"/>
              <a:gd name="connsiteY1" fmla="*/ 374535 h 487710"/>
              <a:gd name="connsiteX2" fmla="*/ 946303 w 3349328"/>
              <a:gd name="connsiteY2" fmla="*/ 374535 h 487710"/>
              <a:gd name="connsiteX3" fmla="*/ 1052905 w 3349328"/>
              <a:gd name="connsiteY3" fmla="*/ 327170 h 487710"/>
              <a:gd name="connsiteX4" fmla="*/ 1079813 w 3349328"/>
              <a:gd name="connsiteY4" fmla="*/ 243005 h 487710"/>
              <a:gd name="connsiteX5" fmla="*/ 1052905 w 3349328"/>
              <a:gd name="connsiteY5" fmla="*/ 159181 h 487710"/>
              <a:gd name="connsiteX6" fmla="*/ 946303 w 3349328"/>
              <a:gd name="connsiteY6" fmla="*/ 111816 h 487710"/>
              <a:gd name="connsiteX7" fmla="*/ 2629830 w 3349328"/>
              <a:gd name="connsiteY7" fmla="*/ 102981 h 487710"/>
              <a:gd name="connsiteX8" fmla="*/ 2629830 w 3349328"/>
              <a:gd name="connsiteY8" fmla="*/ 218535 h 487710"/>
              <a:gd name="connsiteX9" fmla="*/ 2652342 w 3349328"/>
              <a:gd name="connsiteY9" fmla="*/ 218535 h 487710"/>
              <a:gd name="connsiteX10" fmla="*/ 2707256 w 3349328"/>
              <a:gd name="connsiteY10" fmla="*/ 202610 h 487710"/>
              <a:gd name="connsiteX11" fmla="*/ 2725333 w 3349328"/>
              <a:gd name="connsiteY11" fmla="*/ 160588 h 487710"/>
              <a:gd name="connsiteX12" fmla="*/ 2707256 w 3349328"/>
              <a:gd name="connsiteY12" fmla="*/ 118906 h 487710"/>
              <a:gd name="connsiteX13" fmla="*/ 2652342 w 3349328"/>
              <a:gd name="connsiteY13" fmla="*/ 102981 h 487710"/>
              <a:gd name="connsiteX14" fmla="*/ 222349 w 3349328"/>
              <a:gd name="connsiteY14" fmla="*/ 23791 h 487710"/>
              <a:gd name="connsiteX15" fmla="*/ 343001 w 3349328"/>
              <a:gd name="connsiteY15" fmla="*/ 23791 h 487710"/>
              <a:gd name="connsiteX16" fmla="*/ 564934 w 3349328"/>
              <a:gd name="connsiteY16" fmla="*/ 307580 h 487710"/>
              <a:gd name="connsiteX17" fmla="*/ 564934 w 3349328"/>
              <a:gd name="connsiteY17" fmla="*/ 23791 h 487710"/>
              <a:gd name="connsiteX18" fmla="*/ 685587 w 3349328"/>
              <a:gd name="connsiteY18" fmla="*/ 23791 h 487710"/>
              <a:gd name="connsiteX19" fmla="*/ 685587 w 3349328"/>
              <a:gd name="connsiteY19" fmla="*/ 487710 h 487710"/>
              <a:gd name="connsiteX20" fmla="*/ 564934 w 3349328"/>
              <a:gd name="connsiteY20" fmla="*/ 487710 h 487710"/>
              <a:gd name="connsiteX21" fmla="*/ 343001 w 3349328"/>
              <a:gd name="connsiteY21" fmla="*/ 203580 h 487710"/>
              <a:gd name="connsiteX22" fmla="*/ 343001 w 3349328"/>
              <a:gd name="connsiteY22" fmla="*/ 487710 h 487710"/>
              <a:gd name="connsiteX23" fmla="*/ 222349 w 3349328"/>
              <a:gd name="connsiteY23" fmla="*/ 487710 h 487710"/>
              <a:gd name="connsiteX24" fmla="*/ 0 w 3349328"/>
              <a:gd name="connsiteY24" fmla="*/ 23791 h 487710"/>
              <a:gd name="connsiteX25" fmla="*/ 120653 w 3349328"/>
              <a:gd name="connsiteY25" fmla="*/ 23791 h 487710"/>
              <a:gd name="connsiteX26" fmla="*/ 120653 w 3349328"/>
              <a:gd name="connsiteY26" fmla="*/ 487710 h 487710"/>
              <a:gd name="connsiteX27" fmla="*/ 0 w 3349328"/>
              <a:gd name="connsiteY27" fmla="*/ 487710 h 487710"/>
              <a:gd name="connsiteX28" fmla="*/ 2887110 w 3349328"/>
              <a:gd name="connsiteY28" fmla="*/ 11217 h 487710"/>
              <a:gd name="connsiteX29" fmla="*/ 3031213 w 3349328"/>
              <a:gd name="connsiteY29" fmla="*/ 11217 h 487710"/>
              <a:gd name="connsiteX30" fmla="*/ 3118899 w 3349328"/>
              <a:gd name="connsiteY30" fmla="*/ 137647 h 487710"/>
              <a:gd name="connsiteX31" fmla="*/ 3203186 w 3349328"/>
              <a:gd name="connsiteY31" fmla="*/ 11217 h 487710"/>
              <a:gd name="connsiteX32" fmla="*/ 3349328 w 3349328"/>
              <a:gd name="connsiteY32" fmla="*/ 11217 h 487710"/>
              <a:gd name="connsiteX33" fmla="*/ 3175657 w 3349328"/>
              <a:gd name="connsiteY33" fmla="*/ 252183 h 487710"/>
              <a:gd name="connsiteX34" fmla="*/ 3175657 w 3349328"/>
              <a:gd name="connsiteY34" fmla="*/ 475135 h 487710"/>
              <a:gd name="connsiteX35" fmla="*/ 3055003 w 3349328"/>
              <a:gd name="connsiteY35" fmla="*/ 475135 h 487710"/>
              <a:gd name="connsiteX36" fmla="*/ 3055003 w 3349328"/>
              <a:gd name="connsiteY36" fmla="*/ 252183 h 487710"/>
              <a:gd name="connsiteX37" fmla="*/ 2509178 w 3349328"/>
              <a:gd name="connsiteY37" fmla="*/ 11217 h 487710"/>
              <a:gd name="connsiteX38" fmla="*/ 2696784 w 3349328"/>
              <a:gd name="connsiteY38" fmla="*/ 11217 h 487710"/>
              <a:gd name="connsiteX39" fmla="*/ 2818457 w 3349328"/>
              <a:gd name="connsiteY39" fmla="*/ 60497 h 487710"/>
              <a:gd name="connsiteX40" fmla="*/ 2850405 w 3349328"/>
              <a:gd name="connsiteY40" fmla="*/ 153960 h 487710"/>
              <a:gd name="connsiteX41" fmla="*/ 2813699 w 3349328"/>
              <a:gd name="connsiteY41" fmla="*/ 252183 h 487710"/>
              <a:gd name="connsiteX42" fmla="*/ 2749123 w 3349328"/>
              <a:gd name="connsiteY42" fmla="*/ 284810 h 487710"/>
              <a:gd name="connsiteX43" fmla="*/ 2894927 w 3349328"/>
              <a:gd name="connsiteY43" fmla="*/ 475135 h 487710"/>
              <a:gd name="connsiteX44" fmla="*/ 2745046 w 3349328"/>
              <a:gd name="connsiteY44" fmla="*/ 475135 h 487710"/>
              <a:gd name="connsiteX45" fmla="*/ 2629830 w 3349328"/>
              <a:gd name="connsiteY45" fmla="*/ 297045 h 487710"/>
              <a:gd name="connsiteX46" fmla="*/ 2629830 w 3349328"/>
              <a:gd name="connsiteY46" fmla="*/ 475135 h 487710"/>
              <a:gd name="connsiteX47" fmla="*/ 2509178 w 3349328"/>
              <a:gd name="connsiteY47" fmla="*/ 475135 h 487710"/>
              <a:gd name="connsiteX48" fmla="*/ 2136647 w 3349328"/>
              <a:gd name="connsiteY48" fmla="*/ 11217 h 487710"/>
              <a:gd name="connsiteX49" fmla="*/ 2455441 w 3349328"/>
              <a:gd name="connsiteY49" fmla="*/ 11217 h 487710"/>
              <a:gd name="connsiteX50" fmla="*/ 2455441 w 3349328"/>
              <a:gd name="connsiteY50" fmla="*/ 111816 h 487710"/>
              <a:gd name="connsiteX51" fmla="*/ 2355520 w 3349328"/>
              <a:gd name="connsiteY51" fmla="*/ 111816 h 487710"/>
              <a:gd name="connsiteX52" fmla="*/ 2355520 w 3349328"/>
              <a:gd name="connsiteY52" fmla="*/ 475135 h 487710"/>
              <a:gd name="connsiteX53" fmla="*/ 2234868 w 3349328"/>
              <a:gd name="connsiteY53" fmla="*/ 475135 h 487710"/>
              <a:gd name="connsiteX54" fmla="*/ 2234868 w 3349328"/>
              <a:gd name="connsiteY54" fmla="*/ 111816 h 487710"/>
              <a:gd name="connsiteX55" fmla="*/ 2136647 w 3349328"/>
              <a:gd name="connsiteY55" fmla="*/ 111816 h 487710"/>
              <a:gd name="connsiteX56" fmla="*/ 1281429 w 3349328"/>
              <a:gd name="connsiteY56" fmla="*/ 11217 h 487710"/>
              <a:gd name="connsiteX57" fmla="*/ 1402081 w 3349328"/>
              <a:gd name="connsiteY57" fmla="*/ 11217 h 487710"/>
              <a:gd name="connsiteX58" fmla="*/ 1402081 w 3349328"/>
              <a:gd name="connsiteY58" fmla="*/ 262151 h 487710"/>
              <a:gd name="connsiteX59" fmla="*/ 1403101 w 3349328"/>
              <a:gd name="connsiteY59" fmla="*/ 307310 h 487710"/>
              <a:gd name="connsiteX60" fmla="*/ 1446264 w 3349328"/>
              <a:gd name="connsiteY60" fmla="*/ 373180 h 487710"/>
              <a:gd name="connsiteX61" fmla="*/ 1482289 w 3349328"/>
              <a:gd name="connsiteY61" fmla="*/ 380992 h 487710"/>
              <a:gd name="connsiteX62" fmla="*/ 1548903 w 3349328"/>
              <a:gd name="connsiteY62" fmla="*/ 350091 h 487710"/>
              <a:gd name="connsiteX63" fmla="*/ 1565557 w 3349328"/>
              <a:gd name="connsiteY63" fmla="*/ 262151 h 487710"/>
              <a:gd name="connsiteX64" fmla="*/ 1565557 w 3349328"/>
              <a:gd name="connsiteY64" fmla="*/ 11217 h 487710"/>
              <a:gd name="connsiteX65" fmla="*/ 1686210 w 3349328"/>
              <a:gd name="connsiteY65" fmla="*/ 11217 h 487710"/>
              <a:gd name="connsiteX66" fmla="*/ 1686210 w 3349328"/>
              <a:gd name="connsiteY66" fmla="*/ 278692 h 487710"/>
              <a:gd name="connsiteX67" fmla="*/ 1679413 w 3349328"/>
              <a:gd name="connsiteY67" fmla="*/ 350064 h 487710"/>
              <a:gd name="connsiteX68" fmla="*/ 1629112 w 3349328"/>
              <a:gd name="connsiteY68" fmla="*/ 433672 h 487710"/>
              <a:gd name="connsiteX69" fmla="*/ 1478212 w 3349328"/>
              <a:gd name="connsiteY69" fmla="*/ 487030 h 487710"/>
              <a:gd name="connsiteX70" fmla="*/ 1327990 w 3349328"/>
              <a:gd name="connsiteY70" fmla="*/ 432652 h 487710"/>
              <a:gd name="connsiteX71" fmla="*/ 1288906 w 3349328"/>
              <a:gd name="connsiteY71" fmla="*/ 360940 h 487710"/>
              <a:gd name="connsiteX72" fmla="*/ 1281429 w 3349328"/>
              <a:gd name="connsiteY72" fmla="*/ 278692 h 487710"/>
              <a:gd name="connsiteX73" fmla="*/ 798063 w 3349328"/>
              <a:gd name="connsiteY73" fmla="*/ 11217 h 487710"/>
              <a:gd name="connsiteX74" fmla="*/ 976153 w 3349328"/>
              <a:gd name="connsiteY74" fmla="*/ 11217 h 487710"/>
              <a:gd name="connsiteX75" fmla="*/ 1097146 w 3349328"/>
              <a:gd name="connsiteY75" fmla="*/ 47581 h 487710"/>
              <a:gd name="connsiteX76" fmla="*/ 1181093 w 3349328"/>
              <a:gd name="connsiteY76" fmla="*/ 142065 h 487710"/>
              <a:gd name="connsiteX77" fmla="*/ 1204883 w 3349328"/>
              <a:gd name="connsiteY77" fmla="*/ 243005 h 487710"/>
              <a:gd name="connsiteX78" fmla="*/ 1161210 w 3349328"/>
              <a:gd name="connsiteY78" fmla="*/ 377084 h 487710"/>
              <a:gd name="connsiteX79" fmla="*/ 1049564 w 3349328"/>
              <a:gd name="connsiteY79" fmla="*/ 462560 h 487710"/>
              <a:gd name="connsiteX80" fmla="*/ 976153 w 3349328"/>
              <a:gd name="connsiteY80" fmla="*/ 475135 h 487710"/>
              <a:gd name="connsiteX81" fmla="*/ 798063 w 3349328"/>
              <a:gd name="connsiteY81" fmla="*/ 475135 h 487710"/>
              <a:gd name="connsiteX82" fmla="*/ 1939788 w 3349328"/>
              <a:gd name="connsiteY82" fmla="*/ 0 h 487710"/>
              <a:gd name="connsiteX83" fmla="*/ 2086950 w 3349328"/>
              <a:gd name="connsiteY83" fmla="*/ 37726 h 487710"/>
              <a:gd name="connsiteX84" fmla="*/ 2038689 w 3349328"/>
              <a:gd name="connsiteY84" fmla="*/ 131529 h 487710"/>
              <a:gd name="connsiteX85" fmla="*/ 1958953 w 3349328"/>
              <a:gd name="connsiteY85" fmla="*/ 100602 h 487710"/>
              <a:gd name="connsiteX86" fmla="*/ 1924196 w 3349328"/>
              <a:gd name="connsiteY86" fmla="*/ 110494 h 487710"/>
              <a:gd name="connsiteX87" fmla="*/ 1906822 w 3349328"/>
              <a:gd name="connsiteY87" fmla="*/ 140514 h 487710"/>
              <a:gd name="connsiteX88" fmla="*/ 1929629 w 3349328"/>
              <a:gd name="connsiteY88" fmla="*/ 172233 h 487710"/>
              <a:gd name="connsiteX89" fmla="*/ 1990911 w 3349328"/>
              <a:gd name="connsiteY89" fmla="*/ 193384 h 487710"/>
              <a:gd name="connsiteX90" fmla="*/ 2082150 w 3349328"/>
              <a:gd name="connsiteY90" fmla="*/ 246468 h 487710"/>
              <a:gd name="connsiteX91" fmla="*/ 2105644 w 3349328"/>
              <a:gd name="connsiteY91" fmla="*/ 321663 h 487710"/>
              <a:gd name="connsiteX92" fmla="*/ 2002323 w 3349328"/>
              <a:gd name="connsiteY92" fmla="*/ 475119 h 487710"/>
              <a:gd name="connsiteX93" fmla="*/ 1924834 w 3349328"/>
              <a:gd name="connsiteY93" fmla="*/ 487710 h 487710"/>
              <a:gd name="connsiteX94" fmla="*/ 1763397 w 3349328"/>
              <a:gd name="connsiteY94" fmla="*/ 435031 h 487710"/>
              <a:gd name="connsiteX95" fmla="*/ 1815056 w 3349328"/>
              <a:gd name="connsiteY95" fmla="*/ 337828 h 487710"/>
              <a:gd name="connsiteX96" fmla="*/ 1921653 w 3349328"/>
              <a:gd name="connsiteY96" fmla="*/ 387110 h 487710"/>
              <a:gd name="connsiteX97" fmla="*/ 1961503 w 3349328"/>
              <a:gd name="connsiteY97" fmla="*/ 376122 h 487710"/>
              <a:gd name="connsiteX98" fmla="*/ 1980572 w 3349328"/>
              <a:gd name="connsiteY98" fmla="*/ 341106 h 487710"/>
              <a:gd name="connsiteX99" fmla="*/ 1959463 w 3349328"/>
              <a:gd name="connsiteY99" fmla="*/ 306773 h 487710"/>
              <a:gd name="connsiteX100" fmla="*/ 1906693 w 3349328"/>
              <a:gd name="connsiteY100" fmla="*/ 285828 h 487710"/>
              <a:gd name="connsiteX101" fmla="*/ 1850180 w 3349328"/>
              <a:gd name="connsiteY101" fmla="*/ 267498 h 487710"/>
              <a:gd name="connsiteX102" fmla="*/ 1818860 w 3349328"/>
              <a:gd name="connsiteY102" fmla="*/ 249165 h 487710"/>
              <a:gd name="connsiteX103" fmla="*/ 1781750 w 3349328"/>
              <a:gd name="connsiteY103" fmla="*/ 156833 h 487710"/>
              <a:gd name="connsiteX104" fmla="*/ 1820155 w 3349328"/>
              <a:gd name="connsiteY104" fmla="*/ 49903 h 487710"/>
              <a:gd name="connsiteX105" fmla="*/ 1939788 w 3349328"/>
              <a:gd name="connsiteY105" fmla="*/ 0 h 48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328" h="487710">
                <a:moveTo>
                  <a:pt x="918715" y="111816"/>
                </a:moveTo>
                <a:lnTo>
                  <a:pt x="918715" y="374535"/>
                </a:lnTo>
                <a:lnTo>
                  <a:pt x="946303" y="374535"/>
                </a:lnTo>
                <a:cubicBezTo>
                  <a:pt x="993757" y="374535"/>
                  <a:pt x="1029291" y="358747"/>
                  <a:pt x="1052905" y="327170"/>
                </a:cubicBezTo>
                <a:cubicBezTo>
                  <a:pt x="1070843" y="303090"/>
                  <a:pt x="1079813" y="275035"/>
                  <a:pt x="1079813" y="243005"/>
                </a:cubicBezTo>
                <a:cubicBezTo>
                  <a:pt x="1079813" y="210977"/>
                  <a:pt x="1070843" y="183035"/>
                  <a:pt x="1052905" y="159181"/>
                </a:cubicBezTo>
                <a:cubicBezTo>
                  <a:pt x="1029065" y="127605"/>
                  <a:pt x="993530" y="111816"/>
                  <a:pt x="946303" y="111816"/>
                </a:cubicBezTo>
                <a:close/>
                <a:moveTo>
                  <a:pt x="2629830" y="102981"/>
                </a:moveTo>
                <a:lnTo>
                  <a:pt x="2629830" y="218535"/>
                </a:lnTo>
                <a:lnTo>
                  <a:pt x="2652342" y="218535"/>
                </a:lnTo>
                <a:cubicBezTo>
                  <a:pt x="2677810" y="218535"/>
                  <a:pt x="2696115" y="213227"/>
                  <a:pt x="2707256" y="202610"/>
                </a:cubicBezTo>
                <a:cubicBezTo>
                  <a:pt x="2719308" y="191085"/>
                  <a:pt x="2725333" y="177079"/>
                  <a:pt x="2725333" y="160588"/>
                </a:cubicBezTo>
                <a:cubicBezTo>
                  <a:pt x="2725333" y="144097"/>
                  <a:pt x="2719308" y="130203"/>
                  <a:pt x="2707256" y="118906"/>
                </a:cubicBezTo>
                <a:cubicBezTo>
                  <a:pt x="2695885" y="108289"/>
                  <a:pt x="2677580" y="102981"/>
                  <a:pt x="2652342" y="102981"/>
                </a:cubicBezTo>
                <a:close/>
                <a:moveTo>
                  <a:pt x="222349" y="23791"/>
                </a:moveTo>
                <a:lnTo>
                  <a:pt x="343001" y="23791"/>
                </a:lnTo>
                <a:lnTo>
                  <a:pt x="564934" y="307580"/>
                </a:lnTo>
                <a:lnTo>
                  <a:pt x="564934" y="23791"/>
                </a:lnTo>
                <a:lnTo>
                  <a:pt x="685587" y="23791"/>
                </a:lnTo>
                <a:lnTo>
                  <a:pt x="685587" y="487710"/>
                </a:lnTo>
                <a:lnTo>
                  <a:pt x="564934" y="487710"/>
                </a:lnTo>
                <a:lnTo>
                  <a:pt x="343001" y="203580"/>
                </a:lnTo>
                <a:lnTo>
                  <a:pt x="343001" y="487710"/>
                </a:lnTo>
                <a:lnTo>
                  <a:pt x="222349" y="487710"/>
                </a:lnTo>
                <a:close/>
                <a:moveTo>
                  <a:pt x="0" y="23791"/>
                </a:moveTo>
                <a:lnTo>
                  <a:pt x="120653" y="23791"/>
                </a:lnTo>
                <a:lnTo>
                  <a:pt x="120653" y="487710"/>
                </a:lnTo>
                <a:lnTo>
                  <a:pt x="0" y="487710"/>
                </a:lnTo>
                <a:close/>
                <a:moveTo>
                  <a:pt x="2887110" y="11217"/>
                </a:moveTo>
                <a:lnTo>
                  <a:pt x="3031213" y="11217"/>
                </a:lnTo>
                <a:lnTo>
                  <a:pt x="3118899" y="137647"/>
                </a:lnTo>
                <a:lnTo>
                  <a:pt x="3203186" y="11217"/>
                </a:lnTo>
                <a:lnTo>
                  <a:pt x="3349328" y="11217"/>
                </a:lnTo>
                <a:lnTo>
                  <a:pt x="3175657" y="252183"/>
                </a:lnTo>
                <a:lnTo>
                  <a:pt x="3175657" y="475135"/>
                </a:lnTo>
                <a:lnTo>
                  <a:pt x="3055003" y="475135"/>
                </a:lnTo>
                <a:lnTo>
                  <a:pt x="3055003" y="252183"/>
                </a:lnTo>
                <a:close/>
                <a:moveTo>
                  <a:pt x="2509178" y="11217"/>
                </a:moveTo>
                <a:lnTo>
                  <a:pt x="2696784" y="11217"/>
                </a:lnTo>
                <a:cubicBezTo>
                  <a:pt x="2751617" y="11217"/>
                  <a:pt x="2792173" y="27643"/>
                  <a:pt x="2818457" y="60497"/>
                </a:cubicBezTo>
                <a:cubicBezTo>
                  <a:pt x="2839755" y="87006"/>
                  <a:pt x="2850405" y="118161"/>
                  <a:pt x="2850405" y="153960"/>
                </a:cubicBezTo>
                <a:cubicBezTo>
                  <a:pt x="2850405" y="194971"/>
                  <a:pt x="2838170" y="227712"/>
                  <a:pt x="2813699" y="252183"/>
                </a:cubicBezTo>
                <a:cubicBezTo>
                  <a:pt x="2798065" y="267816"/>
                  <a:pt x="2776540" y="278692"/>
                  <a:pt x="2749123" y="284810"/>
                </a:cubicBezTo>
                <a:lnTo>
                  <a:pt x="2894927" y="475135"/>
                </a:lnTo>
                <a:lnTo>
                  <a:pt x="2745046" y="475135"/>
                </a:lnTo>
                <a:lnTo>
                  <a:pt x="2629830" y="297045"/>
                </a:lnTo>
                <a:lnTo>
                  <a:pt x="2629830" y="475135"/>
                </a:lnTo>
                <a:lnTo>
                  <a:pt x="2509178" y="475135"/>
                </a:lnTo>
                <a:close/>
                <a:moveTo>
                  <a:pt x="2136647" y="11217"/>
                </a:moveTo>
                <a:lnTo>
                  <a:pt x="2455441" y="11217"/>
                </a:lnTo>
                <a:lnTo>
                  <a:pt x="2455441" y="111816"/>
                </a:lnTo>
                <a:lnTo>
                  <a:pt x="2355520" y="111816"/>
                </a:lnTo>
                <a:lnTo>
                  <a:pt x="2355520" y="475135"/>
                </a:lnTo>
                <a:lnTo>
                  <a:pt x="2234868" y="475135"/>
                </a:lnTo>
                <a:lnTo>
                  <a:pt x="2234868" y="111816"/>
                </a:lnTo>
                <a:lnTo>
                  <a:pt x="2136647" y="111816"/>
                </a:lnTo>
                <a:close/>
                <a:moveTo>
                  <a:pt x="1281429" y="11217"/>
                </a:moveTo>
                <a:lnTo>
                  <a:pt x="1402081" y="11217"/>
                </a:lnTo>
                <a:lnTo>
                  <a:pt x="1402081" y="262151"/>
                </a:lnTo>
                <a:cubicBezTo>
                  <a:pt x="1402081" y="282294"/>
                  <a:pt x="1402421" y="297347"/>
                  <a:pt x="1403101" y="307310"/>
                </a:cubicBezTo>
                <a:cubicBezTo>
                  <a:pt x="1405367" y="338775"/>
                  <a:pt x="1419754" y="360733"/>
                  <a:pt x="1446264" y="373180"/>
                </a:cubicBezTo>
                <a:cubicBezTo>
                  <a:pt x="1457139" y="378388"/>
                  <a:pt x="1469148" y="380992"/>
                  <a:pt x="1482289" y="380992"/>
                </a:cubicBezTo>
                <a:cubicBezTo>
                  <a:pt x="1511745" y="380992"/>
                  <a:pt x="1533949" y="370691"/>
                  <a:pt x="1548903" y="350091"/>
                </a:cubicBezTo>
                <a:cubicBezTo>
                  <a:pt x="1560006" y="334924"/>
                  <a:pt x="1565557" y="305610"/>
                  <a:pt x="1565557" y="262151"/>
                </a:cubicBezTo>
                <a:lnTo>
                  <a:pt x="1565557" y="11217"/>
                </a:lnTo>
                <a:lnTo>
                  <a:pt x="1686210" y="11217"/>
                </a:lnTo>
                <a:lnTo>
                  <a:pt x="1686210" y="278692"/>
                </a:lnTo>
                <a:cubicBezTo>
                  <a:pt x="1686210" y="306561"/>
                  <a:pt x="1683944" y="330351"/>
                  <a:pt x="1679413" y="350064"/>
                </a:cubicBezTo>
                <a:cubicBezTo>
                  <a:pt x="1672389" y="380652"/>
                  <a:pt x="1655622" y="408522"/>
                  <a:pt x="1629112" y="433672"/>
                </a:cubicBezTo>
                <a:cubicBezTo>
                  <a:pt x="1591500" y="469244"/>
                  <a:pt x="1541200" y="487030"/>
                  <a:pt x="1478212" y="487030"/>
                </a:cubicBezTo>
                <a:cubicBezTo>
                  <a:pt x="1414090" y="487030"/>
                  <a:pt x="1364016" y="468904"/>
                  <a:pt x="1327990" y="432652"/>
                </a:cubicBezTo>
                <a:cubicBezTo>
                  <a:pt x="1308958" y="413619"/>
                  <a:pt x="1295929" y="389715"/>
                  <a:pt x="1288906" y="360940"/>
                </a:cubicBezTo>
                <a:cubicBezTo>
                  <a:pt x="1283921" y="340548"/>
                  <a:pt x="1281429" y="313131"/>
                  <a:pt x="1281429" y="278692"/>
                </a:cubicBezTo>
                <a:close/>
                <a:moveTo>
                  <a:pt x="798063" y="11217"/>
                </a:moveTo>
                <a:lnTo>
                  <a:pt x="976153" y="11217"/>
                </a:lnTo>
                <a:cubicBezTo>
                  <a:pt x="1019656" y="11217"/>
                  <a:pt x="1059987" y="23337"/>
                  <a:pt x="1097146" y="47581"/>
                </a:cubicBezTo>
                <a:cubicBezTo>
                  <a:pt x="1133625" y="71146"/>
                  <a:pt x="1161607" y="102641"/>
                  <a:pt x="1181093" y="142065"/>
                </a:cubicBezTo>
                <a:cubicBezTo>
                  <a:pt x="1196954" y="174692"/>
                  <a:pt x="1204883" y="208339"/>
                  <a:pt x="1204883" y="243005"/>
                </a:cubicBezTo>
                <a:cubicBezTo>
                  <a:pt x="1204883" y="291267"/>
                  <a:pt x="1190325" y="335960"/>
                  <a:pt x="1161210" y="377084"/>
                </a:cubicBezTo>
                <a:cubicBezTo>
                  <a:pt x="1132096" y="418207"/>
                  <a:pt x="1094879" y="446699"/>
                  <a:pt x="1049564" y="462560"/>
                </a:cubicBezTo>
                <a:cubicBezTo>
                  <a:pt x="1025547" y="470943"/>
                  <a:pt x="1001077" y="475135"/>
                  <a:pt x="976153" y="475135"/>
                </a:cubicBezTo>
                <a:lnTo>
                  <a:pt x="798063" y="475135"/>
                </a:lnTo>
                <a:close/>
                <a:moveTo>
                  <a:pt x="1939788" y="0"/>
                </a:moveTo>
                <a:cubicBezTo>
                  <a:pt x="1989862" y="0"/>
                  <a:pt x="2038916" y="12575"/>
                  <a:pt x="2086950" y="37726"/>
                </a:cubicBezTo>
                <a:lnTo>
                  <a:pt x="2038689" y="131529"/>
                </a:lnTo>
                <a:cubicBezTo>
                  <a:pt x="2012339" y="110910"/>
                  <a:pt x="1985760" y="100602"/>
                  <a:pt x="1958953" y="100602"/>
                </a:cubicBezTo>
                <a:cubicBezTo>
                  <a:pt x="1946007" y="100602"/>
                  <a:pt x="1934421" y="103899"/>
                  <a:pt x="1924196" y="110494"/>
                </a:cubicBezTo>
                <a:cubicBezTo>
                  <a:pt x="1912613" y="118000"/>
                  <a:pt x="1906822" y="128007"/>
                  <a:pt x="1906822" y="140514"/>
                </a:cubicBezTo>
                <a:cubicBezTo>
                  <a:pt x="1906822" y="152792"/>
                  <a:pt x="1914423" y="163365"/>
                  <a:pt x="1929629" y="172233"/>
                </a:cubicBezTo>
                <a:cubicBezTo>
                  <a:pt x="1936440" y="176330"/>
                  <a:pt x="1956869" y="183380"/>
                  <a:pt x="1990911" y="193384"/>
                </a:cubicBezTo>
                <a:cubicBezTo>
                  <a:pt x="2033583" y="205862"/>
                  <a:pt x="2063995" y="223556"/>
                  <a:pt x="2082150" y="246468"/>
                </a:cubicBezTo>
                <a:cubicBezTo>
                  <a:pt x="2097812" y="265976"/>
                  <a:pt x="2105644" y="291040"/>
                  <a:pt x="2105644" y="321663"/>
                </a:cubicBezTo>
                <a:cubicBezTo>
                  <a:pt x="2105644" y="400148"/>
                  <a:pt x="2071204" y="451300"/>
                  <a:pt x="2002323" y="475119"/>
                </a:cubicBezTo>
                <a:cubicBezTo>
                  <a:pt x="1978306" y="483513"/>
                  <a:pt x="1952476" y="487710"/>
                  <a:pt x="1924834" y="487710"/>
                </a:cubicBezTo>
                <a:cubicBezTo>
                  <a:pt x="1866829" y="487710"/>
                  <a:pt x="1813018" y="470151"/>
                  <a:pt x="1763397" y="435031"/>
                </a:cubicBezTo>
                <a:lnTo>
                  <a:pt x="1815056" y="337828"/>
                </a:lnTo>
                <a:cubicBezTo>
                  <a:pt x="1851383" y="370682"/>
                  <a:pt x="1886915" y="387110"/>
                  <a:pt x="1921653" y="387110"/>
                </a:cubicBezTo>
                <a:cubicBezTo>
                  <a:pt x="1937319" y="387110"/>
                  <a:pt x="1950602" y="383447"/>
                  <a:pt x="1961503" y="376122"/>
                </a:cubicBezTo>
                <a:cubicBezTo>
                  <a:pt x="1974216" y="367884"/>
                  <a:pt x="1980572" y="356212"/>
                  <a:pt x="1980572" y="341106"/>
                </a:cubicBezTo>
                <a:cubicBezTo>
                  <a:pt x="1980572" y="327372"/>
                  <a:pt x="1973536" y="315929"/>
                  <a:pt x="1959463" y="306773"/>
                </a:cubicBezTo>
                <a:cubicBezTo>
                  <a:pt x="1949023" y="299905"/>
                  <a:pt x="1931433" y="292924"/>
                  <a:pt x="1906693" y="285828"/>
                </a:cubicBezTo>
                <a:cubicBezTo>
                  <a:pt x="1876736" y="277003"/>
                  <a:pt x="1857898" y="270893"/>
                  <a:pt x="1850180" y="267498"/>
                </a:cubicBezTo>
                <a:cubicBezTo>
                  <a:pt x="1837923" y="262294"/>
                  <a:pt x="1827484" y="256182"/>
                  <a:pt x="1818860" y="249165"/>
                </a:cubicBezTo>
                <a:cubicBezTo>
                  <a:pt x="1794119" y="228798"/>
                  <a:pt x="1781750" y="198021"/>
                  <a:pt x="1781750" y="156833"/>
                </a:cubicBezTo>
                <a:cubicBezTo>
                  <a:pt x="1781750" y="113833"/>
                  <a:pt x="1794552" y="78189"/>
                  <a:pt x="1820155" y="49903"/>
                </a:cubicBezTo>
                <a:cubicBezTo>
                  <a:pt x="1850063" y="16634"/>
                  <a:pt x="1889941" y="0"/>
                  <a:pt x="193978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sp>
        <p:nvSpPr>
          <p:cNvPr id="57" name="TextBox 56">
            <a:extLst>
              <a:ext uri="{FF2B5EF4-FFF2-40B4-BE49-F238E27FC236}">
                <a16:creationId xmlns:a16="http://schemas.microsoft.com/office/drawing/2014/main" id="{A0AE5792-052C-425C-AEBF-0DF8BD95BBA5}"/>
              </a:ext>
            </a:extLst>
          </p:cNvPr>
          <p:cNvSpPr txBox="1"/>
          <p:nvPr userDrawn="1"/>
        </p:nvSpPr>
        <p:spPr>
          <a:xfrm>
            <a:off x="2153235" y="5199161"/>
            <a:ext cx="811572" cy="689415"/>
          </a:xfrm>
          <a:custGeom>
            <a:avLst/>
            <a:gdLst>
              <a:gd name="connsiteX0" fmla="*/ 717483 w 844822"/>
              <a:gd name="connsiteY0" fmla="*/ 542899 h 717660"/>
              <a:gd name="connsiteX1" fmla="*/ 753792 w 844822"/>
              <a:gd name="connsiteY1" fmla="*/ 536357 h 717660"/>
              <a:gd name="connsiteX2" fmla="*/ 818277 w 844822"/>
              <a:gd name="connsiteY2" fmla="*/ 562525 h 717660"/>
              <a:gd name="connsiteX3" fmla="*/ 844822 w 844822"/>
              <a:gd name="connsiteY3" fmla="*/ 626631 h 717660"/>
              <a:gd name="connsiteX4" fmla="*/ 818276 w 844822"/>
              <a:gd name="connsiteY4" fmla="*/ 691109 h 717660"/>
              <a:gd name="connsiteX5" fmla="*/ 753792 w 844822"/>
              <a:gd name="connsiteY5" fmla="*/ 717660 h 717660"/>
              <a:gd name="connsiteX6" fmla="*/ 687428 w 844822"/>
              <a:gd name="connsiteY6" fmla="*/ 691108 h 717660"/>
              <a:gd name="connsiteX7" fmla="*/ 660499 w 844822"/>
              <a:gd name="connsiteY7" fmla="*/ 626631 h 717660"/>
              <a:gd name="connsiteX8" fmla="*/ 687428 w 844822"/>
              <a:gd name="connsiteY8" fmla="*/ 562525 h 717660"/>
              <a:gd name="connsiteX9" fmla="*/ 717483 w 844822"/>
              <a:gd name="connsiteY9" fmla="*/ 542899 h 717660"/>
              <a:gd name="connsiteX10" fmla="*/ 291596 w 844822"/>
              <a:gd name="connsiteY10" fmla="*/ 251558 h 717660"/>
              <a:gd name="connsiteX11" fmla="*/ 153352 w 844822"/>
              <a:gd name="connsiteY11" fmla="*/ 466855 h 717660"/>
              <a:gd name="connsiteX12" fmla="*/ 291596 w 844822"/>
              <a:gd name="connsiteY12" fmla="*/ 466855 h 717660"/>
              <a:gd name="connsiteX13" fmla="*/ 291596 w 844822"/>
              <a:gd name="connsiteY13" fmla="*/ 0 h 717660"/>
              <a:gd name="connsiteX14" fmla="*/ 444192 w 844822"/>
              <a:gd name="connsiteY14" fmla="*/ 0 h 717660"/>
              <a:gd name="connsiteX15" fmla="*/ 444192 w 844822"/>
              <a:gd name="connsiteY15" fmla="*/ 466856 h 717660"/>
              <a:gd name="connsiteX16" fmla="*/ 524269 w 844822"/>
              <a:gd name="connsiteY16" fmla="*/ 466855 h 717660"/>
              <a:gd name="connsiteX17" fmla="*/ 469123 w 844822"/>
              <a:gd name="connsiteY17" fmla="*/ 602080 h 717660"/>
              <a:gd name="connsiteX18" fmla="*/ 444192 w 844822"/>
              <a:gd name="connsiteY18" fmla="*/ 602080 h 717660"/>
              <a:gd name="connsiteX19" fmla="*/ 444192 w 844822"/>
              <a:gd name="connsiteY19" fmla="*/ 705574 h 717660"/>
              <a:gd name="connsiteX20" fmla="*/ 291596 w 844822"/>
              <a:gd name="connsiteY20" fmla="*/ 705574 h 717660"/>
              <a:gd name="connsiteX21" fmla="*/ 291596 w 844822"/>
              <a:gd name="connsiteY21" fmla="*/ 602080 h 717660"/>
              <a:gd name="connsiteX22" fmla="*/ 0 w 844822"/>
              <a:gd name="connsiteY22" fmla="*/ 602080 h 717660"/>
              <a:gd name="connsiteX23" fmla="*/ 0 w 844822"/>
              <a:gd name="connsiteY23" fmla="*/ 478944 h 71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4822" h="717660">
                <a:moveTo>
                  <a:pt x="717483" y="542899"/>
                </a:moveTo>
                <a:cubicBezTo>
                  <a:pt x="728544" y="538538"/>
                  <a:pt x="740647" y="536358"/>
                  <a:pt x="753792" y="536357"/>
                </a:cubicBezTo>
                <a:cubicBezTo>
                  <a:pt x="779084" y="536357"/>
                  <a:pt x="800579" y="545079"/>
                  <a:pt x="818277" y="562525"/>
                </a:cubicBezTo>
                <a:cubicBezTo>
                  <a:pt x="835975" y="579971"/>
                  <a:pt x="844822" y="601339"/>
                  <a:pt x="844822" y="626631"/>
                </a:cubicBezTo>
                <a:cubicBezTo>
                  <a:pt x="844822" y="651914"/>
                  <a:pt x="835975" y="673405"/>
                  <a:pt x="818276" y="691109"/>
                </a:cubicBezTo>
                <a:cubicBezTo>
                  <a:pt x="800579" y="708810"/>
                  <a:pt x="779084" y="717660"/>
                  <a:pt x="753792" y="717660"/>
                </a:cubicBezTo>
                <a:cubicBezTo>
                  <a:pt x="727501" y="717660"/>
                  <a:pt x="705381" y="708810"/>
                  <a:pt x="687428" y="691108"/>
                </a:cubicBezTo>
                <a:cubicBezTo>
                  <a:pt x="669474" y="673405"/>
                  <a:pt x="660499" y="651914"/>
                  <a:pt x="660499" y="626631"/>
                </a:cubicBezTo>
                <a:cubicBezTo>
                  <a:pt x="660499" y="601339"/>
                  <a:pt x="669474" y="579971"/>
                  <a:pt x="687428" y="562525"/>
                </a:cubicBezTo>
                <a:cubicBezTo>
                  <a:pt x="696405" y="553802"/>
                  <a:pt x="706423" y="547260"/>
                  <a:pt x="717483" y="542899"/>
                </a:cubicBezTo>
                <a:close/>
                <a:moveTo>
                  <a:pt x="291596" y="251558"/>
                </a:moveTo>
                <a:lnTo>
                  <a:pt x="153352" y="466855"/>
                </a:lnTo>
                <a:lnTo>
                  <a:pt x="291596" y="466855"/>
                </a:lnTo>
                <a:close/>
                <a:moveTo>
                  <a:pt x="291596" y="0"/>
                </a:moveTo>
                <a:lnTo>
                  <a:pt x="444192" y="0"/>
                </a:lnTo>
                <a:lnTo>
                  <a:pt x="444192" y="466856"/>
                </a:lnTo>
                <a:lnTo>
                  <a:pt x="524269" y="466855"/>
                </a:lnTo>
                <a:lnTo>
                  <a:pt x="469123" y="602080"/>
                </a:lnTo>
                <a:lnTo>
                  <a:pt x="444192" y="602080"/>
                </a:lnTo>
                <a:lnTo>
                  <a:pt x="444192" y="705574"/>
                </a:lnTo>
                <a:lnTo>
                  <a:pt x="291596" y="705574"/>
                </a:lnTo>
                <a:lnTo>
                  <a:pt x="291596" y="602080"/>
                </a:lnTo>
                <a:lnTo>
                  <a:pt x="0" y="602080"/>
                </a:lnTo>
                <a:lnTo>
                  <a:pt x="0" y="478944"/>
                </a:lnTo>
                <a:close/>
              </a:path>
            </a:pathLst>
          </a:custGeom>
          <a:solidFill>
            <a:schemeClr val="bg1"/>
          </a:solidFill>
          <a:ln w="12700">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grpSp>
        <p:nvGrpSpPr>
          <p:cNvPr id="58" name="Group 57">
            <a:extLst>
              <a:ext uri="{FF2B5EF4-FFF2-40B4-BE49-F238E27FC236}">
                <a16:creationId xmlns:a16="http://schemas.microsoft.com/office/drawing/2014/main" id="{85B43318-2DB8-4BB3-B9A0-1354FEE4DB4F}"/>
              </a:ext>
            </a:extLst>
          </p:cNvPr>
          <p:cNvGrpSpPr/>
          <p:nvPr userDrawn="1"/>
        </p:nvGrpSpPr>
        <p:grpSpPr>
          <a:xfrm>
            <a:off x="1114621" y="213820"/>
            <a:ext cx="1607080" cy="1447031"/>
            <a:chOff x="6486650" y="2648852"/>
            <a:chExt cx="2745260" cy="2471860"/>
          </a:xfrm>
          <a:solidFill>
            <a:schemeClr val="bg1">
              <a:alpha val="5000"/>
            </a:schemeClr>
          </a:solidFill>
        </p:grpSpPr>
        <p:sp>
          <p:nvSpPr>
            <p:cNvPr id="59" name="Freeform: Shape 58">
              <a:extLst>
                <a:ext uri="{FF2B5EF4-FFF2-40B4-BE49-F238E27FC236}">
                  <a16:creationId xmlns:a16="http://schemas.microsoft.com/office/drawing/2014/main" id="{0934DCFA-D112-40A3-AF10-E7F0DCB664A9}"/>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0" name="Group 59">
              <a:extLst>
                <a:ext uri="{FF2B5EF4-FFF2-40B4-BE49-F238E27FC236}">
                  <a16:creationId xmlns:a16="http://schemas.microsoft.com/office/drawing/2014/main" id="{CD1301E3-DB0A-4D14-8837-E77509D7406C}"/>
                </a:ext>
              </a:extLst>
            </p:cNvPr>
            <p:cNvGrpSpPr/>
            <p:nvPr/>
          </p:nvGrpSpPr>
          <p:grpSpPr>
            <a:xfrm>
              <a:off x="7392963" y="2648852"/>
              <a:ext cx="1838947" cy="1835405"/>
              <a:chOff x="7167947" y="1624190"/>
              <a:chExt cx="2677922" cy="2672763"/>
            </a:xfrm>
            <a:grpFill/>
          </p:grpSpPr>
          <p:sp>
            <p:nvSpPr>
              <p:cNvPr id="61" name="Freeform: Shape 60">
                <a:extLst>
                  <a:ext uri="{FF2B5EF4-FFF2-40B4-BE49-F238E27FC236}">
                    <a16:creationId xmlns:a16="http://schemas.microsoft.com/office/drawing/2014/main" id="{9F2E27B1-7A75-4322-A01B-69D10FEB32AE}"/>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1A179398-E96C-4ADE-99E3-9230E765D534}"/>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64" name="Group 63">
            <a:extLst>
              <a:ext uri="{FF2B5EF4-FFF2-40B4-BE49-F238E27FC236}">
                <a16:creationId xmlns:a16="http://schemas.microsoft.com/office/drawing/2014/main" id="{B75EAAF5-9297-42F1-BF31-33670B897310}"/>
              </a:ext>
            </a:extLst>
          </p:cNvPr>
          <p:cNvGrpSpPr/>
          <p:nvPr userDrawn="1"/>
        </p:nvGrpSpPr>
        <p:grpSpPr>
          <a:xfrm rot="15300000">
            <a:off x="1967240" y="4555753"/>
            <a:ext cx="912206" cy="821359"/>
            <a:chOff x="6486650" y="2648852"/>
            <a:chExt cx="2745260" cy="2471860"/>
          </a:xfrm>
          <a:solidFill>
            <a:schemeClr val="bg1">
              <a:alpha val="5000"/>
            </a:schemeClr>
          </a:solidFill>
        </p:grpSpPr>
        <p:sp>
          <p:nvSpPr>
            <p:cNvPr id="65" name="Freeform: Shape 64">
              <a:extLst>
                <a:ext uri="{FF2B5EF4-FFF2-40B4-BE49-F238E27FC236}">
                  <a16:creationId xmlns:a16="http://schemas.microsoft.com/office/drawing/2014/main" id="{EB6A0FEE-3790-480E-AA13-354BBE7CEFD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6" name="Group 65">
              <a:extLst>
                <a:ext uri="{FF2B5EF4-FFF2-40B4-BE49-F238E27FC236}">
                  <a16:creationId xmlns:a16="http://schemas.microsoft.com/office/drawing/2014/main" id="{A05E6556-C66E-421B-B7D3-709644D56DDA}"/>
                </a:ext>
              </a:extLst>
            </p:cNvPr>
            <p:cNvGrpSpPr/>
            <p:nvPr/>
          </p:nvGrpSpPr>
          <p:grpSpPr>
            <a:xfrm>
              <a:off x="7392963" y="2648852"/>
              <a:ext cx="1838947" cy="1835405"/>
              <a:chOff x="7167947" y="1624190"/>
              <a:chExt cx="2677922" cy="2672763"/>
            </a:xfrm>
            <a:grpFill/>
          </p:grpSpPr>
          <p:sp>
            <p:nvSpPr>
              <p:cNvPr id="67" name="Freeform: Shape 66">
                <a:extLst>
                  <a:ext uri="{FF2B5EF4-FFF2-40B4-BE49-F238E27FC236}">
                    <a16:creationId xmlns:a16="http://schemas.microsoft.com/office/drawing/2014/main" id="{16513AB7-70B6-41AE-BAF5-4E84C65AB25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56123C7-5F64-4F5E-94DF-CE50049E0840}"/>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69" name="Freeform: Shape 68">
            <a:extLst>
              <a:ext uri="{FF2B5EF4-FFF2-40B4-BE49-F238E27FC236}">
                <a16:creationId xmlns:a16="http://schemas.microsoft.com/office/drawing/2014/main" id="{A51BEBA6-51A0-40FD-A445-F1CF56E3FB1A}"/>
              </a:ext>
            </a:extLst>
          </p:cNvPr>
          <p:cNvSpPr/>
          <p:nvPr userDrawn="1"/>
        </p:nvSpPr>
        <p:spPr>
          <a:xfrm>
            <a:off x="2978093" y="369489"/>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3007976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7B7D1B0-1139-47E7-A404-619CAF68D59B}"/>
              </a:ext>
            </a:extLst>
          </p:cNvPr>
          <p:cNvSpPr>
            <a:spLocks noGrp="1"/>
          </p:cNvSpPr>
          <p:nvPr>
            <p:ph type="pic" sz="quarter" idx="10" hasCustomPrompt="1"/>
          </p:nvPr>
        </p:nvSpPr>
        <p:spPr>
          <a:xfrm>
            <a:off x="1282512" y="0"/>
            <a:ext cx="9626981" cy="6858000"/>
          </a:xfrm>
          <a:custGeom>
            <a:avLst/>
            <a:gdLst>
              <a:gd name="connsiteX0" fmla="*/ 0 w 9626981"/>
              <a:gd name="connsiteY0" fmla="*/ 0 h 6858000"/>
              <a:gd name="connsiteX1" fmla="*/ 4760133 w 9626981"/>
              <a:gd name="connsiteY1" fmla="*/ 0 h 6858000"/>
              <a:gd name="connsiteX2" fmla="*/ 9626981 w 9626981"/>
              <a:gd name="connsiteY2" fmla="*/ 6858000 h 6858000"/>
              <a:gd name="connsiteX3" fmla="*/ 4866848 w 96269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626981" h="6858000">
                <a:moveTo>
                  <a:pt x="0" y="0"/>
                </a:moveTo>
                <a:lnTo>
                  <a:pt x="4760133" y="0"/>
                </a:lnTo>
                <a:lnTo>
                  <a:pt x="9626981" y="6858000"/>
                </a:lnTo>
                <a:lnTo>
                  <a:pt x="4866848" y="6858000"/>
                </a:lnTo>
                <a:close/>
              </a:path>
            </a:pathLst>
          </a:custGeom>
          <a:solidFill>
            <a:schemeClr val="bg1">
              <a:lumMod val="95000"/>
            </a:schemeClr>
          </a:solidFill>
          <a:ln w="152400">
            <a:noFill/>
          </a:ln>
          <a:effectLst/>
        </p:spPr>
        <p:txBody>
          <a:bodyPr wrap="square" anchor="ctr">
            <a:noAutofit/>
          </a:bodyPr>
          <a:lstStyle>
            <a:lvl1pPr marL="0" indent="0" algn="ctr">
              <a:buFontTx/>
              <a:buNone/>
              <a:defRPr sz="14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235610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D42F50A-D54B-4085-9B51-D4561AE43789}"/>
              </a:ext>
            </a:extLst>
          </p:cNvPr>
          <p:cNvSpPr>
            <a:spLocks noGrp="1"/>
          </p:cNvSpPr>
          <p:nvPr>
            <p:ph type="pic" sz="quarter" idx="11" hasCustomPrompt="1"/>
          </p:nvPr>
        </p:nvSpPr>
        <p:spPr>
          <a:xfrm>
            <a:off x="3317860" y="659465"/>
            <a:ext cx="5556281" cy="5539071"/>
          </a:xfrm>
          <a:custGeom>
            <a:avLst/>
            <a:gdLst>
              <a:gd name="connsiteX0" fmla="*/ 2778140 w 5556281"/>
              <a:gd name="connsiteY0" fmla="*/ 1624152 h 5539071"/>
              <a:gd name="connsiteX1" fmla="*/ 1632756 w 5556281"/>
              <a:gd name="connsiteY1" fmla="*/ 2769536 h 5539071"/>
              <a:gd name="connsiteX2" fmla="*/ 2778140 w 5556281"/>
              <a:gd name="connsiteY2" fmla="*/ 3914920 h 5539071"/>
              <a:gd name="connsiteX3" fmla="*/ 3923524 w 5556281"/>
              <a:gd name="connsiteY3" fmla="*/ 2769536 h 5539071"/>
              <a:gd name="connsiteX4" fmla="*/ 2778140 w 5556281"/>
              <a:gd name="connsiteY4" fmla="*/ 1624152 h 5539071"/>
              <a:gd name="connsiteX5" fmla="*/ 3162198 w 5556281"/>
              <a:gd name="connsiteY5" fmla="*/ 151 h 5539071"/>
              <a:gd name="connsiteX6" fmla="*/ 3189369 w 5556281"/>
              <a:gd name="connsiteY6" fmla="*/ 2803 h 5539071"/>
              <a:gd name="connsiteX7" fmla="*/ 3689300 w 5556281"/>
              <a:gd name="connsiteY7" fmla="*/ 121613 h 5539071"/>
              <a:gd name="connsiteX8" fmla="*/ 3747933 w 5556281"/>
              <a:gd name="connsiteY8" fmla="*/ 194134 h 5539071"/>
              <a:gd name="connsiteX9" fmla="*/ 3751019 w 5556281"/>
              <a:gd name="connsiteY9" fmla="*/ 254313 h 5539071"/>
              <a:gd name="connsiteX10" fmla="*/ 3763361 w 5556281"/>
              <a:gd name="connsiteY10" fmla="*/ 627717 h 5539071"/>
              <a:gd name="connsiteX11" fmla="*/ 3767990 w 5556281"/>
              <a:gd name="connsiteY11" fmla="*/ 731096 h 5539071"/>
              <a:gd name="connsiteX12" fmla="*/ 3815825 w 5556281"/>
              <a:gd name="connsiteY12" fmla="*/ 808246 h 5539071"/>
              <a:gd name="connsiteX13" fmla="*/ 3928463 w 5556281"/>
              <a:gd name="connsiteY13" fmla="*/ 873052 h 5539071"/>
              <a:gd name="connsiteX14" fmla="*/ 4036474 w 5556281"/>
              <a:gd name="connsiteY14" fmla="*/ 873052 h 5539071"/>
              <a:gd name="connsiteX15" fmla="*/ 4493199 w 5556281"/>
              <a:gd name="connsiteY15" fmla="*/ 618458 h 5539071"/>
              <a:gd name="connsiteX16" fmla="*/ 4590409 w 5556281"/>
              <a:gd name="connsiteY16" fmla="*/ 632346 h 5539071"/>
              <a:gd name="connsiteX17" fmla="*/ 4945295 w 5556281"/>
              <a:gd name="connsiteY17" fmla="*/ 994951 h 5539071"/>
              <a:gd name="connsiteX18" fmla="*/ 4957640 w 5556281"/>
              <a:gd name="connsiteY18" fmla="*/ 1095244 h 5539071"/>
              <a:gd name="connsiteX19" fmla="*/ 4692245 w 5556281"/>
              <a:gd name="connsiteY19" fmla="*/ 1542714 h 5539071"/>
              <a:gd name="connsiteX20" fmla="*/ 4690702 w 5556281"/>
              <a:gd name="connsiteY20" fmla="*/ 1646093 h 5539071"/>
              <a:gd name="connsiteX21" fmla="*/ 4758594 w 5556281"/>
              <a:gd name="connsiteY21" fmla="*/ 1771076 h 5539071"/>
              <a:gd name="connsiteX22" fmla="*/ 4837287 w 5556281"/>
              <a:gd name="connsiteY22" fmla="*/ 1820454 h 5539071"/>
              <a:gd name="connsiteX23" fmla="*/ 5014730 w 5556281"/>
              <a:gd name="connsiteY23" fmla="*/ 1832795 h 5539071"/>
              <a:gd name="connsiteX24" fmla="*/ 5375792 w 5556281"/>
              <a:gd name="connsiteY24" fmla="*/ 1855941 h 5539071"/>
              <a:gd name="connsiteX25" fmla="*/ 5445227 w 5556281"/>
              <a:gd name="connsiteY25" fmla="*/ 1914574 h 5539071"/>
              <a:gd name="connsiteX26" fmla="*/ 5554778 w 5556281"/>
              <a:gd name="connsiteY26" fmla="*/ 2417592 h 5539071"/>
              <a:gd name="connsiteX27" fmla="*/ 5537805 w 5556281"/>
              <a:gd name="connsiteY27" fmla="*/ 2479311 h 5539071"/>
              <a:gd name="connsiteX28" fmla="*/ 5506946 w 5556281"/>
              <a:gd name="connsiteY28" fmla="*/ 2500914 h 5539071"/>
              <a:gd name="connsiteX29" fmla="*/ 5042505 w 5556281"/>
              <a:gd name="connsiteY29" fmla="*/ 2732362 h 5539071"/>
              <a:gd name="connsiteX30" fmla="*/ 4990041 w 5556281"/>
              <a:gd name="connsiteY30" fmla="*/ 2811055 h 5539071"/>
              <a:gd name="connsiteX31" fmla="*/ 4979243 w 5556281"/>
              <a:gd name="connsiteY31" fmla="*/ 2985415 h 5539071"/>
              <a:gd name="connsiteX32" fmla="*/ 5019359 w 5556281"/>
              <a:gd name="connsiteY32" fmla="*/ 3068735 h 5539071"/>
              <a:gd name="connsiteX33" fmla="*/ 5448313 w 5556281"/>
              <a:gd name="connsiteY33" fmla="*/ 3385051 h 5539071"/>
              <a:gd name="connsiteX34" fmla="*/ 5477631 w 5556281"/>
              <a:gd name="connsiteY34" fmla="*/ 3480714 h 5539071"/>
              <a:gd name="connsiteX35" fmla="*/ 5398935 w 5556281"/>
              <a:gd name="connsiteY35" fmla="*/ 3698277 h 5539071"/>
              <a:gd name="connsiteX36" fmla="*/ 5309443 w 5556281"/>
              <a:gd name="connsiteY36" fmla="*/ 3940526 h 5539071"/>
              <a:gd name="connsiteX37" fmla="*/ 5233836 w 5556281"/>
              <a:gd name="connsiteY37" fmla="*/ 3989904 h 5539071"/>
              <a:gd name="connsiteX38" fmla="*/ 5040963 w 5556281"/>
              <a:gd name="connsiteY38" fmla="*/ 3969844 h 5539071"/>
              <a:gd name="connsiteX39" fmla="*/ 4707676 w 5556281"/>
              <a:gd name="connsiteY39" fmla="*/ 3934357 h 5539071"/>
              <a:gd name="connsiteX40" fmla="*/ 4622811 w 5556281"/>
              <a:gd name="connsiteY40" fmla="*/ 3972931 h 5539071"/>
              <a:gd name="connsiteX41" fmla="*/ 4502457 w 5556281"/>
              <a:gd name="connsiteY41" fmla="*/ 4136489 h 5539071"/>
              <a:gd name="connsiteX42" fmla="*/ 4488570 w 5556281"/>
              <a:gd name="connsiteY42" fmla="*/ 4239869 h 5539071"/>
              <a:gd name="connsiteX43" fmla="*/ 4675271 w 5556281"/>
              <a:gd name="connsiteY43" fmla="*/ 4730542 h 5539071"/>
              <a:gd name="connsiteX44" fmla="*/ 4647499 w 5556281"/>
              <a:gd name="connsiteY44" fmla="*/ 4830835 h 5539071"/>
              <a:gd name="connsiteX45" fmla="*/ 4278723 w 5556281"/>
              <a:gd name="connsiteY45" fmla="*/ 5110117 h 5539071"/>
              <a:gd name="connsiteX46" fmla="*/ 4178427 w 5556281"/>
              <a:gd name="connsiteY46" fmla="*/ 5108574 h 5539071"/>
              <a:gd name="connsiteX47" fmla="*/ 3778791 w 5556281"/>
              <a:gd name="connsiteY47" fmla="*/ 4786089 h 5539071"/>
              <a:gd name="connsiteX48" fmla="*/ 3684671 w 5556281"/>
              <a:gd name="connsiteY48" fmla="*/ 4767572 h 5539071"/>
              <a:gd name="connsiteX49" fmla="*/ 3450134 w 5556281"/>
              <a:gd name="connsiteY49" fmla="*/ 4857067 h 5539071"/>
              <a:gd name="connsiteX50" fmla="*/ 3393044 w 5556281"/>
              <a:gd name="connsiteY50" fmla="*/ 4924959 h 5539071"/>
              <a:gd name="connsiteX51" fmla="*/ 3360639 w 5556281"/>
              <a:gd name="connsiteY51" fmla="*/ 5079259 h 5539071"/>
              <a:gd name="connsiteX52" fmla="*/ 3283489 w 5556281"/>
              <a:gd name="connsiteY52" fmla="*/ 5448033 h 5539071"/>
              <a:gd name="connsiteX53" fmla="*/ 3218687 w 5556281"/>
              <a:gd name="connsiteY53" fmla="*/ 5509753 h 5539071"/>
              <a:gd name="connsiteX54" fmla="*/ 2973349 w 5556281"/>
              <a:gd name="connsiteY54" fmla="*/ 5535985 h 5539071"/>
              <a:gd name="connsiteX55" fmla="*/ 2868424 w 5556281"/>
              <a:gd name="connsiteY55" fmla="*/ 5539071 h 5539071"/>
              <a:gd name="connsiteX56" fmla="*/ 2723385 w 5556281"/>
              <a:gd name="connsiteY56" fmla="*/ 5539071 h 5539071"/>
              <a:gd name="connsiteX57" fmla="*/ 2666291 w 5556281"/>
              <a:gd name="connsiteY57" fmla="*/ 5474265 h 5539071"/>
              <a:gd name="connsiteX58" fmla="*/ 2507365 w 5556281"/>
              <a:gd name="connsiteY58" fmla="*/ 4992850 h 5539071"/>
              <a:gd name="connsiteX59" fmla="*/ 2431758 w 5556281"/>
              <a:gd name="connsiteY59" fmla="*/ 4924959 h 5539071"/>
              <a:gd name="connsiteX60" fmla="*/ 2184880 w 5556281"/>
              <a:gd name="connsiteY60" fmla="*/ 4869411 h 5539071"/>
              <a:gd name="connsiteX61" fmla="*/ 2075329 w 5556281"/>
              <a:gd name="connsiteY61" fmla="*/ 4901813 h 5539071"/>
              <a:gd name="connsiteX62" fmla="*/ 1714267 w 5556281"/>
              <a:gd name="connsiteY62" fmla="*/ 5267504 h 5539071"/>
              <a:gd name="connsiteX63" fmla="*/ 1621686 w 5556281"/>
              <a:gd name="connsiteY63" fmla="*/ 5282934 h 5539071"/>
              <a:gd name="connsiteX64" fmla="*/ 1234396 w 5556281"/>
              <a:gd name="connsiteY64" fmla="*/ 5065371 h 5539071"/>
              <a:gd name="connsiteX65" fmla="*/ 1191190 w 5556281"/>
              <a:gd name="connsiteY65" fmla="*/ 4966618 h 5539071"/>
              <a:gd name="connsiteX66" fmla="*/ 1317715 w 5556281"/>
              <a:gd name="connsiteY66" fmla="*/ 4468233 h 5539071"/>
              <a:gd name="connsiteX67" fmla="*/ 1294569 w 5556281"/>
              <a:gd name="connsiteY67" fmla="*/ 4372566 h 5539071"/>
              <a:gd name="connsiteX68" fmla="*/ 1107868 w 5556281"/>
              <a:gd name="connsiteY68" fmla="*/ 4178149 h 5539071"/>
              <a:gd name="connsiteX69" fmla="*/ 1018376 w 5556281"/>
              <a:gd name="connsiteY69" fmla="*/ 4151917 h 5539071"/>
              <a:gd name="connsiteX70" fmla="*/ 928882 w 5556281"/>
              <a:gd name="connsiteY70" fmla="*/ 4171977 h 5539071"/>
              <a:gd name="connsiteX71" fmla="*/ 509190 w 5556281"/>
              <a:gd name="connsiteY71" fmla="*/ 4266101 h 5539071"/>
              <a:gd name="connsiteX72" fmla="*/ 422778 w 5556281"/>
              <a:gd name="connsiteY72" fmla="*/ 4227524 h 5539071"/>
              <a:gd name="connsiteX73" fmla="*/ 211391 w 5556281"/>
              <a:gd name="connsiteY73" fmla="*/ 3818630 h 5539071"/>
              <a:gd name="connsiteX74" fmla="*/ 226818 w 5556281"/>
              <a:gd name="connsiteY74" fmla="*/ 3730682 h 5539071"/>
              <a:gd name="connsiteX75" fmla="*/ 617198 w 5556281"/>
              <a:gd name="connsiteY75" fmla="*/ 3368077 h 5539071"/>
              <a:gd name="connsiteX76" fmla="*/ 648056 w 5556281"/>
              <a:gd name="connsiteY76" fmla="*/ 3280125 h 5539071"/>
              <a:gd name="connsiteX77" fmla="*/ 601767 w 5556281"/>
              <a:gd name="connsiteY77" fmla="*/ 3028618 h 5539071"/>
              <a:gd name="connsiteX78" fmla="*/ 541591 w 5556281"/>
              <a:gd name="connsiteY78" fmla="*/ 2957640 h 5539071"/>
              <a:gd name="connsiteX79" fmla="*/ 200589 w 5556281"/>
              <a:gd name="connsiteY79" fmla="*/ 2832658 h 5539071"/>
              <a:gd name="connsiteX80" fmla="*/ 0 w 5556281"/>
              <a:gd name="connsiteY80" fmla="*/ 2757051 h 5539071"/>
              <a:gd name="connsiteX81" fmla="*/ 0 w 5556281"/>
              <a:gd name="connsiteY81" fmla="*/ 2670642 h 5539071"/>
              <a:gd name="connsiteX82" fmla="*/ 13885 w 5556281"/>
              <a:gd name="connsiteY82" fmla="*/ 2519428 h 5539071"/>
              <a:gd name="connsiteX83" fmla="*/ 52461 w 5556281"/>
              <a:gd name="connsiteY83" fmla="*/ 2224718 h 5539071"/>
              <a:gd name="connsiteX84" fmla="*/ 114181 w 5556281"/>
              <a:gd name="connsiteY84" fmla="*/ 2162996 h 5539071"/>
              <a:gd name="connsiteX85" fmla="*/ 640344 w 5556281"/>
              <a:gd name="connsiteY85" fmla="*/ 2067332 h 5539071"/>
              <a:gd name="connsiteX86" fmla="*/ 717491 w 5556281"/>
              <a:gd name="connsiteY86" fmla="*/ 2007155 h 5539071"/>
              <a:gd name="connsiteX87" fmla="*/ 797727 w 5556281"/>
              <a:gd name="connsiteY87" fmla="*/ 1814281 h 5539071"/>
              <a:gd name="connsiteX88" fmla="*/ 783840 w 5556281"/>
              <a:gd name="connsiteY88" fmla="*/ 1704727 h 5539071"/>
              <a:gd name="connsiteX89" fmla="*/ 476785 w 5556281"/>
              <a:gd name="connsiteY89" fmla="*/ 1300462 h 5539071"/>
              <a:gd name="connsiteX90" fmla="*/ 478329 w 5556281"/>
              <a:gd name="connsiteY90" fmla="*/ 1200169 h 5539071"/>
              <a:gd name="connsiteX91" fmla="*/ 776125 w 5556281"/>
              <a:gd name="connsiteY91" fmla="*/ 831392 h 5539071"/>
              <a:gd name="connsiteX92" fmla="*/ 881050 w 5556281"/>
              <a:gd name="connsiteY92" fmla="*/ 803617 h 5539071"/>
              <a:gd name="connsiteX93" fmla="*/ 1368636 w 5556281"/>
              <a:gd name="connsiteY93" fmla="*/ 1005749 h 5539071"/>
              <a:gd name="connsiteX94" fmla="*/ 1462757 w 5556281"/>
              <a:gd name="connsiteY94" fmla="*/ 998037 h 5539071"/>
              <a:gd name="connsiteX95" fmla="*/ 1617057 w 5556281"/>
              <a:gd name="connsiteY95" fmla="*/ 891569 h 5539071"/>
              <a:gd name="connsiteX96" fmla="*/ 1654088 w 5556281"/>
              <a:gd name="connsiteY96" fmla="*/ 819048 h 5539071"/>
              <a:gd name="connsiteX97" fmla="*/ 1651005 w 5556281"/>
              <a:gd name="connsiteY97" fmla="*/ 765044 h 5539071"/>
              <a:gd name="connsiteX98" fmla="*/ 1632488 w 5556281"/>
              <a:gd name="connsiteY98" fmla="*/ 525881 h 5539071"/>
              <a:gd name="connsiteX99" fmla="*/ 1613971 w 5556281"/>
              <a:gd name="connsiteY99" fmla="*/ 286715 h 5539071"/>
              <a:gd name="connsiteX100" fmla="*/ 1664889 w 5556281"/>
              <a:gd name="connsiteY100" fmla="*/ 208022 h 5539071"/>
              <a:gd name="connsiteX101" fmla="*/ 2141674 w 5556281"/>
              <a:gd name="connsiteY101" fmla="*/ 47552 h 5539071"/>
              <a:gd name="connsiteX102" fmla="*/ 2172535 w 5556281"/>
              <a:gd name="connsiteY102" fmla="*/ 42923 h 5539071"/>
              <a:gd name="connsiteX103" fmla="*/ 2237341 w 5556281"/>
              <a:gd name="connsiteY103" fmla="*/ 86126 h 5539071"/>
              <a:gd name="connsiteX104" fmla="*/ 2535137 w 5556281"/>
              <a:gd name="connsiteY104" fmla="*/ 516622 h 5539071"/>
              <a:gd name="connsiteX105" fmla="*/ 2627718 w 5556281"/>
              <a:gd name="connsiteY105" fmla="*/ 561368 h 5539071"/>
              <a:gd name="connsiteX106" fmla="*/ 2786647 w 5556281"/>
              <a:gd name="connsiteY106" fmla="*/ 555196 h 5539071"/>
              <a:gd name="connsiteX107" fmla="*/ 2836022 w 5556281"/>
              <a:gd name="connsiteY107" fmla="*/ 530507 h 5539071"/>
              <a:gd name="connsiteX108" fmla="*/ 2852996 w 5556281"/>
              <a:gd name="connsiteY108" fmla="*/ 505821 h 5539071"/>
              <a:gd name="connsiteX109" fmla="*/ 2930143 w 5556281"/>
              <a:gd name="connsiteY109" fmla="*/ 363865 h 5539071"/>
              <a:gd name="connsiteX110" fmla="*/ 3102960 w 5556281"/>
              <a:gd name="connsiteY110" fmla="*/ 41380 h 5539071"/>
              <a:gd name="connsiteX111" fmla="*/ 3162198 w 5556281"/>
              <a:gd name="connsiteY111" fmla="*/ 151 h 553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5556281" h="5539071">
                <a:moveTo>
                  <a:pt x="2778140" y="1624152"/>
                </a:moveTo>
                <a:cubicBezTo>
                  <a:pt x="2145562" y="1624152"/>
                  <a:pt x="1632756" y="2136958"/>
                  <a:pt x="1632756" y="2769536"/>
                </a:cubicBezTo>
                <a:cubicBezTo>
                  <a:pt x="1632756" y="3402114"/>
                  <a:pt x="2145562" y="3914920"/>
                  <a:pt x="2778140" y="3914920"/>
                </a:cubicBezTo>
                <a:cubicBezTo>
                  <a:pt x="3410718" y="3914920"/>
                  <a:pt x="3923524" y="3402114"/>
                  <a:pt x="3923524" y="2769536"/>
                </a:cubicBezTo>
                <a:cubicBezTo>
                  <a:pt x="3923524" y="2136958"/>
                  <a:pt x="3410718" y="1624152"/>
                  <a:pt x="2778140" y="1624152"/>
                </a:cubicBezTo>
                <a:close/>
                <a:moveTo>
                  <a:pt x="3162198" y="151"/>
                </a:moveTo>
                <a:cubicBezTo>
                  <a:pt x="3170660" y="-379"/>
                  <a:pt x="3179725" y="489"/>
                  <a:pt x="3189369" y="2803"/>
                </a:cubicBezTo>
                <a:cubicBezTo>
                  <a:pt x="3356013" y="42923"/>
                  <a:pt x="3522655" y="81496"/>
                  <a:pt x="3689300" y="121613"/>
                </a:cubicBezTo>
                <a:cubicBezTo>
                  <a:pt x="3724787" y="130871"/>
                  <a:pt x="3746390" y="157104"/>
                  <a:pt x="3747933" y="194134"/>
                </a:cubicBezTo>
                <a:cubicBezTo>
                  <a:pt x="3749476" y="214194"/>
                  <a:pt x="3749476" y="234254"/>
                  <a:pt x="3751019" y="254313"/>
                </a:cubicBezTo>
                <a:cubicBezTo>
                  <a:pt x="3755645" y="379296"/>
                  <a:pt x="3758735" y="504278"/>
                  <a:pt x="3763361" y="627717"/>
                </a:cubicBezTo>
                <a:cubicBezTo>
                  <a:pt x="3764907" y="661664"/>
                  <a:pt x="3766450" y="697152"/>
                  <a:pt x="3767990" y="731096"/>
                </a:cubicBezTo>
                <a:cubicBezTo>
                  <a:pt x="3769533" y="765044"/>
                  <a:pt x="3786507" y="791275"/>
                  <a:pt x="3815825" y="808246"/>
                </a:cubicBezTo>
                <a:cubicBezTo>
                  <a:pt x="3852855" y="829849"/>
                  <a:pt x="3891432" y="849909"/>
                  <a:pt x="3928463" y="873052"/>
                </a:cubicBezTo>
                <a:cubicBezTo>
                  <a:pt x="3965496" y="894655"/>
                  <a:pt x="3999440" y="893112"/>
                  <a:pt x="4036474" y="873052"/>
                </a:cubicBezTo>
                <a:cubicBezTo>
                  <a:pt x="4189231" y="788189"/>
                  <a:pt x="4340442" y="703324"/>
                  <a:pt x="4493199" y="618458"/>
                </a:cubicBezTo>
                <a:cubicBezTo>
                  <a:pt x="4528689" y="598402"/>
                  <a:pt x="4562634" y="604571"/>
                  <a:pt x="4590409" y="632346"/>
                </a:cubicBezTo>
                <a:cubicBezTo>
                  <a:pt x="4709219" y="752699"/>
                  <a:pt x="4826485" y="874595"/>
                  <a:pt x="4945295" y="994951"/>
                </a:cubicBezTo>
                <a:cubicBezTo>
                  <a:pt x="4976157" y="1027352"/>
                  <a:pt x="4980786" y="1056670"/>
                  <a:pt x="4957640" y="1095244"/>
                </a:cubicBezTo>
                <a:cubicBezTo>
                  <a:pt x="4869689" y="1244915"/>
                  <a:pt x="4780194" y="1393043"/>
                  <a:pt x="4692245" y="1542714"/>
                </a:cubicBezTo>
                <a:cubicBezTo>
                  <a:pt x="4672185" y="1576659"/>
                  <a:pt x="4670643" y="1612149"/>
                  <a:pt x="4690702" y="1646093"/>
                </a:cubicBezTo>
                <a:cubicBezTo>
                  <a:pt x="4713848" y="1687753"/>
                  <a:pt x="4735448" y="1729416"/>
                  <a:pt x="4758594" y="1771076"/>
                </a:cubicBezTo>
                <a:cubicBezTo>
                  <a:pt x="4775567" y="1801937"/>
                  <a:pt x="4801797" y="1818911"/>
                  <a:pt x="4837287" y="1820454"/>
                </a:cubicBezTo>
                <a:cubicBezTo>
                  <a:pt x="4895921" y="1825083"/>
                  <a:pt x="4956097" y="1828169"/>
                  <a:pt x="5014730" y="1832795"/>
                </a:cubicBezTo>
                <a:cubicBezTo>
                  <a:pt x="5135083" y="1840510"/>
                  <a:pt x="5255439" y="1848226"/>
                  <a:pt x="5375792" y="1855941"/>
                </a:cubicBezTo>
                <a:cubicBezTo>
                  <a:pt x="5409736" y="1857484"/>
                  <a:pt x="5437511" y="1880630"/>
                  <a:pt x="5445227" y="1914574"/>
                </a:cubicBezTo>
                <a:cubicBezTo>
                  <a:pt x="5482257" y="2081219"/>
                  <a:pt x="5517747" y="2249404"/>
                  <a:pt x="5554778" y="2417592"/>
                </a:cubicBezTo>
                <a:cubicBezTo>
                  <a:pt x="5559407" y="2440735"/>
                  <a:pt x="5553235" y="2460795"/>
                  <a:pt x="5537805" y="2479311"/>
                </a:cubicBezTo>
                <a:cubicBezTo>
                  <a:pt x="5530089" y="2488570"/>
                  <a:pt x="5517747" y="2494742"/>
                  <a:pt x="5506946" y="2500914"/>
                </a:cubicBezTo>
                <a:cubicBezTo>
                  <a:pt x="5352646" y="2578062"/>
                  <a:pt x="5198345" y="2655212"/>
                  <a:pt x="5042505" y="2732362"/>
                </a:cubicBezTo>
                <a:cubicBezTo>
                  <a:pt x="5010101" y="2749336"/>
                  <a:pt x="4991587" y="2774025"/>
                  <a:pt x="4990041" y="2811055"/>
                </a:cubicBezTo>
                <a:cubicBezTo>
                  <a:pt x="4986958" y="2869688"/>
                  <a:pt x="4982326" y="2926779"/>
                  <a:pt x="4979243" y="2985415"/>
                </a:cubicBezTo>
                <a:cubicBezTo>
                  <a:pt x="4977699" y="3019360"/>
                  <a:pt x="4990041" y="3048678"/>
                  <a:pt x="5019359" y="3068735"/>
                </a:cubicBezTo>
                <a:cubicBezTo>
                  <a:pt x="5162858" y="3173660"/>
                  <a:pt x="5304814" y="3280125"/>
                  <a:pt x="5448313" y="3385051"/>
                </a:cubicBezTo>
                <a:cubicBezTo>
                  <a:pt x="5482257" y="3409737"/>
                  <a:pt x="5493059" y="3440598"/>
                  <a:pt x="5477631" y="3480714"/>
                </a:cubicBezTo>
                <a:cubicBezTo>
                  <a:pt x="5451399" y="3553235"/>
                  <a:pt x="5425167" y="3625756"/>
                  <a:pt x="5398935" y="3698277"/>
                </a:cubicBezTo>
                <a:cubicBezTo>
                  <a:pt x="5369619" y="3778514"/>
                  <a:pt x="5340305" y="3860293"/>
                  <a:pt x="5309443" y="3940526"/>
                </a:cubicBezTo>
                <a:cubicBezTo>
                  <a:pt x="5297099" y="3974474"/>
                  <a:pt x="5267781" y="3992990"/>
                  <a:pt x="5233836" y="3989904"/>
                </a:cubicBezTo>
                <a:cubicBezTo>
                  <a:pt x="5169031" y="3983732"/>
                  <a:pt x="5105768" y="3976017"/>
                  <a:pt x="5040963" y="3969844"/>
                </a:cubicBezTo>
                <a:cubicBezTo>
                  <a:pt x="4929868" y="3957500"/>
                  <a:pt x="4818771" y="3945155"/>
                  <a:pt x="4707676" y="3934357"/>
                </a:cubicBezTo>
                <a:cubicBezTo>
                  <a:pt x="4672185" y="3931271"/>
                  <a:pt x="4644413" y="3943612"/>
                  <a:pt x="4622811" y="3972931"/>
                </a:cubicBezTo>
                <a:cubicBezTo>
                  <a:pt x="4582694" y="4026935"/>
                  <a:pt x="4544117" y="4082482"/>
                  <a:pt x="4502457" y="4136489"/>
                </a:cubicBezTo>
                <a:cubicBezTo>
                  <a:pt x="4477769" y="4168891"/>
                  <a:pt x="4474683" y="4202838"/>
                  <a:pt x="4488570" y="4239869"/>
                </a:cubicBezTo>
                <a:cubicBezTo>
                  <a:pt x="4550289" y="4403427"/>
                  <a:pt x="4613552" y="4566983"/>
                  <a:pt x="4675271" y="4730542"/>
                </a:cubicBezTo>
                <a:cubicBezTo>
                  <a:pt x="4692245" y="4773744"/>
                  <a:pt x="4682987" y="4803063"/>
                  <a:pt x="4647499" y="4830835"/>
                </a:cubicBezTo>
                <a:cubicBezTo>
                  <a:pt x="4524057" y="4923416"/>
                  <a:pt x="4402161" y="5017539"/>
                  <a:pt x="4278723" y="5110117"/>
                </a:cubicBezTo>
                <a:cubicBezTo>
                  <a:pt x="4243235" y="5136349"/>
                  <a:pt x="4212374" y="5136349"/>
                  <a:pt x="4178427" y="5108574"/>
                </a:cubicBezTo>
                <a:cubicBezTo>
                  <a:pt x="4045729" y="5002109"/>
                  <a:pt x="3911492" y="4894097"/>
                  <a:pt x="3778791" y="4786089"/>
                </a:cubicBezTo>
                <a:cubicBezTo>
                  <a:pt x="3749476" y="4762943"/>
                  <a:pt x="3718615" y="4755228"/>
                  <a:pt x="3684671" y="4767572"/>
                </a:cubicBezTo>
                <a:cubicBezTo>
                  <a:pt x="3605977" y="4796890"/>
                  <a:pt x="3527284" y="4826209"/>
                  <a:pt x="3450134" y="4857067"/>
                </a:cubicBezTo>
                <a:cubicBezTo>
                  <a:pt x="3419276" y="4869411"/>
                  <a:pt x="3400759" y="4892557"/>
                  <a:pt x="3393044" y="4924959"/>
                </a:cubicBezTo>
                <a:cubicBezTo>
                  <a:pt x="3382243" y="4975877"/>
                  <a:pt x="3371444" y="5028338"/>
                  <a:pt x="3360639" y="5079259"/>
                </a:cubicBezTo>
                <a:cubicBezTo>
                  <a:pt x="3334411" y="5202698"/>
                  <a:pt x="3309721" y="5324594"/>
                  <a:pt x="3283489" y="5448033"/>
                </a:cubicBezTo>
                <a:cubicBezTo>
                  <a:pt x="3275777" y="5483524"/>
                  <a:pt x="3254174" y="5505126"/>
                  <a:pt x="3218687" y="5509753"/>
                </a:cubicBezTo>
                <a:cubicBezTo>
                  <a:pt x="3136907" y="5520554"/>
                  <a:pt x="3055128" y="5528269"/>
                  <a:pt x="2973349" y="5535985"/>
                </a:cubicBezTo>
                <a:cubicBezTo>
                  <a:pt x="2933232" y="5532899"/>
                  <a:pt x="2900828" y="5535985"/>
                  <a:pt x="2868424" y="5539071"/>
                </a:cubicBezTo>
                <a:cubicBezTo>
                  <a:pt x="2820592" y="5539071"/>
                  <a:pt x="2772760" y="5539071"/>
                  <a:pt x="2723385" y="5539071"/>
                </a:cubicBezTo>
                <a:cubicBezTo>
                  <a:pt x="2692523" y="5528269"/>
                  <a:pt x="2675550" y="5505126"/>
                  <a:pt x="2666291" y="5474265"/>
                </a:cubicBezTo>
                <a:cubicBezTo>
                  <a:pt x="2613831" y="5313793"/>
                  <a:pt x="2559826" y="5153323"/>
                  <a:pt x="2507365" y="4992850"/>
                </a:cubicBezTo>
                <a:cubicBezTo>
                  <a:pt x="2495021" y="4955817"/>
                  <a:pt x="2470335" y="4932674"/>
                  <a:pt x="2431758" y="4924959"/>
                </a:cubicBezTo>
                <a:cubicBezTo>
                  <a:pt x="2349979" y="4906442"/>
                  <a:pt x="2266657" y="4889468"/>
                  <a:pt x="2184880" y="4869411"/>
                </a:cubicBezTo>
                <a:cubicBezTo>
                  <a:pt x="2141674" y="4858610"/>
                  <a:pt x="2106187" y="4869411"/>
                  <a:pt x="2075329" y="4901813"/>
                </a:cubicBezTo>
                <a:cubicBezTo>
                  <a:pt x="1956516" y="5025252"/>
                  <a:pt x="1834620" y="5145608"/>
                  <a:pt x="1714267" y="5267504"/>
                </a:cubicBezTo>
                <a:cubicBezTo>
                  <a:pt x="1686492" y="5295276"/>
                  <a:pt x="1654088" y="5301451"/>
                  <a:pt x="1621686" y="5282934"/>
                </a:cubicBezTo>
                <a:cubicBezTo>
                  <a:pt x="1492075" y="5210413"/>
                  <a:pt x="1364004" y="5137892"/>
                  <a:pt x="1234396" y="5065371"/>
                </a:cubicBezTo>
                <a:cubicBezTo>
                  <a:pt x="1189647" y="5040682"/>
                  <a:pt x="1178846" y="5014453"/>
                  <a:pt x="1191190" y="4966618"/>
                </a:cubicBezTo>
                <a:cubicBezTo>
                  <a:pt x="1232850" y="4799977"/>
                  <a:pt x="1276055" y="4634875"/>
                  <a:pt x="1317715" y="4468233"/>
                </a:cubicBezTo>
                <a:cubicBezTo>
                  <a:pt x="1326977" y="4432743"/>
                  <a:pt x="1320801" y="4400341"/>
                  <a:pt x="1294569" y="4372566"/>
                </a:cubicBezTo>
                <a:cubicBezTo>
                  <a:pt x="1232850" y="4307760"/>
                  <a:pt x="1169587" y="4242955"/>
                  <a:pt x="1107868" y="4178149"/>
                </a:cubicBezTo>
                <a:cubicBezTo>
                  <a:pt x="1083182" y="4151917"/>
                  <a:pt x="1052321" y="4144202"/>
                  <a:pt x="1018376" y="4151917"/>
                </a:cubicBezTo>
                <a:cubicBezTo>
                  <a:pt x="987518" y="4158089"/>
                  <a:pt x="958200" y="4165804"/>
                  <a:pt x="928882" y="4171977"/>
                </a:cubicBezTo>
                <a:cubicBezTo>
                  <a:pt x="788469" y="4202838"/>
                  <a:pt x="649599" y="4235239"/>
                  <a:pt x="509190" y="4266101"/>
                </a:cubicBezTo>
                <a:cubicBezTo>
                  <a:pt x="470613" y="4275359"/>
                  <a:pt x="439755" y="4261472"/>
                  <a:pt x="422778" y="4227524"/>
                </a:cubicBezTo>
                <a:cubicBezTo>
                  <a:pt x="351800" y="4091740"/>
                  <a:pt x="282366" y="3954414"/>
                  <a:pt x="211391" y="3818630"/>
                </a:cubicBezTo>
                <a:cubicBezTo>
                  <a:pt x="195960" y="3787772"/>
                  <a:pt x="202132" y="3753825"/>
                  <a:pt x="226818" y="3730682"/>
                </a:cubicBezTo>
                <a:cubicBezTo>
                  <a:pt x="356433" y="3610326"/>
                  <a:pt x="487587" y="3488430"/>
                  <a:pt x="617198" y="3368077"/>
                </a:cubicBezTo>
                <a:cubicBezTo>
                  <a:pt x="643427" y="3344931"/>
                  <a:pt x="652686" y="3314073"/>
                  <a:pt x="648056" y="3280125"/>
                </a:cubicBezTo>
                <a:cubicBezTo>
                  <a:pt x="632629" y="3196803"/>
                  <a:pt x="617198" y="3111937"/>
                  <a:pt x="601767" y="3028618"/>
                </a:cubicBezTo>
                <a:cubicBezTo>
                  <a:pt x="595595" y="2993127"/>
                  <a:pt x="575535" y="2969985"/>
                  <a:pt x="541591" y="2957640"/>
                </a:cubicBezTo>
                <a:cubicBezTo>
                  <a:pt x="427407" y="2915980"/>
                  <a:pt x="313227" y="2874318"/>
                  <a:pt x="200589" y="2832658"/>
                </a:cubicBezTo>
                <a:cubicBezTo>
                  <a:pt x="134241" y="2807969"/>
                  <a:pt x="66349" y="2786366"/>
                  <a:pt x="0" y="2757051"/>
                </a:cubicBezTo>
                <a:cubicBezTo>
                  <a:pt x="0" y="2727733"/>
                  <a:pt x="0" y="2699960"/>
                  <a:pt x="0" y="2670642"/>
                </a:cubicBezTo>
                <a:cubicBezTo>
                  <a:pt x="4629" y="2619724"/>
                  <a:pt x="9259" y="2570349"/>
                  <a:pt x="13885" y="2519428"/>
                </a:cubicBezTo>
                <a:cubicBezTo>
                  <a:pt x="23146" y="2420678"/>
                  <a:pt x="37031" y="2321925"/>
                  <a:pt x="52461" y="2224718"/>
                </a:cubicBezTo>
                <a:cubicBezTo>
                  <a:pt x="57091" y="2192314"/>
                  <a:pt x="80236" y="2169168"/>
                  <a:pt x="114181" y="2162996"/>
                </a:cubicBezTo>
                <a:cubicBezTo>
                  <a:pt x="290081" y="2130594"/>
                  <a:pt x="464441" y="2099733"/>
                  <a:pt x="640344" y="2067332"/>
                </a:cubicBezTo>
                <a:cubicBezTo>
                  <a:pt x="677375" y="2061160"/>
                  <a:pt x="702064" y="2041100"/>
                  <a:pt x="717491" y="2007155"/>
                </a:cubicBezTo>
                <a:cubicBezTo>
                  <a:pt x="743723" y="1942350"/>
                  <a:pt x="771498" y="1877544"/>
                  <a:pt x="797727" y="1814281"/>
                </a:cubicBezTo>
                <a:cubicBezTo>
                  <a:pt x="814701" y="1774162"/>
                  <a:pt x="810072" y="1740217"/>
                  <a:pt x="783840" y="1704727"/>
                </a:cubicBezTo>
                <a:cubicBezTo>
                  <a:pt x="680461" y="1570486"/>
                  <a:pt x="578625" y="1434703"/>
                  <a:pt x="476785" y="1300462"/>
                </a:cubicBezTo>
                <a:cubicBezTo>
                  <a:pt x="450553" y="1264975"/>
                  <a:pt x="450553" y="1234114"/>
                  <a:pt x="478329" y="1200169"/>
                </a:cubicBezTo>
                <a:cubicBezTo>
                  <a:pt x="577078" y="1076730"/>
                  <a:pt x="675831" y="954831"/>
                  <a:pt x="776125" y="831392"/>
                </a:cubicBezTo>
                <a:cubicBezTo>
                  <a:pt x="808529" y="792819"/>
                  <a:pt x="834761" y="785103"/>
                  <a:pt x="881050" y="803617"/>
                </a:cubicBezTo>
                <a:cubicBezTo>
                  <a:pt x="1043065" y="871512"/>
                  <a:pt x="1205078" y="937860"/>
                  <a:pt x="1368636" y="1005749"/>
                </a:cubicBezTo>
                <a:cubicBezTo>
                  <a:pt x="1401037" y="1019637"/>
                  <a:pt x="1433439" y="1018094"/>
                  <a:pt x="1462757" y="998037"/>
                </a:cubicBezTo>
                <a:cubicBezTo>
                  <a:pt x="1515221" y="962546"/>
                  <a:pt x="1566139" y="927059"/>
                  <a:pt x="1617057" y="891569"/>
                </a:cubicBezTo>
                <a:cubicBezTo>
                  <a:pt x="1641743" y="874595"/>
                  <a:pt x="1654088" y="849909"/>
                  <a:pt x="1654088" y="819048"/>
                </a:cubicBezTo>
                <a:cubicBezTo>
                  <a:pt x="1654088" y="800531"/>
                  <a:pt x="1652548" y="782017"/>
                  <a:pt x="1651005" y="765044"/>
                </a:cubicBezTo>
                <a:cubicBezTo>
                  <a:pt x="1644832" y="684807"/>
                  <a:pt x="1638660" y="606114"/>
                  <a:pt x="1632488" y="525881"/>
                </a:cubicBezTo>
                <a:cubicBezTo>
                  <a:pt x="1626316" y="445644"/>
                  <a:pt x="1620143" y="366951"/>
                  <a:pt x="1613971" y="286715"/>
                </a:cubicBezTo>
                <a:cubicBezTo>
                  <a:pt x="1610885" y="249681"/>
                  <a:pt x="1629402" y="220366"/>
                  <a:pt x="1664889" y="208022"/>
                </a:cubicBezTo>
                <a:cubicBezTo>
                  <a:pt x="1823819" y="154017"/>
                  <a:pt x="1982748" y="100013"/>
                  <a:pt x="2141674" y="47552"/>
                </a:cubicBezTo>
                <a:cubicBezTo>
                  <a:pt x="2152476" y="44466"/>
                  <a:pt x="2161734" y="42923"/>
                  <a:pt x="2172535" y="42923"/>
                </a:cubicBezTo>
                <a:cubicBezTo>
                  <a:pt x="2201851" y="44466"/>
                  <a:pt x="2220367" y="62980"/>
                  <a:pt x="2237341" y="86126"/>
                </a:cubicBezTo>
                <a:cubicBezTo>
                  <a:pt x="2336091" y="229624"/>
                  <a:pt x="2436387" y="373123"/>
                  <a:pt x="2535137" y="516622"/>
                </a:cubicBezTo>
                <a:cubicBezTo>
                  <a:pt x="2558283" y="549024"/>
                  <a:pt x="2589145" y="564454"/>
                  <a:pt x="2627718" y="561368"/>
                </a:cubicBezTo>
                <a:cubicBezTo>
                  <a:pt x="2680179" y="556739"/>
                  <a:pt x="2734186" y="555196"/>
                  <a:pt x="2786647" y="555196"/>
                </a:cubicBezTo>
                <a:cubicBezTo>
                  <a:pt x="2808250" y="555196"/>
                  <a:pt x="2823681" y="547480"/>
                  <a:pt x="2836022" y="530507"/>
                </a:cubicBezTo>
                <a:cubicBezTo>
                  <a:pt x="2842195" y="522794"/>
                  <a:pt x="2848367" y="513536"/>
                  <a:pt x="2852996" y="505821"/>
                </a:cubicBezTo>
                <a:cubicBezTo>
                  <a:pt x="2879228" y="457986"/>
                  <a:pt x="2903914" y="410154"/>
                  <a:pt x="2930143" y="363865"/>
                </a:cubicBezTo>
                <a:cubicBezTo>
                  <a:pt x="2987237" y="255856"/>
                  <a:pt x="3045870" y="149388"/>
                  <a:pt x="3102960" y="41380"/>
                </a:cubicBezTo>
                <a:cubicBezTo>
                  <a:pt x="3116848" y="15919"/>
                  <a:pt x="3136811" y="1742"/>
                  <a:pt x="3162198" y="151"/>
                </a:cubicBezTo>
                <a:close/>
              </a:path>
            </a:pathLst>
          </a:custGeom>
          <a:solidFill>
            <a:schemeClr val="bg1">
              <a:lumMod val="95000"/>
            </a:schemeClr>
          </a:solidFill>
          <a:ln w="152400">
            <a:noFill/>
          </a:ln>
          <a:effectLst/>
        </p:spPr>
        <p:txBody>
          <a:bodyPr wrap="square" anchor="t">
            <a:noAutofit/>
          </a:bodyPr>
          <a:lstStyle>
            <a:lvl1pPr marL="0" indent="0" algn="ctr">
              <a:buFontTx/>
              <a:buNone/>
              <a:defRPr sz="20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650363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1424D9-1201-489D-8759-802BEB428968}"/>
              </a:ext>
            </a:extLst>
          </p:cNvPr>
          <p:cNvSpPr/>
          <p:nvPr userDrawn="1"/>
        </p:nvSpPr>
        <p:spPr>
          <a:xfrm>
            <a:off x="808468" y="3753255"/>
            <a:ext cx="3143250" cy="20049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F0AA1C5-BCBE-4E2F-A961-AB73B3335AEC}"/>
              </a:ext>
            </a:extLst>
          </p:cNvPr>
          <p:cNvSpPr/>
          <p:nvPr userDrawn="1"/>
        </p:nvSpPr>
        <p:spPr>
          <a:xfrm>
            <a:off x="0" y="0"/>
            <a:ext cx="12192000" cy="3753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AA3D867-D133-48FC-B3C8-A5F667B90D58}"/>
              </a:ext>
            </a:extLst>
          </p:cNvPr>
          <p:cNvSpPr/>
          <p:nvPr userDrawn="1"/>
        </p:nvSpPr>
        <p:spPr>
          <a:xfrm>
            <a:off x="819150" y="1762124"/>
            <a:ext cx="3143250" cy="19911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902288" y="1883517"/>
            <a:ext cx="2955610" cy="3753256"/>
          </a:xfrm>
          <a:prstGeom prst="rect">
            <a:avLst/>
          </a:prstGeom>
          <a:solidFill>
            <a:schemeClr val="bg1">
              <a:lumMod val="95000"/>
            </a:schemeClr>
          </a:solidFill>
          <a:ln w="12700">
            <a:gradFill>
              <a:gsLst>
                <a:gs pos="0">
                  <a:schemeClr val="bg1">
                    <a:alpha val="59000"/>
                  </a:schemeClr>
                </a:gs>
                <a:gs pos="100000">
                  <a:schemeClr val="bg1">
                    <a:alpha val="17000"/>
                  </a:schemeClr>
                </a:gs>
              </a:gsLst>
              <a:lin ang="7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4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4" name="Text Placeholder 9">
            <a:extLst>
              <a:ext uri="{FF2B5EF4-FFF2-40B4-BE49-F238E27FC236}">
                <a16:creationId xmlns:a16="http://schemas.microsoft.com/office/drawing/2014/main" id="{252358FC-753C-4A29-8F87-6685EF055F3F}"/>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9808230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0" y="-1"/>
            <a:ext cx="12192000" cy="3838575"/>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2" name="Rectangle 1">
            <a:extLst>
              <a:ext uri="{FF2B5EF4-FFF2-40B4-BE49-F238E27FC236}">
                <a16:creationId xmlns:a16="http://schemas.microsoft.com/office/drawing/2014/main" id="{E666B193-49A3-4956-A9EF-296EF16EA757}"/>
              </a:ext>
            </a:extLst>
          </p:cNvPr>
          <p:cNvSpPr/>
          <p:nvPr userDrawn="1"/>
        </p:nvSpPr>
        <p:spPr>
          <a:xfrm>
            <a:off x="0" y="3810000"/>
            <a:ext cx="12192000" cy="304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82668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1BC926-532D-4A29-930A-236814050938}"/>
              </a:ext>
            </a:extLst>
          </p:cNvPr>
          <p:cNvSpPr>
            <a:spLocks noChangeAspect="1"/>
          </p:cNvSpPr>
          <p:nvPr userDrawn="1"/>
        </p:nvSpPr>
        <p:spPr>
          <a:xfrm>
            <a:off x="7119313" y="5067541"/>
            <a:ext cx="4297680" cy="43533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 name="Rectangle 2">
            <a:extLst>
              <a:ext uri="{FF2B5EF4-FFF2-40B4-BE49-F238E27FC236}">
                <a16:creationId xmlns:a16="http://schemas.microsoft.com/office/drawing/2014/main" id="{AE3E906F-6E18-4B03-BE88-75566ECC92F8}"/>
              </a:ext>
            </a:extLst>
          </p:cNvPr>
          <p:cNvSpPr/>
          <p:nvPr userDrawn="1"/>
        </p:nvSpPr>
        <p:spPr>
          <a:xfrm>
            <a:off x="0" y="1988840"/>
            <a:ext cx="12192000" cy="28803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5" name="Graphic 14">
            <a:extLst>
              <a:ext uri="{FF2B5EF4-FFF2-40B4-BE49-F238E27FC236}">
                <a16:creationId xmlns:a16="http://schemas.microsoft.com/office/drawing/2014/main" id="{5EBDAAFC-71A9-4BA2-A27E-C4F1F4BA22EC}"/>
              </a:ext>
            </a:extLst>
          </p:cNvPr>
          <p:cNvGrpSpPr/>
          <p:nvPr userDrawn="1"/>
        </p:nvGrpSpPr>
        <p:grpSpPr>
          <a:xfrm>
            <a:off x="6867308" y="1360224"/>
            <a:ext cx="4999344" cy="3932069"/>
            <a:chOff x="2444748" y="555045"/>
            <a:chExt cx="7282048" cy="5727454"/>
          </a:xfrm>
        </p:grpSpPr>
        <p:sp>
          <p:nvSpPr>
            <p:cNvPr id="6" name="Freeform: Shape 5">
              <a:extLst>
                <a:ext uri="{FF2B5EF4-FFF2-40B4-BE49-F238E27FC236}">
                  <a16:creationId xmlns:a16="http://schemas.microsoft.com/office/drawing/2014/main" id="{16173859-0352-4FD9-B3BD-10167F74D9C0}"/>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945F6B7-E4A6-48B1-9406-9E425F295FFF}"/>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37CA7AAB-8778-4F88-BE73-6CB5FA0E0E6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BD4C418-0F80-4101-A919-833900A7CEFD}"/>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B2511B1-DF8F-4023-8CEE-586AEE878B8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BDA56B7-7F45-4702-8E59-4222CE520868}"/>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FA1173E-505A-4DD9-BBC4-17F19752B615}"/>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D9CBC3-5115-4FA9-AC8A-A42FC5D3EE68}"/>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4" name="Picture Placeholder 2">
            <a:extLst>
              <a:ext uri="{FF2B5EF4-FFF2-40B4-BE49-F238E27FC236}">
                <a16:creationId xmlns:a16="http://schemas.microsoft.com/office/drawing/2014/main" id="{1B9825C8-5D1C-4169-9149-8B4CB0E262B1}"/>
              </a:ext>
            </a:extLst>
          </p:cNvPr>
          <p:cNvSpPr>
            <a:spLocks noGrp="1"/>
          </p:cNvSpPr>
          <p:nvPr>
            <p:ph type="pic" idx="15" hasCustomPrompt="1"/>
          </p:nvPr>
        </p:nvSpPr>
        <p:spPr>
          <a:xfrm>
            <a:off x="7103893" y="1624176"/>
            <a:ext cx="4580042" cy="258895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Text Placeholder 9">
            <a:extLst>
              <a:ext uri="{FF2B5EF4-FFF2-40B4-BE49-F238E27FC236}">
                <a16:creationId xmlns:a16="http://schemas.microsoft.com/office/drawing/2014/main" id="{CD05948B-F459-46FB-B9E4-88B7F7FCBE8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16080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27EBD-B5B2-4DDF-8F63-9CDB8DDD350E}" type="datetime1">
              <a:rPr lang="en-IN" smtClean="0"/>
              <a:t>14-10-2025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6F3F3-33AF-439B-B94A-B86D0E96A9FC}" type="slidenum">
              <a:rPr lang="en-US" smtClean="0"/>
              <a:t>‹#›</a:t>
            </a:fld>
            <a:endParaRPr lang="en-US"/>
          </a:p>
        </p:txBody>
      </p:sp>
    </p:spTree>
    <p:extLst>
      <p:ext uri="{BB962C8B-B14F-4D97-AF65-F5344CB8AC3E}">
        <p14:creationId xmlns:p14="http://schemas.microsoft.com/office/powerpoint/2010/main" val="8328042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B4E46807-16B4-C9AA-29C4-A99DE68CB353}"/>
              </a:ext>
            </a:extLst>
          </p:cNvPr>
          <p:cNvGrpSpPr>
            <a:grpSpLocks/>
          </p:cNvGrpSpPr>
          <p:nvPr/>
        </p:nvGrpSpPr>
        <p:grpSpPr bwMode="auto">
          <a:xfrm>
            <a:off x="0" y="914400"/>
            <a:ext cx="11582400" cy="2514600"/>
            <a:chOff x="0" y="576"/>
            <a:chExt cx="5472" cy="1584"/>
          </a:xfrm>
        </p:grpSpPr>
        <p:sp>
          <p:nvSpPr>
            <p:cNvPr id="3" name="Oval 7">
              <a:extLst>
                <a:ext uri="{FF2B5EF4-FFF2-40B4-BE49-F238E27FC236}">
                  <a16:creationId xmlns:a16="http://schemas.microsoft.com/office/drawing/2014/main" id="{EE685ADF-5064-3247-470D-62A3C346ADBA}"/>
                </a:ext>
              </a:extLst>
            </p:cNvPr>
            <p:cNvSpPr>
              <a:spLocks noChangeArrowheads="1"/>
            </p:cNvSpPr>
            <p:nvPr/>
          </p:nvSpPr>
          <p:spPr bwMode="auto">
            <a:xfrm>
              <a:off x="144" y="576"/>
              <a:ext cx="1584" cy="1584"/>
            </a:xfrm>
            <a:prstGeom prst="ellipse">
              <a:avLst/>
            </a:prstGeom>
            <a:noFill/>
            <a:ln w="12700">
              <a:solidFill>
                <a:srgbClr val="990000"/>
              </a:solidFill>
              <a:round/>
              <a:headEnd/>
              <a:tailEnd/>
            </a:ln>
            <a:effectLst/>
          </p:spPr>
          <p:txBody>
            <a:bodyPr wrap="none" anchor="ctr"/>
            <a:lstStyle>
              <a:lvl1pPr>
                <a:buClr>
                  <a:srgbClr val="B82629"/>
                </a:buClr>
                <a:buFont typeface="Wingdings" pitchFamily="2" charset="2"/>
                <a:defRPr sz="2600" b="1">
                  <a:solidFill>
                    <a:schemeClr val="tx1"/>
                  </a:solidFill>
                  <a:latin typeface="Arial" panose="020B0604020202020204" pitchFamily="34" charset="0"/>
                </a:defRPr>
              </a:lvl1pPr>
              <a:lvl2pPr marL="742950" indent="-285750">
                <a:buClr>
                  <a:srgbClr val="B82629"/>
                </a:buClr>
                <a:buFont typeface="Wingdings" pitchFamily="2" charset="2"/>
                <a:defRPr sz="2600" b="1">
                  <a:solidFill>
                    <a:schemeClr val="tx1"/>
                  </a:solidFill>
                  <a:latin typeface="Arial" panose="020B0604020202020204" pitchFamily="34" charset="0"/>
                </a:defRPr>
              </a:lvl2pPr>
              <a:lvl3pPr marL="1143000" indent="-228600">
                <a:buClr>
                  <a:srgbClr val="B82629"/>
                </a:buClr>
                <a:buFont typeface="Wingdings" pitchFamily="2" charset="2"/>
                <a:defRPr sz="2600" b="1">
                  <a:solidFill>
                    <a:schemeClr val="tx1"/>
                  </a:solidFill>
                  <a:latin typeface="Arial" panose="020B0604020202020204" pitchFamily="34" charset="0"/>
                </a:defRPr>
              </a:lvl3pPr>
              <a:lvl4pPr marL="1600200" indent="-228600">
                <a:buClr>
                  <a:srgbClr val="B82629"/>
                </a:buClr>
                <a:buFont typeface="Wingdings" pitchFamily="2" charset="2"/>
                <a:defRPr sz="2600" b="1">
                  <a:solidFill>
                    <a:schemeClr val="tx1"/>
                  </a:solidFill>
                  <a:latin typeface="Arial" panose="020B0604020202020204" pitchFamily="34" charset="0"/>
                </a:defRPr>
              </a:lvl4pPr>
              <a:lvl5pPr marL="2057400" indent="-228600">
                <a:buClr>
                  <a:srgbClr val="B82629"/>
                </a:buClr>
                <a:buFont typeface="Wingdings" pitchFamily="2" charset="2"/>
                <a:defRPr sz="2600" b="1">
                  <a:solidFill>
                    <a:schemeClr val="tx1"/>
                  </a:solidFill>
                  <a:latin typeface="Arial" panose="020B0604020202020204" pitchFamily="34" charset="0"/>
                </a:defRPr>
              </a:lvl5pPr>
              <a:lvl6pPr marL="25146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6pPr>
              <a:lvl7pPr marL="29718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7pPr>
              <a:lvl8pPr marL="34290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8pPr>
              <a:lvl9pPr marL="38862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9pPr>
            </a:lstStyle>
            <a:p>
              <a:pPr algn="ctr" eaLnBrk="1" hangingPunct="1">
                <a:buClrTx/>
                <a:buFontTx/>
                <a:buNone/>
                <a:defRPr/>
              </a:pPr>
              <a:endParaRPr lang="en-US" altLang="en-US" sz="1800" b="0"/>
            </a:p>
          </p:txBody>
        </p:sp>
        <p:sp>
          <p:nvSpPr>
            <p:cNvPr id="4" name="Rectangle 8">
              <a:extLst>
                <a:ext uri="{FF2B5EF4-FFF2-40B4-BE49-F238E27FC236}">
                  <a16:creationId xmlns:a16="http://schemas.microsoft.com/office/drawing/2014/main" id="{110C70E2-0E50-44A7-CF42-D2131AEF0B35}"/>
                </a:ext>
              </a:extLst>
            </p:cNvPr>
            <p:cNvSpPr>
              <a:spLocks noChangeArrowheads="1"/>
            </p:cNvSpPr>
            <p:nvPr/>
          </p:nvSpPr>
          <p:spPr bwMode="hidden">
            <a:xfrm>
              <a:off x="0" y="1056"/>
              <a:ext cx="2976" cy="720"/>
            </a:xfrm>
            <a:prstGeom prst="rect">
              <a:avLst/>
            </a:prstGeom>
            <a:solidFill>
              <a:srgbClr val="B82629"/>
            </a:solidFill>
            <a:ln>
              <a:noFill/>
            </a:ln>
            <a:effectLst/>
          </p:spPr>
          <p:txBody>
            <a:bodyPr wrap="none" anchor="ctr"/>
            <a:lstStyle>
              <a:lvl1pPr>
                <a:buClr>
                  <a:srgbClr val="B82629"/>
                </a:buClr>
                <a:buFont typeface="Wingdings" pitchFamily="2" charset="2"/>
                <a:defRPr sz="2600" b="1">
                  <a:solidFill>
                    <a:schemeClr val="tx1"/>
                  </a:solidFill>
                  <a:latin typeface="Arial" panose="020B0604020202020204" pitchFamily="34" charset="0"/>
                </a:defRPr>
              </a:lvl1pPr>
              <a:lvl2pPr marL="742950" indent="-285750">
                <a:buClr>
                  <a:srgbClr val="B82629"/>
                </a:buClr>
                <a:buFont typeface="Wingdings" pitchFamily="2" charset="2"/>
                <a:defRPr sz="2600" b="1">
                  <a:solidFill>
                    <a:schemeClr val="tx1"/>
                  </a:solidFill>
                  <a:latin typeface="Arial" panose="020B0604020202020204" pitchFamily="34" charset="0"/>
                </a:defRPr>
              </a:lvl2pPr>
              <a:lvl3pPr marL="1143000" indent="-228600">
                <a:buClr>
                  <a:srgbClr val="B82629"/>
                </a:buClr>
                <a:buFont typeface="Wingdings" pitchFamily="2" charset="2"/>
                <a:defRPr sz="2600" b="1">
                  <a:solidFill>
                    <a:schemeClr val="tx1"/>
                  </a:solidFill>
                  <a:latin typeface="Arial" panose="020B0604020202020204" pitchFamily="34" charset="0"/>
                </a:defRPr>
              </a:lvl3pPr>
              <a:lvl4pPr marL="1600200" indent="-228600">
                <a:buClr>
                  <a:srgbClr val="B82629"/>
                </a:buClr>
                <a:buFont typeface="Wingdings" pitchFamily="2" charset="2"/>
                <a:defRPr sz="2600" b="1">
                  <a:solidFill>
                    <a:schemeClr val="tx1"/>
                  </a:solidFill>
                  <a:latin typeface="Arial" panose="020B0604020202020204" pitchFamily="34" charset="0"/>
                </a:defRPr>
              </a:lvl4pPr>
              <a:lvl5pPr marL="2057400" indent="-228600">
                <a:buClr>
                  <a:srgbClr val="B82629"/>
                </a:buClr>
                <a:buFont typeface="Wingdings" pitchFamily="2" charset="2"/>
                <a:defRPr sz="2600" b="1">
                  <a:solidFill>
                    <a:schemeClr val="tx1"/>
                  </a:solidFill>
                  <a:latin typeface="Arial" panose="020B0604020202020204" pitchFamily="34" charset="0"/>
                </a:defRPr>
              </a:lvl5pPr>
              <a:lvl6pPr marL="25146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6pPr>
              <a:lvl7pPr marL="29718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7pPr>
              <a:lvl8pPr marL="34290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8pPr>
              <a:lvl9pPr marL="38862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9pPr>
            </a:lstStyle>
            <a:p>
              <a:pPr algn="ctr" eaLnBrk="1" hangingPunct="1">
                <a:buClrTx/>
                <a:buFontTx/>
                <a:buNone/>
                <a:defRPr/>
              </a:pPr>
              <a:endParaRPr lang="en-US" altLang="en-US" sz="2400" b="0">
                <a:latin typeface="Times New Roman" panose="02020603050405020304" pitchFamily="18" charset="0"/>
              </a:endParaRPr>
            </a:p>
          </p:txBody>
        </p:sp>
        <p:sp>
          <p:nvSpPr>
            <p:cNvPr id="5" name="Rectangle 9">
              <a:extLst>
                <a:ext uri="{FF2B5EF4-FFF2-40B4-BE49-F238E27FC236}">
                  <a16:creationId xmlns:a16="http://schemas.microsoft.com/office/drawing/2014/main" id="{C75D2CB3-8753-77FE-5E74-4FA3BF41511E}"/>
                </a:ext>
              </a:extLst>
            </p:cNvPr>
            <p:cNvSpPr>
              <a:spLocks noChangeArrowheads="1"/>
            </p:cNvSpPr>
            <p:nvPr/>
          </p:nvSpPr>
          <p:spPr bwMode="hidden">
            <a:xfrm>
              <a:off x="2496" y="1056"/>
              <a:ext cx="2976" cy="720"/>
            </a:xfrm>
            <a:prstGeom prst="rect">
              <a:avLst/>
            </a:prstGeom>
            <a:gradFill rotWithShape="1">
              <a:gsLst>
                <a:gs pos="0">
                  <a:srgbClr val="B82629"/>
                </a:gs>
                <a:gs pos="100000">
                  <a:schemeClr val="bg1"/>
                </a:gs>
              </a:gsLst>
              <a:lin ang="0" scaled="1"/>
            </a:gradFill>
            <a:ln>
              <a:noFill/>
            </a:ln>
            <a:effectLst/>
          </p:spPr>
          <p:txBody>
            <a:bodyPr wrap="none" anchor="ctr"/>
            <a:lstStyle>
              <a:lvl1pPr>
                <a:buClr>
                  <a:srgbClr val="B82629"/>
                </a:buClr>
                <a:buFont typeface="Wingdings" pitchFamily="2" charset="2"/>
                <a:defRPr sz="2600" b="1">
                  <a:solidFill>
                    <a:schemeClr val="tx1"/>
                  </a:solidFill>
                  <a:latin typeface="Arial" panose="020B0604020202020204" pitchFamily="34" charset="0"/>
                </a:defRPr>
              </a:lvl1pPr>
              <a:lvl2pPr marL="742950" indent="-285750">
                <a:buClr>
                  <a:srgbClr val="B82629"/>
                </a:buClr>
                <a:buFont typeface="Wingdings" pitchFamily="2" charset="2"/>
                <a:defRPr sz="2600" b="1">
                  <a:solidFill>
                    <a:schemeClr val="tx1"/>
                  </a:solidFill>
                  <a:latin typeface="Arial" panose="020B0604020202020204" pitchFamily="34" charset="0"/>
                </a:defRPr>
              </a:lvl2pPr>
              <a:lvl3pPr marL="1143000" indent="-228600">
                <a:buClr>
                  <a:srgbClr val="B82629"/>
                </a:buClr>
                <a:buFont typeface="Wingdings" pitchFamily="2" charset="2"/>
                <a:defRPr sz="2600" b="1">
                  <a:solidFill>
                    <a:schemeClr val="tx1"/>
                  </a:solidFill>
                  <a:latin typeface="Arial" panose="020B0604020202020204" pitchFamily="34" charset="0"/>
                </a:defRPr>
              </a:lvl3pPr>
              <a:lvl4pPr marL="1600200" indent="-228600">
                <a:buClr>
                  <a:srgbClr val="B82629"/>
                </a:buClr>
                <a:buFont typeface="Wingdings" pitchFamily="2" charset="2"/>
                <a:defRPr sz="2600" b="1">
                  <a:solidFill>
                    <a:schemeClr val="tx1"/>
                  </a:solidFill>
                  <a:latin typeface="Arial" panose="020B0604020202020204" pitchFamily="34" charset="0"/>
                </a:defRPr>
              </a:lvl4pPr>
              <a:lvl5pPr marL="2057400" indent="-228600">
                <a:buClr>
                  <a:srgbClr val="B82629"/>
                </a:buClr>
                <a:buFont typeface="Wingdings" pitchFamily="2" charset="2"/>
                <a:defRPr sz="2600" b="1">
                  <a:solidFill>
                    <a:schemeClr val="tx1"/>
                  </a:solidFill>
                  <a:latin typeface="Arial" panose="020B0604020202020204" pitchFamily="34" charset="0"/>
                </a:defRPr>
              </a:lvl5pPr>
              <a:lvl6pPr marL="25146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6pPr>
              <a:lvl7pPr marL="29718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7pPr>
              <a:lvl8pPr marL="34290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8pPr>
              <a:lvl9pPr marL="38862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9pPr>
            </a:lstStyle>
            <a:p>
              <a:pPr algn="ctr" eaLnBrk="1" hangingPunct="1">
                <a:buClrTx/>
                <a:buFontTx/>
                <a:buNone/>
                <a:defRPr/>
              </a:pPr>
              <a:endParaRPr lang="en-US" altLang="en-US" sz="2400" b="0">
                <a:latin typeface="Times New Roman" panose="02020603050405020304" pitchFamily="18" charset="0"/>
              </a:endParaRPr>
            </a:p>
          </p:txBody>
        </p:sp>
        <p:sp>
          <p:nvSpPr>
            <p:cNvPr id="6" name="Freeform 10">
              <a:extLst>
                <a:ext uri="{FF2B5EF4-FFF2-40B4-BE49-F238E27FC236}">
                  <a16:creationId xmlns:a16="http://schemas.microsoft.com/office/drawing/2014/main" id="{2011AE19-529C-1A74-D108-274651C29737}"/>
                </a:ext>
              </a:extLst>
            </p:cNvPr>
            <p:cNvSpPr>
              <a:spLocks noChangeArrowheads="1"/>
            </p:cNvSpPr>
            <p:nvPr/>
          </p:nvSpPr>
          <p:spPr bwMode="auto">
            <a:xfrm>
              <a:off x="384" y="960"/>
              <a:ext cx="144" cy="913"/>
            </a:xfrm>
            <a:custGeom>
              <a:avLst/>
              <a:gdLst>
                <a:gd name="T0" fmla="*/ 0 w 1000"/>
                <a:gd name="T1" fmla="*/ 635 h 1000"/>
                <a:gd name="T2" fmla="*/ 0 w 1000"/>
                <a:gd name="T3" fmla="*/ 635 h 1000"/>
                <a:gd name="T4" fmla="*/ 0 w 1000"/>
                <a:gd name="T5" fmla="*/ 0 h 1000"/>
                <a:gd name="T6" fmla="*/ 0 w 1000"/>
                <a:gd name="T7" fmla="*/ 0 h 10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0" h="1000">
                  <a:moveTo>
                    <a:pt x="1000" y="1000"/>
                  </a:moveTo>
                  <a:lnTo>
                    <a:pt x="0" y="1000"/>
                  </a:lnTo>
                  <a:lnTo>
                    <a:pt x="0" y="0"/>
                  </a:lnTo>
                  <a:lnTo>
                    <a:pt x="1000" y="0"/>
                  </a:lnTo>
                </a:path>
              </a:pathLst>
            </a:custGeom>
            <a:noFill/>
            <a:ln w="76200" cmpd="sng">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sz="1800"/>
            </a:p>
          </p:txBody>
        </p:sp>
        <p:sp>
          <p:nvSpPr>
            <p:cNvPr id="7" name="Freeform 11">
              <a:extLst>
                <a:ext uri="{FF2B5EF4-FFF2-40B4-BE49-F238E27FC236}">
                  <a16:creationId xmlns:a16="http://schemas.microsoft.com/office/drawing/2014/main" id="{543AE2DF-2DDC-4943-FC11-AF235752B09D}"/>
                </a:ext>
              </a:extLst>
            </p:cNvPr>
            <p:cNvSpPr>
              <a:spLocks noChangeArrowheads="1"/>
            </p:cNvSpPr>
            <p:nvPr/>
          </p:nvSpPr>
          <p:spPr bwMode="auto">
            <a:xfrm>
              <a:off x="4944" y="762"/>
              <a:ext cx="165" cy="864"/>
            </a:xfrm>
            <a:custGeom>
              <a:avLst/>
              <a:gdLst>
                <a:gd name="T0" fmla="*/ 0 w 1000"/>
                <a:gd name="T1" fmla="*/ 0 h 1000"/>
                <a:gd name="T2" fmla="*/ 0 w 1000"/>
                <a:gd name="T3" fmla="*/ 0 h 1000"/>
                <a:gd name="T4" fmla="*/ 0 w 1000"/>
                <a:gd name="T5" fmla="*/ 481 h 1000"/>
                <a:gd name="T6" fmla="*/ 0 w 1000"/>
                <a:gd name="T7" fmla="*/ 481 h 10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0" h="1000">
                  <a:moveTo>
                    <a:pt x="0" y="0"/>
                  </a:moveTo>
                  <a:lnTo>
                    <a:pt x="1000" y="0"/>
                  </a:lnTo>
                  <a:lnTo>
                    <a:pt x="1000" y="1000"/>
                  </a:lnTo>
                  <a:lnTo>
                    <a:pt x="0" y="1000"/>
                  </a:lnTo>
                </a:path>
              </a:pathLst>
            </a:custGeom>
            <a:noFill/>
            <a:ln w="76200" cap="flat" cmpd="sng">
              <a:solidFill>
                <a:srgbClr val="8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sz="1800"/>
            </a:p>
          </p:txBody>
        </p:sp>
      </p:grpSp>
      <p:sp>
        <p:nvSpPr>
          <p:cNvPr id="241666" name="Rectangle 2"/>
          <p:cNvSpPr>
            <a:spLocks noGrp="1" noChangeArrowheads="1"/>
          </p:cNvSpPr>
          <p:nvPr>
            <p:ph type="subTitle" idx="1"/>
          </p:nvPr>
        </p:nvSpPr>
        <p:spPr>
          <a:xfrm>
            <a:off x="3048000" y="3581400"/>
            <a:ext cx="7518400" cy="1905000"/>
          </a:xfrm>
        </p:spPr>
        <p:txBody>
          <a:bodyPr/>
          <a:lstStyle>
            <a:lvl1pPr marL="0" indent="0">
              <a:buFont typeface="Wingdings" pitchFamily="2" charset="2"/>
              <a:buNone/>
              <a:defRPr/>
            </a:lvl1pPr>
          </a:lstStyle>
          <a:p>
            <a:pPr lvl="0"/>
            <a:r>
              <a:rPr lang="en-US" altLang="en-US" noProof="0"/>
              <a:t>Click to edit Master subtitle style</a:t>
            </a:r>
          </a:p>
        </p:txBody>
      </p:sp>
      <p:sp>
        <p:nvSpPr>
          <p:cNvPr id="241676" name="Rectangle 12"/>
          <p:cNvSpPr>
            <a:spLocks noGrp="1" noChangeArrowheads="1"/>
          </p:cNvSpPr>
          <p:nvPr>
            <p:ph type="ctrTitle"/>
          </p:nvPr>
        </p:nvSpPr>
        <p:spPr>
          <a:xfrm>
            <a:off x="1016000" y="1447800"/>
            <a:ext cx="9448800" cy="1600200"/>
          </a:xfrm>
        </p:spPr>
        <p:txBody>
          <a:bodyPr anchor="ctr"/>
          <a:lstStyle>
            <a:lvl1pPr>
              <a:defRPr/>
            </a:lvl1pPr>
          </a:lstStyle>
          <a:p>
            <a:pPr lvl="0"/>
            <a:r>
              <a:rPr lang="en-US" altLang="en-US" noProof="0"/>
              <a:t>Click to edit Master title style</a:t>
            </a:r>
          </a:p>
        </p:txBody>
      </p:sp>
      <p:sp>
        <p:nvSpPr>
          <p:cNvPr id="8" name="Rectangle 3">
            <a:extLst>
              <a:ext uri="{FF2B5EF4-FFF2-40B4-BE49-F238E27FC236}">
                <a16:creationId xmlns:a16="http://schemas.microsoft.com/office/drawing/2014/main" id="{1EE671F2-CAE8-2CC5-DC72-07FC72BF9F9F}"/>
              </a:ext>
            </a:extLst>
          </p:cNvPr>
          <p:cNvSpPr>
            <a:spLocks noGrp="1" noChangeArrowheads="1"/>
          </p:cNvSpPr>
          <p:nvPr>
            <p:ph type="dt" sz="half" idx="10"/>
          </p:nvPr>
        </p:nvSpPr>
        <p:spPr>
          <a:xfrm>
            <a:off x="914400" y="6248400"/>
            <a:ext cx="2540000" cy="457200"/>
          </a:xfrm>
        </p:spPr>
        <p:txBody>
          <a:bodyPr/>
          <a:lstStyle>
            <a:lvl1pPr>
              <a:defRPr/>
            </a:lvl1pPr>
          </a:lstStyle>
          <a:p>
            <a:pPr>
              <a:defRPr/>
            </a:pPr>
            <a:endParaRPr lang="en-US" altLang="en-US"/>
          </a:p>
        </p:txBody>
      </p:sp>
      <p:sp>
        <p:nvSpPr>
          <p:cNvPr id="9" name="Rectangle 4">
            <a:extLst>
              <a:ext uri="{FF2B5EF4-FFF2-40B4-BE49-F238E27FC236}">
                <a16:creationId xmlns:a16="http://schemas.microsoft.com/office/drawing/2014/main" id="{BBCA7579-3664-33B8-737C-970080286431}"/>
              </a:ext>
            </a:extLst>
          </p:cNvPr>
          <p:cNvSpPr>
            <a:spLocks noGrp="1" noChangeArrowheads="1"/>
          </p:cNvSpPr>
          <p:nvPr>
            <p:ph type="ftr" sz="quarter" idx="11"/>
          </p:nvPr>
        </p:nvSpPr>
        <p:spPr>
          <a:xfrm>
            <a:off x="4165600" y="6248400"/>
            <a:ext cx="3860800" cy="457200"/>
          </a:xfrm>
        </p:spPr>
        <p:txBody>
          <a:bodyPr/>
          <a:lstStyle>
            <a:lvl1pPr>
              <a:defRPr/>
            </a:lvl1pPr>
          </a:lstStyle>
          <a:p>
            <a:pPr>
              <a:defRPr/>
            </a:pPr>
            <a:endParaRPr lang="en-US" altLang="en-US"/>
          </a:p>
        </p:txBody>
      </p:sp>
      <p:sp>
        <p:nvSpPr>
          <p:cNvPr id="10" name="Rectangle 5">
            <a:extLst>
              <a:ext uri="{FF2B5EF4-FFF2-40B4-BE49-F238E27FC236}">
                <a16:creationId xmlns:a16="http://schemas.microsoft.com/office/drawing/2014/main" id="{DDF7DCA3-5CE7-5FBA-F3B4-606E4E3413D7}"/>
              </a:ext>
            </a:extLst>
          </p:cNvPr>
          <p:cNvSpPr>
            <a:spLocks noGrp="1" noChangeArrowheads="1"/>
          </p:cNvSpPr>
          <p:nvPr>
            <p:ph type="sldNum" sz="quarter" idx="12"/>
          </p:nvPr>
        </p:nvSpPr>
        <p:spPr>
          <a:xfrm>
            <a:off x="8737600" y="6248400"/>
            <a:ext cx="2540000" cy="457200"/>
          </a:xfrm>
        </p:spPr>
        <p:txBody>
          <a:bodyPr/>
          <a:lstStyle>
            <a:lvl1pPr>
              <a:defRPr/>
            </a:lvl1pPr>
          </a:lstStyle>
          <a:p>
            <a:pPr>
              <a:defRPr/>
            </a:pPr>
            <a:fld id="{18703DF2-A94B-4A24-8FAB-81FFBEE6A823}" type="slidenum">
              <a:rPr lang="en-US" altLang="en-US"/>
              <a:pPr>
                <a:defRPr/>
              </a:pPr>
              <a:t>‹#›</a:t>
            </a:fld>
            <a:endParaRPr lang="en-US" altLang="en-US"/>
          </a:p>
        </p:txBody>
      </p:sp>
    </p:spTree>
    <p:extLst>
      <p:ext uri="{BB962C8B-B14F-4D97-AF65-F5344CB8AC3E}">
        <p14:creationId xmlns:p14="http://schemas.microsoft.com/office/powerpoint/2010/main" val="2984068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a:extLst>
              <a:ext uri="{FF2B5EF4-FFF2-40B4-BE49-F238E27FC236}">
                <a16:creationId xmlns:a16="http://schemas.microsoft.com/office/drawing/2014/main" id="{DB966B65-E142-374E-1764-1EEA5E60011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BC23BAF8-F137-A062-CA58-EF66F110BC1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8">
            <a:extLst>
              <a:ext uri="{FF2B5EF4-FFF2-40B4-BE49-F238E27FC236}">
                <a16:creationId xmlns:a16="http://schemas.microsoft.com/office/drawing/2014/main" id="{462A25B4-EA6E-B790-2A1D-4CD55B25B17E}"/>
              </a:ext>
            </a:extLst>
          </p:cNvPr>
          <p:cNvSpPr>
            <a:spLocks noGrp="1" noChangeArrowheads="1"/>
          </p:cNvSpPr>
          <p:nvPr>
            <p:ph type="sldNum" sz="quarter" idx="12"/>
          </p:nvPr>
        </p:nvSpPr>
        <p:spPr>
          <a:ln/>
        </p:spPr>
        <p:txBody>
          <a:bodyPr/>
          <a:lstStyle>
            <a:lvl1pPr>
              <a:defRPr/>
            </a:lvl1pPr>
          </a:lstStyle>
          <a:p>
            <a:pPr>
              <a:defRPr/>
            </a:pPr>
            <a:fld id="{029C88AB-B3BD-467C-8BD8-02C828030B5A}" type="slidenum">
              <a:rPr lang="en-US" altLang="en-US"/>
              <a:pPr>
                <a:defRPr/>
              </a:pPr>
              <a:t>‹#›</a:t>
            </a:fld>
            <a:endParaRPr lang="en-US" altLang="en-US"/>
          </a:p>
        </p:txBody>
      </p:sp>
    </p:spTree>
    <p:extLst>
      <p:ext uri="{BB962C8B-B14F-4D97-AF65-F5344CB8AC3E}">
        <p14:creationId xmlns:p14="http://schemas.microsoft.com/office/powerpoint/2010/main" val="2189460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Rectangle 6">
            <a:extLst>
              <a:ext uri="{FF2B5EF4-FFF2-40B4-BE49-F238E27FC236}">
                <a16:creationId xmlns:a16="http://schemas.microsoft.com/office/drawing/2014/main" id="{5B39ABDC-37A4-1D02-DA28-B146775A2CE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F7069881-69EF-2471-411D-E6ED661CC8F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8">
            <a:extLst>
              <a:ext uri="{FF2B5EF4-FFF2-40B4-BE49-F238E27FC236}">
                <a16:creationId xmlns:a16="http://schemas.microsoft.com/office/drawing/2014/main" id="{121586DB-6A8C-7A7B-C983-83093A66D373}"/>
              </a:ext>
            </a:extLst>
          </p:cNvPr>
          <p:cNvSpPr>
            <a:spLocks noGrp="1" noChangeArrowheads="1"/>
          </p:cNvSpPr>
          <p:nvPr>
            <p:ph type="sldNum" sz="quarter" idx="12"/>
          </p:nvPr>
        </p:nvSpPr>
        <p:spPr>
          <a:ln/>
        </p:spPr>
        <p:txBody>
          <a:bodyPr/>
          <a:lstStyle>
            <a:lvl1pPr>
              <a:defRPr/>
            </a:lvl1pPr>
          </a:lstStyle>
          <a:p>
            <a:pPr>
              <a:defRPr/>
            </a:pPr>
            <a:fld id="{05825955-6666-44DD-AB58-1DBC5D61EE93}" type="slidenum">
              <a:rPr lang="en-US" altLang="en-US"/>
              <a:pPr>
                <a:defRPr/>
              </a:pPr>
              <a:t>‹#›</a:t>
            </a:fld>
            <a:endParaRPr lang="en-US" altLang="en-US"/>
          </a:p>
        </p:txBody>
      </p:sp>
    </p:spTree>
    <p:extLst>
      <p:ext uri="{BB962C8B-B14F-4D97-AF65-F5344CB8AC3E}">
        <p14:creationId xmlns:p14="http://schemas.microsoft.com/office/powerpoint/2010/main" val="34788853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265767" y="1981200"/>
            <a:ext cx="5005917"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474885" y="1981200"/>
            <a:ext cx="5005916"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6">
            <a:extLst>
              <a:ext uri="{FF2B5EF4-FFF2-40B4-BE49-F238E27FC236}">
                <a16:creationId xmlns:a16="http://schemas.microsoft.com/office/drawing/2014/main" id="{BC45D201-5520-FDCE-0B9A-9D3C4B96573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D75365F9-0018-4373-0A5F-CB8FFD0380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8">
            <a:extLst>
              <a:ext uri="{FF2B5EF4-FFF2-40B4-BE49-F238E27FC236}">
                <a16:creationId xmlns:a16="http://schemas.microsoft.com/office/drawing/2014/main" id="{FB6655A5-4A24-012F-A7A4-A3646E2BC04F}"/>
              </a:ext>
            </a:extLst>
          </p:cNvPr>
          <p:cNvSpPr>
            <a:spLocks noGrp="1" noChangeArrowheads="1"/>
          </p:cNvSpPr>
          <p:nvPr>
            <p:ph type="sldNum" sz="quarter" idx="12"/>
          </p:nvPr>
        </p:nvSpPr>
        <p:spPr>
          <a:ln/>
        </p:spPr>
        <p:txBody>
          <a:bodyPr/>
          <a:lstStyle>
            <a:lvl1pPr>
              <a:defRPr/>
            </a:lvl1pPr>
          </a:lstStyle>
          <a:p>
            <a:pPr>
              <a:defRPr/>
            </a:pPr>
            <a:fld id="{A4AE4426-279C-4BC4-8AAA-08673198E89E}" type="slidenum">
              <a:rPr lang="en-US" altLang="en-US"/>
              <a:pPr>
                <a:defRPr/>
              </a:pPr>
              <a:t>‹#›</a:t>
            </a:fld>
            <a:endParaRPr lang="en-US" altLang="en-US"/>
          </a:p>
        </p:txBody>
      </p:sp>
    </p:spTree>
    <p:extLst>
      <p:ext uri="{BB962C8B-B14F-4D97-AF65-F5344CB8AC3E}">
        <p14:creationId xmlns:p14="http://schemas.microsoft.com/office/powerpoint/2010/main" val="2491796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Rectangle 6">
            <a:extLst>
              <a:ext uri="{FF2B5EF4-FFF2-40B4-BE49-F238E27FC236}">
                <a16:creationId xmlns:a16="http://schemas.microsoft.com/office/drawing/2014/main" id="{9AD4C5F5-03A8-707F-786F-B21B88D27B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7">
            <a:extLst>
              <a:ext uri="{FF2B5EF4-FFF2-40B4-BE49-F238E27FC236}">
                <a16:creationId xmlns:a16="http://schemas.microsoft.com/office/drawing/2014/main" id="{136B8486-8490-8196-5115-3172A005B2D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8">
            <a:extLst>
              <a:ext uri="{FF2B5EF4-FFF2-40B4-BE49-F238E27FC236}">
                <a16:creationId xmlns:a16="http://schemas.microsoft.com/office/drawing/2014/main" id="{ECDE3AD2-2082-FC48-7F39-54EAE81E53FE}"/>
              </a:ext>
            </a:extLst>
          </p:cNvPr>
          <p:cNvSpPr>
            <a:spLocks noGrp="1" noChangeArrowheads="1"/>
          </p:cNvSpPr>
          <p:nvPr>
            <p:ph type="sldNum" sz="quarter" idx="12"/>
          </p:nvPr>
        </p:nvSpPr>
        <p:spPr>
          <a:ln/>
        </p:spPr>
        <p:txBody>
          <a:bodyPr/>
          <a:lstStyle>
            <a:lvl1pPr>
              <a:defRPr/>
            </a:lvl1pPr>
          </a:lstStyle>
          <a:p>
            <a:pPr>
              <a:defRPr/>
            </a:pPr>
            <a:fld id="{DA8C6B16-59CA-4EC4-A9FD-C76D4EA32762}" type="slidenum">
              <a:rPr lang="en-US" altLang="en-US"/>
              <a:pPr>
                <a:defRPr/>
              </a:pPr>
              <a:t>‹#›</a:t>
            </a:fld>
            <a:endParaRPr lang="en-US" altLang="en-US"/>
          </a:p>
        </p:txBody>
      </p:sp>
    </p:spTree>
    <p:extLst>
      <p:ext uri="{BB962C8B-B14F-4D97-AF65-F5344CB8AC3E}">
        <p14:creationId xmlns:p14="http://schemas.microsoft.com/office/powerpoint/2010/main" val="28914939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6">
            <a:extLst>
              <a:ext uri="{FF2B5EF4-FFF2-40B4-BE49-F238E27FC236}">
                <a16:creationId xmlns:a16="http://schemas.microsoft.com/office/drawing/2014/main" id="{8874A7EC-C8E8-7958-34AF-C146311C148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045D88EB-69D6-2693-9ACF-D42DB40FE52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8">
            <a:extLst>
              <a:ext uri="{FF2B5EF4-FFF2-40B4-BE49-F238E27FC236}">
                <a16:creationId xmlns:a16="http://schemas.microsoft.com/office/drawing/2014/main" id="{2FEE3AA1-DA78-B622-A934-E920CA13DAAA}"/>
              </a:ext>
            </a:extLst>
          </p:cNvPr>
          <p:cNvSpPr>
            <a:spLocks noGrp="1" noChangeArrowheads="1"/>
          </p:cNvSpPr>
          <p:nvPr>
            <p:ph type="sldNum" sz="quarter" idx="12"/>
          </p:nvPr>
        </p:nvSpPr>
        <p:spPr>
          <a:ln/>
        </p:spPr>
        <p:txBody>
          <a:bodyPr/>
          <a:lstStyle>
            <a:lvl1pPr>
              <a:defRPr/>
            </a:lvl1pPr>
          </a:lstStyle>
          <a:p>
            <a:pPr>
              <a:defRPr/>
            </a:pPr>
            <a:fld id="{26DBB083-30D0-4D8D-BA52-3C47A48200D9}" type="slidenum">
              <a:rPr lang="en-US" altLang="en-US"/>
              <a:pPr>
                <a:defRPr/>
              </a:pPr>
              <a:t>‹#›</a:t>
            </a:fld>
            <a:endParaRPr lang="en-US" altLang="en-US"/>
          </a:p>
        </p:txBody>
      </p:sp>
    </p:spTree>
    <p:extLst>
      <p:ext uri="{BB962C8B-B14F-4D97-AF65-F5344CB8AC3E}">
        <p14:creationId xmlns:p14="http://schemas.microsoft.com/office/powerpoint/2010/main" val="7300663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A60C94B-9D30-D663-1A4A-57E797A5E1C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7">
            <a:extLst>
              <a:ext uri="{FF2B5EF4-FFF2-40B4-BE49-F238E27FC236}">
                <a16:creationId xmlns:a16="http://schemas.microsoft.com/office/drawing/2014/main" id="{A011C3D6-12AC-8728-8C60-7EDDCD6242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8">
            <a:extLst>
              <a:ext uri="{FF2B5EF4-FFF2-40B4-BE49-F238E27FC236}">
                <a16:creationId xmlns:a16="http://schemas.microsoft.com/office/drawing/2014/main" id="{F7E4D43C-FEE7-2BDE-73DA-4C2AC13D4141}"/>
              </a:ext>
            </a:extLst>
          </p:cNvPr>
          <p:cNvSpPr>
            <a:spLocks noGrp="1" noChangeArrowheads="1"/>
          </p:cNvSpPr>
          <p:nvPr>
            <p:ph type="sldNum" sz="quarter" idx="12"/>
          </p:nvPr>
        </p:nvSpPr>
        <p:spPr>
          <a:ln/>
        </p:spPr>
        <p:txBody>
          <a:bodyPr/>
          <a:lstStyle>
            <a:lvl1pPr>
              <a:defRPr/>
            </a:lvl1pPr>
          </a:lstStyle>
          <a:p>
            <a:pPr>
              <a:defRPr/>
            </a:pPr>
            <a:fld id="{AA932A30-3456-4F37-9E89-E481B8E2B8A7}" type="slidenum">
              <a:rPr lang="en-US" altLang="en-US"/>
              <a:pPr>
                <a:defRPr/>
              </a:pPr>
              <a:t>‹#›</a:t>
            </a:fld>
            <a:endParaRPr lang="en-US" altLang="en-US"/>
          </a:p>
        </p:txBody>
      </p:sp>
    </p:spTree>
    <p:extLst>
      <p:ext uri="{BB962C8B-B14F-4D97-AF65-F5344CB8AC3E}">
        <p14:creationId xmlns:p14="http://schemas.microsoft.com/office/powerpoint/2010/main" val="2463915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Rectangle 6">
            <a:extLst>
              <a:ext uri="{FF2B5EF4-FFF2-40B4-BE49-F238E27FC236}">
                <a16:creationId xmlns:a16="http://schemas.microsoft.com/office/drawing/2014/main" id="{4A437235-2786-D8A0-0D2E-E4AA25550FA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552C0AD3-90CB-34B1-23C9-31C59249182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8">
            <a:extLst>
              <a:ext uri="{FF2B5EF4-FFF2-40B4-BE49-F238E27FC236}">
                <a16:creationId xmlns:a16="http://schemas.microsoft.com/office/drawing/2014/main" id="{63BE311D-6233-6EDA-45F0-88675FFB7A37}"/>
              </a:ext>
            </a:extLst>
          </p:cNvPr>
          <p:cNvSpPr>
            <a:spLocks noGrp="1" noChangeArrowheads="1"/>
          </p:cNvSpPr>
          <p:nvPr>
            <p:ph type="sldNum" sz="quarter" idx="12"/>
          </p:nvPr>
        </p:nvSpPr>
        <p:spPr>
          <a:ln/>
        </p:spPr>
        <p:txBody>
          <a:bodyPr/>
          <a:lstStyle>
            <a:lvl1pPr>
              <a:defRPr/>
            </a:lvl1pPr>
          </a:lstStyle>
          <a:p>
            <a:pPr>
              <a:defRPr/>
            </a:pPr>
            <a:fld id="{255A065A-04DD-4B5A-8AE3-1935B86DFB9B}" type="slidenum">
              <a:rPr lang="en-US" altLang="en-US"/>
              <a:pPr>
                <a:defRPr/>
              </a:pPr>
              <a:t>‹#›</a:t>
            </a:fld>
            <a:endParaRPr lang="en-US" altLang="en-US"/>
          </a:p>
        </p:txBody>
      </p:sp>
    </p:spTree>
    <p:extLst>
      <p:ext uri="{BB962C8B-B14F-4D97-AF65-F5344CB8AC3E}">
        <p14:creationId xmlns:p14="http://schemas.microsoft.com/office/powerpoint/2010/main" val="36397857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Rectangle 6">
            <a:extLst>
              <a:ext uri="{FF2B5EF4-FFF2-40B4-BE49-F238E27FC236}">
                <a16:creationId xmlns:a16="http://schemas.microsoft.com/office/drawing/2014/main" id="{777AEADC-437A-44F9-9F79-08193DF5752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1123695F-129D-0908-E2E2-2B51113D8AF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8">
            <a:extLst>
              <a:ext uri="{FF2B5EF4-FFF2-40B4-BE49-F238E27FC236}">
                <a16:creationId xmlns:a16="http://schemas.microsoft.com/office/drawing/2014/main" id="{E31351F0-03C7-D552-6B3D-136C47CD6026}"/>
              </a:ext>
            </a:extLst>
          </p:cNvPr>
          <p:cNvSpPr>
            <a:spLocks noGrp="1" noChangeArrowheads="1"/>
          </p:cNvSpPr>
          <p:nvPr>
            <p:ph type="sldNum" sz="quarter" idx="12"/>
          </p:nvPr>
        </p:nvSpPr>
        <p:spPr>
          <a:ln/>
        </p:spPr>
        <p:txBody>
          <a:bodyPr/>
          <a:lstStyle>
            <a:lvl1pPr>
              <a:defRPr/>
            </a:lvl1pPr>
          </a:lstStyle>
          <a:p>
            <a:pPr>
              <a:defRPr/>
            </a:pPr>
            <a:fld id="{965C9391-0F53-43BA-8167-EB89EA77B5C7}" type="slidenum">
              <a:rPr lang="en-US" altLang="en-US"/>
              <a:pPr>
                <a:defRPr/>
              </a:pPr>
              <a:t>‹#›</a:t>
            </a:fld>
            <a:endParaRPr lang="en-US" altLang="en-US"/>
          </a:p>
        </p:txBody>
      </p:sp>
    </p:spTree>
    <p:extLst>
      <p:ext uri="{BB962C8B-B14F-4D97-AF65-F5344CB8AC3E}">
        <p14:creationId xmlns:p14="http://schemas.microsoft.com/office/powerpoint/2010/main" val="2750374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a:extLst>
              <a:ext uri="{FF2B5EF4-FFF2-40B4-BE49-F238E27FC236}">
                <a16:creationId xmlns:a16="http://schemas.microsoft.com/office/drawing/2014/main" id="{CB052406-926D-30E0-9665-48D24EB8293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D36BA9EC-6EDD-386E-2152-E1863F6DF0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8">
            <a:extLst>
              <a:ext uri="{FF2B5EF4-FFF2-40B4-BE49-F238E27FC236}">
                <a16:creationId xmlns:a16="http://schemas.microsoft.com/office/drawing/2014/main" id="{5A580CB7-E137-33B8-5331-6E021A3FE20E}"/>
              </a:ext>
            </a:extLst>
          </p:cNvPr>
          <p:cNvSpPr>
            <a:spLocks noGrp="1" noChangeArrowheads="1"/>
          </p:cNvSpPr>
          <p:nvPr>
            <p:ph type="sldNum" sz="quarter" idx="12"/>
          </p:nvPr>
        </p:nvSpPr>
        <p:spPr>
          <a:ln/>
        </p:spPr>
        <p:txBody>
          <a:bodyPr/>
          <a:lstStyle>
            <a:lvl1pPr>
              <a:defRPr/>
            </a:lvl1pPr>
          </a:lstStyle>
          <a:p>
            <a:pPr>
              <a:defRPr/>
            </a:pPr>
            <a:fld id="{465758F6-B411-452F-B43A-6E8A54EC771C}" type="slidenum">
              <a:rPr lang="en-US" altLang="en-US"/>
              <a:pPr>
                <a:defRPr/>
              </a:pPr>
              <a:t>‹#›</a:t>
            </a:fld>
            <a:endParaRPr lang="en-US" altLang="en-US"/>
          </a:p>
        </p:txBody>
      </p:sp>
    </p:spTree>
    <p:extLst>
      <p:ext uri="{BB962C8B-B14F-4D97-AF65-F5344CB8AC3E}">
        <p14:creationId xmlns:p14="http://schemas.microsoft.com/office/powerpoint/2010/main" val="40551739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61400" y="-304800"/>
            <a:ext cx="2819400" cy="64008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203200" y="-304800"/>
            <a:ext cx="8255000" cy="6400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a:extLst>
              <a:ext uri="{FF2B5EF4-FFF2-40B4-BE49-F238E27FC236}">
                <a16:creationId xmlns:a16="http://schemas.microsoft.com/office/drawing/2014/main" id="{88BC3FFE-AA4B-A5CF-7799-C0FBF8474DB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5F8EAFE0-5FF7-97A1-A13C-99575DDA18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8">
            <a:extLst>
              <a:ext uri="{FF2B5EF4-FFF2-40B4-BE49-F238E27FC236}">
                <a16:creationId xmlns:a16="http://schemas.microsoft.com/office/drawing/2014/main" id="{77AD04C0-C156-47A3-EFD4-38054FD2A22D}"/>
              </a:ext>
            </a:extLst>
          </p:cNvPr>
          <p:cNvSpPr>
            <a:spLocks noGrp="1" noChangeArrowheads="1"/>
          </p:cNvSpPr>
          <p:nvPr>
            <p:ph type="sldNum" sz="quarter" idx="12"/>
          </p:nvPr>
        </p:nvSpPr>
        <p:spPr>
          <a:ln/>
        </p:spPr>
        <p:txBody>
          <a:bodyPr/>
          <a:lstStyle>
            <a:lvl1pPr>
              <a:defRPr/>
            </a:lvl1pPr>
          </a:lstStyle>
          <a:p>
            <a:pPr>
              <a:defRPr/>
            </a:pPr>
            <a:fld id="{DCBC0C3B-AA7D-4EBE-8407-4BB0A6F3722A}" type="slidenum">
              <a:rPr lang="en-US" altLang="en-US"/>
              <a:pPr>
                <a:defRPr/>
              </a:pPr>
              <a:t>‹#›</a:t>
            </a:fld>
            <a:endParaRPr lang="en-US" altLang="en-US"/>
          </a:p>
        </p:txBody>
      </p:sp>
    </p:spTree>
    <p:extLst>
      <p:ext uri="{BB962C8B-B14F-4D97-AF65-F5344CB8AC3E}">
        <p14:creationId xmlns:p14="http://schemas.microsoft.com/office/powerpoint/2010/main" val="13785004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03200" y="-304800"/>
            <a:ext cx="11277600" cy="6400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6">
            <a:extLst>
              <a:ext uri="{FF2B5EF4-FFF2-40B4-BE49-F238E27FC236}">
                <a16:creationId xmlns:a16="http://schemas.microsoft.com/office/drawing/2014/main" id="{99FC27BC-85EB-5598-934E-F73B8869CD7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B826CF4E-0865-0344-71B7-C98A80E97CE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8">
            <a:extLst>
              <a:ext uri="{FF2B5EF4-FFF2-40B4-BE49-F238E27FC236}">
                <a16:creationId xmlns:a16="http://schemas.microsoft.com/office/drawing/2014/main" id="{BCF4B698-4341-A9C3-94A6-42479EB6C4FC}"/>
              </a:ext>
            </a:extLst>
          </p:cNvPr>
          <p:cNvSpPr>
            <a:spLocks noGrp="1" noChangeArrowheads="1"/>
          </p:cNvSpPr>
          <p:nvPr>
            <p:ph type="sldNum" sz="quarter" idx="12"/>
          </p:nvPr>
        </p:nvSpPr>
        <p:spPr>
          <a:ln/>
        </p:spPr>
        <p:txBody>
          <a:bodyPr/>
          <a:lstStyle>
            <a:lvl1pPr>
              <a:defRPr/>
            </a:lvl1pPr>
          </a:lstStyle>
          <a:p>
            <a:pPr>
              <a:defRPr/>
            </a:pPr>
            <a:fld id="{6AA1392E-C8C7-43C1-81BE-E675104D99F9}" type="slidenum">
              <a:rPr lang="en-US" altLang="en-US"/>
              <a:pPr>
                <a:defRPr/>
              </a:pPr>
              <a:t>‹#›</a:t>
            </a:fld>
            <a:endParaRPr lang="en-US" altLang="en-US"/>
          </a:p>
        </p:txBody>
      </p:sp>
    </p:spTree>
    <p:extLst>
      <p:ext uri="{BB962C8B-B14F-4D97-AF65-F5344CB8AC3E}">
        <p14:creationId xmlns:p14="http://schemas.microsoft.com/office/powerpoint/2010/main" val="38582112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9544051" cy="1412875"/>
          </a:xfrm>
        </p:spPr>
        <p:txBody>
          <a:bodyPr/>
          <a:lstStyle/>
          <a:p>
            <a:r>
              <a:rPr lang="en-GB"/>
              <a:t>Click to edit Master title style</a:t>
            </a:r>
            <a:endParaRPr lang="en-US"/>
          </a:p>
        </p:txBody>
      </p:sp>
      <p:sp>
        <p:nvSpPr>
          <p:cNvPr id="3" name="Text Placeholder 2"/>
          <p:cNvSpPr>
            <a:spLocks noGrp="1"/>
          </p:cNvSpPr>
          <p:nvPr>
            <p:ph type="body" sz="half" idx="1"/>
          </p:nvPr>
        </p:nvSpPr>
        <p:spPr>
          <a:xfrm>
            <a:off x="1265767" y="1981200"/>
            <a:ext cx="5005917"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474885" y="1981200"/>
            <a:ext cx="5005916"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6">
            <a:extLst>
              <a:ext uri="{FF2B5EF4-FFF2-40B4-BE49-F238E27FC236}">
                <a16:creationId xmlns:a16="http://schemas.microsoft.com/office/drawing/2014/main" id="{8ADD5571-8DD3-BF98-18D6-86FF1DE003C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F97F4619-0137-13CC-9C60-5E670E85F5E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8">
            <a:extLst>
              <a:ext uri="{FF2B5EF4-FFF2-40B4-BE49-F238E27FC236}">
                <a16:creationId xmlns:a16="http://schemas.microsoft.com/office/drawing/2014/main" id="{7A388883-5531-2EAB-8B7F-5D92013AF991}"/>
              </a:ext>
            </a:extLst>
          </p:cNvPr>
          <p:cNvSpPr>
            <a:spLocks noGrp="1" noChangeArrowheads="1"/>
          </p:cNvSpPr>
          <p:nvPr>
            <p:ph type="sldNum" sz="quarter" idx="12"/>
          </p:nvPr>
        </p:nvSpPr>
        <p:spPr>
          <a:ln/>
        </p:spPr>
        <p:txBody>
          <a:bodyPr/>
          <a:lstStyle>
            <a:lvl1pPr>
              <a:defRPr/>
            </a:lvl1pPr>
          </a:lstStyle>
          <a:p>
            <a:pPr>
              <a:defRPr/>
            </a:pPr>
            <a:fld id="{DD423CBE-A3A3-4BB9-9900-3BDC62CFCB78}" type="slidenum">
              <a:rPr lang="en-US" altLang="en-US"/>
              <a:pPr>
                <a:defRPr/>
              </a:pPr>
              <a:t>‹#›</a:t>
            </a:fld>
            <a:endParaRPr lang="en-US" altLang="en-US"/>
          </a:p>
        </p:txBody>
      </p:sp>
    </p:spTree>
    <p:extLst>
      <p:ext uri="{BB962C8B-B14F-4D97-AF65-F5344CB8AC3E}">
        <p14:creationId xmlns:p14="http://schemas.microsoft.com/office/powerpoint/2010/main" val="3325101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9544051" cy="1412875"/>
          </a:xfrm>
        </p:spPr>
        <p:txBody>
          <a:bodyPr/>
          <a:lstStyle/>
          <a:p>
            <a:r>
              <a:rPr lang="en-GB"/>
              <a:t>Click to edit Master title style</a:t>
            </a:r>
            <a:endParaRPr lang="en-US"/>
          </a:p>
        </p:txBody>
      </p:sp>
      <p:sp>
        <p:nvSpPr>
          <p:cNvPr id="3" name="Table Placeholder 2"/>
          <p:cNvSpPr>
            <a:spLocks noGrp="1"/>
          </p:cNvSpPr>
          <p:nvPr>
            <p:ph type="tbl" idx="1"/>
          </p:nvPr>
        </p:nvSpPr>
        <p:spPr>
          <a:xfrm>
            <a:off x="1265768" y="1981200"/>
            <a:ext cx="10215033" cy="4114800"/>
          </a:xfrm>
        </p:spPr>
        <p:txBody>
          <a:bodyPr/>
          <a:lstStyle/>
          <a:p>
            <a:pPr lvl="0"/>
            <a:endParaRPr lang="en-US" noProof="0"/>
          </a:p>
        </p:txBody>
      </p:sp>
      <p:sp>
        <p:nvSpPr>
          <p:cNvPr id="4" name="Rectangle 6">
            <a:extLst>
              <a:ext uri="{FF2B5EF4-FFF2-40B4-BE49-F238E27FC236}">
                <a16:creationId xmlns:a16="http://schemas.microsoft.com/office/drawing/2014/main" id="{E9EF2A2E-A2B1-61D1-2080-79A8598E295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A564D539-4DE5-37C6-CA3B-8BF0CAAEFDC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8">
            <a:extLst>
              <a:ext uri="{FF2B5EF4-FFF2-40B4-BE49-F238E27FC236}">
                <a16:creationId xmlns:a16="http://schemas.microsoft.com/office/drawing/2014/main" id="{FF09C584-5C5E-0529-19C5-CDB90CD9083B}"/>
              </a:ext>
            </a:extLst>
          </p:cNvPr>
          <p:cNvSpPr>
            <a:spLocks noGrp="1" noChangeArrowheads="1"/>
          </p:cNvSpPr>
          <p:nvPr>
            <p:ph type="sldNum" sz="quarter" idx="12"/>
          </p:nvPr>
        </p:nvSpPr>
        <p:spPr>
          <a:ln/>
        </p:spPr>
        <p:txBody>
          <a:bodyPr/>
          <a:lstStyle>
            <a:lvl1pPr>
              <a:defRPr/>
            </a:lvl1pPr>
          </a:lstStyle>
          <a:p>
            <a:pPr>
              <a:defRPr/>
            </a:pPr>
            <a:fld id="{DE21AD40-8307-4C10-9856-7A73917DF88B}" type="slidenum">
              <a:rPr lang="en-US" altLang="en-US"/>
              <a:pPr>
                <a:defRPr/>
              </a:pPr>
              <a:t>‹#›</a:t>
            </a:fld>
            <a:endParaRPr lang="en-US" altLang="en-US"/>
          </a:p>
        </p:txBody>
      </p:sp>
    </p:spTree>
    <p:extLst>
      <p:ext uri="{BB962C8B-B14F-4D97-AF65-F5344CB8AC3E}">
        <p14:creationId xmlns:p14="http://schemas.microsoft.com/office/powerpoint/2010/main" val="3155454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9544051" cy="1412875"/>
          </a:xfrm>
        </p:spPr>
        <p:txBody>
          <a:bodyPr/>
          <a:lstStyle/>
          <a:p>
            <a:r>
              <a:rPr lang="en-GB"/>
              <a:t>Click to edit Master title style</a:t>
            </a:r>
            <a:endParaRPr lang="en-US"/>
          </a:p>
        </p:txBody>
      </p:sp>
      <p:sp>
        <p:nvSpPr>
          <p:cNvPr id="3" name="Text Placeholder 2"/>
          <p:cNvSpPr>
            <a:spLocks noGrp="1"/>
          </p:cNvSpPr>
          <p:nvPr>
            <p:ph type="body" sz="half" idx="1"/>
          </p:nvPr>
        </p:nvSpPr>
        <p:spPr>
          <a:xfrm>
            <a:off x="1265767" y="1981200"/>
            <a:ext cx="5005917"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quarter" idx="2"/>
          </p:nvPr>
        </p:nvSpPr>
        <p:spPr>
          <a:xfrm>
            <a:off x="6474885" y="1981200"/>
            <a:ext cx="5005916" cy="1981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Content Placeholder 4"/>
          <p:cNvSpPr>
            <a:spLocks noGrp="1"/>
          </p:cNvSpPr>
          <p:nvPr>
            <p:ph sz="quarter" idx="3"/>
          </p:nvPr>
        </p:nvSpPr>
        <p:spPr>
          <a:xfrm>
            <a:off x="6474885" y="4114800"/>
            <a:ext cx="5005916" cy="1981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6">
            <a:extLst>
              <a:ext uri="{FF2B5EF4-FFF2-40B4-BE49-F238E27FC236}">
                <a16:creationId xmlns:a16="http://schemas.microsoft.com/office/drawing/2014/main" id="{98C0871D-EAA8-7724-5BED-660BEDEEFF7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D17450CE-E7FA-C276-8F91-17500CEFF8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8">
            <a:extLst>
              <a:ext uri="{FF2B5EF4-FFF2-40B4-BE49-F238E27FC236}">
                <a16:creationId xmlns:a16="http://schemas.microsoft.com/office/drawing/2014/main" id="{EF4D3C17-F3C4-0B72-C2A8-31D0981DBE3A}"/>
              </a:ext>
            </a:extLst>
          </p:cNvPr>
          <p:cNvSpPr>
            <a:spLocks noGrp="1" noChangeArrowheads="1"/>
          </p:cNvSpPr>
          <p:nvPr>
            <p:ph type="sldNum" sz="quarter" idx="12"/>
          </p:nvPr>
        </p:nvSpPr>
        <p:spPr>
          <a:ln/>
        </p:spPr>
        <p:txBody>
          <a:bodyPr/>
          <a:lstStyle>
            <a:lvl1pPr>
              <a:defRPr/>
            </a:lvl1pPr>
          </a:lstStyle>
          <a:p>
            <a:pPr>
              <a:defRPr/>
            </a:pPr>
            <a:fld id="{063C9091-8657-4689-A7D3-EE1DD7E001FC}" type="slidenum">
              <a:rPr lang="en-US" altLang="en-US"/>
              <a:pPr>
                <a:defRPr/>
              </a:pPr>
              <a:t>‹#›</a:t>
            </a:fld>
            <a:endParaRPr lang="en-US" altLang="en-US"/>
          </a:p>
        </p:txBody>
      </p:sp>
    </p:spTree>
    <p:extLst>
      <p:ext uri="{BB962C8B-B14F-4D97-AF65-F5344CB8AC3E}">
        <p14:creationId xmlns:p14="http://schemas.microsoft.com/office/powerpoint/2010/main" val="2731212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25F84-BA6A-42B4-27BB-2F8EA2915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C0DEED-EDE8-5CFF-127A-CB844C86E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456044-675F-9C6E-5B54-24FCFBE3D8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41805F-43E4-4BAC-B7DD-24B893F4D1F8}" type="datetime1">
              <a:rPr lang="en-IN" smtClean="0"/>
              <a:t>14-10-2025</a:t>
            </a:fld>
            <a:endParaRPr lang="en-IN"/>
          </a:p>
        </p:txBody>
      </p:sp>
      <p:sp>
        <p:nvSpPr>
          <p:cNvPr id="5" name="Footer Placeholder 4">
            <a:extLst>
              <a:ext uri="{FF2B5EF4-FFF2-40B4-BE49-F238E27FC236}">
                <a16:creationId xmlns:a16="http://schemas.microsoft.com/office/drawing/2014/main" id="{5898D46C-B9CB-FF0A-33DC-5294908BE4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765B262-1B4E-B7C3-6631-31C67607B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07C8CD-4FE2-46F0-9611-E3B643750200}" type="slidenum">
              <a:rPr lang="en-IN" smtClean="0"/>
              <a:t>‹#›</a:t>
            </a:fld>
            <a:endParaRPr lang="en-IN"/>
          </a:p>
        </p:txBody>
      </p:sp>
    </p:spTree>
    <p:extLst>
      <p:ext uri="{BB962C8B-B14F-4D97-AF65-F5344CB8AC3E}">
        <p14:creationId xmlns:p14="http://schemas.microsoft.com/office/powerpoint/2010/main" val="2126107827"/>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926077"/>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A4DCE28-375F-A120-426B-BA2927BD7186}"/>
              </a:ext>
            </a:extLst>
          </p:cNvPr>
          <p:cNvSpPr>
            <a:spLocks noChangeArrowheads="1"/>
          </p:cNvSpPr>
          <p:nvPr/>
        </p:nvSpPr>
        <p:spPr bwMode="auto">
          <a:xfrm>
            <a:off x="0" y="1143000"/>
            <a:ext cx="10464800" cy="152400"/>
          </a:xfrm>
          <a:prstGeom prst="rect">
            <a:avLst/>
          </a:prstGeom>
          <a:solidFill>
            <a:srgbClr val="B82629"/>
          </a:solidFill>
          <a:ln>
            <a:noFill/>
          </a:ln>
          <a:effectLst/>
        </p:spPr>
        <p:txBody>
          <a:bodyPr wrap="none" anchor="ctr"/>
          <a:lstStyle>
            <a:lvl1pPr>
              <a:buClr>
                <a:srgbClr val="B82629"/>
              </a:buClr>
              <a:buFont typeface="Wingdings" pitchFamily="2" charset="2"/>
              <a:defRPr sz="2600" b="1">
                <a:solidFill>
                  <a:schemeClr val="tx1"/>
                </a:solidFill>
                <a:latin typeface="Arial" panose="020B0604020202020204" pitchFamily="34" charset="0"/>
              </a:defRPr>
            </a:lvl1pPr>
            <a:lvl2pPr marL="742950" indent="-285750">
              <a:buClr>
                <a:srgbClr val="B82629"/>
              </a:buClr>
              <a:buFont typeface="Wingdings" pitchFamily="2" charset="2"/>
              <a:defRPr sz="2600" b="1">
                <a:solidFill>
                  <a:schemeClr val="tx1"/>
                </a:solidFill>
                <a:latin typeface="Arial" panose="020B0604020202020204" pitchFamily="34" charset="0"/>
              </a:defRPr>
            </a:lvl2pPr>
            <a:lvl3pPr marL="1143000" indent="-228600">
              <a:buClr>
                <a:srgbClr val="B82629"/>
              </a:buClr>
              <a:buFont typeface="Wingdings" pitchFamily="2" charset="2"/>
              <a:defRPr sz="2600" b="1">
                <a:solidFill>
                  <a:schemeClr val="tx1"/>
                </a:solidFill>
                <a:latin typeface="Arial" panose="020B0604020202020204" pitchFamily="34" charset="0"/>
              </a:defRPr>
            </a:lvl3pPr>
            <a:lvl4pPr marL="1600200" indent="-228600">
              <a:buClr>
                <a:srgbClr val="B82629"/>
              </a:buClr>
              <a:buFont typeface="Wingdings" pitchFamily="2" charset="2"/>
              <a:defRPr sz="2600" b="1">
                <a:solidFill>
                  <a:schemeClr val="tx1"/>
                </a:solidFill>
                <a:latin typeface="Arial" panose="020B0604020202020204" pitchFamily="34" charset="0"/>
              </a:defRPr>
            </a:lvl4pPr>
            <a:lvl5pPr marL="2057400" indent="-228600">
              <a:buClr>
                <a:srgbClr val="B82629"/>
              </a:buClr>
              <a:buFont typeface="Wingdings" pitchFamily="2" charset="2"/>
              <a:defRPr sz="2600" b="1">
                <a:solidFill>
                  <a:schemeClr val="tx1"/>
                </a:solidFill>
                <a:latin typeface="Arial" panose="020B0604020202020204" pitchFamily="34" charset="0"/>
              </a:defRPr>
            </a:lvl5pPr>
            <a:lvl6pPr marL="25146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6pPr>
            <a:lvl7pPr marL="29718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7pPr>
            <a:lvl8pPr marL="34290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8pPr>
            <a:lvl9pPr marL="38862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9pPr>
          </a:lstStyle>
          <a:p>
            <a:pPr algn="ctr" eaLnBrk="1" hangingPunct="1">
              <a:buClrTx/>
              <a:buFontTx/>
              <a:buNone/>
              <a:defRPr/>
            </a:pPr>
            <a:endParaRPr lang="en-US" altLang="en-US" sz="2400" b="0">
              <a:latin typeface="Times New Roman" panose="02020603050405020304" pitchFamily="18" charset="0"/>
            </a:endParaRPr>
          </a:p>
        </p:txBody>
      </p:sp>
      <p:sp>
        <p:nvSpPr>
          <p:cNvPr id="8195" name="Rectangle 4">
            <a:extLst>
              <a:ext uri="{FF2B5EF4-FFF2-40B4-BE49-F238E27FC236}">
                <a16:creationId xmlns:a16="http://schemas.microsoft.com/office/drawing/2014/main" id="{F58689D2-A646-19C5-1717-C8FA90DDE13B}"/>
              </a:ext>
            </a:extLst>
          </p:cNvPr>
          <p:cNvSpPr>
            <a:spLocks noGrp="1" noChangeArrowheads="1"/>
          </p:cNvSpPr>
          <p:nvPr>
            <p:ph type="title"/>
          </p:nvPr>
        </p:nvSpPr>
        <p:spPr bwMode="auto">
          <a:xfrm>
            <a:off x="203200" y="-304800"/>
            <a:ext cx="9544051"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8196" name="Rectangle 5">
            <a:extLst>
              <a:ext uri="{FF2B5EF4-FFF2-40B4-BE49-F238E27FC236}">
                <a16:creationId xmlns:a16="http://schemas.microsoft.com/office/drawing/2014/main" id="{939EDAFF-6310-9EB6-77D9-F1D914301210}"/>
              </a:ext>
            </a:extLst>
          </p:cNvPr>
          <p:cNvSpPr>
            <a:spLocks noGrp="1" noChangeArrowheads="1"/>
          </p:cNvSpPr>
          <p:nvPr>
            <p:ph type="body" idx="1"/>
          </p:nvPr>
        </p:nvSpPr>
        <p:spPr bwMode="auto">
          <a:xfrm>
            <a:off x="1265768" y="1981200"/>
            <a:ext cx="1021503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0646" name="Rectangle 6">
            <a:extLst>
              <a:ext uri="{FF2B5EF4-FFF2-40B4-BE49-F238E27FC236}">
                <a16:creationId xmlns:a16="http://schemas.microsoft.com/office/drawing/2014/main" id="{7F65B4EF-B636-65A5-EE16-3E9BC00D6DF9}"/>
              </a:ext>
            </a:extLst>
          </p:cNvPr>
          <p:cNvSpPr>
            <a:spLocks noGrp="1" noChangeArrowheads="1"/>
          </p:cNvSpPr>
          <p:nvPr>
            <p:ph type="dt" sz="half" idx="2"/>
          </p:nvPr>
        </p:nvSpPr>
        <p:spPr bwMode="auto">
          <a:xfrm>
            <a:off x="1261533"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buClrTx/>
              <a:buFontTx/>
              <a:buNone/>
              <a:defRPr sz="1000" b="0"/>
            </a:lvl1pPr>
          </a:lstStyle>
          <a:p>
            <a:pPr>
              <a:defRPr/>
            </a:pPr>
            <a:endParaRPr lang="en-US" altLang="en-US"/>
          </a:p>
        </p:txBody>
      </p:sp>
      <p:sp>
        <p:nvSpPr>
          <p:cNvPr id="240647" name="Rectangle 7">
            <a:extLst>
              <a:ext uri="{FF2B5EF4-FFF2-40B4-BE49-F238E27FC236}">
                <a16:creationId xmlns:a16="http://schemas.microsoft.com/office/drawing/2014/main" id="{00E5931A-FD1E-FC15-B238-1DCD68AAA054}"/>
              </a:ext>
            </a:extLst>
          </p:cNvPr>
          <p:cNvSpPr>
            <a:spLocks noGrp="1" noChangeArrowheads="1"/>
          </p:cNvSpPr>
          <p:nvPr>
            <p:ph type="ftr" sz="quarter" idx="3"/>
          </p:nvPr>
        </p:nvSpPr>
        <p:spPr bwMode="auto">
          <a:xfrm>
            <a:off x="4470400" y="62484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buClrTx/>
              <a:buFontTx/>
              <a:buNone/>
              <a:defRPr sz="1000" b="0"/>
            </a:lvl1pPr>
          </a:lstStyle>
          <a:p>
            <a:pPr>
              <a:defRPr/>
            </a:pPr>
            <a:endParaRPr lang="en-US" altLang="en-US"/>
          </a:p>
        </p:txBody>
      </p:sp>
      <p:sp>
        <p:nvSpPr>
          <p:cNvPr id="240648" name="Rectangle 8">
            <a:extLst>
              <a:ext uri="{FF2B5EF4-FFF2-40B4-BE49-F238E27FC236}">
                <a16:creationId xmlns:a16="http://schemas.microsoft.com/office/drawing/2014/main" id="{31DBD7E4-394B-AC4E-59AF-2B327E801A84}"/>
              </a:ext>
            </a:extLst>
          </p:cNvPr>
          <p:cNvSpPr>
            <a:spLocks noGrp="1" noChangeArrowheads="1"/>
          </p:cNvSpPr>
          <p:nvPr>
            <p:ph type="sldNum" sz="quarter" idx="4"/>
          </p:nvPr>
        </p:nvSpPr>
        <p:spPr bwMode="auto">
          <a:xfrm>
            <a:off x="89408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buClrTx/>
              <a:buFontTx/>
              <a:buNone/>
              <a:defRPr sz="1000" b="0"/>
            </a:lvl1pPr>
          </a:lstStyle>
          <a:p>
            <a:pPr>
              <a:defRPr/>
            </a:pPr>
            <a:fld id="{0583BDDE-0626-4DCF-A4F2-AB4A4AAA52ED}" type="slidenum">
              <a:rPr lang="en-US" altLang="en-US"/>
              <a:pPr>
                <a:defRPr/>
              </a:pPr>
              <a:t>‹#›</a:t>
            </a:fld>
            <a:endParaRPr lang="en-US" altLang="en-US"/>
          </a:p>
        </p:txBody>
      </p:sp>
      <p:sp>
        <p:nvSpPr>
          <p:cNvPr id="13320" name="Rectangle 11">
            <a:extLst>
              <a:ext uri="{FF2B5EF4-FFF2-40B4-BE49-F238E27FC236}">
                <a16:creationId xmlns:a16="http://schemas.microsoft.com/office/drawing/2014/main" id="{AB4B9C59-F804-180C-2F37-60D1E36797ED}"/>
              </a:ext>
            </a:extLst>
          </p:cNvPr>
          <p:cNvSpPr>
            <a:spLocks noChangeArrowheads="1"/>
          </p:cNvSpPr>
          <p:nvPr userDrawn="1"/>
        </p:nvSpPr>
        <p:spPr bwMode="auto">
          <a:xfrm rot="5400000">
            <a:off x="-3297766" y="3295650"/>
            <a:ext cx="6896100" cy="304801"/>
          </a:xfrm>
          <a:prstGeom prst="rect">
            <a:avLst/>
          </a:prstGeom>
          <a:solidFill>
            <a:srgbClr val="000000"/>
          </a:solidFill>
          <a:ln>
            <a:noFill/>
          </a:ln>
          <a:effectLst/>
        </p:spPr>
        <p:txBody>
          <a:bodyPr wrap="none" lIns="73025" tIns="36512" rIns="73025" bIns="36512" anchor="ctr"/>
          <a:lstStyle>
            <a:lvl1pPr>
              <a:buClr>
                <a:srgbClr val="B82629"/>
              </a:buClr>
              <a:buFont typeface="Wingdings" pitchFamily="2" charset="2"/>
              <a:defRPr sz="2600" b="1">
                <a:solidFill>
                  <a:schemeClr val="tx1"/>
                </a:solidFill>
                <a:latin typeface="Arial" panose="020B0604020202020204" pitchFamily="34" charset="0"/>
              </a:defRPr>
            </a:lvl1pPr>
            <a:lvl2pPr marL="742950" indent="-285750">
              <a:buClr>
                <a:srgbClr val="B82629"/>
              </a:buClr>
              <a:buFont typeface="Wingdings" pitchFamily="2" charset="2"/>
              <a:defRPr sz="2600" b="1">
                <a:solidFill>
                  <a:schemeClr val="tx1"/>
                </a:solidFill>
                <a:latin typeface="Arial" panose="020B0604020202020204" pitchFamily="34" charset="0"/>
              </a:defRPr>
            </a:lvl2pPr>
            <a:lvl3pPr marL="1143000" indent="-228600">
              <a:buClr>
                <a:srgbClr val="B82629"/>
              </a:buClr>
              <a:buFont typeface="Wingdings" pitchFamily="2" charset="2"/>
              <a:defRPr sz="2600" b="1">
                <a:solidFill>
                  <a:schemeClr val="tx1"/>
                </a:solidFill>
                <a:latin typeface="Arial" panose="020B0604020202020204" pitchFamily="34" charset="0"/>
              </a:defRPr>
            </a:lvl3pPr>
            <a:lvl4pPr marL="1600200" indent="-228600">
              <a:buClr>
                <a:srgbClr val="B82629"/>
              </a:buClr>
              <a:buFont typeface="Wingdings" pitchFamily="2" charset="2"/>
              <a:defRPr sz="2600" b="1">
                <a:solidFill>
                  <a:schemeClr val="tx1"/>
                </a:solidFill>
                <a:latin typeface="Arial" panose="020B0604020202020204" pitchFamily="34" charset="0"/>
              </a:defRPr>
            </a:lvl4pPr>
            <a:lvl5pPr marL="2057400" indent="-228600">
              <a:buClr>
                <a:srgbClr val="B82629"/>
              </a:buClr>
              <a:buFont typeface="Wingdings" pitchFamily="2" charset="2"/>
              <a:defRPr sz="2600" b="1">
                <a:solidFill>
                  <a:schemeClr val="tx1"/>
                </a:solidFill>
                <a:latin typeface="Arial" panose="020B0604020202020204" pitchFamily="34" charset="0"/>
              </a:defRPr>
            </a:lvl5pPr>
            <a:lvl6pPr marL="25146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6pPr>
            <a:lvl7pPr marL="29718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7pPr>
            <a:lvl8pPr marL="34290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8pPr>
            <a:lvl9pPr marL="3886200" indent="-228600" eaLnBrk="0" fontAlgn="base" hangingPunct="0">
              <a:spcBef>
                <a:spcPct val="0"/>
              </a:spcBef>
              <a:spcAft>
                <a:spcPct val="0"/>
              </a:spcAft>
              <a:buClr>
                <a:srgbClr val="B82629"/>
              </a:buClr>
              <a:buFont typeface="Wingdings" pitchFamily="2" charset="2"/>
              <a:defRPr sz="2600" b="1">
                <a:solidFill>
                  <a:schemeClr val="tx1"/>
                </a:solidFill>
                <a:latin typeface="Arial" panose="020B0604020202020204" pitchFamily="34" charset="0"/>
              </a:defRPr>
            </a:lvl9pPr>
          </a:lstStyle>
          <a:p>
            <a:pPr>
              <a:defRPr/>
            </a:pPr>
            <a:endParaRPr lang="en-US" altLang="en-US" sz="2600"/>
          </a:p>
        </p:txBody>
      </p:sp>
    </p:spTree>
    <p:extLst>
      <p:ext uri="{BB962C8B-B14F-4D97-AF65-F5344CB8AC3E}">
        <p14:creationId xmlns:p14="http://schemas.microsoft.com/office/powerpoint/2010/main" val="224794019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Lst>
  <p:txStyles>
    <p:titleStyle>
      <a:lvl1pPr algn="l" rtl="0" eaLnBrk="0" fontAlgn="base" hangingPunct="0">
        <a:spcBef>
          <a:spcPct val="0"/>
        </a:spcBef>
        <a:spcAft>
          <a:spcPct val="0"/>
        </a:spcAft>
        <a:defRPr sz="3200" b="1" kern="1200">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defRPr>
      </a:lvl2pPr>
      <a:lvl3pPr algn="l" rtl="0" eaLnBrk="0" fontAlgn="base" hangingPunct="0">
        <a:spcBef>
          <a:spcPct val="0"/>
        </a:spcBef>
        <a:spcAft>
          <a:spcPct val="0"/>
        </a:spcAft>
        <a:defRPr sz="3200" b="1">
          <a:solidFill>
            <a:schemeClr val="tx2"/>
          </a:solidFill>
          <a:latin typeface="Arial" panose="020B0604020202020204" pitchFamily="34" charset="0"/>
        </a:defRPr>
      </a:lvl3pPr>
      <a:lvl4pPr algn="l" rtl="0" eaLnBrk="0" fontAlgn="base" hangingPunct="0">
        <a:spcBef>
          <a:spcPct val="0"/>
        </a:spcBef>
        <a:spcAft>
          <a:spcPct val="0"/>
        </a:spcAft>
        <a:defRPr sz="3200" b="1">
          <a:solidFill>
            <a:schemeClr val="tx2"/>
          </a:solidFill>
          <a:latin typeface="Arial" panose="020B0604020202020204" pitchFamily="34" charset="0"/>
        </a:defRPr>
      </a:lvl4pPr>
      <a:lvl5pPr algn="l" rtl="0" eaLnBrk="0" fontAlgn="base" hangingPunct="0">
        <a:spcBef>
          <a:spcPct val="0"/>
        </a:spcBef>
        <a:spcAft>
          <a:spcPct val="0"/>
        </a:spcAft>
        <a:defRPr sz="3200" b="1">
          <a:solidFill>
            <a:schemeClr val="tx2"/>
          </a:solidFill>
          <a:latin typeface="Arial" panose="020B0604020202020204" pitchFamily="34" charset="0"/>
        </a:defRPr>
      </a:lvl5pPr>
      <a:lvl6pPr marL="457200" algn="l" rtl="0" fontAlgn="base">
        <a:spcBef>
          <a:spcPct val="0"/>
        </a:spcBef>
        <a:spcAft>
          <a:spcPct val="0"/>
        </a:spcAft>
        <a:defRPr sz="3200" b="1">
          <a:solidFill>
            <a:schemeClr val="tx2"/>
          </a:solidFill>
          <a:latin typeface="Arial" panose="020B0604020202020204" pitchFamily="34" charset="0"/>
        </a:defRPr>
      </a:lvl6pPr>
      <a:lvl7pPr marL="914400" algn="l" rtl="0" fontAlgn="base">
        <a:spcBef>
          <a:spcPct val="0"/>
        </a:spcBef>
        <a:spcAft>
          <a:spcPct val="0"/>
        </a:spcAft>
        <a:defRPr sz="3200" b="1">
          <a:solidFill>
            <a:schemeClr val="tx2"/>
          </a:solidFill>
          <a:latin typeface="Arial" panose="020B0604020202020204" pitchFamily="34" charset="0"/>
        </a:defRPr>
      </a:lvl7pPr>
      <a:lvl8pPr marL="1371600" algn="l" rtl="0" fontAlgn="base">
        <a:spcBef>
          <a:spcPct val="0"/>
        </a:spcBef>
        <a:spcAft>
          <a:spcPct val="0"/>
        </a:spcAft>
        <a:defRPr sz="3200" b="1">
          <a:solidFill>
            <a:schemeClr val="tx2"/>
          </a:solidFill>
          <a:latin typeface="Arial" panose="020B0604020202020204" pitchFamily="34" charset="0"/>
        </a:defRPr>
      </a:lvl8pPr>
      <a:lvl9pPr marL="1828800" algn="l" rtl="0" fontAlgn="base">
        <a:spcBef>
          <a:spcPct val="0"/>
        </a:spcBef>
        <a:spcAft>
          <a:spcPct val="0"/>
        </a:spcAft>
        <a:defRPr sz="3200" b="1">
          <a:solidFill>
            <a:schemeClr val="tx2"/>
          </a:solidFill>
          <a:latin typeface="Arial" panose="020B0604020202020204" pitchFamily="34" charset="0"/>
        </a:defRPr>
      </a:lvl9pPr>
    </p:titleStyle>
    <p:bodyStyle>
      <a:lvl1pPr marL="447675" indent="-447675" algn="l" rtl="0" eaLnBrk="0" fontAlgn="base" hangingPunct="0">
        <a:spcBef>
          <a:spcPct val="20000"/>
        </a:spcBef>
        <a:spcAft>
          <a:spcPct val="0"/>
        </a:spcAft>
        <a:buClr>
          <a:srgbClr val="B82629"/>
        </a:buClr>
        <a:buFont typeface="Wingdings" panose="05000000000000000000" pitchFamily="2" charset="2"/>
        <a:buChar char="n"/>
        <a:defRPr sz="3200" kern="1200">
          <a:solidFill>
            <a:schemeClr val="tx1"/>
          </a:solidFill>
          <a:latin typeface="+mn-lt"/>
          <a:ea typeface="+mn-ea"/>
          <a:cs typeface="+mn-cs"/>
        </a:defRPr>
      </a:lvl1pPr>
      <a:lvl2pPr marL="889000" indent="-439738" algn="l" rtl="0" eaLnBrk="0" fontAlgn="base" hangingPunct="0">
        <a:spcBef>
          <a:spcPct val="20000"/>
        </a:spcBef>
        <a:spcAft>
          <a:spcPct val="0"/>
        </a:spcAft>
        <a:buClr>
          <a:srgbClr val="B82629"/>
        </a:buClr>
        <a:buFont typeface="Wingdings" panose="05000000000000000000" pitchFamily="2" charset="2"/>
        <a:buChar char="ü"/>
        <a:defRPr sz="2800" kern="1200">
          <a:solidFill>
            <a:schemeClr val="tx1"/>
          </a:solidFill>
          <a:latin typeface="+mn-lt"/>
          <a:ea typeface="+mn-ea"/>
          <a:cs typeface="+mn-cs"/>
        </a:defRPr>
      </a:lvl2pPr>
      <a:lvl3pPr marL="1293813" indent="-403225" algn="l" rtl="0" eaLnBrk="0" fontAlgn="base" hangingPunct="0">
        <a:spcBef>
          <a:spcPct val="20000"/>
        </a:spcBef>
        <a:spcAft>
          <a:spcPct val="0"/>
        </a:spcAft>
        <a:buClr>
          <a:srgbClr val="B82629"/>
        </a:buClr>
        <a:buFont typeface="Wingdings" panose="05000000000000000000" pitchFamily="2" charset="2"/>
        <a:buChar char="n"/>
        <a:defRPr sz="2400" kern="1200">
          <a:solidFill>
            <a:schemeClr val="tx1"/>
          </a:solidFill>
          <a:latin typeface="+mn-lt"/>
          <a:ea typeface="+mn-ea"/>
          <a:cs typeface="+mn-cs"/>
        </a:defRPr>
      </a:lvl3pPr>
      <a:lvl4pPr marL="1681163" indent="-385763" algn="l" rtl="0" eaLnBrk="0" fontAlgn="base" hangingPunct="0">
        <a:spcBef>
          <a:spcPct val="20000"/>
        </a:spcBef>
        <a:spcAft>
          <a:spcPct val="0"/>
        </a:spcAft>
        <a:buClr>
          <a:srgbClr val="B82629"/>
        </a:buClr>
        <a:buFont typeface="Wingdings" panose="05000000000000000000" pitchFamily="2" charset="2"/>
        <a:buChar char="ü"/>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B82629"/>
        </a:buClr>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7.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13.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14.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15.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4.xml"/><Relationship Id="rId7" Type="http://schemas.openxmlformats.org/officeDocument/2006/relationships/image" Target="../media/image15.pn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15.xml"/><Relationship Id="rId7" Type="http://schemas.openxmlformats.org/officeDocument/2006/relationships/image" Target="../media/image15.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15.png"/><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60.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34.xml"/><Relationship Id="rId5" Type="http://schemas.openxmlformats.org/officeDocument/2006/relationships/image" Target="../media/image62.jpeg"/><Relationship Id="rId4" Type="http://schemas.openxmlformats.org/officeDocument/2006/relationships/image" Target="../media/image61.wmf"/></Relationships>
</file>

<file path=ppt/slides/_rels/slide66.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3.bin"/><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63.wmf"/></Relationships>
</file>

<file path=ppt/slides/_rels/slide72.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5.bin"/><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6.bin"/><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64.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image" Target="../media/image64.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6.xml"/><Relationship Id="rId1" Type="http://schemas.openxmlformats.org/officeDocument/2006/relationships/slideLayout" Target="../slideLayouts/slideLayout36.xml"/><Relationship Id="rId6" Type="http://schemas.openxmlformats.org/officeDocument/2006/relationships/image" Target="../media/image66.wmf"/><Relationship Id="rId5" Type="http://schemas.openxmlformats.org/officeDocument/2006/relationships/oleObject" Target="../embeddings/oleObject10.bin"/><Relationship Id="rId4" Type="http://schemas.openxmlformats.org/officeDocument/2006/relationships/image" Target="../media/image65.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7.xml"/><Relationship Id="rId1" Type="http://schemas.openxmlformats.org/officeDocument/2006/relationships/slideLayout" Target="../slideLayouts/slideLayout23.xml"/><Relationship Id="rId5" Type="http://schemas.openxmlformats.org/officeDocument/2006/relationships/image" Target="../media/image68.png"/><Relationship Id="rId4" Type="http://schemas.openxmlformats.org/officeDocument/2006/relationships/image" Target="../media/image66.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8.xml"/><Relationship Id="rId1" Type="http://schemas.openxmlformats.org/officeDocument/2006/relationships/slideLayout" Target="../slideLayouts/slideLayout25.xml"/><Relationship Id="rId5" Type="http://schemas.openxmlformats.org/officeDocument/2006/relationships/image" Target="../media/image69.png"/><Relationship Id="rId4" Type="http://schemas.openxmlformats.org/officeDocument/2006/relationships/image" Target="../media/image65.wmf"/></Relationships>
</file>

<file path=ppt/slides/_rels/slide82.xml.rels><?xml version="1.0" encoding="UTF-8" standalone="yes"?>
<Relationships xmlns="http://schemas.openxmlformats.org/package/2006/relationships"><Relationship Id="rId3" Type="http://schemas.openxmlformats.org/officeDocument/2006/relationships/hyperlink" Target="https://blog.solventuregroup.com/shaping-demand-or-demand-shaping" TargetMode="External"/><Relationship Id="rId2" Type="http://schemas.openxmlformats.org/officeDocument/2006/relationships/image" Target="../media/image70.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hyperlink" Target="http://clipartmag.com/markets-clipart" TargetMode="External"/><Relationship Id="rId7" Type="http://schemas.openxmlformats.org/officeDocument/2006/relationships/diagramColors" Target="../diagrams/colors19.xml"/><Relationship Id="rId2" Type="http://schemas.openxmlformats.org/officeDocument/2006/relationships/image" Target="../media/image71.jpg"/><Relationship Id="rId1" Type="http://schemas.openxmlformats.org/officeDocument/2006/relationships/slideLayout" Target="../slideLayouts/slideLayout7.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84.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hyperlink" Target="http://www.clipartpanda.com/categories/tactical-clipart" TargetMode="External"/><Relationship Id="rId7" Type="http://schemas.openxmlformats.org/officeDocument/2006/relationships/diagramColors" Target="../diagrams/colors20.xml"/><Relationship Id="rId2" Type="http://schemas.openxmlformats.org/officeDocument/2006/relationships/image" Target="../media/image72.jpg"/><Relationship Id="rId1" Type="http://schemas.openxmlformats.org/officeDocument/2006/relationships/slideLayout" Target="../slideLayouts/slideLayout7.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85.xml.rels><?xml version="1.0" encoding="UTF-8" standalone="yes"?>
<Relationships xmlns="http://schemas.openxmlformats.org/package/2006/relationships"><Relationship Id="rId8" Type="http://schemas.openxmlformats.org/officeDocument/2006/relationships/image" Target="../media/image76.gif"/><Relationship Id="rId3" Type="http://schemas.openxmlformats.org/officeDocument/2006/relationships/hyperlink" Target="https://www.oercommons.org/courseware/lesson/77956" TargetMode="External"/><Relationship Id="rId7" Type="http://schemas.openxmlformats.org/officeDocument/2006/relationships/hyperlink" Target="http://www.thebluediamondgallery.com/wooden-tile/d/discount.html" TargetMode="External"/><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5.jpeg"/><Relationship Id="rId5" Type="http://schemas.openxmlformats.org/officeDocument/2006/relationships/hyperlink" Target="https://www.freepngimg.com/png/17855-sale-png" TargetMode="External"/><Relationship Id="rId4" Type="http://schemas.openxmlformats.org/officeDocument/2006/relationships/image" Target="../media/image74.png"/><Relationship Id="rId9" Type="http://schemas.openxmlformats.org/officeDocument/2006/relationships/hyperlink" Target="https://courses.lumenlearning.com/boundless-marketing/chapter/promotion-methods-in-consumer-sales/"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87.xml.rels><?xml version="1.0" encoding="UTF-8" standalone="yes"?>
<Relationships xmlns="http://schemas.openxmlformats.org/package/2006/relationships"><Relationship Id="rId8" Type="http://schemas.openxmlformats.org/officeDocument/2006/relationships/image" Target="../media/image82.jpeg"/><Relationship Id="rId3" Type="http://schemas.openxmlformats.org/officeDocument/2006/relationships/image" Target="../media/image80.jpeg"/><Relationship Id="rId7" Type="http://schemas.openxmlformats.org/officeDocument/2006/relationships/hyperlink" Target="https://creativecommons.org/licenses/by/3.0/"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diggita.it/story.php?title=Uber_pro_e_contro_della_start-up_avversata_dai_tassisti" TargetMode="External"/><Relationship Id="rId5" Type="http://schemas.openxmlformats.org/officeDocument/2006/relationships/image" Target="../media/image81.jpeg"/><Relationship Id="rId4" Type="http://schemas.openxmlformats.org/officeDocument/2006/relationships/hyperlink" Target="https://clamorworld.com/what-are-the-worlds-safest-airlines/" TargetMode="External"/><Relationship Id="rId9" Type="http://schemas.openxmlformats.org/officeDocument/2006/relationships/hyperlink" Target="https://www.flickr.com/photos/wwarby/9638499309/"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freebies4mom.com/wmtgrocery/"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90.xml.rels><?xml version="1.0" encoding="UTF-8" standalone="yes"?>
<Relationships xmlns="http://schemas.openxmlformats.org/package/2006/relationships"><Relationship Id="rId3" Type="http://schemas.openxmlformats.org/officeDocument/2006/relationships/hyperlink" Target="https://fr.wikipedia.org/wiki/Fichier:Dell_logo_2016.svg" TargetMode="External"/><Relationship Id="rId2" Type="http://schemas.openxmlformats.org/officeDocument/2006/relationships/image" Target="../media/image86.png"/><Relationship Id="rId1" Type="http://schemas.openxmlformats.org/officeDocument/2006/relationships/slideLayout" Target="../slideLayouts/slideLayout7.xml"/><Relationship Id="rId5" Type="http://schemas.openxmlformats.org/officeDocument/2006/relationships/hyperlink" Target="https://www.dreamstime.com/editorial-photography-laptop-computer-sale-store-computers-currys-bedford-united-kingdom-lines-computers-customers-to-view-try-image46958837" TargetMode="External"/><Relationship Id="rId4" Type="http://schemas.openxmlformats.org/officeDocument/2006/relationships/image" Target="../media/image87.jpg"/></Relationships>
</file>

<file path=ppt/slides/_rels/slide91.xml.rels><?xml version="1.0" encoding="UTF-8" standalone="yes"?>
<Relationships xmlns="http://schemas.openxmlformats.org/package/2006/relationships"><Relationship Id="rId3" Type="http://schemas.openxmlformats.org/officeDocument/2006/relationships/hyperlink" Target="https://www.wired.it/lifestyle/design/2015/09/02/aziende-tech-logo/" TargetMode="External"/><Relationship Id="rId2" Type="http://schemas.openxmlformats.org/officeDocument/2006/relationships/image" Target="../media/image88.jpg"/><Relationship Id="rId1" Type="http://schemas.openxmlformats.org/officeDocument/2006/relationships/slideLayout" Target="../slideLayouts/slideLayout7.xml"/><Relationship Id="rId5" Type="http://schemas.openxmlformats.org/officeDocument/2006/relationships/hyperlink" Target="https://indianhotdeals.in/flipkart-big-billion-days-cashback-offers/" TargetMode="External"/><Relationship Id="rId4" Type="http://schemas.openxmlformats.org/officeDocument/2006/relationships/image" Target="../media/image89.jpg"/></Relationships>
</file>

<file path=ppt/slides/_rels/slide92.xml.rels><?xml version="1.0" encoding="UTF-8" standalone="yes"?>
<Relationships xmlns="http://schemas.openxmlformats.org/package/2006/relationships"><Relationship Id="rId3" Type="http://schemas.openxmlformats.org/officeDocument/2006/relationships/hyperlink" Target="https://www.northeasternpsa.com/2017-hotel-travel-info/" TargetMode="External"/><Relationship Id="rId2" Type="http://schemas.openxmlformats.org/officeDocument/2006/relationships/image" Target="../media/image90.jpg"/><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109C-FC3E-3F8A-2BB4-986EF3121401}"/>
              </a:ext>
            </a:extLst>
          </p:cNvPr>
          <p:cNvSpPr>
            <a:spLocks noGrp="1"/>
          </p:cNvSpPr>
          <p:nvPr>
            <p:ph type="ctrTitle"/>
          </p:nvPr>
        </p:nvSpPr>
        <p:spPr>
          <a:xfrm>
            <a:off x="1586144" y="2249826"/>
            <a:ext cx="9144000" cy="1725983"/>
          </a:xfrm>
          <a:solidFill>
            <a:srgbClr val="92D050"/>
          </a:solidFill>
        </p:spPr>
        <p:style>
          <a:lnRef idx="1">
            <a:schemeClr val="accent6"/>
          </a:lnRef>
          <a:fillRef idx="2">
            <a:schemeClr val="accent6"/>
          </a:fillRef>
          <a:effectRef idx="1">
            <a:schemeClr val="accent6"/>
          </a:effectRef>
          <a:fontRef idx="minor">
            <a:schemeClr val="dk1"/>
          </a:fontRef>
        </p:style>
        <p:txBody>
          <a:bodyPr>
            <a:normAutofit fontScale="90000"/>
          </a:bodyPr>
          <a:lstStyle/>
          <a:p>
            <a:r>
              <a:rPr lang="en-IN" sz="3600" dirty="0"/>
              <a:t>Course on</a:t>
            </a:r>
            <a:br>
              <a:rPr lang="en-IN" sz="3600" dirty="0"/>
            </a:br>
            <a:r>
              <a:rPr lang="en-IN" sz="3600" dirty="0"/>
              <a:t>MBA- Sem III</a:t>
            </a:r>
            <a:br>
              <a:rPr lang="en-IN" sz="3600" dirty="0"/>
            </a:br>
            <a:r>
              <a:rPr lang="en-IN" sz="3600" b="1" dirty="0"/>
              <a:t>Supply Chain Management </a:t>
            </a:r>
            <a:br>
              <a:rPr lang="en-IN" dirty="0"/>
            </a:br>
            <a:endParaRPr lang="en-IN" sz="2200" dirty="0"/>
          </a:p>
        </p:txBody>
      </p:sp>
      <p:sp>
        <p:nvSpPr>
          <p:cNvPr id="3" name="Subtitle 2">
            <a:extLst>
              <a:ext uri="{FF2B5EF4-FFF2-40B4-BE49-F238E27FC236}">
                <a16:creationId xmlns:a16="http://schemas.microsoft.com/office/drawing/2014/main" id="{889B3876-7C80-63F9-1814-BBAF8F921EF6}"/>
              </a:ext>
            </a:extLst>
          </p:cNvPr>
          <p:cNvSpPr>
            <a:spLocks noGrp="1"/>
          </p:cNvSpPr>
          <p:nvPr>
            <p:ph type="subTitle" idx="1"/>
          </p:nvPr>
        </p:nvSpPr>
        <p:spPr>
          <a:xfrm>
            <a:off x="0" y="4079875"/>
            <a:ext cx="12192000" cy="2172409"/>
          </a:xfrm>
          <a:solidFill>
            <a:schemeClr val="accent1"/>
          </a:solidFill>
        </p:spPr>
        <p:style>
          <a:lnRef idx="1">
            <a:schemeClr val="accent5"/>
          </a:lnRef>
          <a:fillRef idx="2">
            <a:schemeClr val="accent5"/>
          </a:fillRef>
          <a:effectRef idx="1">
            <a:schemeClr val="accent5"/>
          </a:effectRef>
          <a:fontRef idx="minor">
            <a:schemeClr val="dk1"/>
          </a:fontRef>
        </p:style>
        <p:txBody>
          <a:bodyPr>
            <a:normAutofit/>
          </a:bodyPr>
          <a:lstStyle/>
          <a:p>
            <a:endParaRPr lang="en-IN" dirty="0"/>
          </a:p>
          <a:p>
            <a:r>
              <a:rPr lang="en-IN" dirty="0"/>
              <a:t>Dr. Ayush Gauta,</a:t>
            </a:r>
            <a:br>
              <a:rPr lang="en-IN" dirty="0"/>
            </a:br>
            <a:r>
              <a:rPr lang="en-IN" dirty="0"/>
              <a:t>(PhD- IIT Delhi, </a:t>
            </a:r>
            <a:r>
              <a:rPr lang="en-IN" dirty="0" err="1"/>
              <a:t>M.tech</a:t>
            </a:r>
            <a:r>
              <a:rPr lang="en-IN" dirty="0"/>
              <a:t> IIT </a:t>
            </a:r>
            <a:r>
              <a:rPr lang="en-IN" dirty="0" err="1"/>
              <a:t>roorkee</a:t>
            </a:r>
            <a:r>
              <a:rPr lang="en-IN" dirty="0"/>
              <a:t>, </a:t>
            </a:r>
            <a:r>
              <a:rPr lang="en-IN" dirty="0" err="1"/>
              <a:t>Btech</a:t>
            </a:r>
            <a:r>
              <a:rPr lang="en-IN"/>
              <a:t> Mechanical)</a:t>
            </a:r>
          </a:p>
          <a:p>
            <a:endParaRPr lang="en-IN" dirty="0"/>
          </a:p>
        </p:txBody>
      </p:sp>
      <p:sp>
        <p:nvSpPr>
          <p:cNvPr id="5" name="TextBox 4">
            <a:extLst>
              <a:ext uri="{FF2B5EF4-FFF2-40B4-BE49-F238E27FC236}">
                <a16:creationId xmlns:a16="http://schemas.microsoft.com/office/drawing/2014/main" id="{79F83FF9-8B30-B982-C5AA-F9372B9F27EC}"/>
              </a:ext>
            </a:extLst>
          </p:cNvPr>
          <p:cNvSpPr txBox="1"/>
          <p:nvPr/>
        </p:nvSpPr>
        <p:spPr>
          <a:xfrm>
            <a:off x="0" y="494021"/>
            <a:ext cx="12192000" cy="830997"/>
          </a:xfrm>
          <a:prstGeom prst="rect">
            <a:avLst/>
          </a:prstGeom>
          <a:solidFill>
            <a:schemeClr val="accent1"/>
          </a:solidFill>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IN" sz="4800" dirty="0"/>
              <a:t>Module 2: Supply Chain Integration</a:t>
            </a:r>
          </a:p>
        </p:txBody>
      </p:sp>
      <p:sp>
        <p:nvSpPr>
          <p:cNvPr id="4" name="Slide Number Placeholder 3">
            <a:extLst>
              <a:ext uri="{FF2B5EF4-FFF2-40B4-BE49-F238E27FC236}">
                <a16:creationId xmlns:a16="http://schemas.microsoft.com/office/drawing/2014/main" id="{168D3914-E4A6-56E1-6879-AFF1D94D57FA}"/>
              </a:ext>
            </a:extLst>
          </p:cNvPr>
          <p:cNvSpPr>
            <a:spLocks noGrp="1"/>
          </p:cNvSpPr>
          <p:nvPr>
            <p:ph type="sldNum" sz="quarter" idx="12"/>
          </p:nvPr>
        </p:nvSpPr>
        <p:spPr/>
        <p:txBody>
          <a:bodyPr/>
          <a:lstStyle/>
          <a:p>
            <a:fld id="{6B07C8CD-4FE2-46F0-9611-E3B643750200}" type="slidenum">
              <a:rPr lang="en-IN" smtClean="0"/>
              <a:t>1</a:t>
            </a:fld>
            <a:endParaRPr lang="en-IN"/>
          </a:p>
        </p:txBody>
      </p:sp>
    </p:spTree>
    <p:extLst>
      <p:ext uri="{BB962C8B-B14F-4D97-AF65-F5344CB8AC3E}">
        <p14:creationId xmlns:p14="http://schemas.microsoft.com/office/powerpoint/2010/main" val="2338440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01C4EE52-63C4-C90A-971E-C7BF07D0613E}"/>
              </a:ext>
            </a:extLst>
          </p:cNvPr>
          <p:cNvGraphicFramePr>
            <a:graphicFrameLocks noGrp="1"/>
          </p:cNvGraphicFramePr>
          <p:nvPr>
            <p:ph idx="1"/>
            <p:extLst>
              <p:ext uri="{D42A27DB-BD31-4B8C-83A1-F6EECF244321}">
                <p14:modId xmlns:p14="http://schemas.microsoft.com/office/powerpoint/2010/main" val="4077101183"/>
              </p:ext>
            </p:extLst>
          </p:nvPr>
        </p:nvGraphicFramePr>
        <p:xfrm>
          <a:off x="548640" y="1280160"/>
          <a:ext cx="11211560" cy="48968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Google Shape;288;p8">
            <a:extLst>
              <a:ext uri="{FF2B5EF4-FFF2-40B4-BE49-F238E27FC236}">
                <a16:creationId xmlns:a16="http://schemas.microsoft.com/office/drawing/2014/main" id="{1A7E798B-C590-1190-9ECC-157E9A81CEAA}"/>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Contents</a:t>
            </a:r>
          </a:p>
        </p:txBody>
      </p:sp>
      <p:sp>
        <p:nvSpPr>
          <p:cNvPr id="6" name="Slide Number Placeholder 5">
            <a:extLst>
              <a:ext uri="{FF2B5EF4-FFF2-40B4-BE49-F238E27FC236}">
                <a16:creationId xmlns:a16="http://schemas.microsoft.com/office/drawing/2014/main" id="{5FEB9092-5DE6-0902-00F4-E7697695E8F6}"/>
              </a:ext>
            </a:extLst>
          </p:cNvPr>
          <p:cNvSpPr>
            <a:spLocks noGrp="1"/>
          </p:cNvSpPr>
          <p:nvPr>
            <p:ph type="sldNum" sz="quarter" idx="12"/>
          </p:nvPr>
        </p:nvSpPr>
        <p:spPr/>
        <p:txBody>
          <a:bodyPr/>
          <a:lstStyle/>
          <a:p>
            <a:fld id="{6B07C8CD-4FE2-46F0-9611-E3B643750200}" type="slidenum">
              <a:rPr lang="en-IN" smtClean="0"/>
              <a:t>2</a:t>
            </a:fld>
            <a:endParaRPr lang="en-IN"/>
          </a:p>
        </p:txBody>
      </p:sp>
    </p:spTree>
    <p:extLst>
      <p:ext uri="{BB962C8B-B14F-4D97-AF65-F5344CB8AC3E}">
        <p14:creationId xmlns:p14="http://schemas.microsoft.com/office/powerpoint/2010/main" val="214993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3</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Introduction to Supply Chain Integration</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259411401"/>
              </p:ext>
            </p:extLst>
          </p:nvPr>
        </p:nvGraphicFramePr>
        <p:xfrm>
          <a:off x="587829" y="1035782"/>
          <a:ext cx="11066105" cy="1694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5">
            <a:extLst>
              <a:ext uri="{FF2B5EF4-FFF2-40B4-BE49-F238E27FC236}">
                <a16:creationId xmlns:a16="http://schemas.microsoft.com/office/drawing/2014/main" id="{CD2D604F-8154-D93E-2024-7B3065547F59}"/>
              </a:ext>
            </a:extLst>
          </p:cNvPr>
          <p:cNvSpPr>
            <a:spLocks noGrp="1"/>
          </p:cNvSpPr>
          <p:nvPr>
            <p:ph idx="1"/>
          </p:nvPr>
        </p:nvSpPr>
        <p:spPr/>
        <p:txBody>
          <a:bodyPr>
            <a:normAutofit/>
          </a:bodyPr>
          <a:lstStyle/>
          <a:p>
            <a:r>
              <a:rPr lang="en-IN" u="sng" dirty="0">
                <a:highlight>
                  <a:srgbClr val="FFFF00"/>
                </a:highlight>
              </a:rPr>
              <a:t>Effective SCM implies-</a:t>
            </a:r>
          </a:p>
          <a:p>
            <a:pPr lvl="1"/>
            <a:r>
              <a:rPr lang="en-IN" dirty="0"/>
              <a:t>Efficient integration of suppliers, manufacturers, warehouses and stores.</a:t>
            </a:r>
          </a:p>
          <a:p>
            <a:pPr lvl="1"/>
            <a:r>
              <a:rPr lang="en-IN" dirty="0"/>
              <a:t>Coordinate activities across the supply chain</a:t>
            </a:r>
          </a:p>
          <a:p>
            <a:r>
              <a:rPr lang="en-IN" u="sng" dirty="0">
                <a:highlight>
                  <a:srgbClr val="FFFF00"/>
                </a:highlight>
              </a:rPr>
              <a:t>Challenges can be met by integrating:</a:t>
            </a:r>
          </a:p>
          <a:p>
            <a:pPr lvl="1"/>
            <a:r>
              <a:rPr lang="en-IN" dirty="0"/>
              <a:t>the front-end, customer demand</a:t>
            </a:r>
          </a:p>
          <a:p>
            <a:pPr lvl="1"/>
            <a:r>
              <a:rPr lang="en-IN" dirty="0"/>
              <a:t>the back end, Production &amp; manufacturing portion of the supply chain.</a:t>
            </a:r>
          </a:p>
          <a:p>
            <a:r>
              <a:rPr lang="en-IN" u="sng" dirty="0">
                <a:highlight>
                  <a:srgbClr val="FFFF00"/>
                </a:highlight>
              </a:rPr>
              <a:t>Various Supply Chain integration Strategies:</a:t>
            </a:r>
          </a:p>
          <a:p>
            <a:pPr lvl="1"/>
            <a:r>
              <a:rPr lang="en-IN" dirty="0"/>
              <a:t>Push, Pull, Push-Pull Supply Strategy</a:t>
            </a:r>
          </a:p>
          <a:p>
            <a:pPr lvl="1"/>
            <a:r>
              <a:rPr lang="en-IN" dirty="0"/>
              <a:t>Matching Products and industries with SC Strategies</a:t>
            </a:r>
          </a:p>
          <a:p>
            <a:pPr lvl="1"/>
            <a:r>
              <a:rPr lang="en-IN" dirty="0"/>
              <a:t>Demand driven supply chain strategies</a:t>
            </a:r>
          </a:p>
        </p:txBody>
      </p:sp>
    </p:spTree>
    <p:extLst>
      <p:ext uri="{BB962C8B-B14F-4D97-AF65-F5344CB8AC3E}">
        <p14:creationId xmlns:p14="http://schemas.microsoft.com/office/powerpoint/2010/main" val="83822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Freeform: Shape 103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B7A1C092-201E-1D09-2C87-4A7060A8DD73}"/>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6B07C8CD-4FE2-46F0-9611-E3B643750200}" type="slidenum">
              <a:rPr lang="en-US"/>
              <a:pPr>
                <a:spcAft>
                  <a:spcPts val="600"/>
                </a:spcAft>
              </a:pPr>
              <a:t>4</a:t>
            </a:fld>
            <a:endParaRPr lang="en-US"/>
          </a:p>
        </p:txBody>
      </p:sp>
      <p:sp>
        <p:nvSpPr>
          <p:cNvPr id="1041" name="Isosceles Triangle 104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roposed model for Integrating Processes Across the Supply Chain | Download  Scientific Diagram">
            <a:extLst>
              <a:ext uri="{FF2B5EF4-FFF2-40B4-BE49-F238E27FC236}">
                <a16:creationId xmlns:a16="http://schemas.microsoft.com/office/drawing/2014/main" id="{4651D155-EDD2-9D45-6A52-A3A0314348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34439" y="643467"/>
            <a:ext cx="10523122"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3" name="Isosceles Triangle 104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560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D1876184-F91F-D735-9C04-199DEDA399FF}"/>
              </a:ext>
            </a:extLst>
          </p:cNvPr>
          <p:cNvGraphicFramePr>
            <a:graphicFrameLocks noGrp="1"/>
          </p:cNvGraphicFramePr>
          <p:nvPr>
            <p:ph idx="1"/>
            <p:extLst>
              <p:ext uri="{D42A27DB-BD31-4B8C-83A1-F6EECF244321}">
                <p14:modId xmlns:p14="http://schemas.microsoft.com/office/powerpoint/2010/main" val="3155059549"/>
              </p:ext>
            </p:extLst>
          </p:nvPr>
        </p:nvGraphicFramePr>
        <p:xfrm>
          <a:off x="838200" y="3135085"/>
          <a:ext cx="10515600" cy="39469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5</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Supply Chain Integration</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301717799"/>
              </p:ext>
            </p:extLst>
          </p:nvPr>
        </p:nvGraphicFramePr>
        <p:xfrm>
          <a:off x="587829" y="1035782"/>
          <a:ext cx="11066105" cy="16949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42342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6</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Supply Chain Integration</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694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0ACF3C65-0189-D613-4A1E-5C59BF9660F1}"/>
              </a:ext>
            </a:extLst>
          </p:cNvPr>
          <p:cNvPicPr>
            <a:picLocks noChangeAspect="1"/>
          </p:cNvPicPr>
          <p:nvPr/>
        </p:nvPicPr>
        <p:blipFill>
          <a:blip r:embed="rId7"/>
          <a:stretch>
            <a:fillRect/>
          </a:stretch>
        </p:blipFill>
        <p:spPr>
          <a:xfrm>
            <a:off x="1087120" y="2835271"/>
            <a:ext cx="10078719" cy="3703641"/>
          </a:xfrm>
          <a:prstGeom prst="rect">
            <a:avLst/>
          </a:prstGeom>
        </p:spPr>
      </p:pic>
    </p:spTree>
    <p:extLst>
      <p:ext uri="{BB962C8B-B14F-4D97-AF65-F5344CB8AC3E}">
        <p14:creationId xmlns:p14="http://schemas.microsoft.com/office/powerpoint/2010/main" val="4201379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7</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Push and Pull Strategy</a:t>
            </a:r>
          </a:p>
        </p:txBody>
      </p:sp>
      <p:pic>
        <p:nvPicPr>
          <p:cNvPr id="3" name="Picture 2">
            <a:extLst>
              <a:ext uri="{FF2B5EF4-FFF2-40B4-BE49-F238E27FC236}">
                <a16:creationId xmlns:a16="http://schemas.microsoft.com/office/drawing/2014/main" id="{F1841AAD-3849-A438-7584-BCD3966F6B40}"/>
              </a:ext>
            </a:extLst>
          </p:cNvPr>
          <p:cNvPicPr>
            <a:picLocks noChangeAspect="1"/>
          </p:cNvPicPr>
          <p:nvPr/>
        </p:nvPicPr>
        <p:blipFill>
          <a:blip r:embed="rId2"/>
          <a:stretch>
            <a:fillRect/>
          </a:stretch>
        </p:blipFill>
        <p:spPr>
          <a:xfrm>
            <a:off x="838200" y="2598461"/>
            <a:ext cx="10263673" cy="3984170"/>
          </a:xfrm>
          <a:prstGeom prst="rect">
            <a:avLst/>
          </a:prstGeom>
        </p:spPr>
      </p:pic>
      <p:sp>
        <p:nvSpPr>
          <p:cNvPr id="5" name="TextBox 4">
            <a:extLst>
              <a:ext uri="{FF2B5EF4-FFF2-40B4-BE49-F238E27FC236}">
                <a16:creationId xmlns:a16="http://schemas.microsoft.com/office/drawing/2014/main" id="{2220460B-AED7-9BC4-8CB7-548EB98BF032}"/>
              </a:ext>
            </a:extLst>
          </p:cNvPr>
          <p:cNvSpPr txBox="1"/>
          <p:nvPr/>
        </p:nvSpPr>
        <p:spPr>
          <a:xfrm>
            <a:off x="1612420" y="1204643"/>
            <a:ext cx="8967159" cy="1338828"/>
          </a:xfrm>
          <a:prstGeom prst="rect">
            <a:avLst/>
          </a:prstGeom>
          <a:noFill/>
        </p:spPr>
        <p:txBody>
          <a:bodyPr wrap="square">
            <a:spAutoFit/>
          </a:bodyPr>
          <a:lstStyle/>
          <a:p>
            <a:pPr algn="just">
              <a:lnSpc>
                <a:spcPct val="90000"/>
              </a:lnSpc>
            </a:pPr>
            <a:r>
              <a:rPr lang="en-US" sz="1800" dirty="0"/>
              <a:t>A push/pull view of the supply chain categorizes processes based on whether they are initiated in response to a customer order (pull) or in anticipation of a customer order (push). This view is useful when considering strategic decisions relating to supply chain design.</a:t>
            </a:r>
          </a:p>
          <a:p>
            <a:pPr algn="just">
              <a:lnSpc>
                <a:spcPct val="90000"/>
              </a:lnSpc>
            </a:pPr>
            <a:endParaRPr lang="en-US" dirty="0"/>
          </a:p>
          <a:p>
            <a:pPr algn="just">
              <a:lnSpc>
                <a:spcPct val="90000"/>
              </a:lnSpc>
            </a:pPr>
            <a:r>
              <a:rPr lang="en-US" sz="1800" dirty="0">
                <a:highlight>
                  <a:srgbClr val="FFFF00"/>
                </a:highlight>
              </a:rPr>
              <a:t>Dynamic- Dell, Hyundai, BHEL</a:t>
            </a:r>
          </a:p>
        </p:txBody>
      </p:sp>
    </p:spTree>
    <p:extLst>
      <p:ext uri="{BB962C8B-B14F-4D97-AF65-F5344CB8AC3E}">
        <p14:creationId xmlns:p14="http://schemas.microsoft.com/office/powerpoint/2010/main" val="42187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192B9C4-1B92-D060-5BEE-386F8468ED67}"/>
              </a:ext>
            </a:extLst>
          </p:cNvPr>
          <p:cNvGraphicFramePr>
            <a:graphicFrameLocks noGrp="1"/>
          </p:cNvGraphicFramePr>
          <p:nvPr>
            <p:ph idx="1"/>
            <p:extLst>
              <p:ext uri="{D42A27DB-BD31-4B8C-83A1-F6EECF244321}">
                <p14:modId xmlns:p14="http://schemas.microsoft.com/office/powerpoint/2010/main" val="3395357651"/>
              </p:ext>
            </p:extLst>
          </p:nvPr>
        </p:nvGraphicFramePr>
        <p:xfrm>
          <a:off x="587829" y="2687963"/>
          <a:ext cx="10515600" cy="39469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8</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Push based Supply Chain</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1014444593"/>
              </p:ext>
            </p:extLst>
          </p:nvPr>
        </p:nvGraphicFramePr>
        <p:xfrm>
          <a:off x="587829" y="1035782"/>
          <a:ext cx="11066105" cy="16949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TextBox 2">
            <a:extLst>
              <a:ext uri="{FF2B5EF4-FFF2-40B4-BE49-F238E27FC236}">
                <a16:creationId xmlns:a16="http://schemas.microsoft.com/office/drawing/2014/main" id="{541DDC55-3919-30F9-828B-5624943BC553}"/>
              </a:ext>
            </a:extLst>
          </p:cNvPr>
          <p:cNvSpPr txBox="1"/>
          <p:nvPr/>
        </p:nvSpPr>
        <p:spPr>
          <a:xfrm>
            <a:off x="5095233" y="5637552"/>
            <a:ext cx="6133381" cy="369332"/>
          </a:xfrm>
          <a:prstGeom prst="rect">
            <a:avLst/>
          </a:prstGeom>
          <a:noFill/>
        </p:spPr>
        <p:txBody>
          <a:bodyPr wrap="square" rtlCol="0">
            <a:spAutoFit/>
          </a:bodyPr>
          <a:lstStyle/>
          <a:p>
            <a:r>
              <a:rPr lang="en-US" dirty="0">
                <a:highlight>
                  <a:srgbClr val="FFFF00"/>
                </a:highlight>
              </a:rPr>
              <a:t>Who is Keeping the Risk?      Walmart vs Dell </a:t>
            </a:r>
            <a:endParaRPr lang="en-IN" dirty="0">
              <a:highlight>
                <a:srgbClr val="FFFF00"/>
              </a:highlight>
            </a:endParaRPr>
          </a:p>
        </p:txBody>
      </p:sp>
    </p:spTree>
    <p:extLst>
      <p:ext uri="{BB962C8B-B14F-4D97-AF65-F5344CB8AC3E}">
        <p14:creationId xmlns:p14="http://schemas.microsoft.com/office/powerpoint/2010/main" val="550532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9</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a:t>Bullwhip Effect in Push based Supply Chain</a:t>
            </a:r>
            <a:endParaRPr lang="en-US" b="1" dirty="0"/>
          </a:p>
        </p:txBody>
      </p:sp>
      <p:pic>
        <p:nvPicPr>
          <p:cNvPr id="8" name="Picture 7">
            <a:extLst>
              <a:ext uri="{FF2B5EF4-FFF2-40B4-BE49-F238E27FC236}">
                <a16:creationId xmlns:a16="http://schemas.microsoft.com/office/drawing/2014/main" id="{6B42A7B5-4ABE-4124-FC44-5D8D95D56ABE}"/>
              </a:ext>
            </a:extLst>
          </p:cNvPr>
          <p:cNvPicPr>
            <a:picLocks noChangeAspect="1"/>
          </p:cNvPicPr>
          <p:nvPr/>
        </p:nvPicPr>
        <p:blipFill>
          <a:blip r:embed="rId2"/>
          <a:stretch>
            <a:fillRect/>
          </a:stretch>
        </p:blipFill>
        <p:spPr>
          <a:xfrm>
            <a:off x="6669890" y="1666215"/>
            <a:ext cx="5362900" cy="3979507"/>
          </a:xfrm>
          <a:prstGeom prst="rect">
            <a:avLst/>
          </a:prstGeom>
        </p:spPr>
      </p:pic>
      <p:pic>
        <p:nvPicPr>
          <p:cNvPr id="11" name="Picture 10">
            <a:extLst>
              <a:ext uri="{FF2B5EF4-FFF2-40B4-BE49-F238E27FC236}">
                <a16:creationId xmlns:a16="http://schemas.microsoft.com/office/drawing/2014/main" id="{AEB3D28B-4F66-110F-498C-2BBE0B28CF59}"/>
              </a:ext>
            </a:extLst>
          </p:cNvPr>
          <p:cNvPicPr>
            <a:picLocks noChangeAspect="1"/>
          </p:cNvPicPr>
          <p:nvPr/>
        </p:nvPicPr>
        <p:blipFill>
          <a:blip r:embed="rId3"/>
          <a:stretch>
            <a:fillRect/>
          </a:stretch>
        </p:blipFill>
        <p:spPr>
          <a:xfrm>
            <a:off x="159211" y="1446738"/>
            <a:ext cx="6510680" cy="4198984"/>
          </a:xfrm>
          <a:prstGeom prst="rect">
            <a:avLst/>
          </a:prstGeom>
        </p:spPr>
      </p:pic>
    </p:spTree>
    <p:extLst>
      <p:ext uri="{BB962C8B-B14F-4D97-AF65-F5344CB8AC3E}">
        <p14:creationId xmlns:p14="http://schemas.microsoft.com/office/powerpoint/2010/main" val="403482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10</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Bullwhip Effect in Push based Supply Chain</a:t>
            </a:r>
          </a:p>
        </p:txBody>
      </p:sp>
      <p:sp>
        <p:nvSpPr>
          <p:cNvPr id="2" name="AutoShape 2" descr="Bullwhip effect in supply chains. | Download Scientific Diagram">
            <a:extLst>
              <a:ext uri="{FF2B5EF4-FFF2-40B4-BE49-F238E27FC236}">
                <a16:creationId xmlns:a16="http://schemas.microsoft.com/office/drawing/2014/main" id="{B7EE669C-BC8F-0730-D364-CAFAAB0E61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56458CF1-507D-92DD-2051-3F318393C5B3}"/>
              </a:ext>
            </a:extLst>
          </p:cNvPr>
          <p:cNvPicPr>
            <a:picLocks noChangeAspect="1"/>
          </p:cNvPicPr>
          <p:nvPr/>
        </p:nvPicPr>
        <p:blipFill>
          <a:blip r:embed="rId2"/>
          <a:stretch>
            <a:fillRect/>
          </a:stretch>
        </p:blipFill>
        <p:spPr>
          <a:xfrm>
            <a:off x="1284714" y="1798320"/>
            <a:ext cx="10069085" cy="3505200"/>
          </a:xfrm>
          <a:prstGeom prst="rect">
            <a:avLst/>
          </a:prstGeom>
        </p:spPr>
      </p:pic>
    </p:spTree>
    <p:extLst>
      <p:ext uri="{BB962C8B-B14F-4D97-AF65-F5344CB8AC3E}">
        <p14:creationId xmlns:p14="http://schemas.microsoft.com/office/powerpoint/2010/main" val="2940546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3C4CD3D-0056-C151-8DA3-83B7A671B6B3}"/>
              </a:ext>
            </a:extLst>
          </p:cNvPr>
          <p:cNvGraphicFramePr>
            <a:graphicFrameLocks noGrp="1"/>
          </p:cNvGraphicFramePr>
          <p:nvPr>
            <p:ph idx="1"/>
            <p:extLst>
              <p:ext uri="{D42A27DB-BD31-4B8C-83A1-F6EECF244321}">
                <p14:modId xmlns:p14="http://schemas.microsoft.com/office/powerpoint/2010/main" val="3196169921"/>
              </p:ext>
            </p:extLst>
          </p:nvPr>
        </p:nvGraphicFramePr>
        <p:xfrm>
          <a:off x="587829" y="2314937"/>
          <a:ext cx="10515600" cy="4319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11</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27992"/>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Pull based Supply Chain</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4288398786"/>
              </p:ext>
            </p:extLst>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78575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7528F-59A3-91C6-6D1B-D1FEFAAA4FED}"/>
              </a:ext>
            </a:extLst>
          </p:cNvPr>
          <p:cNvSpPr>
            <a:spLocks noGrp="1"/>
          </p:cNvSpPr>
          <p:nvPr>
            <p:ph idx="1"/>
          </p:nvPr>
        </p:nvSpPr>
        <p:spPr>
          <a:xfrm>
            <a:off x="587829" y="2687963"/>
            <a:ext cx="10515600" cy="3946947"/>
          </a:xfrm>
        </p:spPr>
        <p:txBody>
          <a:bodyPr>
            <a:normAutofit/>
          </a:bodyPr>
          <a:lstStyle/>
          <a:p>
            <a:r>
              <a:rPr lang="en-IN" dirty="0"/>
              <a:t>The interface Push Pull boundary</a:t>
            </a:r>
          </a:p>
        </p:txBody>
      </p:sp>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12</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Push-Pull Supply Chain</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355267570"/>
              </p:ext>
            </p:extLst>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CB04A924-8329-FDCF-E45F-9F3E6D4597F8}"/>
              </a:ext>
            </a:extLst>
          </p:cNvPr>
          <p:cNvPicPr>
            <a:picLocks noChangeAspect="1"/>
          </p:cNvPicPr>
          <p:nvPr/>
        </p:nvPicPr>
        <p:blipFill>
          <a:blip r:embed="rId7"/>
          <a:stretch>
            <a:fillRect/>
          </a:stretch>
        </p:blipFill>
        <p:spPr>
          <a:xfrm>
            <a:off x="2359865" y="3071512"/>
            <a:ext cx="7148179" cy="3467400"/>
          </a:xfrm>
          <a:prstGeom prst="rect">
            <a:avLst/>
          </a:prstGeom>
        </p:spPr>
      </p:pic>
    </p:spTree>
    <p:extLst>
      <p:ext uri="{BB962C8B-B14F-4D97-AF65-F5344CB8AC3E}">
        <p14:creationId xmlns:p14="http://schemas.microsoft.com/office/powerpoint/2010/main" val="220128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CD2FB41-3269-F8CE-A1AA-872CB2FDD5F6}"/>
              </a:ext>
            </a:extLst>
          </p:cNvPr>
          <p:cNvPicPr>
            <a:picLocks noGrp="1" noChangeAspect="1"/>
          </p:cNvPicPr>
          <p:nvPr>
            <p:ph idx="1"/>
          </p:nvPr>
        </p:nvPicPr>
        <p:blipFill>
          <a:blip r:embed="rId2"/>
          <a:stretch>
            <a:fillRect/>
          </a:stretch>
        </p:blipFill>
        <p:spPr>
          <a:xfrm>
            <a:off x="381417" y="1272483"/>
            <a:ext cx="6598044" cy="1724717"/>
          </a:xfrm>
        </p:spPr>
      </p:pic>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13</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Push-Pull Supply Chain</a:t>
            </a:r>
          </a:p>
        </p:txBody>
      </p:sp>
      <p:pic>
        <p:nvPicPr>
          <p:cNvPr id="5" name="Picture 4">
            <a:extLst>
              <a:ext uri="{FF2B5EF4-FFF2-40B4-BE49-F238E27FC236}">
                <a16:creationId xmlns:a16="http://schemas.microsoft.com/office/drawing/2014/main" id="{CB04A924-8329-FDCF-E45F-9F3E6D4597F8}"/>
              </a:ext>
            </a:extLst>
          </p:cNvPr>
          <p:cNvPicPr>
            <a:picLocks noChangeAspect="1"/>
          </p:cNvPicPr>
          <p:nvPr/>
        </p:nvPicPr>
        <p:blipFill>
          <a:blip r:embed="rId3"/>
          <a:stretch>
            <a:fillRect/>
          </a:stretch>
        </p:blipFill>
        <p:spPr>
          <a:xfrm>
            <a:off x="5832692" y="2562803"/>
            <a:ext cx="5666712" cy="3467400"/>
          </a:xfrm>
          <a:prstGeom prst="rect">
            <a:avLst/>
          </a:prstGeom>
        </p:spPr>
      </p:pic>
      <p:pic>
        <p:nvPicPr>
          <p:cNvPr id="9" name="Picture 8">
            <a:extLst>
              <a:ext uri="{FF2B5EF4-FFF2-40B4-BE49-F238E27FC236}">
                <a16:creationId xmlns:a16="http://schemas.microsoft.com/office/drawing/2014/main" id="{C34162D6-7DAB-CA0A-06A2-980C20D10E97}"/>
              </a:ext>
            </a:extLst>
          </p:cNvPr>
          <p:cNvPicPr>
            <a:picLocks noChangeAspect="1"/>
          </p:cNvPicPr>
          <p:nvPr/>
        </p:nvPicPr>
        <p:blipFill>
          <a:blip r:embed="rId4"/>
          <a:stretch>
            <a:fillRect/>
          </a:stretch>
        </p:blipFill>
        <p:spPr>
          <a:xfrm>
            <a:off x="554134" y="3860801"/>
            <a:ext cx="5105842" cy="13106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4900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556532" y="643467"/>
            <a:ext cx="11210925" cy="744836"/>
          </a:xfrm>
          <a:prstGeom prst="rect">
            <a:avLst/>
          </a:prstGeom>
        </p:spPr>
        <p:txBody>
          <a:bodyPr spcFirstLastPara="1"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buClr>
                <a:schemeClr val="accent1"/>
              </a:buClr>
              <a:buSzPts val="4400"/>
            </a:pPr>
            <a:r>
              <a:rPr lang="en-US" sz="3200" b="1" kern="1200">
                <a:solidFill>
                  <a:schemeClr val="bg1"/>
                </a:solidFill>
                <a:latin typeface="+mj-lt"/>
                <a:ea typeface="+mj-ea"/>
                <a:cs typeface="+mj-cs"/>
              </a:rPr>
              <a:t>Comparison of Push-Pull Supply Chain</a:t>
            </a:r>
          </a:p>
        </p:txBody>
      </p:sp>
      <p:pic>
        <p:nvPicPr>
          <p:cNvPr id="18" name="Picture 17">
            <a:extLst>
              <a:ext uri="{FF2B5EF4-FFF2-40B4-BE49-F238E27FC236}">
                <a16:creationId xmlns:a16="http://schemas.microsoft.com/office/drawing/2014/main" id="{A232F4E6-425B-B617-1A2F-6362A1D3BF2C}"/>
              </a:ext>
            </a:extLst>
          </p:cNvPr>
          <p:cNvPicPr>
            <a:picLocks noChangeAspect="1"/>
          </p:cNvPicPr>
          <p:nvPr/>
        </p:nvPicPr>
        <p:blipFill>
          <a:blip r:embed="rId2"/>
          <a:stretch>
            <a:fillRect/>
          </a:stretch>
        </p:blipFill>
        <p:spPr>
          <a:xfrm>
            <a:off x="1396321" y="1675227"/>
            <a:ext cx="9399358" cy="4394199"/>
          </a:xfrm>
          <a:prstGeom prst="rect">
            <a:avLst/>
          </a:prstGeom>
        </p:spPr>
      </p:pic>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B07C8CD-4FE2-46F0-9611-E3B643750200}" type="slidenum">
              <a:rPr lang="en-US" smtClean="0"/>
              <a:pPr>
                <a:spcAft>
                  <a:spcPts val="600"/>
                </a:spcAft>
              </a:pPr>
              <a:t>14</a:t>
            </a:fld>
            <a:endParaRPr lang="en-US"/>
          </a:p>
        </p:txBody>
      </p:sp>
    </p:spTree>
    <p:extLst>
      <p:ext uri="{BB962C8B-B14F-4D97-AF65-F5344CB8AC3E}">
        <p14:creationId xmlns:p14="http://schemas.microsoft.com/office/powerpoint/2010/main" val="177220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556532" y="643467"/>
            <a:ext cx="11210925" cy="744836"/>
          </a:xfrm>
          <a:prstGeom prst="rect">
            <a:avLst/>
          </a:prstGeom>
        </p:spPr>
        <p:txBody>
          <a:bodyPr spcFirstLastPara="1"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buClr>
                <a:schemeClr val="accent1"/>
              </a:buClr>
              <a:buSzPts val="4400"/>
            </a:pPr>
            <a:r>
              <a:rPr lang="en-US" sz="3200" b="1" kern="1200">
                <a:solidFill>
                  <a:schemeClr val="bg1"/>
                </a:solidFill>
                <a:latin typeface="+mj-lt"/>
                <a:ea typeface="+mj-ea"/>
                <a:cs typeface="+mj-cs"/>
              </a:rPr>
              <a:t>Comparison of Push-Pull Supply Chain</a:t>
            </a:r>
          </a:p>
        </p:txBody>
      </p:sp>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B07C8CD-4FE2-46F0-9611-E3B643750200}" type="slidenum">
              <a:rPr lang="en-US" smtClean="0"/>
              <a:pPr>
                <a:spcAft>
                  <a:spcPts val="600"/>
                </a:spcAft>
              </a:pPr>
              <a:t>15</a:t>
            </a:fld>
            <a:endParaRPr lang="en-US"/>
          </a:p>
        </p:txBody>
      </p:sp>
      <p:pic>
        <p:nvPicPr>
          <p:cNvPr id="3" name="Picture 2">
            <a:extLst>
              <a:ext uri="{FF2B5EF4-FFF2-40B4-BE49-F238E27FC236}">
                <a16:creationId xmlns:a16="http://schemas.microsoft.com/office/drawing/2014/main" id="{C2CE72A2-F4F0-C5E3-7F8E-EF713DD2B8A5}"/>
              </a:ext>
            </a:extLst>
          </p:cNvPr>
          <p:cNvPicPr>
            <a:picLocks noChangeAspect="1"/>
          </p:cNvPicPr>
          <p:nvPr/>
        </p:nvPicPr>
        <p:blipFill>
          <a:blip r:embed="rId2"/>
          <a:stretch>
            <a:fillRect/>
          </a:stretch>
        </p:blipFill>
        <p:spPr>
          <a:xfrm>
            <a:off x="1330960" y="1593220"/>
            <a:ext cx="9885679" cy="4615774"/>
          </a:xfrm>
          <a:prstGeom prst="rect">
            <a:avLst/>
          </a:prstGeom>
        </p:spPr>
      </p:pic>
    </p:spTree>
    <p:extLst>
      <p:ext uri="{BB962C8B-B14F-4D97-AF65-F5344CB8AC3E}">
        <p14:creationId xmlns:p14="http://schemas.microsoft.com/office/powerpoint/2010/main" val="1205673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16</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Comparison of Push-Pull Supply Chain</a:t>
            </a:r>
          </a:p>
        </p:txBody>
      </p:sp>
      <p:sp>
        <p:nvSpPr>
          <p:cNvPr id="11" name="TextBox 10">
            <a:extLst>
              <a:ext uri="{FF2B5EF4-FFF2-40B4-BE49-F238E27FC236}">
                <a16:creationId xmlns:a16="http://schemas.microsoft.com/office/drawing/2014/main" id="{92E3D509-3D50-832F-2847-E6F589107AB7}"/>
              </a:ext>
            </a:extLst>
          </p:cNvPr>
          <p:cNvSpPr txBox="1"/>
          <p:nvPr/>
        </p:nvSpPr>
        <p:spPr>
          <a:xfrm>
            <a:off x="531845" y="1120676"/>
            <a:ext cx="5057192" cy="2031325"/>
          </a:xfrm>
          <a:prstGeom prst="rect">
            <a:avLst/>
          </a:prstGeom>
          <a:noFill/>
        </p:spPr>
        <p:txBody>
          <a:bodyPr wrap="square" rtlCol="0">
            <a:spAutoFit/>
          </a:bodyPr>
          <a:lstStyle/>
          <a:p>
            <a:pPr algn="ctr"/>
            <a:r>
              <a:rPr lang="en-IN" b="1" u="sng" dirty="0"/>
              <a:t>Push Portion</a:t>
            </a:r>
          </a:p>
          <a:p>
            <a:pPr marL="285750" indent="-285750">
              <a:buFont typeface="Arial" panose="020B0604020202020204" pitchFamily="34" charset="0"/>
              <a:buChar char="•"/>
            </a:pPr>
            <a:r>
              <a:rPr lang="en-IN" dirty="0"/>
              <a:t>Low Uncertainty</a:t>
            </a:r>
          </a:p>
          <a:p>
            <a:pPr marL="285750" indent="-285750">
              <a:buFont typeface="Arial" panose="020B0604020202020204" pitchFamily="34" charset="0"/>
              <a:buChar char="•"/>
            </a:pPr>
            <a:r>
              <a:rPr lang="en-IN" dirty="0"/>
              <a:t>Service level not an issue</a:t>
            </a:r>
          </a:p>
          <a:p>
            <a:pPr marL="285750" indent="-285750">
              <a:buFont typeface="Arial" panose="020B0604020202020204" pitchFamily="34" charset="0"/>
              <a:buChar char="•"/>
            </a:pPr>
            <a:r>
              <a:rPr lang="en-IN" dirty="0"/>
              <a:t>Focus on cost minimization</a:t>
            </a:r>
          </a:p>
          <a:p>
            <a:pPr marL="285750" indent="-285750">
              <a:buFont typeface="Arial" panose="020B0604020202020204" pitchFamily="34" charset="0"/>
              <a:buChar char="•"/>
            </a:pPr>
            <a:r>
              <a:rPr lang="en-IN" dirty="0"/>
              <a:t>Long Lead times</a:t>
            </a:r>
          </a:p>
          <a:p>
            <a:pPr marL="285750" indent="-285750">
              <a:buFont typeface="Arial" panose="020B0604020202020204" pitchFamily="34" charset="0"/>
              <a:buChar char="•"/>
            </a:pPr>
            <a:r>
              <a:rPr lang="en-IN" dirty="0"/>
              <a:t>Complex supply chain structures</a:t>
            </a:r>
          </a:p>
          <a:p>
            <a:pPr marL="285750" indent="-285750">
              <a:buFont typeface="Arial" panose="020B0604020202020204" pitchFamily="34" charset="0"/>
              <a:buChar char="•"/>
            </a:pPr>
            <a:r>
              <a:rPr lang="en-IN" dirty="0"/>
              <a:t>Supply Chain Planning portion are applied</a:t>
            </a:r>
          </a:p>
        </p:txBody>
      </p:sp>
      <p:sp>
        <p:nvSpPr>
          <p:cNvPr id="14" name="TextBox 13">
            <a:extLst>
              <a:ext uri="{FF2B5EF4-FFF2-40B4-BE49-F238E27FC236}">
                <a16:creationId xmlns:a16="http://schemas.microsoft.com/office/drawing/2014/main" id="{25F00F4B-D2DC-F11A-E40F-475A1AA7ACBC}"/>
              </a:ext>
            </a:extLst>
          </p:cNvPr>
          <p:cNvSpPr txBox="1"/>
          <p:nvPr/>
        </p:nvSpPr>
        <p:spPr>
          <a:xfrm>
            <a:off x="632927" y="3716333"/>
            <a:ext cx="5057192" cy="2308324"/>
          </a:xfrm>
          <a:prstGeom prst="rect">
            <a:avLst/>
          </a:prstGeom>
          <a:noFill/>
        </p:spPr>
        <p:txBody>
          <a:bodyPr wrap="square" rtlCol="0">
            <a:spAutoFit/>
          </a:bodyPr>
          <a:lstStyle/>
          <a:p>
            <a:pPr algn="ctr"/>
            <a:r>
              <a:rPr lang="en-IN" b="1" u="sng" dirty="0"/>
              <a:t>Pull Portion</a:t>
            </a:r>
          </a:p>
          <a:p>
            <a:pPr marL="285750" indent="-285750">
              <a:buFont typeface="Arial" panose="020B0604020202020204" pitchFamily="34" charset="0"/>
              <a:buChar char="•"/>
            </a:pPr>
            <a:r>
              <a:rPr lang="en-IN" dirty="0"/>
              <a:t>High Uncertainty</a:t>
            </a:r>
          </a:p>
          <a:p>
            <a:pPr marL="285750" indent="-285750">
              <a:buFont typeface="Arial" panose="020B0604020202020204" pitchFamily="34" charset="0"/>
              <a:buChar char="•"/>
            </a:pPr>
            <a:r>
              <a:rPr lang="en-IN" dirty="0"/>
              <a:t>Focus on service level</a:t>
            </a:r>
          </a:p>
          <a:p>
            <a:pPr marL="285750" indent="-285750">
              <a:buFont typeface="Arial" panose="020B0604020202020204" pitchFamily="34" charset="0"/>
              <a:buChar char="•"/>
            </a:pPr>
            <a:r>
              <a:rPr lang="en-IN" dirty="0"/>
              <a:t>Short Cycle time</a:t>
            </a:r>
          </a:p>
          <a:p>
            <a:pPr marL="285750" indent="-285750">
              <a:buFont typeface="Arial" panose="020B0604020202020204" pitchFamily="34" charset="0"/>
              <a:buChar char="•"/>
            </a:pPr>
            <a:r>
              <a:rPr lang="en-IN" dirty="0"/>
              <a:t>Simple supply chain structures</a:t>
            </a:r>
          </a:p>
          <a:p>
            <a:pPr marL="285750" indent="-285750">
              <a:buFont typeface="Arial" panose="020B0604020202020204" pitchFamily="34" charset="0"/>
              <a:buChar char="•"/>
            </a:pPr>
            <a:r>
              <a:rPr lang="en-IN" dirty="0"/>
              <a:t>Achieved by deploying flexible and responsive supply chain</a:t>
            </a:r>
          </a:p>
          <a:p>
            <a:pPr marL="285750" indent="-285750">
              <a:buFont typeface="Arial" panose="020B0604020202020204" pitchFamily="34" charset="0"/>
              <a:buChar char="•"/>
            </a:pPr>
            <a:r>
              <a:rPr lang="en-IN" dirty="0"/>
              <a:t>Order fulfilment processes are applied</a:t>
            </a:r>
          </a:p>
        </p:txBody>
      </p:sp>
      <p:pic>
        <p:nvPicPr>
          <p:cNvPr id="16" name="Picture 15">
            <a:extLst>
              <a:ext uri="{FF2B5EF4-FFF2-40B4-BE49-F238E27FC236}">
                <a16:creationId xmlns:a16="http://schemas.microsoft.com/office/drawing/2014/main" id="{199E8042-9521-9438-028E-7CC68EDDB5ED}"/>
              </a:ext>
            </a:extLst>
          </p:cNvPr>
          <p:cNvPicPr>
            <a:picLocks noChangeAspect="1"/>
          </p:cNvPicPr>
          <p:nvPr/>
        </p:nvPicPr>
        <p:blipFill>
          <a:blip r:embed="rId2"/>
          <a:stretch>
            <a:fillRect/>
          </a:stretch>
        </p:blipFill>
        <p:spPr>
          <a:xfrm>
            <a:off x="5690119" y="1914053"/>
            <a:ext cx="6388812" cy="3544355"/>
          </a:xfrm>
          <a:prstGeom prst="rect">
            <a:avLst/>
          </a:prstGeom>
        </p:spPr>
      </p:pic>
    </p:spTree>
    <p:extLst>
      <p:ext uri="{BB962C8B-B14F-4D97-AF65-F5344CB8AC3E}">
        <p14:creationId xmlns:p14="http://schemas.microsoft.com/office/powerpoint/2010/main" val="3399071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17</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Locating Push Pull Boundaries</a:t>
            </a:r>
          </a:p>
        </p:txBody>
      </p:sp>
      <p:graphicFrame>
        <p:nvGraphicFramePr>
          <p:cNvPr id="10" name="Diagram 9">
            <a:extLst>
              <a:ext uri="{FF2B5EF4-FFF2-40B4-BE49-F238E27FC236}">
                <a16:creationId xmlns:a16="http://schemas.microsoft.com/office/drawing/2014/main" id="{9066F940-BA26-5506-A348-9FB77D0ADA8B}"/>
              </a:ext>
            </a:extLst>
          </p:cNvPr>
          <p:cNvGraphicFramePr/>
          <p:nvPr>
            <p:extLst>
              <p:ext uri="{D42A27DB-BD31-4B8C-83A1-F6EECF244321}">
                <p14:modId xmlns:p14="http://schemas.microsoft.com/office/powerpoint/2010/main" val="1781870433"/>
              </p:ext>
            </p:extLst>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A10DA61D-1478-A20A-E7B3-11195E2BFAED}"/>
              </a:ext>
            </a:extLst>
          </p:cNvPr>
          <p:cNvPicPr>
            <a:picLocks noChangeAspect="1"/>
          </p:cNvPicPr>
          <p:nvPr/>
        </p:nvPicPr>
        <p:blipFill>
          <a:blip r:embed="rId7"/>
          <a:stretch>
            <a:fillRect/>
          </a:stretch>
        </p:blipFill>
        <p:spPr>
          <a:xfrm>
            <a:off x="1147665" y="1859592"/>
            <a:ext cx="9487785" cy="3138816"/>
          </a:xfrm>
          <a:prstGeom prst="rect">
            <a:avLst/>
          </a:prstGeom>
        </p:spPr>
      </p:pic>
    </p:spTree>
    <p:extLst>
      <p:ext uri="{BB962C8B-B14F-4D97-AF65-F5344CB8AC3E}">
        <p14:creationId xmlns:p14="http://schemas.microsoft.com/office/powerpoint/2010/main" val="3070540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18</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Matching Supply chain strategies with Products: Impact of lead time and demand uncertainty</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8F93FDF9-F751-BA2A-2C84-A953594C08DC}"/>
              </a:ext>
            </a:extLst>
          </p:cNvPr>
          <p:cNvPicPr>
            <a:picLocks noChangeAspect="1"/>
          </p:cNvPicPr>
          <p:nvPr/>
        </p:nvPicPr>
        <p:blipFill>
          <a:blip r:embed="rId7"/>
          <a:stretch>
            <a:fillRect/>
          </a:stretch>
        </p:blipFill>
        <p:spPr>
          <a:xfrm>
            <a:off x="2838091" y="1679551"/>
            <a:ext cx="5970006" cy="4331078"/>
          </a:xfrm>
          <a:prstGeom prst="rect">
            <a:avLst/>
          </a:prstGeom>
        </p:spPr>
      </p:pic>
    </p:spTree>
    <p:extLst>
      <p:ext uri="{BB962C8B-B14F-4D97-AF65-F5344CB8AC3E}">
        <p14:creationId xmlns:p14="http://schemas.microsoft.com/office/powerpoint/2010/main" val="591960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19</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Identify the appropriate Supply Chain Strategy</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FC990731-6420-3587-501E-6C42779202A9}"/>
              </a:ext>
            </a:extLst>
          </p:cNvPr>
          <p:cNvPicPr>
            <a:picLocks noChangeAspect="1"/>
          </p:cNvPicPr>
          <p:nvPr/>
        </p:nvPicPr>
        <p:blipFill>
          <a:blip r:embed="rId7"/>
          <a:stretch>
            <a:fillRect/>
          </a:stretch>
        </p:blipFill>
        <p:spPr>
          <a:xfrm>
            <a:off x="2696839" y="1716874"/>
            <a:ext cx="6273540" cy="3969210"/>
          </a:xfrm>
          <a:prstGeom prst="rect">
            <a:avLst/>
          </a:prstGeom>
        </p:spPr>
      </p:pic>
    </p:spTree>
    <p:extLst>
      <p:ext uri="{BB962C8B-B14F-4D97-AF65-F5344CB8AC3E}">
        <p14:creationId xmlns:p14="http://schemas.microsoft.com/office/powerpoint/2010/main" val="2805472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20</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Identify the appropriate Supply Chain Strategy</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FC990731-6420-3587-501E-6C42779202A9}"/>
              </a:ext>
            </a:extLst>
          </p:cNvPr>
          <p:cNvPicPr>
            <a:picLocks noChangeAspect="1"/>
          </p:cNvPicPr>
          <p:nvPr/>
        </p:nvPicPr>
        <p:blipFill>
          <a:blip r:embed="rId7"/>
          <a:stretch>
            <a:fillRect/>
          </a:stretch>
        </p:blipFill>
        <p:spPr>
          <a:xfrm>
            <a:off x="5133472" y="1716874"/>
            <a:ext cx="6273540" cy="3969210"/>
          </a:xfrm>
          <a:prstGeom prst="rect">
            <a:avLst/>
          </a:prstGeom>
        </p:spPr>
      </p:pic>
      <p:pic>
        <p:nvPicPr>
          <p:cNvPr id="3" name="Picture 2">
            <a:extLst>
              <a:ext uri="{FF2B5EF4-FFF2-40B4-BE49-F238E27FC236}">
                <a16:creationId xmlns:a16="http://schemas.microsoft.com/office/drawing/2014/main" id="{A4BF52D2-1AD4-86A2-D78F-EED60E7FB28F}"/>
              </a:ext>
            </a:extLst>
          </p:cNvPr>
          <p:cNvPicPr>
            <a:picLocks noChangeAspect="1"/>
          </p:cNvPicPr>
          <p:nvPr/>
        </p:nvPicPr>
        <p:blipFill>
          <a:blip r:embed="rId8"/>
          <a:stretch>
            <a:fillRect/>
          </a:stretch>
        </p:blipFill>
        <p:spPr>
          <a:xfrm>
            <a:off x="361720" y="1716874"/>
            <a:ext cx="5510760" cy="2743160"/>
          </a:xfrm>
          <a:prstGeom prst="rect">
            <a:avLst/>
          </a:prstGeom>
        </p:spPr>
      </p:pic>
    </p:spTree>
    <p:extLst>
      <p:ext uri="{BB962C8B-B14F-4D97-AF65-F5344CB8AC3E}">
        <p14:creationId xmlns:p14="http://schemas.microsoft.com/office/powerpoint/2010/main" val="1762598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21</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Identify the appropriate Supply Chain Strategy</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FC990731-6420-3587-501E-6C42779202A9}"/>
              </a:ext>
            </a:extLst>
          </p:cNvPr>
          <p:cNvPicPr>
            <a:picLocks noChangeAspect="1"/>
          </p:cNvPicPr>
          <p:nvPr/>
        </p:nvPicPr>
        <p:blipFill>
          <a:blip r:embed="rId7"/>
          <a:stretch>
            <a:fillRect/>
          </a:stretch>
        </p:blipFill>
        <p:spPr>
          <a:xfrm>
            <a:off x="132012" y="1853008"/>
            <a:ext cx="6273540" cy="3969210"/>
          </a:xfrm>
          <a:prstGeom prst="rect">
            <a:avLst/>
          </a:prstGeom>
        </p:spPr>
      </p:pic>
      <p:pic>
        <p:nvPicPr>
          <p:cNvPr id="5" name="Picture 4">
            <a:extLst>
              <a:ext uri="{FF2B5EF4-FFF2-40B4-BE49-F238E27FC236}">
                <a16:creationId xmlns:a16="http://schemas.microsoft.com/office/drawing/2014/main" id="{80CC6F05-1391-557C-2026-117ECABF198A}"/>
              </a:ext>
            </a:extLst>
          </p:cNvPr>
          <p:cNvPicPr>
            <a:picLocks noChangeAspect="1"/>
          </p:cNvPicPr>
          <p:nvPr/>
        </p:nvPicPr>
        <p:blipFill>
          <a:blip r:embed="rId8"/>
          <a:stretch>
            <a:fillRect/>
          </a:stretch>
        </p:blipFill>
        <p:spPr>
          <a:xfrm>
            <a:off x="5326998" y="1617096"/>
            <a:ext cx="6026802" cy="2375783"/>
          </a:xfrm>
          <a:prstGeom prst="rect">
            <a:avLst/>
          </a:prstGeom>
        </p:spPr>
      </p:pic>
    </p:spTree>
    <p:extLst>
      <p:ext uri="{BB962C8B-B14F-4D97-AF65-F5344CB8AC3E}">
        <p14:creationId xmlns:p14="http://schemas.microsoft.com/office/powerpoint/2010/main" val="442902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22</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Identify the appropriate Supply Chain Strategy</a:t>
            </a:r>
          </a:p>
        </p:txBody>
      </p:sp>
      <p:graphicFrame>
        <p:nvGraphicFramePr>
          <p:cNvPr id="10" name="Diagram 9">
            <a:extLst>
              <a:ext uri="{FF2B5EF4-FFF2-40B4-BE49-F238E27FC236}">
                <a16:creationId xmlns:a16="http://schemas.microsoft.com/office/drawing/2014/main" id="{9066F940-BA26-5506-A348-9FB77D0ADA8B}"/>
              </a:ext>
            </a:extLst>
          </p:cNvPr>
          <p:cNvGraphicFramePr/>
          <p:nvPr/>
        </p:nvGraphicFramePr>
        <p:xfrm>
          <a:off x="587829" y="1035782"/>
          <a:ext cx="11066105" cy="1362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FC990731-6420-3587-501E-6C42779202A9}"/>
              </a:ext>
            </a:extLst>
          </p:cNvPr>
          <p:cNvPicPr>
            <a:picLocks noChangeAspect="1"/>
          </p:cNvPicPr>
          <p:nvPr/>
        </p:nvPicPr>
        <p:blipFill>
          <a:blip r:embed="rId7"/>
          <a:stretch>
            <a:fillRect/>
          </a:stretch>
        </p:blipFill>
        <p:spPr>
          <a:xfrm>
            <a:off x="5380394" y="1444395"/>
            <a:ext cx="6273540" cy="3969210"/>
          </a:xfrm>
          <a:prstGeom prst="rect">
            <a:avLst/>
          </a:prstGeom>
        </p:spPr>
      </p:pic>
      <p:sp>
        <p:nvSpPr>
          <p:cNvPr id="2" name="TextBox 1">
            <a:extLst>
              <a:ext uri="{FF2B5EF4-FFF2-40B4-BE49-F238E27FC236}">
                <a16:creationId xmlns:a16="http://schemas.microsoft.com/office/drawing/2014/main" id="{78BCA614-F7FA-8377-8013-B4B4BEEA0A4A}"/>
              </a:ext>
            </a:extLst>
          </p:cNvPr>
          <p:cNvSpPr txBox="1"/>
          <p:nvPr/>
        </p:nvSpPr>
        <p:spPr>
          <a:xfrm>
            <a:off x="587829" y="1274297"/>
            <a:ext cx="5810492" cy="5262979"/>
          </a:xfrm>
          <a:prstGeom prst="rect">
            <a:avLst/>
          </a:prstGeom>
          <a:noFill/>
        </p:spPr>
        <p:txBody>
          <a:bodyPr wrap="square" rtlCol="0">
            <a:spAutoFit/>
          </a:bodyPr>
          <a:lstStyle/>
          <a:p>
            <a:r>
              <a:rPr lang="en-IN" sz="2400" b="1" i="0" dirty="0">
                <a:solidFill>
                  <a:srgbClr val="444444"/>
                </a:solidFill>
                <a:effectLst/>
                <a:latin typeface="Open Sans" panose="020B0606030504020204" pitchFamily="34" charset="0"/>
              </a:rPr>
              <a:t>Box </a:t>
            </a:r>
            <a:r>
              <a:rPr lang="en-IN" sz="2400" b="1" dirty="0">
                <a:solidFill>
                  <a:srgbClr val="444444"/>
                </a:solidFill>
                <a:latin typeface="Open Sans" panose="020B0606030504020204" pitchFamily="34" charset="0"/>
              </a:rPr>
              <a:t>II</a:t>
            </a:r>
          </a:p>
          <a:p>
            <a:r>
              <a:rPr lang="en-IN" sz="2400" dirty="0">
                <a:solidFill>
                  <a:srgbClr val="444444"/>
                </a:solidFill>
                <a:latin typeface="Open Sans" panose="020B0606030504020204" pitchFamily="34" charset="0"/>
              </a:rPr>
              <a:t>H</a:t>
            </a:r>
            <a:r>
              <a:rPr lang="en-IN" sz="2400" b="0" i="0" dirty="0">
                <a:solidFill>
                  <a:srgbClr val="444444"/>
                </a:solidFill>
                <a:effectLst/>
                <a:latin typeface="Open Sans" panose="020B0606030504020204" pitchFamily="34" charset="0"/>
              </a:rPr>
              <a:t>igh demand uncertainty: pull</a:t>
            </a:r>
          </a:p>
          <a:p>
            <a:r>
              <a:rPr lang="en-IN" sz="2400" dirty="0">
                <a:solidFill>
                  <a:srgbClr val="444444"/>
                </a:solidFill>
                <a:latin typeface="Open Sans" panose="020B0606030504020204" pitchFamily="34" charset="0"/>
              </a:rPr>
              <a:t>I</a:t>
            </a:r>
            <a:r>
              <a:rPr lang="en-IN" sz="2400" b="0" i="0" dirty="0">
                <a:solidFill>
                  <a:srgbClr val="444444"/>
                </a:solidFill>
                <a:effectLst/>
                <a:latin typeface="Open Sans" panose="020B0606030504020204" pitchFamily="34" charset="0"/>
              </a:rPr>
              <a:t>mportant economies of scale: push</a:t>
            </a:r>
          </a:p>
          <a:p>
            <a:r>
              <a:rPr lang="en-IN" sz="2400" dirty="0">
                <a:solidFill>
                  <a:srgbClr val="444444"/>
                </a:solidFill>
                <a:latin typeface="Open Sans" panose="020B0606030504020204" pitchFamily="34" charset="0"/>
              </a:rPr>
              <a:t>F</a:t>
            </a:r>
            <a:r>
              <a:rPr lang="en-IN" sz="2400" b="0" i="0" dirty="0">
                <a:solidFill>
                  <a:srgbClr val="444444"/>
                </a:solidFill>
                <a:effectLst/>
                <a:latin typeface="Open Sans" panose="020B0606030504020204" pitchFamily="34" charset="0"/>
              </a:rPr>
              <a:t>urniture industry: production -pull; delivery-push</a:t>
            </a:r>
          </a:p>
          <a:p>
            <a:endParaRPr lang="en-IN" sz="2400" b="0" i="0" dirty="0">
              <a:solidFill>
                <a:srgbClr val="444444"/>
              </a:solidFill>
              <a:effectLst/>
              <a:latin typeface="Open Sans" panose="020B0606030504020204" pitchFamily="34" charset="0"/>
            </a:endParaRPr>
          </a:p>
          <a:p>
            <a:r>
              <a:rPr lang="en-IN" sz="2400" b="1" i="0" dirty="0">
                <a:solidFill>
                  <a:srgbClr val="444444"/>
                </a:solidFill>
                <a:effectLst/>
                <a:latin typeface="Open Sans" panose="020B0606030504020204" pitchFamily="34" charset="0"/>
              </a:rPr>
              <a:t>Box </a:t>
            </a:r>
            <a:r>
              <a:rPr lang="en-IN" sz="2400" b="1" dirty="0">
                <a:solidFill>
                  <a:srgbClr val="444444"/>
                </a:solidFill>
                <a:latin typeface="Open Sans" panose="020B0606030504020204" pitchFamily="34" charset="0"/>
              </a:rPr>
              <a:t>IV</a:t>
            </a:r>
            <a:endParaRPr lang="en-IN" sz="2400" b="1" i="0" dirty="0">
              <a:solidFill>
                <a:srgbClr val="444444"/>
              </a:solidFill>
              <a:effectLst/>
              <a:latin typeface="Open Sans" panose="020B0606030504020204" pitchFamily="34" charset="0"/>
            </a:endParaRPr>
          </a:p>
          <a:p>
            <a:r>
              <a:rPr lang="en-IN" sz="2400" dirty="0">
                <a:solidFill>
                  <a:srgbClr val="444444"/>
                </a:solidFill>
                <a:latin typeface="Open Sans" panose="020B0606030504020204" pitchFamily="34" charset="0"/>
              </a:rPr>
              <a:t>L</a:t>
            </a:r>
            <a:r>
              <a:rPr lang="en-IN" sz="2400" b="0" i="0" dirty="0">
                <a:solidFill>
                  <a:srgbClr val="444444"/>
                </a:solidFill>
                <a:effectLst/>
                <a:latin typeface="Open Sans" panose="020B0606030504020204" pitchFamily="34" charset="0"/>
              </a:rPr>
              <a:t>ow demand uncertainty: push</a:t>
            </a:r>
          </a:p>
          <a:p>
            <a:r>
              <a:rPr lang="en-IN" sz="2400" dirty="0">
                <a:solidFill>
                  <a:srgbClr val="444444"/>
                </a:solidFill>
                <a:latin typeface="Open Sans" panose="020B0606030504020204" pitchFamily="34" charset="0"/>
              </a:rPr>
              <a:t>L</a:t>
            </a:r>
            <a:r>
              <a:rPr lang="en-IN" sz="2400" b="0" i="0" dirty="0">
                <a:solidFill>
                  <a:srgbClr val="444444"/>
                </a:solidFill>
                <a:effectLst/>
                <a:latin typeface="Open Sans" panose="020B0606030504020204" pitchFamily="34" charset="0"/>
              </a:rPr>
              <a:t>ow economies of scale: pull</a:t>
            </a:r>
          </a:p>
          <a:p>
            <a:r>
              <a:rPr lang="en-IN" sz="2400" dirty="0">
                <a:solidFill>
                  <a:srgbClr val="444444"/>
                </a:solidFill>
                <a:latin typeface="Open Sans" panose="020B0606030504020204" pitchFamily="34" charset="0"/>
              </a:rPr>
              <a:t>B</a:t>
            </a:r>
            <a:r>
              <a:rPr lang="en-IN" sz="2400" b="0" i="0" dirty="0">
                <a:solidFill>
                  <a:srgbClr val="444444"/>
                </a:solidFill>
                <a:effectLst/>
                <a:latin typeface="Open Sans" panose="020B0606030504020204" pitchFamily="34" charset="0"/>
              </a:rPr>
              <a:t>ooks &amp; CDs: push-pull strategy</a:t>
            </a:r>
          </a:p>
          <a:p>
            <a:endParaRPr lang="en-IN" sz="2400" b="0" i="0" dirty="0">
              <a:solidFill>
                <a:srgbClr val="444444"/>
              </a:solidFill>
              <a:effectLst/>
              <a:latin typeface="Open Sans" panose="020B0606030504020204" pitchFamily="34" charset="0"/>
            </a:endParaRPr>
          </a:p>
          <a:p>
            <a:r>
              <a:rPr lang="en-IN" sz="2400" b="1" dirty="0">
                <a:solidFill>
                  <a:srgbClr val="444444"/>
                </a:solidFill>
                <a:latin typeface="Open Sans" panose="020B0606030504020204" pitchFamily="34" charset="0"/>
              </a:rPr>
              <a:t>Box- II</a:t>
            </a:r>
            <a:endParaRPr lang="en-IN" sz="2400" b="1" i="0" dirty="0">
              <a:solidFill>
                <a:srgbClr val="444444"/>
              </a:solidFill>
              <a:effectLst/>
              <a:latin typeface="Open Sans" panose="020B0606030504020204" pitchFamily="34" charset="0"/>
            </a:endParaRPr>
          </a:p>
          <a:p>
            <a:r>
              <a:rPr lang="en-IN" sz="2400" dirty="0">
                <a:solidFill>
                  <a:srgbClr val="444444"/>
                </a:solidFill>
                <a:latin typeface="Open Sans" panose="020B0606030504020204" pitchFamily="34" charset="0"/>
              </a:rPr>
              <a:t>A</a:t>
            </a:r>
            <a:r>
              <a:rPr lang="en-IN" sz="2400" b="0" i="0" dirty="0">
                <a:solidFill>
                  <a:srgbClr val="444444"/>
                </a:solidFill>
                <a:effectLst/>
                <a:latin typeface="Open Sans" panose="020B0606030504020204" pitchFamily="34" charset="0"/>
              </a:rPr>
              <a:t>utomobile: push-based strategy</a:t>
            </a:r>
          </a:p>
          <a:p>
            <a:r>
              <a:rPr lang="en-IN" sz="2400" dirty="0">
                <a:solidFill>
                  <a:srgbClr val="444444"/>
                </a:solidFill>
                <a:latin typeface="Open Sans" panose="020B0606030504020204" pitchFamily="34" charset="0"/>
              </a:rPr>
              <a:t>F</a:t>
            </a:r>
            <a:r>
              <a:rPr lang="en-IN" sz="2400" b="0" i="0" dirty="0">
                <a:solidFill>
                  <a:srgbClr val="444444"/>
                </a:solidFill>
                <a:effectLst/>
                <a:latin typeface="Open Sans" panose="020B0606030504020204" pitchFamily="34" charset="0"/>
              </a:rPr>
              <a:t>ailure of GM’s push-pull strategy</a:t>
            </a:r>
          </a:p>
        </p:txBody>
      </p:sp>
    </p:spTree>
    <p:extLst>
      <p:ext uri="{BB962C8B-B14F-4D97-AF65-F5344CB8AC3E}">
        <p14:creationId xmlns:p14="http://schemas.microsoft.com/office/powerpoint/2010/main" val="2451255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838AA9BF-2649-6B68-55A0-C5825FDB48C1}"/>
              </a:ext>
            </a:extLst>
          </p:cNvPr>
          <p:cNvPicPr>
            <a:picLocks noGrp="1" noChangeAspect="1"/>
          </p:cNvPicPr>
          <p:nvPr>
            <p:ph idx="1"/>
          </p:nvPr>
        </p:nvPicPr>
        <p:blipFill>
          <a:blip r:embed="rId2"/>
          <a:stretch>
            <a:fillRect/>
          </a:stretch>
        </p:blipFill>
        <p:spPr>
          <a:xfrm>
            <a:off x="4386297" y="640080"/>
            <a:ext cx="6990809" cy="5578816"/>
          </a:xfrm>
          <a:prstGeom prst="rect">
            <a:avLst/>
          </a:prstGeom>
        </p:spPr>
      </p:pic>
      <p:sp>
        <p:nvSpPr>
          <p:cNvPr id="4" name="Slide Number Placeholder 3">
            <a:extLst>
              <a:ext uri="{FF2B5EF4-FFF2-40B4-BE49-F238E27FC236}">
                <a16:creationId xmlns:a16="http://schemas.microsoft.com/office/drawing/2014/main" id="{B7A1C092-201E-1D09-2C87-4A7060A8DD73}"/>
              </a:ext>
            </a:extLst>
          </p:cNvPr>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pPr>
            <a:fld id="{6B07C8CD-4FE2-46F0-9611-E3B643750200}" type="slidenum">
              <a:rPr lang="en-US"/>
              <a:pPr algn="l">
                <a:spcAft>
                  <a:spcPts val="600"/>
                </a:spcAft>
              </a:pPr>
              <a:t>23</a:t>
            </a:fld>
            <a:endParaRPr lang="en-US"/>
          </a:p>
        </p:txBody>
      </p:sp>
      <p:pic>
        <p:nvPicPr>
          <p:cNvPr id="7" name="Picture 6">
            <a:extLst>
              <a:ext uri="{FF2B5EF4-FFF2-40B4-BE49-F238E27FC236}">
                <a16:creationId xmlns:a16="http://schemas.microsoft.com/office/drawing/2014/main" id="{BE1CD9DB-53F0-F5FA-EB03-F018A28914EE}"/>
              </a:ext>
            </a:extLst>
          </p:cNvPr>
          <p:cNvPicPr>
            <a:picLocks noChangeAspect="1"/>
          </p:cNvPicPr>
          <p:nvPr/>
        </p:nvPicPr>
        <p:blipFill>
          <a:blip r:embed="rId3"/>
          <a:stretch>
            <a:fillRect/>
          </a:stretch>
        </p:blipFill>
        <p:spPr>
          <a:xfrm>
            <a:off x="6095989" y="3428992"/>
            <a:ext cx="21" cy="16"/>
          </a:xfrm>
          <a:prstGeom prst="rect">
            <a:avLst/>
          </a:prstGeom>
        </p:spPr>
      </p:pic>
      <p:sp>
        <p:nvSpPr>
          <p:cNvPr id="11" name="TextBox 10">
            <a:extLst>
              <a:ext uri="{FF2B5EF4-FFF2-40B4-BE49-F238E27FC236}">
                <a16:creationId xmlns:a16="http://schemas.microsoft.com/office/drawing/2014/main" id="{CD7F629B-76A6-E0EE-B508-D3E43D8D9687}"/>
              </a:ext>
            </a:extLst>
          </p:cNvPr>
          <p:cNvSpPr txBox="1"/>
          <p:nvPr/>
        </p:nvSpPr>
        <p:spPr>
          <a:xfrm>
            <a:off x="944880" y="477520"/>
            <a:ext cx="2651760" cy="1200329"/>
          </a:xfrm>
          <a:prstGeom prst="rect">
            <a:avLst/>
          </a:prstGeom>
          <a:noFill/>
        </p:spPr>
        <p:txBody>
          <a:bodyPr wrap="square" rtlCol="0">
            <a:spAutoFit/>
          </a:bodyPr>
          <a:lstStyle/>
          <a:p>
            <a:r>
              <a:rPr lang="en-IN" sz="3600" b="1" dirty="0"/>
              <a:t>Push vs Pull Strategy</a:t>
            </a:r>
          </a:p>
        </p:txBody>
      </p:sp>
    </p:spTree>
    <p:extLst>
      <p:ext uri="{BB962C8B-B14F-4D97-AF65-F5344CB8AC3E}">
        <p14:creationId xmlns:p14="http://schemas.microsoft.com/office/powerpoint/2010/main" val="36240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19BC1-8A22-87AE-758D-6DB7BBAB063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B22728-98C9-BD17-4960-48407B4CD2A9}"/>
              </a:ext>
            </a:extLst>
          </p:cNvPr>
          <p:cNvSpPr>
            <a:spLocks noGrp="1"/>
          </p:cNvSpPr>
          <p:nvPr>
            <p:ph type="sldNum" sz="quarter" idx="12"/>
          </p:nvPr>
        </p:nvSpPr>
        <p:spPr/>
        <p:txBody>
          <a:bodyPr/>
          <a:lstStyle/>
          <a:p>
            <a:fld id="{6B07C8CD-4FE2-46F0-9611-E3B643750200}" type="slidenum">
              <a:rPr lang="en-IN" smtClean="0"/>
              <a:t>24</a:t>
            </a:fld>
            <a:endParaRPr lang="en-IN"/>
          </a:p>
        </p:txBody>
      </p:sp>
      <p:sp>
        <p:nvSpPr>
          <p:cNvPr id="7" name="Google Shape;288;p8">
            <a:extLst>
              <a:ext uri="{FF2B5EF4-FFF2-40B4-BE49-F238E27FC236}">
                <a16:creationId xmlns:a16="http://schemas.microsoft.com/office/drawing/2014/main" id="{C250DEE7-67C5-BF3F-EA25-C379F8B1C83B}"/>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Competitive and Supply Chain Strategies</a:t>
            </a:r>
            <a:endParaRPr lang="en-US" b="1" dirty="0"/>
          </a:p>
        </p:txBody>
      </p:sp>
      <p:sp>
        <p:nvSpPr>
          <p:cNvPr id="3" name="Rectangle 3">
            <a:extLst>
              <a:ext uri="{FF2B5EF4-FFF2-40B4-BE49-F238E27FC236}">
                <a16:creationId xmlns:a16="http://schemas.microsoft.com/office/drawing/2014/main" id="{3FB95911-8336-6B55-6493-3644B3372EDA}"/>
              </a:ext>
            </a:extLst>
          </p:cNvPr>
          <p:cNvSpPr txBox="1">
            <a:spLocks noChangeArrowheads="1"/>
          </p:cNvSpPr>
          <p:nvPr/>
        </p:nvSpPr>
        <p:spPr>
          <a:xfrm>
            <a:off x="1086929" y="1428750"/>
            <a:ext cx="9980762" cy="4927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i="1" dirty="0"/>
              <a:t>Competitive strategy </a:t>
            </a:r>
            <a:r>
              <a:rPr lang="en-US" sz="2400" dirty="0"/>
              <a:t>defines the set of customer needs a firm seeks to satisfy through its products and services – </a:t>
            </a:r>
            <a:r>
              <a:rPr lang="en-US" sz="2400" dirty="0">
                <a:highlight>
                  <a:srgbClr val="FFFF00"/>
                </a:highlight>
              </a:rPr>
              <a:t>To attain value for the customer</a:t>
            </a:r>
          </a:p>
          <a:p>
            <a:r>
              <a:rPr lang="en-US" sz="2400" b="1" i="1" dirty="0"/>
              <a:t>Product development </a:t>
            </a:r>
            <a:r>
              <a:rPr lang="en-US" sz="2400" b="1" dirty="0"/>
              <a:t>strategy </a:t>
            </a:r>
            <a:r>
              <a:rPr lang="en-US" sz="2400" dirty="0"/>
              <a:t>specifies the portfolio of new products that the company will try to develop</a:t>
            </a:r>
          </a:p>
          <a:p>
            <a:r>
              <a:rPr lang="en-US" sz="2400" b="1" i="1" dirty="0"/>
              <a:t>Marketing and sales </a:t>
            </a:r>
            <a:r>
              <a:rPr lang="en-US" sz="2400" b="1" dirty="0"/>
              <a:t>strategy </a:t>
            </a:r>
            <a:r>
              <a:rPr lang="en-US" sz="2400" dirty="0"/>
              <a:t>specifies how the market will be segmented and product positioned, priced, and promoted </a:t>
            </a:r>
            <a:r>
              <a:rPr lang="en-US" sz="2400" dirty="0">
                <a:highlight>
                  <a:srgbClr val="FFFF00"/>
                </a:highlight>
              </a:rPr>
              <a:t>Walmart EDLP, McMaster-Car- responsiveness</a:t>
            </a:r>
            <a:endParaRPr lang="en-US" sz="2400" dirty="0"/>
          </a:p>
          <a:p>
            <a:pPr marL="0" indent="0">
              <a:buNone/>
            </a:pPr>
            <a:r>
              <a:rPr lang="en-US" sz="2400" b="1" i="1" dirty="0"/>
              <a:t>Functional Strategy</a:t>
            </a:r>
          </a:p>
          <a:p>
            <a:r>
              <a:rPr lang="en-US" sz="2400" b="1" i="1" dirty="0"/>
              <a:t>Supply chain </a:t>
            </a:r>
            <a:r>
              <a:rPr lang="en-US" sz="2400" b="1" dirty="0"/>
              <a:t>strategy </a:t>
            </a:r>
            <a:r>
              <a:rPr lang="en-US" sz="2400" dirty="0"/>
              <a:t>determines procurement, transportation of materials, manufacturer of the of product or creation of service, distribution of product</a:t>
            </a:r>
          </a:p>
          <a:p>
            <a:r>
              <a:rPr lang="en-US" sz="2400" dirty="0"/>
              <a:t>All functional strategies must support one another and the competitive strategy- </a:t>
            </a:r>
            <a:r>
              <a:rPr lang="en-US" sz="2400" dirty="0">
                <a:highlight>
                  <a:srgbClr val="FFFF00"/>
                </a:highlight>
              </a:rPr>
              <a:t>Now not in silos</a:t>
            </a:r>
          </a:p>
        </p:txBody>
      </p:sp>
    </p:spTree>
    <p:extLst>
      <p:ext uri="{BB962C8B-B14F-4D97-AF65-F5344CB8AC3E}">
        <p14:creationId xmlns:p14="http://schemas.microsoft.com/office/powerpoint/2010/main" val="2043007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749EA-9C0E-50C1-8DDB-67DEFB4A19A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A0F02F-D665-BAA6-EEE2-C232449C654D}"/>
              </a:ext>
            </a:extLst>
          </p:cNvPr>
          <p:cNvSpPr>
            <a:spLocks noGrp="1"/>
          </p:cNvSpPr>
          <p:nvPr>
            <p:ph type="sldNum" sz="quarter" idx="12"/>
          </p:nvPr>
        </p:nvSpPr>
        <p:spPr/>
        <p:txBody>
          <a:bodyPr/>
          <a:lstStyle/>
          <a:p>
            <a:fld id="{6B07C8CD-4FE2-46F0-9611-E3B643750200}" type="slidenum">
              <a:rPr lang="en-IN" smtClean="0"/>
              <a:t>25</a:t>
            </a:fld>
            <a:endParaRPr lang="en-IN"/>
          </a:p>
        </p:txBody>
      </p:sp>
      <p:sp>
        <p:nvSpPr>
          <p:cNvPr id="7" name="Google Shape;288;p8">
            <a:extLst>
              <a:ext uri="{FF2B5EF4-FFF2-40B4-BE49-F238E27FC236}">
                <a16:creationId xmlns:a16="http://schemas.microsoft.com/office/drawing/2014/main" id="{E3AE6F93-8F62-D9BE-FD98-561938220525}"/>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The Value Chain- Linking supply chain and business strategy</a:t>
            </a:r>
            <a:endParaRPr lang="en-US" b="1" dirty="0"/>
          </a:p>
        </p:txBody>
      </p:sp>
      <p:pic>
        <p:nvPicPr>
          <p:cNvPr id="2" name="Picture 1">
            <a:extLst>
              <a:ext uri="{FF2B5EF4-FFF2-40B4-BE49-F238E27FC236}">
                <a16:creationId xmlns:a16="http://schemas.microsoft.com/office/drawing/2014/main" id="{F7BB8497-6D1D-43A5-C45D-3C4D791C3786}"/>
              </a:ext>
            </a:extLst>
          </p:cNvPr>
          <p:cNvPicPr>
            <a:picLocks noChangeAspect="1"/>
          </p:cNvPicPr>
          <p:nvPr/>
        </p:nvPicPr>
        <p:blipFill>
          <a:blip r:embed="rId2"/>
          <a:stretch>
            <a:fillRect/>
          </a:stretch>
        </p:blipFill>
        <p:spPr>
          <a:xfrm>
            <a:off x="2519148" y="1231900"/>
            <a:ext cx="7550035" cy="2197100"/>
          </a:xfrm>
          <a:prstGeom prst="rect">
            <a:avLst/>
          </a:prstGeom>
        </p:spPr>
      </p:pic>
      <p:sp>
        <p:nvSpPr>
          <p:cNvPr id="5" name="TextBox 4">
            <a:extLst>
              <a:ext uri="{FF2B5EF4-FFF2-40B4-BE49-F238E27FC236}">
                <a16:creationId xmlns:a16="http://schemas.microsoft.com/office/drawing/2014/main" id="{5FAF31D3-D8B6-49E0-FBC9-70CA55CE2630}"/>
              </a:ext>
            </a:extLst>
          </p:cNvPr>
          <p:cNvSpPr txBox="1"/>
          <p:nvPr/>
        </p:nvSpPr>
        <p:spPr>
          <a:xfrm>
            <a:off x="284671" y="1231900"/>
            <a:ext cx="1052423" cy="369332"/>
          </a:xfrm>
          <a:prstGeom prst="rect">
            <a:avLst/>
          </a:prstGeom>
          <a:noFill/>
        </p:spPr>
        <p:txBody>
          <a:bodyPr wrap="square" rtlCol="0">
            <a:spAutoFit/>
          </a:bodyPr>
          <a:lstStyle/>
          <a:p>
            <a:r>
              <a:rPr lang="en-US" dirty="0"/>
              <a:t>Porter</a:t>
            </a:r>
            <a:endParaRPr lang="en-IN" dirty="0"/>
          </a:p>
        </p:txBody>
      </p:sp>
      <p:sp>
        <p:nvSpPr>
          <p:cNvPr id="6" name="Content Placeholder 2">
            <a:extLst>
              <a:ext uri="{FF2B5EF4-FFF2-40B4-BE49-F238E27FC236}">
                <a16:creationId xmlns:a16="http://schemas.microsoft.com/office/drawing/2014/main" id="{4456287F-ADEF-4FA2-B52D-BEC6AC2E541A}"/>
              </a:ext>
            </a:extLst>
          </p:cNvPr>
          <p:cNvSpPr txBox="1">
            <a:spLocks/>
          </p:cNvSpPr>
          <p:nvPr/>
        </p:nvSpPr>
        <p:spPr bwMode="gray">
          <a:xfrm>
            <a:off x="1533735" y="3671771"/>
            <a:ext cx="8785225" cy="284455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735" lvl="1" indent="-342900">
              <a:buClr>
                <a:schemeClr val="tx1"/>
              </a:buClr>
              <a:buFont typeface="Wingdings" pitchFamily="2" charset="2"/>
              <a:buChar char="Ø"/>
              <a:defRPr/>
            </a:pPr>
            <a:r>
              <a:rPr lang="en-US" dirty="0"/>
              <a:t>begins with new product development (Creates specifications for the product)</a:t>
            </a:r>
          </a:p>
          <a:p>
            <a:pPr marL="800735" lvl="1" indent="-342900">
              <a:buClr>
                <a:schemeClr val="tx1"/>
              </a:buClr>
              <a:buFont typeface="Wingdings" pitchFamily="2" charset="2"/>
              <a:buChar char="Ø"/>
              <a:defRPr/>
            </a:pPr>
            <a:r>
              <a:rPr lang="en-US" dirty="0"/>
              <a:t>Marketing and sales generate demand (</a:t>
            </a:r>
            <a:r>
              <a:rPr lang="en-US" dirty="0" err="1"/>
              <a:t>Publisizing</a:t>
            </a:r>
            <a:r>
              <a:rPr lang="en-US" dirty="0"/>
              <a:t> the customer priorities)</a:t>
            </a:r>
          </a:p>
          <a:p>
            <a:pPr marL="800735" lvl="1" indent="-342900">
              <a:buClr>
                <a:schemeClr val="tx1"/>
              </a:buClr>
              <a:buFont typeface="Wingdings" pitchFamily="2" charset="2"/>
              <a:buChar char="Ø"/>
              <a:defRPr/>
            </a:pPr>
            <a:r>
              <a:rPr lang="en-US" dirty="0"/>
              <a:t>Using new product specifications, operations transforms inputs to outputs to create the product. </a:t>
            </a:r>
          </a:p>
          <a:p>
            <a:pPr marL="800735" lvl="1" indent="-342900">
              <a:buClr>
                <a:schemeClr val="tx1"/>
              </a:buClr>
              <a:buFont typeface="Wingdings" pitchFamily="2" charset="2"/>
              <a:buChar char="Ø"/>
              <a:defRPr/>
            </a:pPr>
            <a:r>
              <a:rPr lang="en-US" dirty="0"/>
              <a:t>Distribution either takes the product to the customer or brings the customer to the product.</a:t>
            </a:r>
          </a:p>
          <a:p>
            <a:pPr marL="800735" lvl="1" indent="-342900">
              <a:buClr>
                <a:schemeClr val="tx1"/>
              </a:buClr>
              <a:buFont typeface="Wingdings" pitchFamily="2" charset="2"/>
              <a:buChar char="Ø"/>
              <a:defRPr/>
            </a:pPr>
            <a:r>
              <a:rPr lang="en-US" dirty="0"/>
              <a:t>Service responds to customer requests during or after the sale.</a:t>
            </a:r>
          </a:p>
          <a:p>
            <a:pPr marL="800735" lvl="1" indent="-342900">
              <a:buClr>
                <a:schemeClr val="tx1"/>
              </a:buClr>
              <a:buFont typeface="Wingdings" pitchFamily="2" charset="2"/>
              <a:buChar char="Ø"/>
              <a:defRPr/>
            </a:pPr>
            <a:endParaRPr lang="en-US" sz="2000" dirty="0"/>
          </a:p>
          <a:p>
            <a:pPr marL="800735" lvl="1" indent="-342900">
              <a:buClr>
                <a:schemeClr val="tx1"/>
              </a:buClr>
              <a:buFont typeface="Wingdings" pitchFamily="2" charset="2"/>
              <a:buChar char="Ø"/>
              <a:defRPr/>
            </a:pPr>
            <a:endParaRPr lang="en-US" dirty="0">
              <a:latin typeface="+mj-lt"/>
            </a:endParaRPr>
          </a:p>
          <a:p>
            <a:pPr marL="1284922" lvl="3" indent="-342900">
              <a:buClr>
                <a:schemeClr val="tx1"/>
              </a:buClr>
              <a:buFont typeface="Wingdings" pitchFamily="2" charset="2"/>
              <a:buChar char="Ø"/>
              <a:defRPr/>
            </a:pPr>
            <a:endParaRPr lang="en-US" dirty="0">
              <a:latin typeface="+mj-lt"/>
            </a:endParaRPr>
          </a:p>
        </p:txBody>
      </p:sp>
    </p:spTree>
    <p:extLst>
      <p:ext uri="{BB962C8B-B14F-4D97-AF65-F5344CB8AC3E}">
        <p14:creationId xmlns:p14="http://schemas.microsoft.com/office/powerpoint/2010/main" val="364664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7402-5945-3F09-9DB4-79EC9AC1A9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FE1161-8BE8-C2A4-1432-1C739FE1B746}"/>
              </a:ext>
            </a:extLst>
          </p:cNvPr>
          <p:cNvSpPr>
            <a:spLocks noGrp="1"/>
          </p:cNvSpPr>
          <p:nvPr>
            <p:ph type="sldNum" sz="quarter" idx="12"/>
          </p:nvPr>
        </p:nvSpPr>
        <p:spPr/>
        <p:txBody>
          <a:bodyPr/>
          <a:lstStyle/>
          <a:p>
            <a:fld id="{6B07C8CD-4FE2-46F0-9611-E3B643750200}" type="slidenum">
              <a:rPr lang="en-IN" smtClean="0"/>
              <a:t>26</a:t>
            </a:fld>
            <a:endParaRPr lang="en-IN"/>
          </a:p>
        </p:txBody>
      </p:sp>
      <p:sp>
        <p:nvSpPr>
          <p:cNvPr id="7" name="Google Shape;288;p8">
            <a:extLst>
              <a:ext uri="{FF2B5EF4-FFF2-40B4-BE49-F238E27FC236}">
                <a16:creationId xmlns:a16="http://schemas.microsoft.com/office/drawing/2014/main" id="{9199114C-CA5D-4A31-8EEB-D7E31BA0ABA1}"/>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The Value Chain- Linking supply chain and business strategy</a:t>
            </a:r>
            <a:endParaRPr lang="en-US" b="1" dirty="0"/>
          </a:p>
        </p:txBody>
      </p:sp>
      <p:sp>
        <p:nvSpPr>
          <p:cNvPr id="3" name="Content Placeholder 2">
            <a:extLst>
              <a:ext uri="{FF2B5EF4-FFF2-40B4-BE49-F238E27FC236}">
                <a16:creationId xmlns:a16="http://schemas.microsoft.com/office/drawing/2014/main" id="{A66B0A3A-472B-1EBA-BEAB-692D13667D8B}"/>
              </a:ext>
            </a:extLst>
          </p:cNvPr>
          <p:cNvSpPr txBox="1">
            <a:spLocks/>
          </p:cNvSpPr>
          <p:nvPr/>
        </p:nvSpPr>
        <p:spPr bwMode="gray">
          <a:xfrm>
            <a:off x="1703387" y="1316038"/>
            <a:ext cx="8785225" cy="504031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735" lvl="1" indent="-342900">
              <a:buClr>
                <a:schemeClr val="tx1"/>
              </a:buClr>
              <a:buFont typeface="Wingdings" pitchFamily="2" charset="2"/>
              <a:buChar char="Ø"/>
              <a:defRPr/>
            </a:pPr>
            <a:r>
              <a:rPr lang="en-US"/>
              <a:t>Product Development Strategy</a:t>
            </a:r>
          </a:p>
          <a:p>
            <a:pPr marL="1284922" lvl="3" indent="-342900">
              <a:buClr>
                <a:schemeClr val="tx1"/>
              </a:buClr>
              <a:buFont typeface="Wingdings" pitchFamily="2" charset="2"/>
              <a:buChar char="Ø"/>
              <a:defRPr/>
            </a:pPr>
            <a:r>
              <a:rPr lang="en-US"/>
              <a:t>Portfolio of new product</a:t>
            </a:r>
          </a:p>
          <a:p>
            <a:pPr marL="1284922" lvl="3" indent="-342900">
              <a:buClr>
                <a:schemeClr val="tx1"/>
              </a:buClr>
              <a:buFont typeface="Wingdings" pitchFamily="2" charset="2"/>
              <a:buChar char="Ø"/>
              <a:defRPr/>
            </a:pPr>
            <a:r>
              <a:rPr lang="en-US"/>
              <a:t>Whether development will be made internally or outsourced</a:t>
            </a:r>
          </a:p>
          <a:p>
            <a:pPr marL="800735" lvl="1" indent="-342900">
              <a:buClr>
                <a:schemeClr val="tx1"/>
              </a:buClr>
              <a:buFont typeface="Wingdings" pitchFamily="2" charset="2"/>
              <a:buChar char="Ø"/>
              <a:defRPr/>
            </a:pPr>
            <a:r>
              <a:rPr lang="en-US"/>
              <a:t>Marketing &amp; Sales Strategy</a:t>
            </a:r>
          </a:p>
          <a:p>
            <a:pPr marL="1284922" lvl="3" indent="-342900">
              <a:buClr>
                <a:schemeClr val="tx1"/>
              </a:buClr>
              <a:buFont typeface="Wingdings" pitchFamily="2" charset="2"/>
              <a:buChar char="Ø"/>
              <a:defRPr/>
            </a:pPr>
            <a:r>
              <a:rPr lang="en-US"/>
              <a:t>How market will be segmented</a:t>
            </a:r>
          </a:p>
          <a:p>
            <a:pPr marL="1284922" lvl="3" indent="-342900">
              <a:buClr>
                <a:schemeClr val="tx1"/>
              </a:buClr>
              <a:buFont typeface="Wingdings" pitchFamily="2" charset="2"/>
              <a:buChar char="Ø"/>
              <a:defRPr/>
            </a:pPr>
            <a:r>
              <a:rPr lang="en-US"/>
              <a:t>How the product will be positioned/priced/promoted</a:t>
            </a:r>
          </a:p>
          <a:p>
            <a:pPr marL="800735" lvl="1" indent="-342900">
              <a:buClr>
                <a:schemeClr val="tx1"/>
              </a:buClr>
              <a:buFont typeface="Wingdings" pitchFamily="2" charset="2"/>
              <a:buChar char="Ø"/>
              <a:defRPr/>
            </a:pPr>
            <a:r>
              <a:rPr lang="en-US"/>
              <a:t>Supply Chain Strategy</a:t>
            </a:r>
          </a:p>
          <a:p>
            <a:pPr marL="1284922" lvl="3" indent="-342900">
              <a:buClr>
                <a:schemeClr val="tx1"/>
              </a:buClr>
              <a:buFont typeface="Wingdings" pitchFamily="2" charset="2"/>
              <a:buChar char="Ø"/>
              <a:defRPr/>
            </a:pPr>
            <a:r>
              <a:rPr lang="en-US"/>
              <a:t>Procurement of raw materials</a:t>
            </a:r>
          </a:p>
          <a:p>
            <a:pPr marL="1284922" lvl="3" indent="-342900">
              <a:buClr>
                <a:schemeClr val="tx1"/>
              </a:buClr>
              <a:buFont typeface="Wingdings" pitchFamily="2" charset="2"/>
              <a:buChar char="Ø"/>
              <a:defRPr/>
            </a:pPr>
            <a:r>
              <a:rPr lang="en-US"/>
              <a:t>Transportation of materials to &amp; from the company</a:t>
            </a:r>
          </a:p>
          <a:p>
            <a:pPr marL="1284922" lvl="3" indent="-342900">
              <a:buClr>
                <a:schemeClr val="tx1"/>
              </a:buClr>
              <a:buFont typeface="Wingdings" pitchFamily="2" charset="2"/>
              <a:buChar char="Ø"/>
              <a:defRPr/>
            </a:pPr>
            <a:r>
              <a:rPr lang="en-US"/>
              <a:t>Operations to provide service &amp; distribution of the product</a:t>
            </a:r>
          </a:p>
          <a:p>
            <a:pPr marL="800735" lvl="1" indent="-342900">
              <a:buClr>
                <a:schemeClr val="tx1"/>
              </a:buClr>
              <a:buFont typeface="Wingdings" pitchFamily="2" charset="2"/>
              <a:buChar char="Ø"/>
              <a:defRPr/>
            </a:pPr>
            <a:r>
              <a:rPr lang="en-US"/>
              <a:t>CISCO – outsourced component manufacturing and assembly</a:t>
            </a:r>
          </a:p>
          <a:p>
            <a:pPr marL="800735" lvl="1" indent="-342900">
              <a:buClr>
                <a:schemeClr val="tx1"/>
              </a:buClr>
              <a:buFont typeface="Wingdings" pitchFamily="2" charset="2"/>
              <a:buChar char="Ø"/>
              <a:defRPr/>
            </a:pPr>
            <a:r>
              <a:rPr lang="en-US"/>
              <a:t>Toyota – production facility in its major markets</a:t>
            </a:r>
          </a:p>
          <a:p>
            <a:pPr marL="800735" lvl="1" indent="-342900">
              <a:buClr>
                <a:schemeClr val="tx1"/>
              </a:buClr>
              <a:buFont typeface="Wingdings" pitchFamily="2" charset="2"/>
              <a:buChar char="Ø"/>
              <a:defRPr/>
            </a:pPr>
            <a:endParaRPr lang="en-US"/>
          </a:p>
          <a:p>
            <a:pPr marL="800735" lvl="1" indent="-342900">
              <a:buClr>
                <a:schemeClr val="tx1"/>
              </a:buClr>
              <a:buFont typeface="Wingdings" pitchFamily="2" charset="2"/>
              <a:buChar char="Ø"/>
              <a:defRPr/>
            </a:pPr>
            <a:r>
              <a:rPr lang="en-US"/>
              <a:t>Each function in SC is crucial to satisfy customer needs</a:t>
            </a:r>
          </a:p>
          <a:p>
            <a:pPr marL="800735" lvl="1" indent="-342900">
              <a:buClr>
                <a:schemeClr val="tx1"/>
              </a:buClr>
              <a:buFont typeface="Wingdings" pitchFamily="2" charset="2"/>
              <a:buChar char="Ø"/>
              <a:defRPr/>
            </a:pPr>
            <a:r>
              <a:rPr lang="en-US"/>
              <a:t>They can’t be formed in isolation</a:t>
            </a:r>
          </a:p>
          <a:p>
            <a:pPr marL="800735" lvl="1" indent="-342900">
              <a:buClr>
                <a:schemeClr val="tx1"/>
              </a:buClr>
              <a:buFont typeface="Wingdings" pitchFamily="2" charset="2"/>
              <a:buChar char="Ø"/>
              <a:defRPr/>
            </a:pPr>
            <a:r>
              <a:rPr lang="en-US"/>
              <a:t>They are closely intertwined and must fit &amp; support each other</a:t>
            </a:r>
          </a:p>
          <a:p>
            <a:pPr marL="800735" lvl="1" indent="-342900">
              <a:buClr>
                <a:schemeClr val="tx1"/>
              </a:buClr>
              <a:buFont typeface="Wingdings" pitchFamily="2" charset="2"/>
              <a:buChar char="Ø"/>
              <a:defRPr/>
            </a:pPr>
            <a:endParaRPr lang="en-US"/>
          </a:p>
          <a:p>
            <a:pPr marL="1284922" lvl="3" indent="-342900">
              <a:buClr>
                <a:schemeClr val="tx1"/>
              </a:buClr>
              <a:buFont typeface="Wingdings" pitchFamily="2" charset="2"/>
              <a:buChar char="Ø"/>
              <a:defRPr/>
            </a:pPr>
            <a:endParaRPr lang="en-US"/>
          </a:p>
          <a:p>
            <a:pPr marL="1284922" lvl="3" indent="-342900">
              <a:buClr>
                <a:schemeClr val="tx1"/>
              </a:buClr>
              <a:buFont typeface="Wingdings" pitchFamily="2" charset="2"/>
              <a:buChar char="Ø"/>
              <a:defRPr/>
            </a:pPr>
            <a:endParaRPr lang="en-US"/>
          </a:p>
          <a:p>
            <a:pPr marL="800735" lvl="1" indent="-342900">
              <a:buClr>
                <a:schemeClr val="tx1"/>
              </a:buClr>
              <a:buFont typeface="Wingdings" pitchFamily="2" charset="2"/>
              <a:buChar char="Ø"/>
              <a:defRPr/>
            </a:pPr>
            <a:endParaRPr lang="en-US" dirty="0"/>
          </a:p>
        </p:txBody>
      </p:sp>
    </p:spTree>
    <p:extLst>
      <p:ext uri="{BB962C8B-B14F-4D97-AF65-F5344CB8AC3E}">
        <p14:creationId xmlns:p14="http://schemas.microsoft.com/office/powerpoint/2010/main" val="33398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AA9DA-C40E-0CE1-1064-E32D8BB1FA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A10843-CF58-D07A-B85A-AA13B98FCCA3}"/>
              </a:ext>
            </a:extLst>
          </p:cNvPr>
          <p:cNvSpPr>
            <a:spLocks noGrp="1"/>
          </p:cNvSpPr>
          <p:nvPr>
            <p:ph type="sldNum" sz="quarter" idx="12"/>
          </p:nvPr>
        </p:nvSpPr>
        <p:spPr/>
        <p:txBody>
          <a:bodyPr/>
          <a:lstStyle/>
          <a:p>
            <a:fld id="{6B07C8CD-4FE2-46F0-9611-E3B643750200}" type="slidenum">
              <a:rPr lang="en-IN" smtClean="0"/>
              <a:t>27</a:t>
            </a:fld>
            <a:endParaRPr lang="en-IN"/>
          </a:p>
        </p:txBody>
      </p:sp>
      <p:sp>
        <p:nvSpPr>
          <p:cNvPr id="7" name="Google Shape;288;p8">
            <a:extLst>
              <a:ext uri="{FF2B5EF4-FFF2-40B4-BE49-F238E27FC236}">
                <a16:creationId xmlns:a16="http://schemas.microsoft.com/office/drawing/2014/main" id="{B7F83616-80EC-731E-15A8-B6E3CD10E38D}"/>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Achieving Strategic Fit….</a:t>
            </a:r>
            <a:endParaRPr lang="en-US" b="1" dirty="0"/>
          </a:p>
        </p:txBody>
      </p:sp>
      <p:sp>
        <p:nvSpPr>
          <p:cNvPr id="3" name="Rectangle 3">
            <a:extLst>
              <a:ext uri="{FF2B5EF4-FFF2-40B4-BE49-F238E27FC236}">
                <a16:creationId xmlns:a16="http://schemas.microsoft.com/office/drawing/2014/main" id="{747D7861-4E55-231C-594C-2B087AEEFD56}"/>
              </a:ext>
            </a:extLst>
          </p:cNvPr>
          <p:cNvSpPr txBox="1">
            <a:spLocks noChangeArrowheads="1"/>
          </p:cNvSpPr>
          <p:nvPr/>
        </p:nvSpPr>
        <p:spPr>
          <a:xfrm>
            <a:off x="475890" y="1623218"/>
            <a:ext cx="10877910" cy="45259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Strategic fit  </a:t>
            </a:r>
          </a:p>
          <a:p>
            <a:pPr marL="0" indent="0">
              <a:buNone/>
            </a:pPr>
            <a:r>
              <a:rPr lang="en-US" dirty="0"/>
              <a:t>– Competitive and supply chain strategies have aligned goals – defined by the </a:t>
            </a:r>
            <a:r>
              <a:rPr lang="en-US" dirty="0">
                <a:highlight>
                  <a:srgbClr val="FFFF00"/>
                </a:highlight>
              </a:rPr>
              <a:t>capability of SC</a:t>
            </a:r>
          </a:p>
          <a:p>
            <a:pPr marL="0" indent="0">
              <a:buNone/>
            </a:pPr>
            <a:r>
              <a:rPr lang="en-US" dirty="0"/>
              <a:t>_ Consistency between the customer priorities that the competitive strategy hopes to satisfy and the supply chain capabilities that the supply chain strategy aims to build</a:t>
            </a:r>
          </a:p>
          <a:p>
            <a:endParaRPr lang="en-US" dirty="0"/>
          </a:p>
          <a:p>
            <a:pPr marL="0" indent="0">
              <a:buNone/>
            </a:pPr>
            <a:r>
              <a:rPr lang="en-US" dirty="0"/>
              <a:t>A company may fail because of a lack of strategic fit or because its processes and resources to execute the desired strategy do not  provide by the capabilities.– </a:t>
            </a:r>
            <a:r>
              <a:rPr lang="en-US" dirty="0">
                <a:highlight>
                  <a:srgbClr val="FFFF00"/>
                </a:highlight>
              </a:rPr>
              <a:t>Update with customer needs</a:t>
            </a:r>
          </a:p>
          <a:p>
            <a:endParaRPr lang="en-US" dirty="0">
              <a:highlight>
                <a:srgbClr val="FFFF00"/>
              </a:highlight>
            </a:endParaRPr>
          </a:p>
          <a:p>
            <a:r>
              <a:rPr lang="en-US" dirty="0"/>
              <a:t>Issue is- Customer priorities are evolving with time and advancement. – </a:t>
            </a:r>
            <a:r>
              <a:rPr lang="en-US" dirty="0">
                <a:highlight>
                  <a:srgbClr val="FFFF00"/>
                </a:highlight>
              </a:rPr>
              <a:t>Japan, China…WRT market, status</a:t>
            </a:r>
          </a:p>
          <a:p>
            <a:endParaRPr lang="en-US" dirty="0"/>
          </a:p>
          <a:p>
            <a:r>
              <a:rPr lang="en-US" dirty="0"/>
              <a:t>Capability- Maruti even in a tier 3 city. – manifestation of SC strategy</a:t>
            </a:r>
          </a:p>
          <a:p>
            <a:pPr marL="0" indent="0">
              <a:buNone/>
            </a:pPr>
            <a:r>
              <a:rPr lang="en-US" dirty="0"/>
              <a:t>EG- Market Intensive strategy- </a:t>
            </a:r>
            <a:r>
              <a:rPr lang="en-US" dirty="0" err="1">
                <a:highlight>
                  <a:srgbClr val="FFFF00"/>
                </a:highlight>
              </a:rPr>
              <a:t>Zudio</a:t>
            </a:r>
            <a:r>
              <a:rPr lang="en-US" dirty="0">
                <a:highlight>
                  <a:srgbClr val="FFFF00"/>
                </a:highlight>
              </a:rPr>
              <a:t>, Maruti, Patanjali, automobiles</a:t>
            </a:r>
          </a:p>
        </p:txBody>
      </p:sp>
    </p:spTree>
    <p:extLst>
      <p:ext uri="{BB962C8B-B14F-4D97-AF65-F5344CB8AC3E}">
        <p14:creationId xmlns:p14="http://schemas.microsoft.com/office/powerpoint/2010/main" val="2957084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E25C-D4E4-5B59-F999-3D704587AB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DBA4F5-E79D-E2D8-12EC-682676778265}"/>
              </a:ext>
            </a:extLst>
          </p:cNvPr>
          <p:cNvSpPr>
            <a:spLocks noGrp="1"/>
          </p:cNvSpPr>
          <p:nvPr>
            <p:ph type="sldNum" sz="quarter" idx="12"/>
          </p:nvPr>
        </p:nvSpPr>
        <p:spPr/>
        <p:txBody>
          <a:bodyPr/>
          <a:lstStyle/>
          <a:p>
            <a:fld id="{6B07C8CD-4FE2-46F0-9611-E3B643750200}" type="slidenum">
              <a:rPr lang="en-IN" smtClean="0"/>
              <a:t>28</a:t>
            </a:fld>
            <a:endParaRPr lang="en-IN"/>
          </a:p>
        </p:txBody>
      </p:sp>
      <p:sp>
        <p:nvSpPr>
          <p:cNvPr id="7" name="Google Shape;288;p8">
            <a:extLst>
              <a:ext uri="{FF2B5EF4-FFF2-40B4-BE49-F238E27FC236}">
                <a16:creationId xmlns:a16="http://schemas.microsoft.com/office/drawing/2014/main" id="{4EC01F88-798D-BDCF-8445-069BCA83C629}"/>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Achieving Strategic Fit….</a:t>
            </a:r>
            <a:endParaRPr lang="en-US" b="1" dirty="0"/>
          </a:p>
        </p:txBody>
      </p:sp>
      <p:sp>
        <p:nvSpPr>
          <p:cNvPr id="2" name="Rectangle 3">
            <a:extLst>
              <a:ext uri="{FF2B5EF4-FFF2-40B4-BE49-F238E27FC236}">
                <a16:creationId xmlns:a16="http://schemas.microsoft.com/office/drawing/2014/main" id="{B8FCE709-C0CD-EAFC-AE82-5AD6FD233C57}"/>
              </a:ext>
            </a:extLst>
          </p:cNvPr>
          <p:cNvSpPr txBox="1">
            <a:spLocks noChangeArrowheads="1"/>
          </p:cNvSpPr>
          <p:nvPr/>
        </p:nvSpPr>
        <p:spPr>
          <a:xfrm>
            <a:off x="838200" y="1549223"/>
            <a:ext cx="10593238" cy="49896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SzPct val="100000"/>
              <a:buFont typeface="+mj-lt"/>
              <a:buAutoNum type="arabicPeriod"/>
            </a:pPr>
            <a:r>
              <a:rPr lang="en-US" dirty="0"/>
              <a:t>The competitive strategy and all functional strategies must fit together to form a coordinated overall strategy. Each functional strategy must support other functional strategies and help a firm reach its competitive strategy goal.</a:t>
            </a:r>
          </a:p>
          <a:p>
            <a:pPr marL="514350" indent="-514350" algn="just">
              <a:buSzPct val="100000"/>
              <a:buFont typeface="+mj-lt"/>
              <a:buAutoNum type="arabicPeriod"/>
            </a:pPr>
            <a:r>
              <a:rPr lang="en-US" dirty="0"/>
              <a:t>The different functions in a company must appropriately structure their processes and resources to be able to execute these strategies successfully.</a:t>
            </a:r>
          </a:p>
          <a:p>
            <a:pPr marL="514350" indent="-514350" algn="just">
              <a:buSzPct val="100000"/>
              <a:buFont typeface="+mj-lt"/>
              <a:buAutoNum type="arabicPeriod"/>
            </a:pPr>
            <a:r>
              <a:rPr lang="en-US" dirty="0"/>
              <a:t>The design of the overall supply chain and the role of each stage must be aligned to support the supply chain strategy.</a:t>
            </a:r>
          </a:p>
        </p:txBody>
      </p:sp>
    </p:spTree>
    <p:extLst>
      <p:ext uri="{BB962C8B-B14F-4D97-AF65-F5344CB8AC3E}">
        <p14:creationId xmlns:p14="http://schemas.microsoft.com/office/powerpoint/2010/main" val="1930705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DDB90-ED31-8CA4-5DD6-A32390171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75F551-F6AA-2481-B01D-2A8B726A8A2D}"/>
              </a:ext>
            </a:extLst>
          </p:cNvPr>
          <p:cNvSpPr>
            <a:spLocks noGrp="1"/>
          </p:cNvSpPr>
          <p:nvPr>
            <p:ph type="sldNum" sz="quarter" idx="12"/>
          </p:nvPr>
        </p:nvSpPr>
        <p:spPr/>
        <p:txBody>
          <a:bodyPr/>
          <a:lstStyle/>
          <a:p>
            <a:fld id="{6B07C8CD-4FE2-46F0-9611-E3B643750200}" type="slidenum">
              <a:rPr lang="en-IN" smtClean="0"/>
              <a:t>29</a:t>
            </a:fld>
            <a:endParaRPr lang="en-IN"/>
          </a:p>
        </p:txBody>
      </p:sp>
      <p:sp>
        <p:nvSpPr>
          <p:cNvPr id="7" name="Google Shape;288;p8">
            <a:extLst>
              <a:ext uri="{FF2B5EF4-FFF2-40B4-BE49-F238E27FC236}">
                <a16:creationId xmlns:a16="http://schemas.microsoft.com/office/drawing/2014/main" id="{58BC2769-FED8-C73F-8618-B78580BD8494}"/>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How to Achieve Strategic Fit?</a:t>
            </a:r>
            <a:endParaRPr lang="en-US" b="1" dirty="0"/>
          </a:p>
        </p:txBody>
      </p:sp>
      <p:sp>
        <p:nvSpPr>
          <p:cNvPr id="2" name="Rectangle 3">
            <a:extLst>
              <a:ext uri="{FF2B5EF4-FFF2-40B4-BE49-F238E27FC236}">
                <a16:creationId xmlns:a16="http://schemas.microsoft.com/office/drawing/2014/main" id="{0FC71232-C457-45B1-9903-D6E3E53B0648}"/>
              </a:ext>
            </a:extLst>
          </p:cNvPr>
          <p:cNvSpPr txBox="1">
            <a:spLocks noChangeArrowheads="1"/>
          </p:cNvSpPr>
          <p:nvPr/>
        </p:nvSpPr>
        <p:spPr>
          <a:xfrm>
            <a:off x="2227053" y="2428335"/>
            <a:ext cx="74803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SzPct val="100000"/>
              <a:buFont typeface="+mj-lt"/>
              <a:buAutoNum type="arabicPeriod"/>
            </a:pPr>
            <a:r>
              <a:rPr lang="en-US"/>
              <a:t>Understanding the customer and supply chain uncertainty</a:t>
            </a:r>
          </a:p>
          <a:p>
            <a:pPr marL="514350" indent="-514350">
              <a:buSzPct val="100000"/>
              <a:buFont typeface="+mj-lt"/>
              <a:buAutoNum type="arabicPeriod"/>
            </a:pPr>
            <a:r>
              <a:rPr lang="en-US"/>
              <a:t>Understanding the supply chain capabilities</a:t>
            </a:r>
          </a:p>
          <a:p>
            <a:pPr marL="514350" indent="-514350">
              <a:buSzPct val="100000"/>
              <a:buFont typeface="+mj-lt"/>
              <a:buAutoNum type="arabicPeriod"/>
            </a:pPr>
            <a:r>
              <a:rPr lang="en-US"/>
              <a:t>Achieving strategic fit</a:t>
            </a:r>
            <a:endParaRPr lang="en-US" dirty="0"/>
          </a:p>
        </p:txBody>
      </p:sp>
    </p:spTree>
    <p:extLst>
      <p:ext uri="{BB962C8B-B14F-4D97-AF65-F5344CB8AC3E}">
        <p14:creationId xmlns:p14="http://schemas.microsoft.com/office/powerpoint/2010/main" val="4278797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46B55-061A-F7E6-2453-A7D0A07CFF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BB35AD-FD4E-6407-BBF5-574656FAEFEE}"/>
              </a:ext>
            </a:extLst>
          </p:cNvPr>
          <p:cNvSpPr>
            <a:spLocks noGrp="1"/>
          </p:cNvSpPr>
          <p:nvPr>
            <p:ph type="sldNum" sz="quarter" idx="12"/>
          </p:nvPr>
        </p:nvSpPr>
        <p:spPr/>
        <p:txBody>
          <a:bodyPr/>
          <a:lstStyle/>
          <a:p>
            <a:fld id="{6B07C8CD-4FE2-46F0-9611-E3B643750200}" type="slidenum">
              <a:rPr lang="en-IN" smtClean="0"/>
              <a:t>30</a:t>
            </a:fld>
            <a:endParaRPr lang="en-IN"/>
          </a:p>
        </p:txBody>
      </p:sp>
      <p:sp>
        <p:nvSpPr>
          <p:cNvPr id="7" name="Google Shape;288;p8">
            <a:extLst>
              <a:ext uri="{FF2B5EF4-FFF2-40B4-BE49-F238E27FC236}">
                <a16:creationId xmlns:a16="http://schemas.microsoft.com/office/drawing/2014/main" id="{13749CB1-99D7-7742-6B18-5558BB40CC18}"/>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How to Achieve Strategic Fit?</a:t>
            </a:r>
            <a:endParaRPr lang="en-US" b="1" dirty="0"/>
          </a:p>
        </p:txBody>
      </p:sp>
      <p:sp>
        <p:nvSpPr>
          <p:cNvPr id="3" name="Rectangle 3">
            <a:extLst>
              <a:ext uri="{FF2B5EF4-FFF2-40B4-BE49-F238E27FC236}">
                <a16:creationId xmlns:a16="http://schemas.microsoft.com/office/drawing/2014/main" id="{F30EBBAD-428A-4799-A8FF-62671FDC306D}"/>
              </a:ext>
            </a:extLst>
          </p:cNvPr>
          <p:cNvSpPr txBox="1">
            <a:spLocks noChangeArrowheads="1"/>
          </p:cNvSpPr>
          <p:nvPr/>
        </p:nvSpPr>
        <p:spPr>
          <a:xfrm>
            <a:off x="2336800" y="2953228"/>
            <a:ext cx="75184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Quantity of product needed in each lot</a:t>
            </a:r>
          </a:p>
          <a:p>
            <a:r>
              <a:rPr lang="en-US" dirty="0"/>
              <a:t>Response time customers will tolerate</a:t>
            </a:r>
          </a:p>
          <a:p>
            <a:r>
              <a:rPr lang="en-US" dirty="0"/>
              <a:t>Variety of products needed</a:t>
            </a:r>
          </a:p>
          <a:p>
            <a:r>
              <a:rPr lang="en-US" dirty="0"/>
              <a:t>Service level required</a:t>
            </a:r>
          </a:p>
          <a:p>
            <a:r>
              <a:rPr lang="en-US" dirty="0"/>
              <a:t>Price of the product</a:t>
            </a:r>
          </a:p>
          <a:p>
            <a:r>
              <a:rPr lang="en-US" dirty="0"/>
              <a:t>Desired rate of innovation in the product</a:t>
            </a:r>
          </a:p>
        </p:txBody>
      </p:sp>
      <p:sp>
        <p:nvSpPr>
          <p:cNvPr id="6" name="TextBox 5">
            <a:extLst>
              <a:ext uri="{FF2B5EF4-FFF2-40B4-BE49-F238E27FC236}">
                <a16:creationId xmlns:a16="http://schemas.microsoft.com/office/drawing/2014/main" id="{17F9C734-361F-088A-B8C4-46039174A88B}"/>
              </a:ext>
            </a:extLst>
          </p:cNvPr>
          <p:cNvSpPr txBox="1"/>
          <p:nvPr/>
        </p:nvSpPr>
        <p:spPr>
          <a:xfrm>
            <a:off x="759125" y="1184055"/>
            <a:ext cx="10748513" cy="1323439"/>
          </a:xfrm>
          <a:prstGeom prst="rect">
            <a:avLst/>
          </a:prstGeom>
          <a:noFill/>
        </p:spPr>
        <p:txBody>
          <a:bodyPr wrap="square">
            <a:spAutoFit/>
          </a:bodyPr>
          <a:lstStyle/>
          <a:p>
            <a:r>
              <a:rPr lang="en-US" sz="4000" dirty="0"/>
              <a:t>Step 1:  Understanding the Customer and Supply Chain Uncertainty</a:t>
            </a:r>
            <a:endParaRPr lang="en-IN" sz="4000" dirty="0"/>
          </a:p>
        </p:txBody>
      </p:sp>
    </p:spTree>
    <p:extLst>
      <p:ext uri="{BB962C8B-B14F-4D97-AF65-F5344CB8AC3E}">
        <p14:creationId xmlns:p14="http://schemas.microsoft.com/office/powerpoint/2010/main" val="535200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27EE-2083-1EF5-0E49-D676DBBDB8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F848F7-20A5-911E-B9D4-50E5DCB41EA6}"/>
              </a:ext>
            </a:extLst>
          </p:cNvPr>
          <p:cNvSpPr>
            <a:spLocks noGrp="1"/>
          </p:cNvSpPr>
          <p:nvPr>
            <p:ph type="sldNum" sz="quarter" idx="12"/>
          </p:nvPr>
        </p:nvSpPr>
        <p:spPr/>
        <p:txBody>
          <a:bodyPr/>
          <a:lstStyle/>
          <a:p>
            <a:fld id="{6B07C8CD-4FE2-46F0-9611-E3B643750200}" type="slidenum">
              <a:rPr lang="en-IN" smtClean="0"/>
              <a:t>31</a:t>
            </a:fld>
            <a:endParaRPr lang="en-IN"/>
          </a:p>
        </p:txBody>
      </p:sp>
      <p:sp>
        <p:nvSpPr>
          <p:cNvPr id="7" name="Google Shape;288;p8">
            <a:extLst>
              <a:ext uri="{FF2B5EF4-FFF2-40B4-BE49-F238E27FC236}">
                <a16:creationId xmlns:a16="http://schemas.microsoft.com/office/drawing/2014/main" id="{E4A81D2A-7192-BC3F-93BA-EA65424D91CC}"/>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sz="3600" dirty="0"/>
              <a:t>Impact of Customer Needs and  Implied Demand Uncertainty?</a:t>
            </a:r>
            <a:endParaRPr lang="en-US" sz="3600" b="1" dirty="0"/>
          </a:p>
        </p:txBody>
      </p:sp>
      <p:graphicFrame>
        <p:nvGraphicFramePr>
          <p:cNvPr id="2" name="Table 1">
            <a:extLst>
              <a:ext uri="{FF2B5EF4-FFF2-40B4-BE49-F238E27FC236}">
                <a16:creationId xmlns:a16="http://schemas.microsoft.com/office/drawing/2014/main" id="{72E6D5AE-8B9D-9E26-D5B7-178791F04521}"/>
              </a:ext>
            </a:extLst>
          </p:cNvPr>
          <p:cNvGraphicFramePr>
            <a:graphicFrameLocks noGrp="1"/>
          </p:cNvGraphicFramePr>
          <p:nvPr>
            <p:extLst>
              <p:ext uri="{D42A27DB-BD31-4B8C-83A1-F6EECF244321}">
                <p14:modId xmlns:p14="http://schemas.microsoft.com/office/powerpoint/2010/main" val="2409935675"/>
              </p:ext>
            </p:extLst>
          </p:nvPr>
        </p:nvGraphicFramePr>
        <p:xfrm>
          <a:off x="1050984" y="1633220"/>
          <a:ext cx="9878683" cy="4265928"/>
        </p:xfrm>
        <a:graphic>
          <a:graphicData uri="http://schemas.openxmlformats.org/drawingml/2006/table">
            <a:tbl>
              <a:tblPr firstRow="1">
                <a:tableStyleId>{5940675A-B579-460E-94D1-54222C63F5DA}</a:tableStyleId>
              </a:tblPr>
              <a:tblGrid>
                <a:gridCol w="3985325">
                  <a:extLst>
                    <a:ext uri="{9D8B030D-6E8A-4147-A177-3AD203B41FA5}">
                      <a16:colId xmlns:a16="http://schemas.microsoft.com/office/drawing/2014/main" val="20000"/>
                    </a:ext>
                  </a:extLst>
                </a:gridCol>
                <a:gridCol w="5893358">
                  <a:extLst>
                    <a:ext uri="{9D8B030D-6E8A-4147-A177-3AD203B41FA5}">
                      <a16:colId xmlns:a16="http://schemas.microsoft.com/office/drawing/2014/main" val="20001"/>
                    </a:ext>
                  </a:extLst>
                </a:gridCol>
              </a:tblGrid>
              <a:tr h="416866">
                <a:tc>
                  <a:txBody>
                    <a:bodyPr/>
                    <a:lstStyle/>
                    <a:p>
                      <a:r>
                        <a:rPr lang="en-US" sz="1400" b="1" dirty="0"/>
                        <a:t>Customer Need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Causes Implied Demand Uncertainty to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708672">
                <a:tc>
                  <a:txBody>
                    <a:bodyPr/>
                    <a:lstStyle/>
                    <a:p>
                      <a:r>
                        <a:rPr lang="en-US" sz="1400" dirty="0"/>
                        <a:t>Range of quantity required increases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t>Increase because a wider range of the quantity required implies greater variance in demand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7187">
                <a:tc>
                  <a:txBody>
                    <a:bodyPr/>
                    <a:lstStyle/>
                    <a:p>
                      <a:r>
                        <a:rPr lang="en-US" sz="1400" kern="1200" dirty="0">
                          <a:solidFill>
                            <a:schemeClr val="tx1"/>
                          </a:solidFill>
                          <a:latin typeface="+mn-lt"/>
                          <a:ea typeface="+mn-ea"/>
                          <a:cs typeface="+mn-cs"/>
                        </a:rPr>
                        <a:t>Lead time decreases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kern="1200" dirty="0">
                          <a:solidFill>
                            <a:schemeClr val="tx1"/>
                          </a:solidFill>
                          <a:latin typeface="+mn-lt"/>
                          <a:ea typeface="+mn-ea"/>
                          <a:cs typeface="+mn-cs"/>
                        </a:rPr>
                        <a:t>Increase because there is less time in which to react to orders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07187">
                <a:tc>
                  <a:txBody>
                    <a:bodyPr/>
                    <a:lstStyle/>
                    <a:p>
                      <a:r>
                        <a:rPr lang="en-US" sz="1400" kern="1200" dirty="0">
                          <a:solidFill>
                            <a:schemeClr val="tx1"/>
                          </a:solidFill>
                          <a:latin typeface="+mn-lt"/>
                          <a:ea typeface="+mn-ea"/>
                          <a:cs typeface="+mn-cs"/>
                        </a:rPr>
                        <a:t>Variety of products required increases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kern="1200" dirty="0">
                          <a:solidFill>
                            <a:schemeClr val="tx1"/>
                          </a:solidFill>
                          <a:latin typeface="+mn-lt"/>
                          <a:ea typeface="+mn-ea"/>
                          <a:cs typeface="+mn-cs"/>
                        </a:rPr>
                        <a:t>Increase because demand per product becomes less predictable</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08672">
                <a:tc>
                  <a:txBody>
                    <a:bodyPr/>
                    <a:lstStyle/>
                    <a:p>
                      <a:r>
                        <a:rPr lang="en-US" sz="1400" kern="1200" dirty="0">
                          <a:solidFill>
                            <a:schemeClr val="tx1"/>
                          </a:solidFill>
                          <a:latin typeface="+mn-lt"/>
                          <a:ea typeface="+mn-ea"/>
                          <a:cs typeface="+mn-cs"/>
                        </a:rPr>
                        <a:t>Number of channels through which product may be acquired increases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kern="1200" dirty="0">
                          <a:solidFill>
                            <a:schemeClr val="tx1"/>
                          </a:solidFill>
                          <a:latin typeface="+mn-lt"/>
                          <a:ea typeface="+mn-ea"/>
                          <a:cs typeface="+mn-cs"/>
                        </a:rPr>
                        <a:t>Increase because the total customer demand per channel</a:t>
                      </a:r>
                      <a:r>
                        <a:rPr lang="en-US" sz="1400" kern="1200" baseline="0" dirty="0">
                          <a:solidFill>
                            <a:schemeClr val="tx1"/>
                          </a:solidFill>
                          <a:latin typeface="+mn-lt"/>
                          <a:ea typeface="+mn-ea"/>
                          <a:cs typeface="+mn-cs"/>
                        </a:rPr>
                        <a:t> becomes less predictable</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08672">
                <a:tc>
                  <a:txBody>
                    <a:bodyPr/>
                    <a:lstStyle/>
                    <a:p>
                      <a:r>
                        <a:rPr lang="en-US" sz="1400" kern="1200" dirty="0">
                          <a:solidFill>
                            <a:schemeClr val="tx1"/>
                          </a:solidFill>
                          <a:latin typeface="+mn-lt"/>
                          <a:ea typeface="+mn-ea"/>
                          <a:cs typeface="+mn-cs"/>
                        </a:rPr>
                        <a:t>Rate of innovation increases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kern="1200" dirty="0">
                          <a:solidFill>
                            <a:schemeClr val="tx1"/>
                          </a:solidFill>
                          <a:latin typeface="+mn-lt"/>
                          <a:ea typeface="+mn-ea"/>
                          <a:cs typeface="+mn-cs"/>
                        </a:rPr>
                        <a:t>Increase because new products tend to have more uncertain demand</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708672">
                <a:tc>
                  <a:txBody>
                    <a:bodyPr/>
                    <a:lstStyle/>
                    <a:p>
                      <a:r>
                        <a:rPr lang="en-US" sz="1400" kern="1200" dirty="0">
                          <a:solidFill>
                            <a:schemeClr val="tx1"/>
                          </a:solidFill>
                          <a:latin typeface="+mn-lt"/>
                          <a:ea typeface="+mn-ea"/>
                          <a:cs typeface="+mn-cs"/>
                        </a:rPr>
                        <a:t>Required service level increases</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kern="1200" dirty="0">
                          <a:solidFill>
                            <a:schemeClr val="tx1"/>
                          </a:solidFill>
                          <a:latin typeface="+mn-lt"/>
                          <a:ea typeface="+mn-ea"/>
                          <a:cs typeface="+mn-cs"/>
                        </a:rPr>
                        <a:t>Increase because the firm now has to handle unusual surges in demand</a:t>
                      </a:r>
                      <a:endParaRPr 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9743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62FD-3084-07FE-8733-574D2F04AE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E094D0-8501-09A6-D696-003BA06CF92D}"/>
              </a:ext>
            </a:extLst>
          </p:cNvPr>
          <p:cNvSpPr>
            <a:spLocks noGrp="1"/>
          </p:cNvSpPr>
          <p:nvPr>
            <p:ph type="sldNum" sz="quarter" idx="12"/>
          </p:nvPr>
        </p:nvSpPr>
        <p:spPr/>
        <p:txBody>
          <a:bodyPr/>
          <a:lstStyle/>
          <a:p>
            <a:fld id="{6B07C8CD-4FE2-46F0-9611-E3B643750200}" type="slidenum">
              <a:rPr lang="en-IN" smtClean="0"/>
              <a:t>32</a:t>
            </a:fld>
            <a:endParaRPr lang="en-IN"/>
          </a:p>
        </p:txBody>
      </p:sp>
      <p:sp>
        <p:nvSpPr>
          <p:cNvPr id="7" name="Google Shape;288;p8">
            <a:extLst>
              <a:ext uri="{FF2B5EF4-FFF2-40B4-BE49-F238E27FC236}">
                <a16:creationId xmlns:a16="http://schemas.microsoft.com/office/drawing/2014/main" id="{B2993F0C-0571-491C-D108-943C8FB29318}"/>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Implied Uncertainty (Demand and Supply) Spectrum</a:t>
            </a:r>
            <a:endParaRPr lang="en-US" b="1" dirty="0"/>
          </a:p>
        </p:txBody>
      </p:sp>
      <p:pic>
        <p:nvPicPr>
          <p:cNvPr id="2" name="Picture 1">
            <a:extLst>
              <a:ext uri="{FF2B5EF4-FFF2-40B4-BE49-F238E27FC236}">
                <a16:creationId xmlns:a16="http://schemas.microsoft.com/office/drawing/2014/main" id="{6F588DBA-CF3E-DF10-D8F8-6AABD6282D37}"/>
              </a:ext>
            </a:extLst>
          </p:cNvPr>
          <p:cNvPicPr>
            <a:picLocks noChangeAspect="1"/>
          </p:cNvPicPr>
          <p:nvPr/>
        </p:nvPicPr>
        <p:blipFill>
          <a:blip r:embed="rId2"/>
          <a:stretch>
            <a:fillRect/>
          </a:stretch>
        </p:blipFill>
        <p:spPr>
          <a:xfrm>
            <a:off x="891032" y="2311400"/>
            <a:ext cx="10403228" cy="2709174"/>
          </a:xfrm>
          <a:prstGeom prst="rect">
            <a:avLst/>
          </a:prstGeom>
        </p:spPr>
      </p:pic>
    </p:spTree>
    <p:extLst>
      <p:ext uri="{BB962C8B-B14F-4D97-AF65-F5344CB8AC3E}">
        <p14:creationId xmlns:p14="http://schemas.microsoft.com/office/powerpoint/2010/main" val="311695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B165-6C7E-1B51-B23C-0781EE318A1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07CE3F-7574-6DA1-A2F0-3A8BEFED4A9D}"/>
              </a:ext>
            </a:extLst>
          </p:cNvPr>
          <p:cNvSpPr>
            <a:spLocks noGrp="1"/>
          </p:cNvSpPr>
          <p:nvPr>
            <p:ph type="sldNum" sz="quarter" idx="12"/>
          </p:nvPr>
        </p:nvSpPr>
        <p:spPr/>
        <p:txBody>
          <a:bodyPr/>
          <a:lstStyle/>
          <a:p>
            <a:fld id="{6B07C8CD-4FE2-46F0-9611-E3B643750200}" type="slidenum">
              <a:rPr lang="en-IN" smtClean="0"/>
              <a:t>33</a:t>
            </a:fld>
            <a:endParaRPr lang="en-IN"/>
          </a:p>
        </p:txBody>
      </p:sp>
      <p:sp>
        <p:nvSpPr>
          <p:cNvPr id="7" name="Google Shape;288;p8">
            <a:extLst>
              <a:ext uri="{FF2B5EF4-FFF2-40B4-BE49-F238E27FC236}">
                <a16:creationId xmlns:a16="http://schemas.microsoft.com/office/drawing/2014/main" id="{44C38E27-2967-93DF-4F0D-C0F4B4D09FF2}"/>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Correlation Between Implied Uncertainty and Other Attributes</a:t>
            </a:r>
            <a:endParaRPr lang="en-US" b="1" dirty="0"/>
          </a:p>
        </p:txBody>
      </p:sp>
      <p:graphicFrame>
        <p:nvGraphicFramePr>
          <p:cNvPr id="2" name="Table 1">
            <a:extLst>
              <a:ext uri="{FF2B5EF4-FFF2-40B4-BE49-F238E27FC236}">
                <a16:creationId xmlns:a16="http://schemas.microsoft.com/office/drawing/2014/main" id="{B77A99EC-6D6C-C000-085A-1C4E7A9534D1}"/>
              </a:ext>
            </a:extLst>
          </p:cNvPr>
          <p:cNvGraphicFramePr>
            <a:graphicFrameLocks noGrp="1"/>
          </p:cNvGraphicFramePr>
          <p:nvPr>
            <p:extLst>
              <p:ext uri="{D42A27DB-BD31-4B8C-83A1-F6EECF244321}">
                <p14:modId xmlns:p14="http://schemas.microsoft.com/office/powerpoint/2010/main" val="278147497"/>
              </p:ext>
            </p:extLst>
          </p:nvPr>
        </p:nvGraphicFramePr>
        <p:xfrm>
          <a:off x="863599" y="2260600"/>
          <a:ext cx="9807275" cy="3441462"/>
        </p:xfrm>
        <a:graphic>
          <a:graphicData uri="http://schemas.openxmlformats.org/drawingml/2006/table">
            <a:tbl>
              <a:tblPr firstRow="1">
                <a:tableStyleId>{5940675A-B579-460E-94D1-54222C63F5DA}</a:tableStyleId>
              </a:tblPr>
              <a:tblGrid>
                <a:gridCol w="5121949">
                  <a:extLst>
                    <a:ext uri="{9D8B030D-6E8A-4147-A177-3AD203B41FA5}">
                      <a16:colId xmlns:a16="http://schemas.microsoft.com/office/drawing/2014/main" val="20000"/>
                    </a:ext>
                  </a:extLst>
                </a:gridCol>
                <a:gridCol w="2342663">
                  <a:extLst>
                    <a:ext uri="{9D8B030D-6E8A-4147-A177-3AD203B41FA5}">
                      <a16:colId xmlns:a16="http://schemas.microsoft.com/office/drawing/2014/main" val="20001"/>
                    </a:ext>
                  </a:extLst>
                </a:gridCol>
                <a:gridCol w="2342663">
                  <a:extLst>
                    <a:ext uri="{9D8B030D-6E8A-4147-A177-3AD203B41FA5}">
                      <a16:colId xmlns:a16="http://schemas.microsoft.com/office/drawing/2014/main" val="20002"/>
                    </a:ext>
                  </a:extLst>
                </a:gridCol>
              </a:tblGrid>
              <a:tr h="1037378">
                <a:tc>
                  <a:txBody>
                    <a:bodyPr/>
                    <a:lstStyle/>
                    <a:p>
                      <a:endParaRPr lang="en-US" b="1" dirty="0"/>
                    </a:p>
                  </a:txBody>
                  <a:tcPr>
                    <a:lnL w="12700" cmpd="sng">
                      <a:noFill/>
                    </a:lnL>
                    <a:lnR w="12700" cmpd="sng">
                      <a:noFill/>
                    </a:lnR>
                    <a:lnT w="12700" cmpd="sng">
                      <a:noFill/>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solidFill>
                            <a:schemeClr val="tx1"/>
                          </a:solidFill>
                          <a:latin typeface="+mn-lt"/>
                          <a:ea typeface="+mn-ea"/>
                          <a:cs typeface="+mn-cs"/>
                        </a:rPr>
                        <a:t>Low Implied Uncertainty</a:t>
                      </a:r>
                      <a:endParaRPr lang="en-US" b="1" dirty="0"/>
                    </a:p>
                  </a:txBody>
                  <a:tcPr>
                    <a:lnL w="12700" cmpd="sng">
                      <a:noFill/>
                    </a:lnL>
                    <a:lnR w="12700" cmpd="sng">
                      <a:noFill/>
                    </a:lnR>
                    <a:lnT w="12700" cmpd="sng">
                      <a:noFill/>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solidFill>
                            <a:schemeClr val="tx1"/>
                          </a:solidFill>
                          <a:latin typeface="+mn-lt"/>
                          <a:ea typeface="+mn-ea"/>
                          <a:cs typeface="+mn-cs"/>
                        </a:rPr>
                        <a:t>High Implied Uncertainty</a:t>
                      </a:r>
                      <a:endParaRPr lang="en-US" b="1" dirty="0"/>
                    </a:p>
                  </a:txBody>
                  <a:tcPr>
                    <a:lnL w="12700" cmpd="sng">
                      <a:noFill/>
                    </a:lnL>
                    <a:lnR w="12700" cmpd="sng">
                      <a:noFill/>
                    </a:lnR>
                    <a:lnT w="12700" cmpd="sng">
                      <a:noFill/>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01021">
                <a:tc>
                  <a:txBody>
                    <a:bodyPr/>
                    <a:lstStyle/>
                    <a:p>
                      <a:r>
                        <a:rPr lang="en-US" sz="1800" kern="1200" dirty="0">
                          <a:solidFill>
                            <a:schemeClr val="tx1"/>
                          </a:solidFill>
                          <a:latin typeface="+mn-lt"/>
                          <a:ea typeface="+mn-ea"/>
                          <a:cs typeface="+mn-cs"/>
                        </a:rPr>
                        <a:t>Product margin</a:t>
                      </a:r>
                      <a:endParaRPr lang="en-US" dirty="0"/>
                    </a:p>
                  </a:txBody>
                  <a:tcPr>
                    <a:lnL w="12700" cmpd="sng">
                      <a:noFill/>
                    </a:lnL>
                    <a:lnR w="12700" cmpd="sng">
                      <a:noFill/>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Low</a:t>
                      </a:r>
                    </a:p>
                  </a:txBody>
                  <a:tcPr>
                    <a:lnL w="12700" cmpd="sng">
                      <a:noFill/>
                    </a:lnL>
                    <a:lnR w="12700" cmpd="sng">
                      <a:noFill/>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High</a:t>
                      </a:r>
                    </a:p>
                  </a:txBody>
                  <a:tcPr>
                    <a:lnL w="12700" cmpd="sng">
                      <a:noFill/>
                    </a:lnL>
                    <a:lnR w="12700" cmpd="sng">
                      <a:noFill/>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01021">
                <a:tc>
                  <a:txBody>
                    <a:bodyPr/>
                    <a:lstStyle/>
                    <a:p>
                      <a:r>
                        <a:rPr lang="en-US" sz="1800" kern="1200" dirty="0">
                          <a:solidFill>
                            <a:schemeClr val="tx1"/>
                          </a:solidFill>
                          <a:latin typeface="+mn-lt"/>
                          <a:ea typeface="+mn-ea"/>
                          <a:cs typeface="+mn-cs"/>
                        </a:rPr>
                        <a:t>Average forecast error</a:t>
                      </a:r>
                      <a:endParaRPr lang="en-US" dirty="0"/>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10%</a:t>
                      </a:r>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40% to 100%</a:t>
                      </a:r>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01021">
                <a:tc>
                  <a:txBody>
                    <a:bodyPr/>
                    <a:lstStyle/>
                    <a:p>
                      <a:r>
                        <a:rPr lang="en-US" sz="1800" kern="1200" dirty="0">
                          <a:solidFill>
                            <a:schemeClr val="tx1"/>
                          </a:solidFill>
                          <a:latin typeface="+mn-lt"/>
                          <a:ea typeface="+mn-ea"/>
                          <a:cs typeface="+mn-cs"/>
                        </a:rPr>
                        <a:t>Average stockout rate</a:t>
                      </a:r>
                      <a:endParaRPr lang="en-US" dirty="0"/>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 to 2%</a:t>
                      </a:r>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10% to 40%</a:t>
                      </a:r>
                    </a:p>
                  </a:txBody>
                  <a:tcPr>
                    <a:lnL w="12700" cmpd="sng">
                      <a:noFill/>
                    </a:lnL>
                    <a:lnR w="12700" cmpd="sng">
                      <a:noFill/>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01021">
                <a:tc>
                  <a:txBody>
                    <a:bodyPr/>
                    <a:lstStyle/>
                    <a:p>
                      <a:r>
                        <a:rPr lang="en-US" sz="1800" kern="1200" dirty="0">
                          <a:solidFill>
                            <a:schemeClr val="tx1"/>
                          </a:solidFill>
                          <a:latin typeface="+mn-lt"/>
                          <a:ea typeface="+mn-ea"/>
                          <a:cs typeface="+mn-cs"/>
                        </a:rPr>
                        <a:t>Average forced season-end markdown</a:t>
                      </a:r>
                      <a:endParaRPr lang="en-US" dirty="0"/>
                    </a:p>
                  </a:txBody>
                  <a:tcPr>
                    <a:lnL w="12700" cmpd="sng">
                      <a:noFill/>
                    </a:lnL>
                    <a:lnR w="12700" cmpd="sng">
                      <a:noFill/>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rgbClr r="0" g="0" b="0"/>
                      </a:solidFill>
                      <a:prstDash val="solid"/>
                      <a:round/>
                      <a:headEnd type="none" w="med" len="med"/>
                      <a:tailEnd type="none" w="med" len="med"/>
                    </a:lnT>
                    <a:lnB w="28575"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10% to 25%</a:t>
                      </a:r>
                    </a:p>
                  </a:txBody>
                  <a:tcPr>
                    <a:lnL w="12700" cmpd="sng">
                      <a:noFill/>
                    </a:lnL>
                    <a:lnR w="12700" cmpd="sng">
                      <a:noFill/>
                    </a:lnR>
                    <a:lnT w="12700" cap="flat" cmpd="sng" algn="ctr">
                      <a:solidFill>
                        <a:scrgbClr r="0" g="0" b="0"/>
                      </a:solidFill>
                      <a:prstDash val="solid"/>
                      <a:round/>
                      <a:headEnd type="none" w="med" len="med"/>
                      <a:tailEnd type="none" w="med" len="med"/>
                    </a:lnT>
                    <a:lnB w="28575"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7100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0FFD-8F32-9286-1927-8754D81E50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145878-F078-2BA0-E557-E35A3E782124}"/>
              </a:ext>
            </a:extLst>
          </p:cNvPr>
          <p:cNvSpPr>
            <a:spLocks noGrp="1"/>
          </p:cNvSpPr>
          <p:nvPr>
            <p:ph type="sldNum" sz="quarter" idx="12"/>
          </p:nvPr>
        </p:nvSpPr>
        <p:spPr/>
        <p:txBody>
          <a:bodyPr/>
          <a:lstStyle/>
          <a:p>
            <a:fld id="{6B07C8CD-4FE2-46F0-9611-E3B643750200}" type="slidenum">
              <a:rPr lang="en-IN" smtClean="0"/>
              <a:t>34</a:t>
            </a:fld>
            <a:endParaRPr lang="en-IN"/>
          </a:p>
        </p:txBody>
      </p:sp>
      <p:sp>
        <p:nvSpPr>
          <p:cNvPr id="7" name="Google Shape;288;p8">
            <a:extLst>
              <a:ext uri="{FF2B5EF4-FFF2-40B4-BE49-F238E27FC236}">
                <a16:creationId xmlns:a16="http://schemas.microsoft.com/office/drawing/2014/main" id="{2D0104A7-2D79-82F9-56E6-156631D7854C}"/>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How to Achieve Strategic Fit?</a:t>
            </a:r>
            <a:endParaRPr lang="en-US" b="1" dirty="0"/>
          </a:p>
        </p:txBody>
      </p:sp>
      <p:sp>
        <p:nvSpPr>
          <p:cNvPr id="2" name="Rectangle 2">
            <a:extLst>
              <a:ext uri="{FF2B5EF4-FFF2-40B4-BE49-F238E27FC236}">
                <a16:creationId xmlns:a16="http://schemas.microsoft.com/office/drawing/2014/main" id="{26F667F9-6027-3586-4B26-64F175DB4FCD}"/>
              </a:ext>
            </a:extLst>
          </p:cNvPr>
          <p:cNvSpPr>
            <a:spLocks noGrp="1" noChangeArrowheads="1"/>
          </p:cNvSpPr>
          <p:nvPr>
            <p:ph type="title"/>
          </p:nvPr>
        </p:nvSpPr>
        <p:spPr>
          <a:xfrm>
            <a:off x="1043796" y="1102774"/>
            <a:ext cx="10420710" cy="1143000"/>
          </a:xfrm>
        </p:spPr>
        <p:txBody>
          <a:bodyPr>
            <a:normAutofit fontScale="90000"/>
          </a:bodyPr>
          <a:lstStyle/>
          <a:p>
            <a:r>
              <a:rPr lang="en-US" dirty="0"/>
              <a:t>Step 2: Understanding Supply Chain Capabilities</a:t>
            </a:r>
          </a:p>
        </p:txBody>
      </p:sp>
      <p:sp>
        <p:nvSpPr>
          <p:cNvPr id="3" name="Rectangle 3">
            <a:extLst>
              <a:ext uri="{FF2B5EF4-FFF2-40B4-BE49-F238E27FC236}">
                <a16:creationId xmlns:a16="http://schemas.microsoft.com/office/drawing/2014/main" id="{87BDD12B-16E0-A9BC-508D-10D6353FF23E}"/>
              </a:ext>
            </a:extLst>
          </p:cNvPr>
          <p:cNvSpPr txBox="1">
            <a:spLocks noChangeArrowheads="1"/>
          </p:cNvSpPr>
          <p:nvPr/>
        </p:nvSpPr>
        <p:spPr>
          <a:xfrm>
            <a:off x="2648309" y="2359419"/>
            <a:ext cx="8229600" cy="47879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How does the firm best meet demand?</a:t>
            </a:r>
          </a:p>
          <a:p>
            <a:r>
              <a:rPr lang="en-US"/>
              <a:t>Supply chain responsiveness is the ability to</a:t>
            </a:r>
          </a:p>
          <a:p>
            <a:pPr lvl="1"/>
            <a:r>
              <a:rPr lang="en-US"/>
              <a:t>Respond to wide ranges of quantities demanded</a:t>
            </a:r>
          </a:p>
          <a:p>
            <a:pPr lvl="1"/>
            <a:r>
              <a:rPr lang="en-US"/>
              <a:t>Meet short lead times</a:t>
            </a:r>
          </a:p>
          <a:p>
            <a:pPr lvl="1"/>
            <a:r>
              <a:rPr lang="en-US"/>
              <a:t>Handle a large variety of products</a:t>
            </a:r>
          </a:p>
          <a:p>
            <a:pPr lvl="1"/>
            <a:r>
              <a:rPr lang="en-US"/>
              <a:t>Build highly innovative products</a:t>
            </a:r>
          </a:p>
          <a:p>
            <a:pPr lvl="1"/>
            <a:r>
              <a:rPr lang="en-US"/>
              <a:t>Meet a high service level</a:t>
            </a:r>
          </a:p>
          <a:p>
            <a:pPr lvl="1"/>
            <a:r>
              <a:rPr lang="en-US"/>
              <a:t>Handle supply uncertainty</a:t>
            </a:r>
            <a:endParaRPr lang="en-US" dirty="0"/>
          </a:p>
        </p:txBody>
      </p:sp>
    </p:spTree>
    <p:extLst>
      <p:ext uri="{BB962C8B-B14F-4D97-AF65-F5344CB8AC3E}">
        <p14:creationId xmlns:p14="http://schemas.microsoft.com/office/powerpoint/2010/main" val="2304416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2BE1-8B36-8B33-1B67-A8CC31FD2D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BC169F-93EA-F788-FD05-BF128437F483}"/>
              </a:ext>
            </a:extLst>
          </p:cNvPr>
          <p:cNvSpPr>
            <a:spLocks noGrp="1"/>
          </p:cNvSpPr>
          <p:nvPr>
            <p:ph type="sldNum" sz="quarter" idx="12"/>
          </p:nvPr>
        </p:nvSpPr>
        <p:spPr/>
        <p:txBody>
          <a:bodyPr/>
          <a:lstStyle/>
          <a:p>
            <a:fld id="{6B07C8CD-4FE2-46F0-9611-E3B643750200}" type="slidenum">
              <a:rPr lang="en-IN" smtClean="0"/>
              <a:t>35</a:t>
            </a:fld>
            <a:endParaRPr lang="en-IN"/>
          </a:p>
        </p:txBody>
      </p:sp>
      <p:sp>
        <p:nvSpPr>
          <p:cNvPr id="7" name="Google Shape;288;p8">
            <a:extLst>
              <a:ext uri="{FF2B5EF4-FFF2-40B4-BE49-F238E27FC236}">
                <a16:creationId xmlns:a16="http://schemas.microsoft.com/office/drawing/2014/main" id="{96BE4619-6338-BEB5-2EF4-227A5DE67A71}"/>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US" dirty="0"/>
              <a:t>Supply Chain Capability….</a:t>
            </a:r>
            <a:endParaRPr lang="en-US" b="1" dirty="0"/>
          </a:p>
        </p:txBody>
      </p:sp>
      <p:graphicFrame>
        <p:nvGraphicFramePr>
          <p:cNvPr id="2" name="Table 1">
            <a:extLst>
              <a:ext uri="{FF2B5EF4-FFF2-40B4-BE49-F238E27FC236}">
                <a16:creationId xmlns:a16="http://schemas.microsoft.com/office/drawing/2014/main" id="{4EF5E17B-05EA-87A1-9FE0-890AD69D8AE3}"/>
              </a:ext>
            </a:extLst>
          </p:cNvPr>
          <p:cNvGraphicFramePr>
            <a:graphicFrameLocks noGrp="1"/>
          </p:cNvGraphicFramePr>
          <p:nvPr>
            <p:extLst>
              <p:ext uri="{D42A27DB-BD31-4B8C-83A1-F6EECF244321}">
                <p14:modId xmlns:p14="http://schemas.microsoft.com/office/powerpoint/2010/main" val="1346866418"/>
              </p:ext>
            </p:extLst>
          </p:nvPr>
        </p:nvGraphicFramePr>
        <p:xfrm>
          <a:off x="491707" y="1219998"/>
          <a:ext cx="11248847" cy="4886960"/>
        </p:xfrm>
        <a:graphic>
          <a:graphicData uri="http://schemas.openxmlformats.org/drawingml/2006/table">
            <a:tbl>
              <a:tblPr firstRow="1" bandRow="1">
                <a:tableStyleId>{5C22544A-7EE6-4342-B048-85BDC9FD1C3A}</a:tableStyleId>
              </a:tblPr>
              <a:tblGrid>
                <a:gridCol w="924581">
                  <a:extLst>
                    <a:ext uri="{9D8B030D-6E8A-4147-A177-3AD203B41FA5}">
                      <a16:colId xmlns:a16="http://schemas.microsoft.com/office/drawing/2014/main" val="2690074312"/>
                    </a:ext>
                  </a:extLst>
                </a:gridCol>
                <a:gridCol w="1910181">
                  <a:extLst>
                    <a:ext uri="{9D8B030D-6E8A-4147-A177-3AD203B41FA5}">
                      <a16:colId xmlns:a16="http://schemas.microsoft.com/office/drawing/2014/main" val="4268802008"/>
                    </a:ext>
                  </a:extLst>
                </a:gridCol>
                <a:gridCol w="2893176">
                  <a:extLst>
                    <a:ext uri="{9D8B030D-6E8A-4147-A177-3AD203B41FA5}">
                      <a16:colId xmlns:a16="http://schemas.microsoft.com/office/drawing/2014/main" val="577490031"/>
                    </a:ext>
                  </a:extLst>
                </a:gridCol>
                <a:gridCol w="2881223">
                  <a:extLst>
                    <a:ext uri="{9D8B030D-6E8A-4147-A177-3AD203B41FA5}">
                      <a16:colId xmlns:a16="http://schemas.microsoft.com/office/drawing/2014/main" val="3148344255"/>
                    </a:ext>
                  </a:extLst>
                </a:gridCol>
                <a:gridCol w="2639686">
                  <a:extLst>
                    <a:ext uri="{9D8B030D-6E8A-4147-A177-3AD203B41FA5}">
                      <a16:colId xmlns:a16="http://schemas.microsoft.com/office/drawing/2014/main" val="2107570662"/>
                    </a:ext>
                  </a:extLst>
                </a:gridCol>
              </a:tblGrid>
              <a:tr h="370840">
                <a:tc>
                  <a:txBody>
                    <a:bodyPr/>
                    <a:lstStyle/>
                    <a:p>
                      <a:r>
                        <a:rPr lang="en-US" dirty="0">
                          <a:solidFill>
                            <a:schemeClr val="tx1"/>
                          </a:solidFill>
                        </a:rPr>
                        <a:t>1. </a:t>
                      </a:r>
                      <a:endParaRPr lang="en-IN" dirty="0">
                        <a:solidFill>
                          <a:schemeClr val="tx1"/>
                        </a:solidFill>
                      </a:endParaRPr>
                    </a:p>
                  </a:txBody>
                  <a:tcPr/>
                </a:tc>
                <a:tc>
                  <a:txBody>
                    <a:bodyPr/>
                    <a:lstStyle/>
                    <a:p>
                      <a:r>
                        <a:rPr lang="en-US" dirty="0">
                          <a:solidFill>
                            <a:schemeClr val="tx1"/>
                          </a:solidFill>
                        </a:rPr>
                        <a:t>Facilities</a:t>
                      </a:r>
                      <a:endParaRPr lang="en-IN"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(Manu, W/H, D,R)</a:t>
                      </a:r>
                    </a:p>
                  </a:txBody>
                  <a:tcPr/>
                </a:tc>
                <a:tc>
                  <a:txBody>
                    <a:bodyPr/>
                    <a:lstStyle/>
                    <a:p>
                      <a:endParaRPr lang="en-IN" dirty="0">
                        <a:solidFill>
                          <a:schemeClr val="tx1"/>
                        </a:solidFill>
                      </a:endParaRPr>
                    </a:p>
                  </a:txBody>
                  <a:tcPr/>
                </a:tc>
                <a:tc>
                  <a:txBody>
                    <a:bodyPr/>
                    <a:lstStyle/>
                    <a:p>
                      <a:endParaRPr lang="en-IN" dirty="0">
                        <a:solidFill>
                          <a:schemeClr val="tx1"/>
                        </a:solidFill>
                      </a:endParaRPr>
                    </a:p>
                  </a:txBody>
                  <a:tcPr/>
                </a:tc>
                <a:extLst>
                  <a:ext uri="{0D108BD9-81ED-4DB2-BD59-A6C34878D82A}">
                    <a16:rowId xmlns:a16="http://schemas.microsoft.com/office/drawing/2014/main" val="899580416"/>
                  </a:ext>
                </a:extLst>
              </a:tr>
              <a:tr h="370840">
                <a:tc>
                  <a:txBody>
                    <a:bodyPr/>
                    <a:lstStyle/>
                    <a:p>
                      <a:endParaRPr lang="en-IN" dirty="0">
                        <a:solidFill>
                          <a:schemeClr val="tx1"/>
                        </a:solidFill>
                      </a:endParaRPr>
                    </a:p>
                  </a:txBody>
                  <a:tcPr/>
                </a:tc>
                <a:tc>
                  <a:txBody>
                    <a:bodyPr/>
                    <a:lstStyle/>
                    <a:p>
                      <a:endParaRPr lang="en-IN" dirty="0">
                        <a:solidFill>
                          <a:schemeClr val="tx1"/>
                        </a:solidFill>
                      </a:endParaRPr>
                    </a:p>
                  </a:txBody>
                  <a:tcPr/>
                </a:tc>
                <a:tc>
                  <a:txBody>
                    <a:bodyPr/>
                    <a:lstStyle/>
                    <a:p>
                      <a:r>
                        <a:rPr lang="en-US" dirty="0">
                          <a:solidFill>
                            <a:schemeClr val="tx1"/>
                          </a:solidFill>
                        </a:rPr>
                        <a:t>Roles</a:t>
                      </a:r>
                      <a:endParaRPr lang="en-IN" dirty="0">
                        <a:solidFill>
                          <a:schemeClr val="tx1"/>
                        </a:solidFill>
                      </a:endParaRPr>
                    </a:p>
                  </a:txBody>
                  <a:tcPr/>
                </a:tc>
                <a:tc>
                  <a:txBody>
                    <a:bodyPr/>
                    <a:lstStyle/>
                    <a:p>
                      <a:r>
                        <a:rPr lang="en-US" dirty="0">
                          <a:solidFill>
                            <a:schemeClr val="tx1"/>
                          </a:solidFill>
                        </a:rPr>
                        <a:t>Size </a:t>
                      </a:r>
                      <a:endParaRPr lang="en-IN" dirty="0">
                        <a:solidFill>
                          <a:schemeClr val="tx1"/>
                        </a:solidFill>
                      </a:endParaRPr>
                    </a:p>
                  </a:txBody>
                  <a:tcPr/>
                </a:tc>
                <a:tc>
                  <a:txBody>
                    <a:bodyPr/>
                    <a:lstStyle/>
                    <a:p>
                      <a:r>
                        <a:rPr lang="en-US" dirty="0">
                          <a:solidFill>
                            <a:schemeClr val="tx1"/>
                          </a:solidFill>
                        </a:rPr>
                        <a:t>Location</a:t>
                      </a:r>
                      <a:endParaRPr lang="en-IN" dirty="0">
                        <a:solidFill>
                          <a:schemeClr val="tx1"/>
                        </a:solidFill>
                      </a:endParaRPr>
                    </a:p>
                  </a:txBody>
                  <a:tcPr/>
                </a:tc>
                <a:extLst>
                  <a:ext uri="{0D108BD9-81ED-4DB2-BD59-A6C34878D82A}">
                    <a16:rowId xmlns:a16="http://schemas.microsoft.com/office/drawing/2014/main" val="3361486574"/>
                  </a:ext>
                </a:extLst>
              </a:tr>
              <a:tr h="370840">
                <a:tc>
                  <a:txBody>
                    <a:bodyPr/>
                    <a:lstStyle/>
                    <a:p>
                      <a:endParaRPr lang="en-IN">
                        <a:solidFill>
                          <a:schemeClr val="tx1"/>
                        </a:solidFill>
                      </a:endParaRPr>
                    </a:p>
                  </a:txBody>
                  <a:tcPr/>
                </a:tc>
                <a:tc>
                  <a:txBody>
                    <a:bodyPr/>
                    <a:lstStyle/>
                    <a:p>
                      <a:endParaRPr lang="en-IN" dirty="0">
                        <a:solidFill>
                          <a:schemeClr val="tx1"/>
                        </a:solidFill>
                      </a:endParaRPr>
                    </a:p>
                  </a:txBody>
                  <a:tcPr/>
                </a:tc>
                <a:tc>
                  <a:txBody>
                    <a:bodyPr/>
                    <a:lstStyle/>
                    <a:p>
                      <a:r>
                        <a:rPr lang="en-IN" dirty="0">
                          <a:solidFill>
                            <a:schemeClr val="tx1"/>
                          </a:solidFill>
                        </a:rPr>
                        <a:t>More cost- Centralised- Effi</a:t>
                      </a:r>
                    </a:p>
                  </a:txBody>
                  <a:tcPr/>
                </a:tc>
                <a:tc>
                  <a:txBody>
                    <a:bodyPr/>
                    <a:lstStyle/>
                    <a:p>
                      <a:r>
                        <a:rPr lang="en-US" dirty="0">
                          <a:solidFill>
                            <a:schemeClr val="tx1"/>
                          </a:solidFill>
                        </a:rPr>
                        <a:t>Higher </a:t>
                      </a:r>
                      <a:r>
                        <a:rPr lang="en-US" dirty="0" err="1">
                          <a:solidFill>
                            <a:schemeClr val="tx1"/>
                          </a:solidFill>
                        </a:rPr>
                        <a:t>EoS</a:t>
                      </a: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More cost- Centralised- Effi</a:t>
                      </a:r>
                    </a:p>
                  </a:txBody>
                  <a:tcPr/>
                </a:tc>
                <a:tc>
                  <a:txBody>
                    <a:bodyPr/>
                    <a:lstStyle/>
                    <a:p>
                      <a:r>
                        <a:rPr lang="en-US" dirty="0">
                          <a:solidFill>
                            <a:schemeClr val="tx1"/>
                          </a:solidFill>
                        </a:rPr>
                        <a:t>City Centre- </a:t>
                      </a:r>
                      <a:r>
                        <a:rPr lang="en-US" dirty="0" err="1">
                          <a:solidFill>
                            <a:schemeClr val="tx1"/>
                          </a:solidFill>
                        </a:rPr>
                        <a:t>Respo</a:t>
                      </a:r>
                      <a:endParaRPr lang="en-US" dirty="0">
                        <a:solidFill>
                          <a:schemeClr val="tx1"/>
                        </a:solidFill>
                      </a:endParaRPr>
                    </a:p>
                    <a:p>
                      <a:r>
                        <a:rPr lang="en-US" dirty="0">
                          <a:solidFill>
                            <a:schemeClr val="tx1"/>
                          </a:solidFill>
                        </a:rPr>
                        <a:t>Effi to </a:t>
                      </a:r>
                      <a:r>
                        <a:rPr lang="en-US" dirty="0" err="1">
                          <a:solidFill>
                            <a:schemeClr val="tx1"/>
                          </a:solidFill>
                        </a:rPr>
                        <a:t>respo</a:t>
                      </a:r>
                      <a:endParaRPr lang="en-IN" dirty="0">
                        <a:solidFill>
                          <a:schemeClr val="tx1"/>
                        </a:solidFill>
                      </a:endParaRPr>
                    </a:p>
                  </a:txBody>
                  <a:tcPr/>
                </a:tc>
                <a:extLst>
                  <a:ext uri="{0D108BD9-81ED-4DB2-BD59-A6C34878D82A}">
                    <a16:rowId xmlns:a16="http://schemas.microsoft.com/office/drawing/2014/main" val="848773805"/>
                  </a:ext>
                </a:extLst>
              </a:tr>
              <a:tr h="370840">
                <a:tc>
                  <a:txBody>
                    <a:bodyPr/>
                    <a:lstStyle/>
                    <a:p>
                      <a:endParaRPr lang="en-IN">
                        <a:solidFill>
                          <a:schemeClr val="tx1"/>
                        </a:solidFill>
                      </a:endParaRPr>
                    </a:p>
                  </a:txBody>
                  <a:tcPr/>
                </a:tc>
                <a:tc>
                  <a:txBody>
                    <a:bodyPr/>
                    <a:lstStyle/>
                    <a:p>
                      <a:endParaRPr lang="en-IN">
                        <a:solidFill>
                          <a:schemeClr val="tx1"/>
                        </a:solidFill>
                      </a:endParaRPr>
                    </a:p>
                  </a:txBody>
                  <a:tcPr/>
                </a:tc>
                <a:tc>
                  <a:txBody>
                    <a:bodyPr/>
                    <a:lstStyle/>
                    <a:p>
                      <a:r>
                        <a:rPr lang="en-US" dirty="0">
                          <a:solidFill>
                            <a:schemeClr val="tx1"/>
                          </a:solidFill>
                        </a:rPr>
                        <a:t>How many W/H or Retailors – Decide </a:t>
                      </a:r>
                      <a:r>
                        <a:rPr lang="en-US" dirty="0" err="1">
                          <a:solidFill>
                            <a:schemeClr val="tx1"/>
                          </a:solidFill>
                        </a:rPr>
                        <a:t>Respo</a:t>
                      </a:r>
                      <a:r>
                        <a:rPr lang="en-US" dirty="0">
                          <a:solidFill>
                            <a:schemeClr val="tx1"/>
                          </a:solidFill>
                        </a:rPr>
                        <a:t>.</a:t>
                      </a:r>
                      <a:endParaRPr lang="en-IN"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How big W/H or Retailers – Decide </a:t>
                      </a:r>
                      <a:r>
                        <a:rPr lang="en-US" dirty="0" err="1">
                          <a:solidFill>
                            <a:schemeClr val="tx1"/>
                          </a:solidFill>
                        </a:rPr>
                        <a:t>Respo</a:t>
                      </a:r>
                      <a:r>
                        <a:rPr lang="en-US" dirty="0">
                          <a:solidFill>
                            <a:schemeClr val="tx1"/>
                          </a:solidFill>
                        </a:rPr>
                        <a:t>.</a:t>
                      </a:r>
                      <a:endParaRPr lang="en-IN" dirty="0">
                        <a:solidFill>
                          <a:schemeClr val="tx1"/>
                        </a:solidFill>
                      </a:endParaRPr>
                    </a:p>
                  </a:txBody>
                  <a:tcPr/>
                </a:tc>
                <a:tc>
                  <a:txBody>
                    <a:bodyPr/>
                    <a:lstStyle/>
                    <a:p>
                      <a:r>
                        <a:rPr lang="en-US" dirty="0">
                          <a:solidFill>
                            <a:schemeClr val="tx1"/>
                          </a:solidFill>
                        </a:rPr>
                        <a:t>Country side: Effi (</a:t>
                      </a:r>
                      <a:r>
                        <a:rPr lang="en-US" dirty="0" err="1">
                          <a:solidFill>
                            <a:schemeClr val="tx1"/>
                          </a:solidFill>
                        </a:rPr>
                        <a:t>china</a:t>
                      </a:r>
                      <a:r>
                        <a:rPr lang="en-US" dirty="0">
                          <a:solidFill>
                            <a:schemeClr val="tx1"/>
                          </a:solidFill>
                        </a:rPr>
                        <a:t>)</a:t>
                      </a:r>
                      <a:endParaRPr lang="en-IN" dirty="0">
                        <a:solidFill>
                          <a:schemeClr val="tx1"/>
                        </a:solidFill>
                      </a:endParaRPr>
                    </a:p>
                  </a:txBody>
                  <a:tcPr/>
                </a:tc>
                <a:extLst>
                  <a:ext uri="{0D108BD9-81ED-4DB2-BD59-A6C34878D82A}">
                    <a16:rowId xmlns:a16="http://schemas.microsoft.com/office/drawing/2014/main" val="2000517823"/>
                  </a:ext>
                </a:extLst>
              </a:tr>
              <a:tr h="370840">
                <a:tc>
                  <a:txBody>
                    <a:bodyPr/>
                    <a:lstStyle/>
                    <a:p>
                      <a:r>
                        <a:rPr lang="en-US" dirty="0"/>
                        <a:t>2. </a:t>
                      </a:r>
                      <a:endParaRPr lang="en-IN" dirty="0"/>
                    </a:p>
                  </a:txBody>
                  <a:tcPr/>
                </a:tc>
                <a:tc>
                  <a:txBody>
                    <a:bodyPr/>
                    <a:lstStyle/>
                    <a:p>
                      <a:r>
                        <a:rPr lang="en-US" dirty="0"/>
                        <a:t>Inventory</a:t>
                      </a:r>
                      <a:endParaRPr lang="en-IN" dirty="0"/>
                    </a:p>
                  </a:txBody>
                  <a:tcPr/>
                </a:tc>
                <a:tc>
                  <a:txBody>
                    <a:bodyPr/>
                    <a:lstStyle/>
                    <a:p>
                      <a:r>
                        <a:rPr lang="en-US" dirty="0"/>
                        <a:t>Small vs Big Country</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067449230"/>
                  </a:ext>
                </a:extLst>
              </a:tr>
              <a:tr h="370840">
                <a:tc>
                  <a:txBody>
                    <a:bodyPr/>
                    <a:lstStyle/>
                    <a:p>
                      <a:endParaRPr lang="en-IN" dirty="0"/>
                    </a:p>
                  </a:txBody>
                  <a:tcPr/>
                </a:tc>
                <a:tc>
                  <a:txBody>
                    <a:bodyPr/>
                    <a:lstStyle/>
                    <a:p>
                      <a:endParaRPr lang="en-IN" dirty="0"/>
                    </a:p>
                  </a:txBody>
                  <a:tcPr/>
                </a:tc>
                <a:tc>
                  <a:txBody>
                    <a:bodyPr/>
                    <a:lstStyle/>
                    <a:p>
                      <a:r>
                        <a:rPr lang="en-US" dirty="0"/>
                        <a:t>Ordering Cost- Effi</a:t>
                      </a:r>
                      <a:endParaRPr lang="en-IN" dirty="0"/>
                    </a:p>
                  </a:txBody>
                  <a:tcPr/>
                </a:tc>
                <a:tc>
                  <a:txBody>
                    <a:bodyPr/>
                    <a:lstStyle/>
                    <a:p>
                      <a:r>
                        <a:rPr lang="en-US" dirty="0"/>
                        <a:t>Carrying cost (eat profit)</a:t>
                      </a:r>
                      <a:endParaRPr lang="en-IN" dirty="0"/>
                    </a:p>
                  </a:txBody>
                  <a:tcPr/>
                </a:tc>
                <a:tc>
                  <a:txBody>
                    <a:bodyPr/>
                    <a:lstStyle/>
                    <a:p>
                      <a:r>
                        <a:rPr lang="en-US" dirty="0"/>
                        <a:t>High Service Level - </a:t>
                      </a:r>
                      <a:r>
                        <a:rPr lang="en-US" dirty="0" err="1"/>
                        <a:t>respo</a:t>
                      </a:r>
                      <a:endParaRPr lang="en-IN" dirty="0"/>
                    </a:p>
                  </a:txBody>
                  <a:tcPr/>
                </a:tc>
                <a:extLst>
                  <a:ext uri="{0D108BD9-81ED-4DB2-BD59-A6C34878D82A}">
                    <a16:rowId xmlns:a16="http://schemas.microsoft.com/office/drawing/2014/main" val="4199493915"/>
                  </a:ext>
                </a:extLst>
              </a:tr>
              <a:tr h="370840">
                <a:tc>
                  <a:txBody>
                    <a:bodyPr/>
                    <a:lstStyle/>
                    <a:p>
                      <a:r>
                        <a:rPr lang="en-US" dirty="0"/>
                        <a:t>3. </a:t>
                      </a:r>
                      <a:endParaRPr lang="en-IN" dirty="0"/>
                    </a:p>
                  </a:txBody>
                  <a:tcPr/>
                </a:tc>
                <a:tc>
                  <a:txBody>
                    <a:bodyPr/>
                    <a:lstStyle/>
                    <a:p>
                      <a:r>
                        <a:rPr lang="en-US" dirty="0"/>
                        <a:t>Transportation</a:t>
                      </a:r>
                      <a:endParaRPr lang="en-IN" dirty="0"/>
                    </a:p>
                  </a:txBody>
                  <a:tcPr/>
                </a:tc>
                <a:tc>
                  <a:txBody>
                    <a:bodyPr/>
                    <a:lstStyle/>
                    <a:p>
                      <a:r>
                        <a:rPr lang="en-US" dirty="0"/>
                        <a:t>(Amazon, </a:t>
                      </a:r>
                      <a:r>
                        <a:rPr lang="en-US" dirty="0" err="1"/>
                        <a:t>croma</a:t>
                      </a:r>
                      <a:r>
                        <a:rPr lang="en-US" dirty="0"/>
                        <a:t>)</a:t>
                      </a:r>
                      <a:endParaRPr lang="en-IN" dirty="0"/>
                    </a:p>
                  </a:txBody>
                  <a:tcPr/>
                </a:tc>
                <a:tc>
                  <a:txBody>
                    <a:bodyPr/>
                    <a:lstStyle/>
                    <a:p>
                      <a:r>
                        <a:rPr lang="en-US" dirty="0"/>
                        <a:t>Lot size</a:t>
                      </a:r>
                      <a:endParaRPr lang="en-IN" dirty="0"/>
                    </a:p>
                  </a:txBody>
                  <a:tcPr/>
                </a:tc>
                <a:tc>
                  <a:txBody>
                    <a:bodyPr/>
                    <a:lstStyle/>
                    <a:p>
                      <a:endParaRPr lang="en-IN" dirty="0"/>
                    </a:p>
                  </a:txBody>
                  <a:tcPr/>
                </a:tc>
                <a:extLst>
                  <a:ext uri="{0D108BD9-81ED-4DB2-BD59-A6C34878D82A}">
                    <a16:rowId xmlns:a16="http://schemas.microsoft.com/office/drawing/2014/main" val="3252220666"/>
                  </a:ext>
                </a:extLst>
              </a:tr>
              <a:tr h="370840">
                <a:tc>
                  <a:txBody>
                    <a:bodyPr/>
                    <a:lstStyle/>
                    <a:p>
                      <a:endParaRPr lang="en-IN" dirty="0"/>
                    </a:p>
                  </a:txBody>
                  <a:tcPr/>
                </a:tc>
                <a:tc>
                  <a:txBody>
                    <a:bodyPr/>
                    <a:lstStyle/>
                    <a:p>
                      <a:endParaRPr lang="en-IN" dirty="0"/>
                    </a:p>
                  </a:txBody>
                  <a:tcPr/>
                </a:tc>
                <a:tc>
                  <a:txBody>
                    <a:bodyPr/>
                    <a:lstStyle/>
                    <a:p>
                      <a:r>
                        <a:rPr lang="en-US" dirty="0"/>
                        <a:t>Higher </a:t>
                      </a:r>
                      <a:r>
                        <a:rPr lang="en-US" dirty="0" err="1"/>
                        <a:t>EoS</a:t>
                      </a:r>
                      <a:r>
                        <a:rPr lang="en-US" dirty="0"/>
                        <a:t> at IB Logistics-Effi</a:t>
                      </a:r>
                      <a:endParaRPr lang="en-IN" dirty="0"/>
                    </a:p>
                  </a:txBody>
                  <a:tcPr/>
                </a:tc>
                <a:tc>
                  <a:txBody>
                    <a:bodyPr/>
                    <a:lstStyle/>
                    <a:p>
                      <a:r>
                        <a:rPr lang="en-US" dirty="0"/>
                        <a:t>Less </a:t>
                      </a:r>
                      <a:r>
                        <a:rPr lang="en-US" dirty="0" err="1"/>
                        <a:t>EoS</a:t>
                      </a:r>
                      <a:r>
                        <a:rPr lang="en-US" dirty="0"/>
                        <a:t> – OB -- </a:t>
                      </a:r>
                      <a:r>
                        <a:rPr lang="en-US" dirty="0" err="1"/>
                        <a:t>Respo</a:t>
                      </a:r>
                      <a:r>
                        <a:rPr lang="en-US" dirty="0"/>
                        <a:t> </a:t>
                      </a:r>
                      <a:endParaRPr lang="en-IN" dirty="0"/>
                    </a:p>
                  </a:txBody>
                  <a:tcPr/>
                </a:tc>
                <a:tc>
                  <a:txBody>
                    <a:bodyPr/>
                    <a:lstStyle/>
                    <a:p>
                      <a:r>
                        <a:rPr lang="en-US" dirty="0"/>
                        <a:t>FTL, LTL, Cross Docking</a:t>
                      </a:r>
                      <a:endParaRPr lang="en-IN" dirty="0"/>
                    </a:p>
                  </a:txBody>
                  <a:tcPr/>
                </a:tc>
                <a:extLst>
                  <a:ext uri="{0D108BD9-81ED-4DB2-BD59-A6C34878D82A}">
                    <a16:rowId xmlns:a16="http://schemas.microsoft.com/office/drawing/2014/main" val="3612459899"/>
                  </a:ext>
                </a:extLst>
              </a:tr>
              <a:tr h="370840">
                <a:tc>
                  <a:txBody>
                    <a:bodyPr/>
                    <a:lstStyle/>
                    <a:p>
                      <a:r>
                        <a:rPr lang="en-US" dirty="0"/>
                        <a:t>4. </a:t>
                      </a:r>
                      <a:endParaRPr lang="en-IN" dirty="0"/>
                    </a:p>
                  </a:txBody>
                  <a:tcPr/>
                </a:tc>
                <a:tc>
                  <a:txBody>
                    <a:bodyPr/>
                    <a:lstStyle/>
                    <a:p>
                      <a:r>
                        <a:rPr lang="en-US" dirty="0"/>
                        <a:t>Pricing</a:t>
                      </a:r>
                      <a:endParaRPr lang="en-IN" dirty="0"/>
                    </a:p>
                  </a:txBody>
                  <a:tcPr/>
                </a:tc>
                <a:tc>
                  <a:txBody>
                    <a:bodyPr/>
                    <a:lstStyle/>
                    <a:p>
                      <a:r>
                        <a:rPr lang="en-US" dirty="0"/>
                        <a:t>Supply Demand Mismatch</a:t>
                      </a:r>
                      <a:endParaRPr lang="en-IN" dirty="0"/>
                    </a:p>
                  </a:txBody>
                  <a:tcPr/>
                </a:tc>
                <a:tc>
                  <a:txBody>
                    <a:bodyPr/>
                    <a:lstStyle/>
                    <a:p>
                      <a:r>
                        <a:rPr lang="en-US" dirty="0"/>
                        <a:t>Toll, H hour</a:t>
                      </a:r>
                      <a:endParaRPr lang="en-IN" dirty="0"/>
                    </a:p>
                  </a:txBody>
                  <a:tcPr/>
                </a:tc>
                <a:tc>
                  <a:txBody>
                    <a:bodyPr/>
                    <a:lstStyle/>
                    <a:p>
                      <a:r>
                        <a:rPr lang="en-US" dirty="0" err="1"/>
                        <a:t>Respo</a:t>
                      </a:r>
                      <a:r>
                        <a:rPr lang="en-US" dirty="0"/>
                        <a:t> to Effi</a:t>
                      </a:r>
                      <a:endParaRPr lang="en-IN" dirty="0"/>
                    </a:p>
                  </a:txBody>
                  <a:tcPr/>
                </a:tc>
                <a:extLst>
                  <a:ext uri="{0D108BD9-81ED-4DB2-BD59-A6C34878D82A}">
                    <a16:rowId xmlns:a16="http://schemas.microsoft.com/office/drawing/2014/main" val="1852909020"/>
                  </a:ext>
                </a:extLst>
              </a:tr>
              <a:tr h="370840">
                <a:tc>
                  <a:txBody>
                    <a:bodyPr/>
                    <a:lstStyle/>
                    <a:p>
                      <a:r>
                        <a:rPr lang="en-US" dirty="0"/>
                        <a:t>5. </a:t>
                      </a:r>
                      <a:endParaRPr lang="en-IN" dirty="0"/>
                    </a:p>
                  </a:txBody>
                  <a:tcPr/>
                </a:tc>
                <a:tc>
                  <a:txBody>
                    <a:bodyPr/>
                    <a:lstStyle/>
                    <a:p>
                      <a:r>
                        <a:rPr lang="en-US" dirty="0"/>
                        <a:t>Information </a:t>
                      </a:r>
                      <a:endParaRPr lang="en-IN" dirty="0"/>
                    </a:p>
                  </a:txBody>
                  <a:tcPr/>
                </a:tc>
                <a:tc>
                  <a:txBody>
                    <a:bodyPr/>
                    <a:lstStyle/>
                    <a:p>
                      <a:endParaRPr lang="en-IN" dirty="0"/>
                    </a:p>
                  </a:txBody>
                  <a:tcPr/>
                </a:tc>
                <a:tc>
                  <a:txBody>
                    <a:bodyPr/>
                    <a:lstStyle/>
                    <a:p>
                      <a:r>
                        <a:rPr lang="en-US" dirty="0"/>
                        <a:t>Coordination, mutual trust</a:t>
                      </a:r>
                      <a:endParaRPr lang="en-IN" dirty="0"/>
                    </a:p>
                  </a:txBody>
                  <a:tcPr/>
                </a:tc>
                <a:tc>
                  <a:txBody>
                    <a:bodyPr/>
                    <a:lstStyle/>
                    <a:p>
                      <a:r>
                        <a:rPr lang="en-US" dirty="0"/>
                        <a:t>Invade Effi. In </a:t>
                      </a:r>
                      <a:r>
                        <a:rPr lang="en-US" dirty="0" err="1"/>
                        <a:t>respo</a:t>
                      </a:r>
                      <a:r>
                        <a:rPr lang="en-US" dirty="0"/>
                        <a:t> - VMI</a:t>
                      </a:r>
                      <a:endParaRPr lang="en-IN" dirty="0"/>
                    </a:p>
                  </a:txBody>
                  <a:tcPr/>
                </a:tc>
                <a:extLst>
                  <a:ext uri="{0D108BD9-81ED-4DB2-BD59-A6C34878D82A}">
                    <a16:rowId xmlns:a16="http://schemas.microsoft.com/office/drawing/2014/main" val="464226111"/>
                  </a:ext>
                </a:extLst>
              </a:tr>
              <a:tr h="370840">
                <a:tc>
                  <a:txBody>
                    <a:bodyPr/>
                    <a:lstStyle/>
                    <a:p>
                      <a:r>
                        <a:rPr lang="en-US" dirty="0"/>
                        <a:t>6. </a:t>
                      </a:r>
                      <a:endParaRPr lang="en-IN" dirty="0"/>
                    </a:p>
                  </a:txBody>
                  <a:tcPr/>
                </a:tc>
                <a:tc>
                  <a:txBody>
                    <a:bodyPr/>
                    <a:lstStyle/>
                    <a:p>
                      <a:r>
                        <a:rPr lang="en-US" dirty="0"/>
                        <a:t>Sourcing</a:t>
                      </a:r>
                      <a:endParaRPr lang="en-IN" dirty="0"/>
                    </a:p>
                  </a:txBody>
                  <a:tcPr/>
                </a:tc>
                <a:tc>
                  <a:txBody>
                    <a:bodyPr/>
                    <a:lstStyle/>
                    <a:p>
                      <a:r>
                        <a:rPr lang="en-US" dirty="0"/>
                        <a:t>Excellence in all fields</a:t>
                      </a:r>
                      <a:endParaRPr lang="en-IN" dirty="0"/>
                    </a:p>
                  </a:txBody>
                  <a:tcPr/>
                </a:tc>
                <a:tc>
                  <a:txBody>
                    <a:bodyPr/>
                    <a:lstStyle/>
                    <a:p>
                      <a:r>
                        <a:rPr lang="en-US" dirty="0"/>
                        <a:t>3PL, 4PL, 5PL</a:t>
                      </a:r>
                      <a:endParaRPr lang="en-IN" dirty="0"/>
                    </a:p>
                  </a:txBody>
                  <a:tcPr/>
                </a:tc>
                <a:tc>
                  <a:txBody>
                    <a:bodyPr/>
                    <a:lstStyle/>
                    <a:p>
                      <a:r>
                        <a:rPr lang="en-US" dirty="0"/>
                        <a:t>Both </a:t>
                      </a:r>
                      <a:r>
                        <a:rPr lang="en-US" dirty="0" err="1"/>
                        <a:t>Respo</a:t>
                      </a:r>
                      <a:r>
                        <a:rPr lang="en-US" dirty="0"/>
                        <a:t> and Effi same time (</a:t>
                      </a:r>
                      <a:r>
                        <a:rPr lang="en-US" dirty="0" err="1"/>
                        <a:t>IPost</a:t>
                      </a:r>
                      <a:r>
                        <a:rPr lang="en-US" dirty="0"/>
                        <a:t>)</a:t>
                      </a:r>
                      <a:endParaRPr lang="en-IN" dirty="0"/>
                    </a:p>
                  </a:txBody>
                  <a:tcPr/>
                </a:tc>
                <a:extLst>
                  <a:ext uri="{0D108BD9-81ED-4DB2-BD59-A6C34878D82A}">
                    <a16:rowId xmlns:a16="http://schemas.microsoft.com/office/drawing/2014/main" val="3841585902"/>
                  </a:ext>
                </a:extLst>
              </a:tr>
            </a:tbl>
          </a:graphicData>
        </a:graphic>
      </p:graphicFrame>
      <p:sp>
        <p:nvSpPr>
          <p:cNvPr id="5" name="TextBox 4">
            <a:extLst>
              <a:ext uri="{FF2B5EF4-FFF2-40B4-BE49-F238E27FC236}">
                <a16:creationId xmlns:a16="http://schemas.microsoft.com/office/drawing/2014/main" id="{F1A28A1F-7641-1FB3-AD54-50B8C811BDDE}"/>
              </a:ext>
            </a:extLst>
          </p:cNvPr>
          <p:cNvSpPr txBox="1"/>
          <p:nvPr/>
        </p:nvSpPr>
        <p:spPr>
          <a:xfrm>
            <a:off x="2493034" y="6356350"/>
            <a:ext cx="4468483" cy="369332"/>
          </a:xfrm>
          <a:prstGeom prst="rect">
            <a:avLst/>
          </a:prstGeom>
          <a:noFill/>
        </p:spPr>
        <p:txBody>
          <a:bodyPr wrap="square" rtlCol="0">
            <a:spAutoFit/>
          </a:bodyPr>
          <a:lstStyle/>
          <a:p>
            <a:r>
              <a:rPr lang="en-US" dirty="0">
                <a:highlight>
                  <a:srgbClr val="FFFF00"/>
                </a:highlight>
              </a:rPr>
              <a:t>Capabilities should align with each other.</a:t>
            </a:r>
            <a:endParaRPr lang="en-IN" dirty="0">
              <a:highlight>
                <a:srgbClr val="FFFF00"/>
              </a:highlight>
            </a:endParaRPr>
          </a:p>
        </p:txBody>
      </p:sp>
    </p:spTree>
    <p:extLst>
      <p:ext uri="{BB962C8B-B14F-4D97-AF65-F5344CB8AC3E}">
        <p14:creationId xmlns:p14="http://schemas.microsoft.com/office/powerpoint/2010/main" val="34283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1718-F5FB-0A94-3079-DE0075AA2CF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7873F3-CD80-86EA-F0DF-CB3B50A7D687}"/>
              </a:ext>
            </a:extLst>
          </p:cNvPr>
          <p:cNvSpPr>
            <a:spLocks noGrp="1"/>
          </p:cNvSpPr>
          <p:nvPr>
            <p:ph type="sldNum" sz="quarter" idx="12"/>
          </p:nvPr>
        </p:nvSpPr>
        <p:spPr/>
        <p:txBody>
          <a:bodyPr/>
          <a:lstStyle/>
          <a:p>
            <a:fld id="{6B07C8CD-4FE2-46F0-9611-E3B643750200}" type="slidenum">
              <a:rPr lang="en-IN" smtClean="0"/>
              <a:t>36</a:t>
            </a:fld>
            <a:endParaRPr lang="en-IN"/>
          </a:p>
        </p:txBody>
      </p:sp>
      <p:sp>
        <p:nvSpPr>
          <p:cNvPr id="7" name="Google Shape;288;p8">
            <a:extLst>
              <a:ext uri="{FF2B5EF4-FFF2-40B4-BE49-F238E27FC236}">
                <a16:creationId xmlns:a16="http://schemas.microsoft.com/office/drawing/2014/main" id="{4C3079E4-0E1C-0506-922E-D348D149B776}"/>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IN" dirty="0"/>
              <a:t>Cost-Responsiveness Efficient Frontier</a:t>
            </a:r>
            <a:r>
              <a:rPr lang="en-US" dirty="0"/>
              <a:t>….</a:t>
            </a:r>
            <a:endParaRPr lang="en-US" b="1" dirty="0"/>
          </a:p>
        </p:txBody>
      </p:sp>
      <p:pic>
        <p:nvPicPr>
          <p:cNvPr id="1026" name="Picture 2">
            <a:extLst>
              <a:ext uri="{FF2B5EF4-FFF2-40B4-BE49-F238E27FC236}">
                <a16:creationId xmlns:a16="http://schemas.microsoft.com/office/drawing/2014/main" id="{562F8867-58D3-DA4A-5B26-E07C7B9DF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8002" y="1759352"/>
            <a:ext cx="4371533" cy="4433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611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DB79-1434-B7D2-940C-5C819BC2BB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641D49-5633-DA88-6E6A-D0044C7FABAB}"/>
              </a:ext>
            </a:extLst>
          </p:cNvPr>
          <p:cNvSpPr>
            <a:spLocks noGrp="1"/>
          </p:cNvSpPr>
          <p:nvPr>
            <p:ph type="sldNum" sz="quarter" idx="12"/>
          </p:nvPr>
        </p:nvSpPr>
        <p:spPr/>
        <p:txBody>
          <a:bodyPr/>
          <a:lstStyle/>
          <a:p>
            <a:fld id="{6B07C8CD-4FE2-46F0-9611-E3B643750200}" type="slidenum">
              <a:rPr lang="en-IN" smtClean="0"/>
              <a:t>37</a:t>
            </a:fld>
            <a:endParaRPr lang="en-IN"/>
          </a:p>
        </p:txBody>
      </p:sp>
      <p:sp>
        <p:nvSpPr>
          <p:cNvPr id="7" name="Google Shape;288;p8">
            <a:extLst>
              <a:ext uri="{FF2B5EF4-FFF2-40B4-BE49-F238E27FC236}">
                <a16:creationId xmlns:a16="http://schemas.microsoft.com/office/drawing/2014/main" id="{E7405874-B1C6-DD0D-ED6E-2335F61A2D8D}"/>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pPr>
            <a:r>
              <a:rPr lang="en-IN" dirty="0"/>
              <a:t>Responsiveness Spectrum</a:t>
            </a:r>
            <a:r>
              <a:rPr lang="en-US" dirty="0"/>
              <a:t>….</a:t>
            </a:r>
            <a:endParaRPr lang="en-US" b="1" dirty="0"/>
          </a:p>
        </p:txBody>
      </p:sp>
      <p:pic>
        <p:nvPicPr>
          <p:cNvPr id="2050" name="Picture 2">
            <a:extLst>
              <a:ext uri="{FF2B5EF4-FFF2-40B4-BE49-F238E27FC236}">
                <a16:creationId xmlns:a16="http://schemas.microsoft.com/office/drawing/2014/main" id="{392CE5D0-5468-12E6-4B5F-52781064D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5649"/>
            <a:ext cx="12192000" cy="410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558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356D3-33EA-D8F4-ACC6-C53A753E007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9129DA-ACCF-094E-55E7-41E4129A1195}"/>
              </a:ext>
            </a:extLst>
          </p:cNvPr>
          <p:cNvSpPr>
            <a:spLocks noGrp="1"/>
          </p:cNvSpPr>
          <p:nvPr>
            <p:ph type="sldNum" sz="quarter" idx="12"/>
          </p:nvPr>
        </p:nvSpPr>
        <p:spPr/>
        <p:txBody>
          <a:bodyPr/>
          <a:lstStyle/>
          <a:p>
            <a:fld id="{6B07C8CD-4FE2-46F0-9611-E3B643750200}" type="slidenum">
              <a:rPr lang="en-IN" smtClean="0"/>
              <a:t>38</a:t>
            </a:fld>
            <a:endParaRPr lang="en-IN"/>
          </a:p>
        </p:txBody>
      </p:sp>
      <p:sp>
        <p:nvSpPr>
          <p:cNvPr id="7" name="Google Shape;288;p8">
            <a:extLst>
              <a:ext uri="{FF2B5EF4-FFF2-40B4-BE49-F238E27FC236}">
                <a16:creationId xmlns:a16="http://schemas.microsoft.com/office/drawing/2014/main" id="{12EAA12E-99F4-8A4F-6388-84222D0A28B8}"/>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Step 3: Achieving Strategic Fit….</a:t>
            </a:r>
            <a:endParaRPr lang="en-US" b="1" dirty="0"/>
          </a:p>
        </p:txBody>
      </p:sp>
      <p:sp>
        <p:nvSpPr>
          <p:cNvPr id="3" name="TextBox 2">
            <a:extLst>
              <a:ext uri="{FF2B5EF4-FFF2-40B4-BE49-F238E27FC236}">
                <a16:creationId xmlns:a16="http://schemas.microsoft.com/office/drawing/2014/main" id="{D07FB280-A940-8CE9-7B57-97A58F0BA822}"/>
              </a:ext>
            </a:extLst>
          </p:cNvPr>
          <p:cNvSpPr txBox="1"/>
          <p:nvPr/>
        </p:nvSpPr>
        <p:spPr>
          <a:xfrm>
            <a:off x="1485900" y="1845270"/>
            <a:ext cx="9608820" cy="2462213"/>
          </a:xfrm>
          <a:prstGeom prst="rect">
            <a:avLst/>
          </a:prstGeom>
          <a:noFill/>
        </p:spPr>
        <p:txBody>
          <a:bodyPr wrap="square">
            <a:spAutoFit/>
          </a:bodyPr>
          <a:lstStyle/>
          <a:p>
            <a:pPr marL="76200" rtl="0" fontAlgn="base">
              <a:buFont typeface="Arial" panose="020B0604020202020204" pitchFamily="34" charset="0"/>
              <a:buChar char="•"/>
            </a:pPr>
            <a:r>
              <a:rPr lang="en-US" sz="2400" b="0" i="0" u="none" strike="noStrike" dirty="0">
                <a:solidFill>
                  <a:srgbClr val="000000"/>
                </a:solidFill>
                <a:effectLst/>
                <a:latin typeface="Calibri" panose="020F0502020204030204" pitchFamily="34" charset="0"/>
              </a:rPr>
              <a:t>Ensure that the degree of supply chain responsiveness is consistent with the implied uncertainty</a:t>
            </a:r>
            <a:endParaRPr lang="en-US" sz="2400" b="0" i="0" u="none" strike="noStrike" dirty="0">
              <a:solidFill>
                <a:srgbClr val="000000"/>
              </a:solidFill>
              <a:effectLst/>
              <a:latin typeface="Arial" panose="020B0604020202020204" pitchFamily="34" charset="0"/>
            </a:endParaRPr>
          </a:p>
          <a:p>
            <a:pPr marL="76200" rtl="0" fontAlgn="base">
              <a:spcBef>
                <a:spcPts val="600"/>
              </a:spcBef>
              <a:buFont typeface="Arial" panose="020B0604020202020204" pitchFamily="34" charset="0"/>
              <a:buChar char="•"/>
            </a:pPr>
            <a:r>
              <a:rPr lang="en-US" sz="2400" b="0" i="0" u="none" strike="noStrike" dirty="0">
                <a:solidFill>
                  <a:srgbClr val="000000"/>
                </a:solidFill>
                <a:effectLst/>
                <a:latin typeface="Calibri" panose="020F0502020204030204" pitchFamily="34" charset="0"/>
              </a:rPr>
              <a:t>Assign roles to different stages of the supply chain that ensure the appropriate level of responsiveness</a:t>
            </a:r>
            <a:endParaRPr lang="en-US" sz="2400" b="0" i="0" u="none" strike="noStrike" dirty="0">
              <a:solidFill>
                <a:srgbClr val="000000"/>
              </a:solidFill>
              <a:effectLst/>
              <a:latin typeface="Arial" panose="020B0604020202020204" pitchFamily="34" charset="0"/>
            </a:endParaRPr>
          </a:p>
          <a:p>
            <a:pPr marL="76200" rtl="0" fontAlgn="base">
              <a:spcBef>
                <a:spcPts val="600"/>
              </a:spcBef>
              <a:buFont typeface="Arial" panose="020B0604020202020204" pitchFamily="34" charset="0"/>
              <a:buChar char="•"/>
            </a:pPr>
            <a:r>
              <a:rPr lang="en-US" sz="2400" b="0" i="0" u="none" strike="noStrike" dirty="0">
                <a:solidFill>
                  <a:srgbClr val="000000"/>
                </a:solidFill>
                <a:effectLst/>
                <a:latin typeface="Calibri" panose="020F0502020204030204" pitchFamily="34" charset="0"/>
              </a:rPr>
              <a:t>Ensure that all functions maintain consistent strategies that support the competitive strategy</a:t>
            </a:r>
            <a:endParaRPr lang="en-US" sz="24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391765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C2DE-C498-0925-D168-C1F78CA5EFA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B9F4B4-6EC4-7096-FDCF-1A8676F4EE2B}"/>
              </a:ext>
            </a:extLst>
          </p:cNvPr>
          <p:cNvSpPr>
            <a:spLocks noGrp="1"/>
          </p:cNvSpPr>
          <p:nvPr>
            <p:ph type="sldNum" sz="quarter" idx="12"/>
          </p:nvPr>
        </p:nvSpPr>
        <p:spPr/>
        <p:txBody>
          <a:bodyPr/>
          <a:lstStyle/>
          <a:p>
            <a:fld id="{6B07C8CD-4FE2-46F0-9611-E3B643750200}" type="slidenum">
              <a:rPr lang="en-IN" smtClean="0"/>
              <a:t>39</a:t>
            </a:fld>
            <a:endParaRPr lang="en-IN"/>
          </a:p>
        </p:txBody>
      </p:sp>
      <p:sp>
        <p:nvSpPr>
          <p:cNvPr id="7" name="Google Shape;288;p8">
            <a:extLst>
              <a:ext uri="{FF2B5EF4-FFF2-40B4-BE49-F238E27FC236}">
                <a16:creationId xmlns:a16="http://schemas.microsoft.com/office/drawing/2014/main" id="{ED14BB13-0360-D2B3-73A2-31F418A80726}"/>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Zone of Strategic Fit….</a:t>
            </a:r>
            <a:endParaRPr lang="en-US" b="1" dirty="0"/>
          </a:p>
        </p:txBody>
      </p:sp>
      <p:pic>
        <p:nvPicPr>
          <p:cNvPr id="3074" name="Picture 2">
            <a:extLst>
              <a:ext uri="{FF2B5EF4-FFF2-40B4-BE49-F238E27FC236}">
                <a16:creationId xmlns:a16="http://schemas.microsoft.com/office/drawing/2014/main" id="{74CD8B5F-2CA2-D2D6-143A-0051DD030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559" y="1087120"/>
            <a:ext cx="7317796" cy="57708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152B73E-C433-519B-4284-756CB6039609}"/>
              </a:ext>
            </a:extLst>
          </p:cNvPr>
          <p:cNvSpPr txBox="1"/>
          <p:nvPr/>
        </p:nvSpPr>
        <p:spPr>
          <a:xfrm>
            <a:off x="10129520" y="5798145"/>
            <a:ext cx="2062480" cy="923330"/>
          </a:xfrm>
          <a:prstGeom prst="rect">
            <a:avLst/>
          </a:prstGeom>
          <a:noFill/>
        </p:spPr>
        <p:txBody>
          <a:bodyPr wrap="square" rtlCol="0">
            <a:spAutoFit/>
          </a:bodyPr>
          <a:lstStyle/>
          <a:p>
            <a:r>
              <a:rPr lang="en-IN" dirty="0"/>
              <a:t>Certain demand with response </a:t>
            </a:r>
          </a:p>
          <a:p>
            <a:r>
              <a:rPr lang="en-IN" dirty="0"/>
              <a:t>WRT PLC Maruti</a:t>
            </a:r>
          </a:p>
        </p:txBody>
      </p:sp>
    </p:spTree>
    <p:extLst>
      <p:ext uri="{BB962C8B-B14F-4D97-AF65-F5344CB8AC3E}">
        <p14:creationId xmlns:p14="http://schemas.microsoft.com/office/powerpoint/2010/main" val="18626502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9BA0-DE17-64C5-6480-61FAF357B0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2C7D52-1D57-0659-2AE5-C7064A37859D}"/>
              </a:ext>
            </a:extLst>
          </p:cNvPr>
          <p:cNvSpPr>
            <a:spLocks noGrp="1"/>
          </p:cNvSpPr>
          <p:nvPr>
            <p:ph type="sldNum" sz="quarter" idx="12"/>
          </p:nvPr>
        </p:nvSpPr>
        <p:spPr/>
        <p:txBody>
          <a:bodyPr/>
          <a:lstStyle/>
          <a:p>
            <a:fld id="{6B07C8CD-4FE2-46F0-9611-E3B643750200}" type="slidenum">
              <a:rPr lang="en-IN" smtClean="0"/>
              <a:t>40</a:t>
            </a:fld>
            <a:endParaRPr lang="en-IN"/>
          </a:p>
        </p:txBody>
      </p:sp>
      <p:sp>
        <p:nvSpPr>
          <p:cNvPr id="7" name="Google Shape;288;p8">
            <a:extLst>
              <a:ext uri="{FF2B5EF4-FFF2-40B4-BE49-F238E27FC236}">
                <a16:creationId xmlns:a16="http://schemas.microsoft.com/office/drawing/2014/main" id="{61A818C5-D0F0-0B2C-33F2-216BEC6F2AAD}"/>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Efficient and Responsive Supply Chains….</a:t>
            </a:r>
            <a:endParaRPr lang="en-US" b="1" dirty="0"/>
          </a:p>
        </p:txBody>
      </p:sp>
      <p:graphicFrame>
        <p:nvGraphicFramePr>
          <p:cNvPr id="3" name="Table 2">
            <a:extLst>
              <a:ext uri="{FF2B5EF4-FFF2-40B4-BE49-F238E27FC236}">
                <a16:creationId xmlns:a16="http://schemas.microsoft.com/office/drawing/2014/main" id="{38017204-CD77-8EAF-E2E2-5704FAD99A66}"/>
              </a:ext>
            </a:extLst>
          </p:cNvPr>
          <p:cNvGraphicFramePr>
            <a:graphicFrameLocks noGrp="1"/>
          </p:cNvGraphicFramePr>
          <p:nvPr>
            <p:extLst>
              <p:ext uri="{D42A27DB-BD31-4B8C-83A1-F6EECF244321}">
                <p14:modId xmlns:p14="http://schemas.microsoft.com/office/powerpoint/2010/main" val="3662410863"/>
              </p:ext>
            </p:extLst>
          </p:nvPr>
        </p:nvGraphicFramePr>
        <p:xfrm>
          <a:off x="1169582" y="1275907"/>
          <a:ext cx="9813851" cy="5584883"/>
        </p:xfrm>
        <a:graphic>
          <a:graphicData uri="http://schemas.openxmlformats.org/drawingml/2006/table">
            <a:tbl>
              <a:tblPr/>
              <a:tblGrid>
                <a:gridCol w="2020173">
                  <a:extLst>
                    <a:ext uri="{9D8B030D-6E8A-4147-A177-3AD203B41FA5}">
                      <a16:colId xmlns:a16="http://schemas.microsoft.com/office/drawing/2014/main" val="75500891"/>
                    </a:ext>
                  </a:extLst>
                </a:gridCol>
                <a:gridCol w="3896839">
                  <a:extLst>
                    <a:ext uri="{9D8B030D-6E8A-4147-A177-3AD203B41FA5}">
                      <a16:colId xmlns:a16="http://schemas.microsoft.com/office/drawing/2014/main" val="1806168912"/>
                    </a:ext>
                  </a:extLst>
                </a:gridCol>
                <a:gridCol w="3896839">
                  <a:extLst>
                    <a:ext uri="{9D8B030D-6E8A-4147-A177-3AD203B41FA5}">
                      <a16:colId xmlns:a16="http://schemas.microsoft.com/office/drawing/2014/main" val="4067369712"/>
                    </a:ext>
                  </a:extLst>
                </a:gridCol>
              </a:tblGrid>
              <a:tr h="370443">
                <a:tc>
                  <a:txBody>
                    <a:bodyPr/>
                    <a:lstStyle/>
                    <a:p>
                      <a:pPr fontAlgn="ctr">
                        <a:buNone/>
                      </a:pPr>
                      <a:r>
                        <a:rPr lang="en-IN" sz="1600">
                          <a:effectLst/>
                        </a:rPr>
                        <a:t> </a:t>
                      </a: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ctr">
                        <a:buNone/>
                      </a:pPr>
                      <a:r>
                        <a:rPr lang="en-IN" sz="1300" b="1" i="0" u="none" strike="noStrike">
                          <a:solidFill>
                            <a:srgbClr val="000000"/>
                          </a:solidFill>
                          <a:effectLst/>
                          <a:latin typeface="Calibri" panose="020F0502020204030204" pitchFamily="34" charset="0"/>
                        </a:rPr>
                        <a:t>Efficient Supply Chains</a:t>
                      </a:r>
                      <a:endParaRPr lang="en-IN" sz="16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ctr">
                        <a:buNone/>
                      </a:pPr>
                      <a:r>
                        <a:rPr lang="en-IN" sz="1300" b="1" i="0" u="none" strike="noStrike">
                          <a:solidFill>
                            <a:srgbClr val="000000"/>
                          </a:solidFill>
                          <a:effectLst/>
                          <a:latin typeface="Calibri" panose="020F0502020204030204" pitchFamily="34" charset="0"/>
                        </a:rPr>
                        <a:t>Responsive Supply Chains</a:t>
                      </a:r>
                      <a:endParaRPr lang="en-IN" sz="16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3445806"/>
                  </a:ext>
                </a:extLst>
              </a:tr>
              <a:tr h="552548">
                <a:tc>
                  <a:txBody>
                    <a:bodyPr/>
                    <a:lstStyle/>
                    <a:p>
                      <a:pPr rtl="0" fontAlgn="ctr">
                        <a:buNone/>
                      </a:pPr>
                      <a:r>
                        <a:rPr lang="en-IN" sz="1800" b="0" i="0" u="none" strike="noStrike" dirty="0">
                          <a:solidFill>
                            <a:srgbClr val="000000"/>
                          </a:solidFill>
                          <a:effectLst/>
                          <a:latin typeface="Calibri" panose="020F0502020204030204" pitchFamily="34" charset="0"/>
                        </a:rPr>
                        <a:t>Primary goal</a:t>
                      </a:r>
                      <a:endParaRPr lang="en-IN"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Supply demand at the lowest cost</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IN" sz="1800" b="0" i="0" u="none" strike="noStrike">
                          <a:solidFill>
                            <a:srgbClr val="000000"/>
                          </a:solidFill>
                          <a:effectLst/>
                          <a:latin typeface="Calibri" panose="020F0502020204030204" pitchFamily="34" charset="0"/>
                        </a:rPr>
                        <a:t>Respond quickly to demand</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2554623"/>
                  </a:ext>
                </a:extLst>
              </a:tr>
              <a:tr h="794006">
                <a:tc>
                  <a:txBody>
                    <a:bodyPr/>
                    <a:lstStyle/>
                    <a:p>
                      <a:pPr rtl="0" fontAlgn="ctr">
                        <a:buNone/>
                      </a:pPr>
                      <a:r>
                        <a:rPr lang="en-IN" sz="1800" b="0" i="0" u="none" strike="noStrike">
                          <a:solidFill>
                            <a:srgbClr val="000000"/>
                          </a:solidFill>
                          <a:effectLst/>
                          <a:latin typeface="Calibri" panose="020F0502020204030204" pitchFamily="34" charset="0"/>
                        </a:rPr>
                        <a:t>Product design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Maximize performance at a minimum product cost</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Create </a:t>
                      </a:r>
                      <a:r>
                        <a:rPr lang="en-US" sz="1800" b="0" i="1" u="none" strike="noStrike">
                          <a:solidFill>
                            <a:srgbClr val="000000"/>
                          </a:solidFill>
                          <a:effectLst/>
                          <a:latin typeface="Calibri" panose="020F0502020204030204" pitchFamily="34" charset="0"/>
                        </a:rPr>
                        <a:t>modularity</a:t>
                      </a:r>
                      <a:r>
                        <a:rPr lang="en-US" sz="1800" b="0" i="0" u="none" strike="noStrike">
                          <a:solidFill>
                            <a:srgbClr val="000000"/>
                          </a:solidFill>
                          <a:effectLst/>
                          <a:latin typeface="Calibri" panose="020F0502020204030204" pitchFamily="34" charset="0"/>
                        </a:rPr>
                        <a:t> to allow postponement of product differentiation</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3576842"/>
                  </a:ext>
                </a:extLst>
              </a:tr>
              <a:tr h="794006">
                <a:tc>
                  <a:txBody>
                    <a:bodyPr/>
                    <a:lstStyle/>
                    <a:p>
                      <a:pPr rtl="0" fontAlgn="ctr">
                        <a:buNone/>
                      </a:pPr>
                      <a:r>
                        <a:rPr lang="en-IN" sz="1800" b="0" i="0" u="none" strike="noStrike">
                          <a:solidFill>
                            <a:srgbClr val="000000"/>
                          </a:solidFill>
                          <a:effectLst/>
                          <a:latin typeface="Calibri" panose="020F0502020204030204" pitchFamily="34" charset="0"/>
                        </a:rPr>
                        <a:t>Pricing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Lower margins because price is a prime customer driver</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Higher margins because price is not a prime customer driver</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5518464"/>
                  </a:ext>
                </a:extLst>
              </a:tr>
              <a:tr h="794006">
                <a:tc>
                  <a:txBody>
                    <a:bodyPr/>
                    <a:lstStyle/>
                    <a:p>
                      <a:pPr rtl="0" fontAlgn="ctr">
                        <a:buNone/>
                      </a:pPr>
                      <a:r>
                        <a:rPr lang="en-IN" sz="1800" b="0" i="0" u="none" strike="noStrike">
                          <a:solidFill>
                            <a:srgbClr val="000000"/>
                          </a:solidFill>
                          <a:effectLst/>
                          <a:latin typeface="Calibri" panose="020F0502020204030204" pitchFamily="34" charset="0"/>
                        </a:rPr>
                        <a:t>Manufacturing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Lower costs through high utilization</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Maintain capacity flexibility to buffer against demand/supply uncertainty</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2543304"/>
                  </a:ext>
                </a:extLst>
              </a:tr>
              <a:tr h="794006">
                <a:tc>
                  <a:txBody>
                    <a:bodyPr/>
                    <a:lstStyle/>
                    <a:p>
                      <a:pPr rtl="0" fontAlgn="ctr">
                        <a:buNone/>
                      </a:pPr>
                      <a:r>
                        <a:rPr lang="en-IN" sz="1800" b="0" i="0" u="none" strike="noStrike">
                          <a:solidFill>
                            <a:srgbClr val="000000"/>
                          </a:solidFill>
                          <a:effectLst/>
                          <a:latin typeface="Calibri" panose="020F0502020204030204" pitchFamily="34" charset="0"/>
                        </a:rPr>
                        <a:t>Inventory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Minimize inventory to lower cost</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Maintain </a:t>
                      </a:r>
                      <a:r>
                        <a:rPr lang="en-US" sz="1800" b="0" i="1" u="none" strike="noStrike" dirty="0">
                          <a:solidFill>
                            <a:srgbClr val="000000"/>
                          </a:solidFill>
                          <a:effectLst/>
                          <a:latin typeface="Calibri" panose="020F0502020204030204" pitchFamily="34" charset="0"/>
                        </a:rPr>
                        <a:t>buffer inventory </a:t>
                      </a:r>
                      <a:r>
                        <a:rPr lang="en-US" sz="1800" b="0" i="0" u="none" strike="noStrike" dirty="0">
                          <a:solidFill>
                            <a:srgbClr val="000000"/>
                          </a:solidFill>
                          <a:effectLst/>
                          <a:latin typeface="Calibri" panose="020F0502020204030204" pitchFamily="34" charset="0"/>
                        </a:rPr>
                        <a:t>to deal with demand/supply uncertainty</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8891797"/>
                  </a:ext>
                </a:extLst>
              </a:tr>
              <a:tr h="552548">
                <a:tc>
                  <a:txBody>
                    <a:bodyPr/>
                    <a:lstStyle/>
                    <a:p>
                      <a:pPr rtl="0" fontAlgn="ctr">
                        <a:buNone/>
                      </a:pPr>
                      <a:r>
                        <a:rPr lang="en-IN" sz="1800" b="0" i="0" u="none" strike="noStrike">
                          <a:solidFill>
                            <a:srgbClr val="000000"/>
                          </a:solidFill>
                          <a:effectLst/>
                          <a:latin typeface="Calibri" panose="020F0502020204030204" pitchFamily="34" charset="0"/>
                        </a:rPr>
                        <a:t>Lead-time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Reduce, but not at the expense of costs</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Reduce aggressively, even if the costs are significant</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864458"/>
                  </a:ext>
                </a:extLst>
              </a:tr>
              <a:tr h="794006">
                <a:tc>
                  <a:txBody>
                    <a:bodyPr/>
                    <a:lstStyle/>
                    <a:p>
                      <a:pPr rtl="0" fontAlgn="ctr">
                        <a:buNone/>
                      </a:pPr>
                      <a:r>
                        <a:rPr lang="en-IN" sz="1800" b="0" i="0" u="none" strike="noStrike">
                          <a:solidFill>
                            <a:srgbClr val="000000"/>
                          </a:solidFill>
                          <a:effectLst/>
                          <a:latin typeface="Calibri" panose="020F0502020204030204" pitchFamily="34" charset="0"/>
                        </a:rPr>
                        <a:t>Supplier strategy</a:t>
                      </a:r>
                      <a:endParaRPr lang="en-IN"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a:solidFill>
                            <a:srgbClr val="000000"/>
                          </a:solidFill>
                          <a:effectLst/>
                          <a:latin typeface="Calibri" panose="020F0502020204030204" pitchFamily="34" charset="0"/>
                        </a:rPr>
                        <a:t>Select based on cost and quality</a:t>
                      </a:r>
                      <a:endParaRPr lang="en-US" sz="180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ctr">
                        <a:buNone/>
                      </a:pPr>
                      <a:r>
                        <a:rPr lang="en-US" sz="1800" b="0" i="0" u="none" strike="noStrike" dirty="0">
                          <a:solidFill>
                            <a:srgbClr val="000000"/>
                          </a:solidFill>
                          <a:effectLst/>
                          <a:latin typeface="Calibri" panose="020F0502020204030204" pitchFamily="34" charset="0"/>
                        </a:rPr>
                        <a:t>Select based on speed, flexibility, reliability, and quality</a:t>
                      </a:r>
                      <a:endParaRPr lang="en-US" sz="1800" dirty="0">
                        <a:effectLst/>
                      </a:endParaRPr>
                    </a:p>
                  </a:txBody>
                  <a:tcPr marL="57134" marR="57134" marT="28567" marB="2856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7796460"/>
                  </a:ext>
                </a:extLst>
              </a:tr>
            </a:tbl>
          </a:graphicData>
        </a:graphic>
      </p:graphicFrame>
      <p:sp>
        <p:nvSpPr>
          <p:cNvPr id="5" name="Rectangle 1">
            <a:extLst>
              <a:ext uri="{FF2B5EF4-FFF2-40B4-BE49-F238E27FC236}">
                <a16:creationId xmlns:a16="http://schemas.microsoft.com/office/drawing/2014/main" id="{FBA80C3F-2AA9-6D5F-1251-255674A7141F}"/>
              </a:ext>
            </a:extLst>
          </p:cNvPr>
          <p:cNvSpPr>
            <a:spLocks noChangeArrowheads="1"/>
          </p:cNvSpPr>
          <p:nvPr/>
        </p:nvSpPr>
        <p:spPr bwMode="auto">
          <a:xfrm>
            <a:off x="3556000" y="17668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034894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055AF-D916-C623-4BFD-5B4E7D78B50A}"/>
              </a:ext>
            </a:extLst>
          </p:cNvPr>
          <p:cNvSpPr>
            <a:spLocks noGrp="1"/>
          </p:cNvSpPr>
          <p:nvPr>
            <p:ph type="ctrTitle"/>
          </p:nvPr>
        </p:nvSpPr>
        <p:spPr>
          <a:xfrm>
            <a:off x="6261489" y="1763251"/>
            <a:ext cx="5851797" cy="2720126"/>
          </a:xfrm>
        </p:spPr>
        <p:txBody>
          <a:bodyPr vert="horz" lIns="91440" tIns="45720" rIns="91440" bIns="45720" rtlCol="0" anchor="ctr">
            <a:normAutofit/>
          </a:bodyPr>
          <a:lstStyle/>
          <a:p>
            <a:r>
              <a:rPr lang="en-US" sz="3600" b="1" dirty="0">
                <a:latin typeface="+mn-lt"/>
              </a:rPr>
              <a:t>Case Study 1 :</a:t>
            </a:r>
            <a:br>
              <a:rPr lang="en-US" sz="3600" b="1" dirty="0">
                <a:latin typeface="+mn-lt"/>
              </a:rPr>
            </a:br>
            <a:r>
              <a:rPr lang="en-US" sz="3600" b="1" dirty="0">
                <a:latin typeface="+mn-lt"/>
              </a:rPr>
              <a:t>Asian Paints Mastered The Management of Push-Pull Supply Chain</a:t>
            </a:r>
          </a:p>
        </p:txBody>
      </p:sp>
      <p:pic>
        <p:nvPicPr>
          <p:cNvPr id="8" name="Picture 2" descr="Map&#10;&#10;Description automatically generated">
            <a:extLst>
              <a:ext uri="{FF2B5EF4-FFF2-40B4-BE49-F238E27FC236}">
                <a16:creationId xmlns:a16="http://schemas.microsoft.com/office/drawing/2014/main" id="{6ACC8316-43A1-64F7-31A2-9256A1FD2D70}"/>
              </a:ext>
            </a:extLst>
          </p:cNvPr>
          <p:cNvPicPr>
            <a:picLocks noChangeAspect="1"/>
          </p:cNvPicPr>
          <p:nvPr/>
        </p:nvPicPr>
        <p:blipFill rotWithShape="1">
          <a:blip r:embed="rId2"/>
          <a:srcRect l="7424" r="3387"/>
          <a:stretch/>
        </p:blipFill>
        <p:spPr>
          <a:xfrm>
            <a:off x="2" y="10"/>
            <a:ext cx="611656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Tree>
    <p:extLst>
      <p:ext uri="{BB962C8B-B14F-4D97-AF65-F5344CB8AC3E}">
        <p14:creationId xmlns:p14="http://schemas.microsoft.com/office/powerpoint/2010/main" val="2899420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p:txBody>
          <a:bodyPr/>
          <a:lstStyle/>
          <a:p>
            <a:r>
              <a:rPr lang="en-IN" dirty="0">
                <a:latin typeface="+mn-lt"/>
              </a:rPr>
              <a:t>Introduction</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838200" y="1690688"/>
            <a:ext cx="9103242" cy="2020186"/>
          </a:xfrm>
        </p:spPr>
        <p:txBody>
          <a:bodyPr>
            <a:normAutofit fontScale="85000" lnSpcReduction="20000"/>
          </a:bodyPr>
          <a:lstStyle/>
          <a:p>
            <a:pPr marL="0" indent="0" algn="just">
              <a:lnSpc>
                <a:spcPct val="120000"/>
              </a:lnSpc>
              <a:buNone/>
            </a:pPr>
            <a:r>
              <a:rPr lang="en-US" b="1" dirty="0"/>
              <a:t>Asian Paints Ltd. </a:t>
            </a:r>
            <a:r>
              <a:rPr lang="en-US" dirty="0"/>
              <a:t>is an Indian multinational paint company, headquartered in Mumbai, Maharashtra, India. The company is engaged in the business of manufacturing, selling and distribution of paints, coatings, products related to home décor, bath fittings and providing of related services. </a:t>
            </a:r>
            <a:endParaRPr lang="en-IN" dirty="0"/>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AAADA9B4-3E94-2EDB-8822-4E1F1000AF5D}"/>
              </a:ext>
            </a:extLst>
          </p:cNvPr>
          <p:cNvSpPr/>
          <p:nvPr/>
        </p:nvSpPr>
        <p:spPr>
          <a:xfrm>
            <a:off x="7989037" y="4327339"/>
            <a:ext cx="1871330" cy="1679945"/>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9</a:t>
            </a:r>
            <a:r>
              <a:rPr lang="en-IN" sz="2000" baseline="30000" dirty="0">
                <a:solidFill>
                  <a:schemeClr val="tx1"/>
                </a:solidFill>
              </a:rPr>
              <a:t>th</a:t>
            </a:r>
            <a:r>
              <a:rPr lang="en-IN" sz="2000" dirty="0">
                <a:solidFill>
                  <a:schemeClr val="tx1"/>
                </a:solidFill>
              </a:rPr>
              <a:t> largest in the world.</a:t>
            </a:r>
          </a:p>
        </p:txBody>
      </p:sp>
      <p:sp>
        <p:nvSpPr>
          <p:cNvPr id="6" name="Oval 5">
            <a:extLst>
              <a:ext uri="{FF2B5EF4-FFF2-40B4-BE49-F238E27FC236}">
                <a16:creationId xmlns:a16="http://schemas.microsoft.com/office/drawing/2014/main" id="{D7E7C4E4-183A-7CBA-4AC2-54D82EB7C69D}"/>
              </a:ext>
            </a:extLst>
          </p:cNvPr>
          <p:cNvSpPr/>
          <p:nvPr/>
        </p:nvSpPr>
        <p:spPr>
          <a:xfrm>
            <a:off x="4589498" y="4157218"/>
            <a:ext cx="2266509" cy="2020186"/>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3</a:t>
            </a:r>
            <a:r>
              <a:rPr lang="en-IN" sz="2000" baseline="30000" dirty="0">
                <a:solidFill>
                  <a:schemeClr val="tx1"/>
                </a:solidFill>
              </a:rPr>
              <a:t>rd</a:t>
            </a:r>
            <a:r>
              <a:rPr lang="en-IN" sz="2000" dirty="0">
                <a:solidFill>
                  <a:schemeClr val="tx1"/>
                </a:solidFill>
              </a:rPr>
              <a:t> largest in the Asia.</a:t>
            </a:r>
          </a:p>
        </p:txBody>
      </p:sp>
      <p:sp>
        <p:nvSpPr>
          <p:cNvPr id="7" name="Oval 6">
            <a:extLst>
              <a:ext uri="{FF2B5EF4-FFF2-40B4-BE49-F238E27FC236}">
                <a16:creationId xmlns:a16="http://schemas.microsoft.com/office/drawing/2014/main" id="{F47A919F-1877-3E17-A3DE-2FBDAA9B3278}"/>
              </a:ext>
            </a:extLst>
          </p:cNvPr>
          <p:cNvSpPr/>
          <p:nvPr/>
        </p:nvSpPr>
        <p:spPr>
          <a:xfrm>
            <a:off x="838200" y="3965832"/>
            <a:ext cx="2618269" cy="240296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Asian Paints Limited is the largest paint company of India.</a:t>
            </a:r>
          </a:p>
        </p:txBody>
      </p:sp>
      <p:pic>
        <p:nvPicPr>
          <p:cNvPr id="8" name="Picture 7">
            <a:extLst>
              <a:ext uri="{FF2B5EF4-FFF2-40B4-BE49-F238E27FC236}">
                <a16:creationId xmlns:a16="http://schemas.microsoft.com/office/drawing/2014/main" id="{F61C3478-DB58-BA6A-E79D-37086D094490}"/>
              </a:ext>
            </a:extLst>
          </p:cNvPr>
          <p:cNvPicPr>
            <a:picLocks noChangeAspect="1"/>
          </p:cNvPicPr>
          <p:nvPr/>
        </p:nvPicPr>
        <p:blipFill>
          <a:blip r:embed="rId2"/>
          <a:stretch>
            <a:fillRect/>
          </a:stretch>
        </p:blipFill>
        <p:spPr>
          <a:xfrm>
            <a:off x="10103590" y="181465"/>
            <a:ext cx="1752708" cy="1752708"/>
          </a:xfrm>
          <a:prstGeom prst="rect">
            <a:avLst/>
          </a:prstGeom>
        </p:spPr>
      </p:pic>
      <p:pic>
        <p:nvPicPr>
          <p:cNvPr id="13" name="Graphic 12" descr="Wreath outline">
            <a:extLst>
              <a:ext uri="{FF2B5EF4-FFF2-40B4-BE49-F238E27FC236}">
                <a16:creationId xmlns:a16="http://schemas.microsoft.com/office/drawing/2014/main" id="{1A08DF8C-16BC-EC40-A8AE-C2377DADC9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65322" y="4710111"/>
            <a:ext cx="914400" cy="914400"/>
          </a:xfrm>
          <a:prstGeom prst="rect">
            <a:avLst/>
          </a:prstGeom>
        </p:spPr>
      </p:pic>
      <p:pic>
        <p:nvPicPr>
          <p:cNvPr id="15" name="Graphic 14" descr="Ribbon outline">
            <a:extLst>
              <a:ext uri="{FF2B5EF4-FFF2-40B4-BE49-F238E27FC236}">
                <a16:creationId xmlns:a16="http://schemas.microsoft.com/office/drawing/2014/main" id="{6E5D80D1-B0D7-9FAB-F65F-45EC546460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65783" y="4710111"/>
            <a:ext cx="914400" cy="914400"/>
          </a:xfrm>
          <a:prstGeom prst="rect">
            <a:avLst/>
          </a:prstGeom>
        </p:spPr>
      </p:pic>
    </p:spTree>
    <p:extLst>
      <p:ext uri="{BB962C8B-B14F-4D97-AF65-F5344CB8AC3E}">
        <p14:creationId xmlns:p14="http://schemas.microsoft.com/office/powerpoint/2010/main" val="29268240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p:txBody>
          <a:bodyPr/>
          <a:lstStyle/>
          <a:p>
            <a:r>
              <a:rPr lang="en-IN" dirty="0">
                <a:latin typeface="+mn-lt"/>
              </a:rPr>
              <a:t>Background</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1212112" y="1777764"/>
            <a:ext cx="10141688" cy="4160520"/>
          </a:xfrm>
        </p:spPr>
        <p:txBody>
          <a:bodyPr/>
          <a:lstStyle/>
          <a:p>
            <a:pPr algn="just"/>
            <a:r>
              <a:rPr lang="en-IN" dirty="0"/>
              <a:t>Asian Paints started in 1942 as a partnership firm between 4 friends.</a:t>
            </a:r>
          </a:p>
          <a:p>
            <a:pPr algn="just"/>
            <a:r>
              <a:rPr lang="en-IN" dirty="0"/>
              <a:t>The ban on paints import during World War II provided an opportunity to Asian Paints to capture the market.</a:t>
            </a:r>
          </a:p>
          <a:p>
            <a:pPr algn="just"/>
            <a:r>
              <a:rPr lang="en-IN" dirty="0"/>
              <a:t>In the initial days, APL concentrated on its supply chain to cater to the needs of smaller and mid-cities of India as these cities were ignored by then leading players in paint businesses.</a:t>
            </a:r>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Graphic 7" descr="Boardroom outline">
            <a:extLst>
              <a:ext uri="{FF2B5EF4-FFF2-40B4-BE49-F238E27FC236}">
                <a16:creationId xmlns:a16="http://schemas.microsoft.com/office/drawing/2014/main" id="{12232609-A2B8-514F-C97A-16DED9512B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7710" y="1777764"/>
            <a:ext cx="914400" cy="914400"/>
          </a:xfrm>
          <a:prstGeom prst="rect">
            <a:avLst/>
          </a:prstGeom>
        </p:spPr>
      </p:pic>
      <p:pic>
        <p:nvPicPr>
          <p:cNvPr id="10" name="Graphic 9" descr="No sign outline">
            <a:extLst>
              <a:ext uri="{FF2B5EF4-FFF2-40B4-BE49-F238E27FC236}">
                <a16:creationId xmlns:a16="http://schemas.microsoft.com/office/drawing/2014/main" id="{427E548B-94A7-D959-E098-6C4AC12F86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846" y="2886385"/>
            <a:ext cx="726558" cy="726558"/>
          </a:xfrm>
          <a:prstGeom prst="rect">
            <a:avLst/>
          </a:prstGeom>
        </p:spPr>
      </p:pic>
      <p:pic>
        <p:nvPicPr>
          <p:cNvPr id="12" name="Graphic 11" descr="Supply And Demand outline">
            <a:extLst>
              <a:ext uri="{FF2B5EF4-FFF2-40B4-BE49-F238E27FC236}">
                <a16:creationId xmlns:a16="http://schemas.microsoft.com/office/drawing/2014/main" id="{F6387248-A3D5-EC7B-40B3-2F549F5F5E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288" y="4251140"/>
            <a:ext cx="737191" cy="726559"/>
          </a:xfrm>
          <a:prstGeom prst="rect">
            <a:avLst/>
          </a:prstGeom>
        </p:spPr>
      </p:pic>
    </p:spTree>
    <p:extLst>
      <p:ext uri="{BB962C8B-B14F-4D97-AF65-F5344CB8AC3E}">
        <p14:creationId xmlns:p14="http://schemas.microsoft.com/office/powerpoint/2010/main" val="2039479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a:xfrm>
            <a:off x="832513" y="148839"/>
            <a:ext cx="10526973" cy="768280"/>
          </a:xfrm>
        </p:spPr>
        <p:txBody>
          <a:bodyPr/>
          <a:lstStyle/>
          <a:p>
            <a:r>
              <a:rPr lang="en-IN" dirty="0">
                <a:latin typeface="+mn-lt"/>
              </a:rPr>
              <a:t>Production Units </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929185" y="882436"/>
            <a:ext cx="10809156" cy="950250"/>
          </a:xfrm>
          <a:prstGeom prst="roundRect">
            <a:avLst/>
          </a:prstGeom>
          <a:solidFill>
            <a:schemeClr val="accent6">
              <a:lumMod val="60000"/>
              <a:lumOff val="40000"/>
            </a:schemeClr>
          </a:solidFill>
        </p:spPr>
        <p:txBody>
          <a:bodyPr>
            <a:normAutofit lnSpcReduction="10000"/>
          </a:bodyPr>
          <a:lstStyle/>
          <a:p>
            <a:pPr marL="0" indent="0">
              <a:buNone/>
            </a:pPr>
            <a:r>
              <a:rPr lang="en-IN" dirty="0"/>
              <a:t>The operational capacity of APL comes through 26 paint manufacturing plants spanning over 14 countries.</a:t>
            </a:r>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itle 1">
            <a:extLst>
              <a:ext uri="{FF2B5EF4-FFF2-40B4-BE49-F238E27FC236}">
                <a16:creationId xmlns:a16="http://schemas.microsoft.com/office/drawing/2014/main" id="{D408170C-F34E-47DD-6DF9-814A27DB0BD0}"/>
              </a:ext>
            </a:extLst>
          </p:cNvPr>
          <p:cNvSpPr txBox="1">
            <a:spLocks/>
          </p:cNvSpPr>
          <p:nvPr/>
        </p:nvSpPr>
        <p:spPr>
          <a:xfrm>
            <a:off x="832513" y="1995493"/>
            <a:ext cx="10515600" cy="626414"/>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000" i="1" kern="1200">
                <a:solidFill>
                  <a:schemeClr val="tx1"/>
                </a:solidFill>
                <a:latin typeface="+mj-lt"/>
                <a:ea typeface="+mj-ea"/>
                <a:cs typeface="+mj-cs"/>
              </a:defRPr>
            </a:lvl1pPr>
          </a:lstStyle>
          <a:p>
            <a:r>
              <a:rPr lang="en-IN" dirty="0">
                <a:latin typeface="+mn-lt"/>
              </a:rPr>
              <a:t>Role of Technology</a:t>
            </a:r>
          </a:p>
        </p:txBody>
      </p:sp>
      <p:sp>
        <p:nvSpPr>
          <p:cNvPr id="5" name="Rectangle: Rounded Corners 4">
            <a:extLst>
              <a:ext uri="{FF2B5EF4-FFF2-40B4-BE49-F238E27FC236}">
                <a16:creationId xmlns:a16="http://schemas.microsoft.com/office/drawing/2014/main" id="{C0EBA48C-2BA6-C60A-C5E4-AE3199C5CFA9}"/>
              </a:ext>
            </a:extLst>
          </p:cNvPr>
          <p:cNvSpPr/>
          <p:nvPr/>
        </p:nvSpPr>
        <p:spPr>
          <a:xfrm>
            <a:off x="929184" y="2742360"/>
            <a:ext cx="10809159" cy="62641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Industry 4.0 are used at the plants for better management of its supply chain. </a:t>
            </a:r>
          </a:p>
        </p:txBody>
      </p:sp>
      <p:sp>
        <p:nvSpPr>
          <p:cNvPr id="7" name="Rectangle: Rounded Corners 6">
            <a:extLst>
              <a:ext uri="{FF2B5EF4-FFF2-40B4-BE49-F238E27FC236}">
                <a16:creationId xmlns:a16="http://schemas.microsoft.com/office/drawing/2014/main" id="{62DF92AF-2610-23FE-EBFB-23AD1F1C0D8B}"/>
              </a:ext>
            </a:extLst>
          </p:cNvPr>
          <p:cNvSpPr/>
          <p:nvPr/>
        </p:nvSpPr>
        <p:spPr>
          <a:xfrm>
            <a:off x="929183" y="3489227"/>
            <a:ext cx="10809159" cy="62641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Data driven analytics help in predictive and prescriptive analytics. </a:t>
            </a:r>
          </a:p>
        </p:txBody>
      </p:sp>
      <p:sp>
        <p:nvSpPr>
          <p:cNvPr id="8" name="Rectangle: Rounded Corners 7">
            <a:extLst>
              <a:ext uri="{FF2B5EF4-FFF2-40B4-BE49-F238E27FC236}">
                <a16:creationId xmlns:a16="http://schemas.microsoft.com/office/drawing/2014/main" id="{E1E833F9-68C6-FF64-0AE4-2FFEB24F63DA}"/>
              </a:ext>
            </a:extLst>
          </p:cNvPr>
          <p:cNvSpPr/>
          <p:nvPr/>
        </p:nvSpPr>
        <p:spPr>
          <a:xfrm>
            <a:off x="929182" y="4226806"/>
            <a:ext cx="10809159" cy="626414"/>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Sensors on different machines churn out the data related to material used, manufacturing parameters, etc. </a:t>
            </a:r>
          </a:p>
        </p:txBody>
      </p:sp>
      <p:sp>
        <p:nvSpPr>
          <p:cNvPr id="9" name="Rectangle: Rounded Corners 8">
            <a:extLst>
              <a:ext uri="{FF2B5EF4-FFF2-40B4-BE49-F238E27FC236}">
                <a16:creationId xmlns:a16="http://schemas.microsoft.com/office/drawing/2014/main" id="{9A88FA52-823A-FA13-B792-299DAC69E421}"/>
              </a:ext>
            </a:extLst>
          </p:cNvPr>
          <p:cNvSpPr/>
          <p:nvPr/>
        </p:nvSpPr>
        <p:spPr>
          <a:xfrm>
            <a:off x="929182" y="4973673"/>
            <a:ext cx="10809159" cy="626414"/>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Analytics help in maintaining the entire distribution network.</a:t>
            </a:r>
          </a:p>
        </p:txBody>
      </p:sp>
      <p:sp>
        <p:nvSpPr>
          <p:cNvPr id="10" name="Rectangle: Rounded Corners 9">
            <a:extLst>
              <a:ext uri="{FF2B5EF4-FFF2-40B4-BE49-F238E27FC236}">
                <a16:creationId xmlns:a16="http://schemas.microsoft.com/office/drawing/2014/main" id="{27EEA8A7-EFBD-CC7A-69A2-E189B03CAFC5}"/>
              </a:ext>
            </a:extLst>
          </p:cNvPr>
          <p:cNvSpPr/>
          <p:nvPr/>
        </p:nvSpPr>
        <p:spPr>
          <a:xfrm>
            <a:off x="929181" y="5753782"/>
            <a:ext cx="10809159" cy="626414"/>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Using Analytics framework help in optimizing cost and manufacturing performance.</a:t>
            </a:r>
          </a:p>
        </p:txBody>
      </p:sp>
      <p:pic>
        <p:nvPicPr>
          <p:cNvPr id="12" name="Graphic 11" descr="Factory outline">
            <a:extLst>
              <a:ext uri="{FF2B5EF4-FFF2-40B4-BE49-F238E27FC236}">
                <a16:creationId xmlns:a16="http://schemas.microsoft.com/office/drawing/2014/main" id="{B93D7D28-4694-88B6-921D-64A3143BE4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0261" y="2703399"/>
            <a:ext cx="665375" cy="665375"/>
          </a:xfrm>
          <a:prstGeom prst="rect">
            <a:avLst/>
          </a:prstGeom>
        </p:spPr>
      </p:pic>
      <p:pic>
        <p:nvPicPr>
          <p:cNvPr id="14" name="Graphic 13" descr="Research outline">
            <a:extLst>
              <a:ext uri="{FF2B5EF4-FFF2-40B4-BE49-F238E27FC236}">
                <a16:creationId xmlns:a16="http://schemas.microsoft.com/office/drawing/2014/main" id="{973B6DA0-0E7B-1F8D-839E-9ADAE988A4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1901" y="3544605"/>
            <a:ext cx="550612" cy="550612"/>
          </a:xfrm>
          <a:prstGeom prst="rect">
            <a:avLst/>
          </a:prstGeom>
        </p:spPr>
      </p:pic>
      <p:pic>
        <p:nvPicPr>
          <p:cNvPr id="16" name="Graphic 15" descr="Robot Hand with solid fill">
            <a:extLst>
              <a:ext uri="{FF2B5EF4-FFF2-40B4-BE49-F238E27FC236}">
                <a16:creationId xmlns:a16="http://schemas.microsoft.com/office/drawing/2014/main" id="{AAAC9B95-21EC-9319-3D16-AD6D4478E4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640" y="4183222"/>
            <a:ext cx="665376" cy="665376"/>
          </a:xfrm>
          <a:prstGeom prst="rect">
            <a:avLst/>
          </a:prstGeom>
        </p:spPr>
      </p:pic>
      <p:pic>
        <p:nvPicPr>
          <p:cNvPr id="18" name="Graphic 17" descr="Delivery outline">
            <a:extLst>
              <a:ext uri="{FF2B5EF4-FFF2-40B4-BE49-F238E27FC236}">
                <a16:creationId xmlns:a16="http://schemas.microsoft.com/office/drawing/2014/main" id="{21E309F0-82DB-ABED-E6B0-4B57A4BC5B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4153" y="4991563"/>
            <a:ext cx="671483" cy="671483"/>
          </a:xfrm>
          <a:prstGeom prst="rect">
            <a:avLst/>
          </a:prstGeom>
        </p:spPr>
      </p:pic>
      <p:pic>
        <p:nvPicPr>
          <p:cNvPr id="20" name="Graphic 19" descr="Rupee outline">
            <a:extLst>
              <a:ext uri="{FF2B5EF4-FFF2-40B4-BE49-F238E27FC236}">
                <a16:creationId xmlns:a16="http://schemas.microsoft.com/office/drawing/2014/main" id="{878C22F8-7ECB-6807-2146-53B21B7D7D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8361" y="5834068"/>
            <a:ext cx="451855" cy="451855"/>
          </a:xfrm>
          <a:prstGeom prst="rect">
            <a:avLst/>
          </a:prstGeom>
        </p:spPr>
      </p:pic>
    </p:spTree>
    <p:extLst>
      <p:ext uri="{BB962C8B-B14F-4D97-AF65-F5344CB8AC3E}">
        <p14:creationId xmlns:p14="http://schemas.microsoft.com/office/powerpoint/2010/main" val="1351439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a:xfrm>
            <a:off x="334921" y="366715"/>
            <a:ext cx="10515600" cy="1451451"/>
          </a:xfrm>
        </p:spPr>
        <p:txBody>
          <a:bodyPr>
            <a:normAutofit/>
          </a:bodyPr>
          <a:lstStyle/>
          <a:p>
            <a:r>
              <a:rPr lang="en-IN" dirty="0">
                <a:latin typeface="+mn-lt"/>
              </a:rPr>
              <a:t>Supply Chain of </a:t>
            </a:r>
            <a:br>
              <a:rPr lang="en-IN" dirty="0">
                <a:latin typeface="+mn-lt"/>
              </a:rPr>
            </a:br>
            <a:r>
              <a:rPr lang="en-IN" dirty="0">
                <a:latin typeface="+mn-lt"/>
              </a:rPr>
              <a:t>Asian Paints</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334921" y="2394198"/>
            <a:ext cx="3312046" cy="4097086"/>
          </a:xfrm>
        </p:spPr>
        <p:txBody>
          <a:bodyPr>
            <a:normAutofit/>
          </a:bodyPr>
          <a:lstStyle/>
          <a:p>
            <a:pPr marL="0" indent="0" algn="ctr">
              <a:buNone/>
            </a:pPr>
            <a:r>
              <a:rPr lang="en-IN" dirty="0"/>
              <a:t>Supply Chain of APL offers a wide range of paints, both for decorative and for industrial segments. </a:t>
            </a:r>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Diagram 5">
            <a:extLst>
              <a:ext uri="{FF2B5EF4-FFF2-40B4-BE49-F238E27FC236}">
                <a16:creationId xmlns:a16="http://schemas.microsoft.com/office/drawing/2014/main" id="{98BD794B-0755-A499-6C24-74F4B3E25748}"/>
              </a:ext>
            </a:extLst>
          </p:cNvPr>
          <p:cNvGraphicFramePr/>
          <p:nvPr/>
        </p:nvGraphicFramePr>
        <p:xfrm>
          <a:off x="3521736" y="366716"/>
          <a:ext cx="8335343" cy="61369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53056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a:xfrm>
            <a:off x="378839" y="140037"/>
            <a:ext cx="10515600" cy="706956"/>
          </a:xfrm>
        </p:spPr>
        <p:txBody>
          <a:bodyPr/>
          <a:lstStyle/>
          <a:p>
            <a:r>
              <a:rPr lang="en-IN" dirty="0">
                <a:latin typeface="+mn-lt"/>
              </a:rPr>
              <a:t>Asian Paints Supply Chain</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7091916" y="846994"/>
            <a:ext cx="4688958" cy="5580268"/>
          </a:xfrm>
        </p:spPr>
        <p:txBody>
          <a:bodyPr>
            <a:normAutofit/>
          </a:bodyPr>
          <a:lstStyle/>
          <a:p>
            <a:r>
              <a:rPr lang="en-IN" dirty="0"/>
              <a:t>The order fulfilment and replenishment cycle of APL aims to have the delivery the same day.</a:t>
            </a:r>
          </a:p>
          <a:p>
            <a:r>
              <a:rPr lang="en-IN" dirty="0"/>
              <a:t>APL follows “direct to dealer” distribution network.</a:t>
            </a:r>
          </a:p>
          <a:p>
            <a:r>
              <a:rPr lang="en-IN" dirty="0"/>
              <a:t>Thus shorter lead times enables to ensure a high service level, with very less inventory.</a:t>
            </a:r>
          </a:p>
          <a:p>
            <a:endParaRPr lang="en-IN" dirty="0"/>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B5A36998-3AF5-FB7D-9883-5B9FEC635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839" y="846993"/>
            <a:ext cx="6511059" cy="5580269"/>
          </a:xfrm>
          <a:prstGeom prst="rect">
            <a:avLst/>
          </a:prstGeom>
        </p:spPr>
      </p:pic>
    </p:spTree>
    <p:extLst>
      <p:ext uri="{BB962C8B-B14F-4D97-AF65-F5344CB8AC3E}">
        <p14:creationId xmlns:p14="http://schemas.microsoft.com/office/powerpoint/2010/main" val="27830870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p:txBody>
          <a:bodyPr/>
          <a:lstStyle/>
          <a:p>
            <a:r>
              <a:rPr lang="en-IN" dirty="0">
                <a:latin typeface="+mn-lt"/>
              </a:rPr>
              <a:t>Demand scenario in paint industry</a:t>
            </a:r>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6F279A91-9A81-5817-ACC2-3C10EB0C353F}"/>
              </a:ext>
            </a:extLst>
          </p:cNvPr>
          <p:cNvSpPr/>
          <p:nvPr/>
        </p:nvSpPr>
        <p:spPr>
          <a:xfrm>
            <a:off x="1320209" y="1850062"/>
            <a:ext cx="4775791" cy="132556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1"/>
                </a:solidFill>
              </a:rPr>
              <a:t>Paint demand is highly seasonal in India; driven by festivals such as Diwali etc. </a:t>
            </a:r>
          </a:p>
        </p:txBody>
      </p:sp>
      <p:sp>
        <p:nvSpPr>
          <p:cNvPr id="8" name="Rectangle 7">
            <a:extLst>
              <a:ext uri="{FF2B5EF4-FFF2-40B4-BE49-F238E27FC236}">
                <a16:creationId xmlns:a16="http://schemas.microsoft.com/office/drawing/2014/main" id="{3199256B-CC0B-AABA-5335-9E7F46CC885B}"/>
              </a:ext>
            </a:extLst>
          </p:cNvPr>
          <p:cNvSpPr/>
          <p:nvPr/>
        </p:nvSpPr>
        <p:spPr>
          <a:xfrm>
            <a:off x="6670158" y="3019591"/>
            <a:ext cx="4775791" cy="1325564"/>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1"/>
                </a:solidFill>
              </a:rPr>
              <a:t>Shelf life of majority of paints is shorter. It is a more perishable product than many other FMCG products.</a:t>
            </a:r>
          </a:p>
        </p:txBody>
      </p:sp>
      <p:sp>
        <p:nvSpPr>
          <p:cNvPr id="9" name="Rectangle 8">
            <a:extLst>
              <a:ext uri="{FF2B5EF4-FFF2-40B4-BE49-F238E27FC236}">
                <a16:creationId xmlns:a16="http://schemas.microsoft.com/office/drawing/2014/main" id="{A294D852-2D12-66EB-0802-2B2809AB62DF}"/>
              </a:ext>
            </a:extLst>
          </p:cNvPr>
          <p:cNvSpPr/>
          <p:nvPr/>
        </p:nvSpPr>
        <p:spPr>
          <a:xfrm>
            <a:off x="6096000" y="5167311"/>
            <a:ext cx="4775791" cy="1325564"/>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1"/>
                </a:solidFill>
              </a:rPr>
              <a:t>Paint Industry is also driven by local painters and contractors whose availability affects the demand.</a:t>
            </a:r>
          </a:p>
        </p:txBody>
      </p:sp>
      <p:sp>
        <p:nvSpPr>
          <p:cNvPr id="10" name="Rectangle 9">
            <a:extLst>
              <a:ext uri="{FF2B5EF4-FFF2-40B4-BE49-F238E27FC236}">
                <a16:creationId xmlns:a16="http://schemas.microsoft.com/office/drawing/2014/main" id="{3DAFE4AE-C414-2D75-76FB-9F8B27BD3B74}"/>
              </a:ext>
            </a:extLst>
          </p:cNvPr>
          <p:cNvSpPr/>
          <p:nvPr/>
        </p:nvSpPr>
        <p:spPr>
          <a:xfrm>
            <a:off x="746051" y="3953527"/>
            <a:ext cx="4775791" cy="132556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1"/>
                </a:solidFill>
              </a:rPr>
              <a:t>There are large number of colours and shades in the catalogue of paint offering to consumers.</a:t>
            </a:r>
          </a:p>
        </p:txBody>
      </p:sp>
      <p:pic>
        <p:nvPicPr>
          <p:cNvPr id="14" name="Graphic 13" descr="Supply And Demand with solid fill">
            <a:extLst>
              <a:ext uri="{FF2B5EF4-FFF2-40B4-BE49-F238E27FC236}">
                <a16:creationId xmlns:a16="http://schemas.microsoft.com/office/drawing/2014/main" id="{C8A2FEA7-9165-795D-9347-7BB19AF142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35509" y="185154"/>
            <a:ext cx="1340589" cy="1340589"/>
          </a:xfrm>
          <a:prstGeom prst="rect">
            <a:avLst/>
          </a:prstGeom>
        </p:spPr>
      </p:pic>
    </p:spTree>
    <p:extLst>
      <p:ext uri="{BB962C8B-B14F-4D97-AF65-F5344CB8AC3E}">
        <p14:creationId xmlns:p14="http://schemas.microsoft.com/office/powerpoint/2010/main" val="1450854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5FE21C-4898-CF9A-FF91-83DA2748186D}"/>
              </a:ext>
            </a:extLst>
          </p:cNvPr>
          <p:cNvSpPr/>
          <p:nvPr/>
        </p:nvSpPr>
        <p:spPr>
          <a:xfrm>
            <a:off x="538480" y="3865880"/>
            <a:ext cx="11013440" cy="22250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720628-9D95-5F76-9B73-0CB91D36BF30}"/>
              </a:ext>
            </a:extLst>
          </p:cNvPr>
          <p:cNvSpPr>
            <a:spLocks noGrp="1"/>
          </p:cNvSpPr>
          <p:nvPr>
            <p:ph type="title"/>
          </p:nvPr>
        </p:nvSpPr>
        <p:spPr/>
        <p:txBody>
          <a:bodyPr/>
          <a:lstStyle/>
          <a:p>
            <a:r>
              <a:rPr lang="en-IN" dirty="0">
                <a:latin typeface="+mn-lt"/>
              </a:rPr>
              <a:t>Magic of Push – pull Supply chain of Asian Paints</a:t>
            </a:r>
          </a:p>
        </p:txBody>
      </p:sp>
      <p:sp>
        <p:nvSpPr>
          <p:cNvPr id="3" name="Content Placeholder 2">
            <a:extLst>
              <a:ext uri="{FF2B5EF4-FFF2-40B4-BE49-F238E27FC236}">
                <a16:creationId xmlns:a16="http://schemas.microsoft.com/office/drawing/2014/main" id="{BC95A7F2-E2AB-A0B5-4DA9-BE84985ECF20}"/>
              </a:ext>
            </a:extLst>
          </p:cNvPr>
          <p:cNvSpPr>
            <a:spLocks noGrp="1"/>
          </p:cNvSpPr>
          <p:nvPr>
            <p:ph idx="1"/>
          </p:nvPr>
        </p:nvSpPr>
        <p:spPr>
          <a:xfrm>
            <a:off x="584200" y="2245360"/>
            <a:ext cx="10911840" cy="4211320"/>
          </a:xfrm>
        </p:spPr>
        <p:txBody>
          <a:bodyPr vert="horz" lIns="91440" tIns="45720" rIns="91440" bIns="45720" rtlCol="0" anchor="t">
            <a:normAutofit lnSpcReduction="10000"/>
          </a:bodyPr>
          <a:lstStyle/>
          <a:p>
            <a:r>
              <a:rPr lang="en-IN" sz="2400" dirty="0"/>
              <a:t>Due to changing customer preference and unpredictability in demand, there was possibility of witnessing huge inventory and also stock-out of different SKUs.</a:t>
            </a:r>
            <a:endParaRPr lang="en-US" sz="2400"/>
          </a:p>
          <a:p>
            <a:r>
              <a:rPr lang="en-IN" sz="2400" dirty="0"/>
              <a:t>From supply chain point of view, both inventory and stock-out are financial losses</a:t>
            </a:r>
          </a:p>
          <a:p>
            <a:pPr marL="0" indent="0" algn="just">
              <a:lnSpc>
                <a:spcPct val="110000"/>
              </a:lnSpc>
              <a:buNone/>
            </a:pPr>
            <a:endParaRPr lang="en-IN" sz="2400" dirty="0"/>
          </a:p>
          <a:p>
            <a:pPr algn="just">
              <a:lnSpc>
                <a:spcPct val="110000"/>
              </a:lnSpc>
            </a:pPr>
            <a:endParaRPr lang="en-IN" sz="2400" dirty="0"/>
          </a:p>
          <a:p>
            <a:pPr marL="0" indent="0" algn="just">
              <a:lnSpc>
                <a:spcPct val="110000"/>
              </a:lnSpc>
              <a:buNone/>
            </a:pPr>
            <a:r>
              <a:rPr lang="en-IN" sz="2400" dirty="0"/>
              <a:t>To manage this, </a:t>
            </a:r>
            <a:r>
              <a:rPr lang="en-IN" sz="2400" dirty="0" err="1"/>
              <a:t>Asain</a:t>
            </a:r>
            <a:r>
              <a:rPr lang="en-IN" sz="2400" dirty="0"/>
              <a:t> Paints now uses Dealer Tinting Machine(DTM), which is a </a:t>
            </a:r>
            <a:r>
              <a:rPr lang="en-IN" sz="2400" dirty="0" err="1"/>
              <a:t>coloring</a:t>
            </a:r>
            <a:r>
              <a:rPr lang="en-IN" sz="2400" dirty="0"/>
              <a:t> machine available with dealer. This implemented the Postponement strategy. From the factory, only the base </a:t>
            </a:r>
            <a:r>
              <a:rPr lang="en-IN" sz="2400" dirty="0" err="1"/>
              <a:t>colors</a:t>
            </a:r>
            <a:r>
              <a:rPr lang="en-IN" sz="2400" dirty="0"/>
              <a:t> reach the dealers, when a customer places an order, the requisite quantity of </a:t>
            </a:r>
            <a:r>
              <a:rPr lang="en-IN" sz="2400" dirty="0" err="1"/>
              <a:t>color</a:t>
            </a:r>
            <a:r>
              <a:rPr lang="en-IN" sz="2400" dirty="0"/>
              <a:t> and colourants is mixed by computerised system in the DTM. Over 5000 different shades are produced by using one base </a:t>
            </a:r>
            <a:r>
              <a:rPr lang="en-IN" sz="2400" dirty="0" err="1"/>
              <a:t>color</a:t>
            </a:r>
            <a:r>
              <a:rPr lang="en-IN" sz="2400" dirty="0"/>
              <a:t>.   </a:t>
            </a:r>
          </a:p>
        </p:txBody>
      </p:sp>
      <p:sp>
        <p:nvSpPr>
          <p:cNvPr id="4" name="Rectangle 3">
            <a:extLst>
              <a:ext uri="{FF2B5EF4-FFF2-40B4-BE49-F238E27FC236}">
                <a16:creationId xmlns:a16="http://schemas.microsoft.com/office/drawing/2014/main" id="{C23284BF-B6AA-2221-2E6C-8CC7E8840E28}"/>
              </a:ext>
            </a:extLst>
          </p:cNvPr>
          <p:cNvSpPr/>
          <p:nvPr/>
        </p:nvSpPr>
        <p:spPr>
          <a:xfrm>
            <a:off x="42532" y="31895"/>
            <a:ext cx="12110484" cy="6772939"/>
          </a:xfrm>
          <a:prstGeom prst="rect">
            <a:avLst/>
          </a:prstGeom>
          <a:noFill/>
          <a:ln w="57150">
            <a:solidFill>
              <a:srgbClr val="8B6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74184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59D58-B4BD-BA1C-E462-93F19576EF59}"/>
              </a:ext>
            </a:extLst>
          </p:cNvPr>
          <p:cNvSpPr>
            <a:spLocks noGrp="1"/>
          </p:cNvSpPr>
          <p:nvPr>
            <p:ph idx="1"/>
          </p:nvPr>
        </p:nvSpPr>
        <p:spPr>
          <a:xfrm>
            <a:off x="635000" y="609600"/>
            <a:ext cx="10830560" cy="3154680"/>
          </a:xfrm>
        </p:spPr>
        <p:txBody>
          <a:bodyPr vert="horz" lIns="91440" tIns="45720" rIns="91440" bIns="45720" rtlCol="0" anchor="t">
            <a:normAutofit/>
          </a:bodyPr>
          <a:lstStyle/>
          <a:p>
            <a:pPr algn="just"/>
            <a:r>
              <a:rPr lang="en-US" sz="2400" dirty="0"/>
              <a:t>Stock-out are rare as the base paint can be converted to 5000 SKUs. Thus, supply chain in the downstream became demand-driven or </a:t>
            </a:r>
            <a:r>
              <a:rPr lang="en-US" sz="2400" b="1" dirty="0"/>
              <a:t>Pull type supply chain</a:t>
            </a:r>
            <a:r>
              <a:rPr lang="en-US" sz="2400" dirty="0"/>
              <a:t> converting to make-to-order supply chain or just-in-time or lean supply chain.</a:t>
            </a:r>
            <a:endParaRPr lang="en-US"/>
          </a:p>
          <a:p>
            <a:pPr algn="just"/>
            <a:r>
              <a:rPr lang="en-US" sz="2400" dirty="0"/>
              <a:t>The upstream of the push-pull boundary, where DTM is located is forecast driven. The forecast is for the generic base paint i.e. the aggregated demand which is always more accurate than disaggregated demand, thus the upstream forecast is quite accurate.</a:t>
            </a:r>
          </a:p>
        </p:txBody>
      </p:sp>
      <p:sp>
        <p:nvSpPr>
          <p:cNvPr id="5" name="Title 1">
            <a:extLst>
              <a:ext uri="{FF2B5EF4-FFF2-40B4-BE49-F238E27FC236}">
                <a16:creationId xmlns:a16="http://schemas.microsoft.com/office/drawing/2014/main" id="{64CD4A79-8BB6-A834-37E0-B8F1031BB4E5}"/>
              </a:ext>
            </a:extLst>
          </p:cNvPr>
          <p:cNvSpPr>
            <a:spLocks noGrp="1"/>
          </p:cNvSpPr>
          <p:nvPr>
            <p:ph type="title"/>
          </p:nvPr>
        </p:nvSpPr>
        <p:spPr>
          <a:xfrm>
            <a:off x="645160" y="3860165"/>
            <a:ext cx="10515600" cy="1325563"/>
          </a:xfrm>
        </p:spPr>
        <p:txBody>
          <a:bodyPr/>
          <a:lstStyle/>
          <a:p>
            <a:r>
              <a:rPr lang="en-IN" dirty="0">
                <a:latin typeface="+mn-lt"/>
              </a:rPr>
              <a:t>Advantages:</a:t>
            </a:r>
          </a:p>
        </p:txBody>
      </p:sp>
      <p:sp>
        <p:nvSpPr>
          <p:cNvPr id="6" name="Rectangle: Rounded Corners 5">
            <a:extLst>
              <a:ext uri="{FF2B5EF4-FFF2-40B4-BE49-F238E27FC236}">
                <a16:creationId xmlns:a16="http://schemas.microsoft.com/office/drawing/2014/main" id="{DB7E9AD3-727C-EB55-AE98-DED18A1B954B}"/>
              </a:ext>
            </a:extLst>
          </p:cNvPr>
          <p:cNvSpPr/>
          <p:nvPr/>
        </p:nvSpPr>
        <p:spPr>
          <a:xfrm>
            <a:off x="660400" y="5085080"/>
            <a:ext cx="4886960" cy="46736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Risk </a:t>
            </a:r>
            <a:r>
              <a:rPr lang="en-US" b="1" dirty="0" err="1">
                <a:solidFill>
                  <a:schemeClr val="tx1"/>
                </a:solidFill>
              </a:rPr>
              <a:t>Poolling</a:t>
            </a:r>
            <a:endParaRPr lang="en-US" b="1">
              <a:solidFill>
                <a:schemeClr val="tx1"/>
              </a:solidFill>
            </a:endParaRPr>
          </a:p>
        </p:txBody>
      </p:sp>
      <p:sp>
        <p:nvSpPr>
          <p:cNvPr id="7" name="Rectangle: Rounded Corners 6">
            <a:extLst>
              <a:ext uri="{FF2B5EF4-FFF2-40B4-BE49-F238E27FC236}">
                <a16:creationId xmlns:a16="http://schemas.microsoft.com/office/drawing/2014/main" id="{1F8870E0-6A10-AF49-39F5-661685703934}"/>
              </a:ext>
            </a:extLst>
          </p:cNvPr>
          <p:cNvSpPr/>
          <p:nvPr/>
        </p:nvSpPr>
        <p:spPr>
          <a:xfrm>
            <a:off x="660399" y="5908040"/>
            <a:ext cx="4886960" cy="46736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More Accurate forecast</a:t>
            </a:r>
          </a:p>
        </p:txBody>
      </p:sp>
      <p:sp>
        <p:nvSpPr>
          <p:cNvPr id="8" name="Rectangle: Rounded Corners 7">
            <a:extLst>
              <a:ext uri="{FF2B5EF4-FFF2-40B4-BE49-F238E27FC236}">
                <a16:creationId xmlns:a16="http://schemas.microsoft.com/office/drawing/2014/main" id="{484DA0C5-33A8-99C0-7D5D-BF5D8D36B526}"/>
              </a:ext>
            </a:extLst>
          </p:cNvPr>
          <p:cNvSpPr/>
          <p:nvPr/>
        </p:nvSpPr>
        <p:spPr>
          <a:xfrm>
            <a:off x="6725919" y="5918200"/>
            <a:ext cx="4886960" cy="46736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Cost saving</a:t>
            </a:r>
          </a:p>
        </p:txBody>
      </p:sp>
      <p:sp>
        <p:nvSpPr>
          <p:cNvPr id="9" name="Rectangle: Rounded Corners 8">
            <a:extLst>
              <a:ext uri="{FF2B5EF4-FFF2-40B4-BE49-F238E27FC236}">
                <a16:creationId xmlns:a16="http://schemas.microsoft.com/office/drawing/2014/main" id="{8E0D7B72-01D6-47F2-B244-7E24C6290AD3}"/>
              </a:ext>
            </a:extLst>
          </p:cNvPr>
          <p:cNvSpPr/>
          <p:nvPr/>
        </p:nvSpPr>
        <p:spPr>
          <a:xfrm>
            <a:off x="6725919" y="5034280"/>
            <a:ext cx="4886960" cy="46736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No stock-out and sufficient Inventory</a:t>
            </a:r>
          </a:p>
        </p:txBody>
      </p:sp>
    </p:spTree>
    <p:extLst>
      <p:ext uri="{BB962C8B-B14F-4D97-AF65-F5344CB8AC3E}">
        <p14:creationId xmlns:p14="http://schemas.microsoft.com/office/powerpoint/2010/main" val="13838086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2" name="Google Shape;288;p8">
            <a:extLst>
              <a:ext uri="{FF2B5EF4-FFF2-40B4-BE49-F238E27FC236}">
                <a16:creationId xmlns:a16="http://schemas.microsoft.com/office/drawing/2014/main" id="{86945D83-491F-2847-138C-71DA11BBE8B9}"/>
              </a:ext>
            </a:extLst>
          </p:cNvPr>
          <p:cNvSpPr txBox="1">
            <a:spLocks/>
          </p:cNvSpPr>
          <p:nvPr/>
        </p:nvSpPr>
        <p:spPr>
          <a:xfrm>
            <a:off x="0" y="-243959"/>
            <a:ext cx="12192000" cy="866262"/>
          </a:xfrm>
          <a:prstGeom prst="rect">
            <a:avLst/>
          </a:prstGeom>
          <a:solidFill>
            <a:schemeClr val="accent1"/>
          </a:solidFill>
          <a:ln>
            <a:noFill/>
          </a:ln>
        </p:spPr>
        <p:txBody>
          <a:bodyPr spcFirstLastPara="1" wrap="square" lIns="91425" tIns="45700" rIns="91425" bIns="45700" anchor="ctr" anchorCtr="0">
            <a:normAutofit/>
          </a:bodyPr>
          <a:lstStyle>
            <a:lvl1pPr>
              <a:defRPr sz="3400" b="1" i="0">
                <a:solidFill>
                  <a:srgbClr val="00525D"/>
                </a:solidFill>
                <a:latin typeface="Arial"/>
                <a:ea typeface="+mj-ea"/>
                <a:cs typeface="Arial"/>
              </a:defRPr>
            </a:lvl1pPr>
          </a:lstStyle>
          <a:p>
            <a:pPr algn="l" rtl="0">
              <a:lnSpc>
                <a:spcPct val="90000"/>
              </a:lnSpc>
              <a:buClr>
                <a:schemeClr val="accent1"/>
              </a:buClr>
              <a:buSzPts val="4400"/>
              <a:buFont typeface="Corbel"/>
              <a:buNone/>
            </a:pPr>
            <a:r>
              <a:rPr lang="en-US" sz="4400" kern="0" dirty="0">
                <a:solidFill>
                  <a:schemeClr val="tx1"/>
                </a:solidFill>
                <a:latin typeface="+mj-lt"/>
              </a:rPr>
              <a:t>Case Study 2: Dell Supply Chain</a:t>
            </a:r>
          </a:p>
        </p:txBody>
      </p:sp>
      <p:sp>
        <p:nvSpPr>
          <p:cNvPr id="4" name="Slide Number Placeholder 3">
            <a:extLst>
              <a:ext uri="{FF2B5EF4-FFF2-40B4-BE49-F238E27FC236}">
                <a16:creationId xmlns:a16="http://schemas.microsoft.com/office/drawing/2014/main" id="{13621CC8-0FBC-E97C-1196-B88D1AE92330}"/>
              </a:ext>
            </a:extLst>
          </p:cNvPr>
          <p:cNvSpPr>
            <a:spLocks noGrp="1"/>
          </p:cNvSpPr>
          <p:nvPr>
            <p:ph type="sldNum" sz="quarter" idx="7"/>
          </p:nvPr>
        </p:nvSpPr>
        <p:spPr>
          <a:xfrm>
            <a:off x="8778241" y="6377940"/>
            <a:ext cx="2804160" cy="276999"/>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IN" smtClean="0"/>
              <a:pPr/>
              <a:t>50</a:t>
            </a:fld>
            <a:endParaRPr lang="en-IN"/>
          </a:p>
        </p:txBody>
      </p:sp>
      <p:pic>
        <p:nvPicPr>
          <p:cNvPr id="7" name="Picture 6">
            <a:extLst>
              <a:ext uri="{FF2B5EF4-FFF2-40B4-BE49-F238E27FC236}">
                <a16:creationId xmlns:a16="http://schemas.microsoft.com/office/drawing/2014/main" id="{FDFF0A82-FB5D-E4AB-4D6B-EFE8B9FF977A}"/>
              </a:ext>
            </a:extLst>
          </p:cNvPr>
          <p:cNvPicPr>
            <a:picLocks noChangeAspect="1"/>
          </p:cNvPicPr>
          <p:nvPr/>
        </p:nvPicPr>
        <p:blipFill>
          <a:blip r:embed="rId3"/>
          <a:stretch>
            <a:fillRect/>
          </a:stretch>
        </p:blipFill>
        <p:spPr>
          <a:xfrm>
            <a:off x="1961791" y="1026160"/>
            <a:ext cx="8268417" cy="5397759"/>
          </a:xfrm>
          <a:prstGeom prst="rect">
            <a:avLst/>
          </a:prstGeom>
        </p:spPr>
      </p:pic>
    </p:spTree>
    <p:extLst>
      <p:ext uri="{BB962C8B-B14F-4D97-AF65-F5344CB8AC3E}">
        <p14:creationId xmlns:p14="http://schemas.microsoft.com/office/powerpoint/2010/main" val="547159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C2FA-0E35-4728-ACE4-DFC85B123FB8}"/>
              </a:ext>
            </a:extLst>
          </p:cNvPr>
          <p:cNvSpPr>
            <a:spLocks noGrp="1"/>
          </p:cNvSpPr>
          <p:nvPr>
            <p:ph type="title"/>
          </p:nvPr>
        </p:nvSpPr>
        <p:spPr>
          <a:xfrm>
            <a:off x="583164" y="0"/>
            <a:ext cx="10131425" cy="1456267"/>
          </a:xfrm>
        </p:spPr>
        <p:txBody>
          <a:bodyPr/>
          <a:lstStyle/>
          <a:p>
            <a:r>
              <a:rPr lang="en-IN" b="1" u="sng" cap="none" dirty="0">
                <a:latin typeface="Arial" panose="020B0604020202020204" pitchFamily="34" charset="0"/>
                <a:cs typeface="Arial" panose="020B0604020202020204" pitchFamily="34" charset="0"/>
              </a:rPr>
              <a:t>Manufacturing Strategies</a:t>
            </a:r>
          </a:p>
        </p:txBody>
      </p:sp>
      <p:sp>
        <p:nvSpPr>
          <p:cNvPr id="5" name="Google Shape;483;p16">
            <a:extLst>
              <a:ext uri="{FF2B5EF4-FFF2-40B4-BE49-F238E27FC236}">
                <a16:creationId xmlns:a16="http://schemas.microsoft.com/office/drawing/2014/main" id="{99E79BA1-565C-4F23-93DA-66D519CE5372}"/>
              </a:ext>
            </a:extLst>
          </p:cNvPr>
          <p:cNvSpPr txBox="1">
            <a:spLocks noGrp="1"/>
          </p:cNvSpPr>
          <p:nvPr>
            <p:ph idx="1"/>
          </p:nvPr>
        </p:nvSpPr>
        <p:spPr>
          <a:xfrm>
            <a:off x="582612" y="1455738"/>
            <a:ext cx="7003175" cy="5010376"/>
          </a:xfrm>
          <a:prstGeom prst="rect">
            <a:avLst/>
          </a:prstGeom>
          <a:noFill/>
          <a:ln>
            <a:noFill/>
          </a:ln>
        </p:spPr>
        <p:txBody>
          <a:bodyPr spcFirstLastPara="1" wrap="square" lIns="91425" tIns="45700" rIns="91425" bIns="45700" anchor="t" anchorCtr="0">
            <a:normAutofit fontScale="62500" lnSpcReduction="20000"/>
          </a:bodyPr>
          <a:lstStyle/>
          <a:p>
            <a:pPr marL="228600" lvl="0" indent="-182880" algn="l" rtl="0">
              <a:lnSpc>
                <a:spcPct val="150000"/>
              </a:lnSpc>
              <a:spcBef>
                <a:spcPts val="0"/>
              </a:spcBef>
              <a:spcAft>
                <a:spcPts val="0"/>
              </a:spcAft>
              <a:buSzPts val="1760"/>
              <a:buChar char="•"/>
            </a:pPr>
            <a:r>
              <a:rPr lang="en-US" b="1" dirty="0">
                <a:latin typeface="Arial" panose="020B0604020202020204" pitchFamily="34" charset="0"/>
                <a:cs typeface="Arial" panose="020B0604020202020204" pitchFamily="34" charset="0"/>
              </a:rPr>
              <a:t>Make to Stock (MTS) </a:t>
            </a:r>
            <a:r>
              <a:rPr lang="en-US" dirty="0">
                <a:latin typeface="Arial" panose="020B0604020202020204" pitchFamily="34" charset="0"/>
                <a:cs typeface="Arial" panose="020B0604020202020204" pitchFamily="34" charset="0"/>
              </a:rPr>
              <a:t>– </a:t>
            </a:r>
          </a:p>
          <a:p>
            <a:pPr lvl="1" indent="-182880">
              <a:lnSpc>
                <a:spcPct val="150000"/>
              </a:lnSpc>
              <a:spcBef>
                <a:spcPts val="0"/>
              </a:spcBef>
              <a:buSzPts val="1760"/>
            </a:pPr>
            <a:r>
              <a:rPr lang="en-US" dirty="0">
                <a:latin typeface="Arial" panose="020B0604020202020204" pitchFamily="34" charset="0"/>
                <a:cs typeface="Arial" panose="020B0604020202020204" pitchFamily="34" charset="0"/>
              </a:rPr>
              <a:t>Match production with consumer demand forecasts.</a:t>
            </a:r>
          </a:p>
          <a:p>
            <a:pPr lvl="1" indent="-182880">
              <a:lnSpc>
                <a:spcPct val="150000"/>
              </a:lnSpc>
              <a:spcBef>
                <a:spcPts val="0"/>
              </a:spcBef>
              <a:buSzPts val="1760"/>
            </a:pPr>
            <a:r>
              <a:rPr lang="en-US" dirty="0">
                <a:latin typeface="Arial" panose="020B0604020202020204" pitchFamily="34" charset="0"/>
                <a:cs typeface="Arial" panose="020B0604020202020204" pitchFamily="34" charset="0"/>
              </a:rPr>
              <a:t>Demand should be accurately forecasted.</a:t>
            </a:r>
          </a:p>
          <a:p>
            <a:pPr lvl="1" indent="-182880">
              <a:lnSpc>
                <a:spcPct val="150000"/>
              </a:lnSpc>
              <a:spcBef>
                <a:spcPts val="0"/>
              </a:spcBef>
              <a:buSzPts val="1760"/>
            </a:pPr>
            <a:r>
              <a:rPr lang="en-US" dirty="0">
                <a:latin typeface="Arial" panose="020B0604020202020204" pitchFamily="34" charset="0"/>
                <a:cs typeface="Arial" panose="020B0604020202020204" pitchFamily="34" charset="0"/>
              </a:rPr>
              <a:t>Inaccurate forecasts will lead to losses stemming from excessive inventory or stock outs</a:t>
            </a:r>
          </a:p>
          <a:p>
            <a:pPr marL="45720" lvl="0" indent="0" algn="l" rtl="0">
              <a:lnSpc>
                <a:spcPct val="150000"/>
              </a:lnSpc>
              <a:spcBef>
                <a:spcPts val="0"/>
              </a:spcBef>
              <a:spcAft>
                <a:spcPts val="0"/>
              </a:spcAft>
              <a:buSzPts val="1760"/>
              <a:buNone/>
            </a:pPr>
            <a:endParaRPr dirty="0">
              <a:latin typeface="Arial" panose="020B0604020202020204" pitchFamily="34" charset="0"/>
              <a:cs typeface="Arial" panose="020B0604020202020204" pitchFamily="34" charset="0"/>
            </a:endParaRPr>
          </a:p>
          <a:p>
            <a:pPr marL="228600" lvl="0" indent="-182880" algn="l" rtl="0">
              <a:lnSpc>
                <a:spcPct val="150000"/>
              </a:lnSpc>
              <a:spcBef>
                <a:spcPts val="1400"/>
              </a:spcBef>
              <a:spcAft>
                <a:spcPts val="0"/>
              </a:spcAft>
              <a:buSzPts val="1760"/>
              <a:buChar char="•"/>
            </a:pPr>
            <a:r>
              <a:rPr lang="en-US" b="1" dirty="0">
                <a:latin typeface="Arial" panose="020B0604020202020204" pitchFamily="34" charset="0"/>
                <a:cs typeface="Arial" panose="020B0604020202020204" pitchFamily="34" charset="0"/>
              </a:rPr>
              <a:t>Assemble to Order (ATO) </a:t>
            </a:r>
            <a:r>
              <a:rPr lang="en-US" dirty="0">
                <a:latin typeface="Arial" panose="020B0604020202020204" pitchFamily="34" charset="0"/>
                <a:cs typeface="Arial" panose="020B0604020202020204" pitchFamily="34" charset="0"/>
              </a:rPr>
              <a:t>– </a:t>
            </a:r>
          </a:p>
          <a:p>
            <a:pPr lvl="1" indent="-182880">
              <a:lnSpc>
                <a:spcPct val="150000"/>
              </a:lnSpc>
              <a:spcBef>
                <a:spcPts val="1400"/>
              </a:spcBef>
              <a:buSzPts val="1760"/>
            </a:pPr>
            <a:r>
              <a:rPr lang="en-US" dirty="0">
                <a:latin typeface="Arial" panose="020B0604020202020204" pitchFamily="34" charset="0"/>
                <a:cs typeface="Arial" panose="020B0604020202020204" pitchFamily="34" charset="0"/>
              </a:rPr>
              <a:t>Products ordered by customers is produced quickly and is customizable to a certain extent. </a:t>
            </a:r>
          </a:p>
          <a:p>
            <a:pPr lvl="1" indent="-182880">
              <a:lnSpc>
                <a:spcPct val="150000"/>
              </a:lnSpc>
              <a:spcBef>
                <a:spcPts val="1400"/>
              </a:spcBef>
              <a:buSzPts val="1760"/>
            </a:pPr>
            <a:r>
              <a:rPr lang="en-US" dirty="0">
                <a:latin typeface="Arial" panose="020B0604020202020204" pitchFamily="34" charset="0"/>
                <a:cs typeface="Arial" panose="020B0604020202020204" pitchFamily="34" charset="0"/>
              </a:rPr>
              <a:t>Requires that the basic parts for the product are already manufactured but not yet assembled. </a:t>
            </a:r>
          </a:p>
          <a:p>
            <a:pPr lvl="1" indent="-182880">
              <a:lnSpc>
                <a:spcPct val="150000"/>
              </a:lnSpc>
              <a:spcBef>
                <a:spcPts val="1400"/>
              </a:spcBef>
              <a:buSzPts val="1760"/>
            </a:pPr>
            <a:r>
              <a:rPr lang="en-US" dirty="0">
                <a:latin typeface="Arial" panose="020B0604020202020204" pitchFamily="34" charset="0"/>
                <a:cs typeface="Arial" panose="020B0604020202020204" pitchFamily="34" charset="0"/>
              </a:rPr>
              <a:t>Benefits- getting products into customers' hands quickly while allowing for the product to be customizable</a:t>
            </a:r>
            <a:endParaRPr dirty="0">
              <a:latin typeface="Arial" panose="020B0604020202020204" pitchFamily="34" charset="0"/>
              <a:cs typeface="Arial" panose="020B0604020202020204" pitchFamily="34" charset="0"/>
            </a:endParaRPr>
          </a:p>
          <a:p>
            <a:pPr marL="228600" lvl="0" indent="-71120" algn="l" rtl="0">
              <a:lnSpc>
                <a:spcPct val="90000"/>
              </a:lnSpc>
              <a:spcBef>
                <a:spcPts val="1400"/>
              </a:spcBef>
              <a:spcAft>
                <a:spcPts val="0"/>
              </a:spcAft>
              <a:buSzPts val="1760"/>
              <a:buNone/>
            </a:pPr>
            <a:endParaRPr dirty="0">
              <a:solidFill>
                <a:schemeClr val="dk1"/>
              </a:solidFill>
            </a:endParaRPr>
          </a:p>
        </p:txBody>
      </p:sp>
      <p:pic>
        <p:nvPicPr>
          <p:cNvPr id="1026" name="Picture 2" descr="What is Make to Stock (MTS) Planning? Explanation, Drawbacks, and Example">
            <a:extLst>
              <a:ext uri="{FF2B5EF4-FFF2-40B4-BE49-F238E27FC236}">
                <a16:creationId xmlns:a16="http://schemas.microsoft.com/office/drawing/2014/main" id="{AD9F0500-778A-4791-B416-298C7E2E9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9932" y="1278293"/>
            <a:ext cx="4181326" cy="21507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ssemble-to-Order (ATO) - Strategy for Rapid Customization">
            <a:extLst>
              <a:ext uri="{FF2B5EF4-FFF2-40B4-BE49-F238E27FC236}">
                <a16:creationId xmlns:a16="http://schemas.microsoft.com/office/drawing/2014/main" id="{779DA65C-86D3-4A0B-AF59-746CE12B4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931" y="3904860"/>
            <a:ext cx="4181325" cy="256125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88;p8">
            <a:extLst>
              <a:ext uri="{FF2B5EF4-FFF2-40B4-BE49-F238E27FC236}">
                <a16:creationId xmlns:a16="http://schemas.microsoft.com/office/drawing/2014/main" id="{9330F3C9-7EDE-F123-EE67-ECBA227D117C}"/>
              </a:ext>
            </a:extLst>
          </p:cNvPr>
          <p:cNvSpPr txBox="1">
            <a:spLocks/>
          </p:cNvSpPr>
          <p:nvPr/>
        </p:nvSpPr>
        <p:spPr>
          <a:xfrm>
            <a:off x="0" y="0"/>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dirty="0"/>
              <a:t>Manufacturing Strategies</a:t>
            </a:r>
            <a:endParaRPr lang="en-US" b="1" dirty="0"/>
          </a:p>
        </p:txBody>
      </p:sp>
    </p:spTree>
    <p:extLst>
      <p:ext uri="{BB962C8B-B14F-4D97-AF65-F5344CB8AC3E}">
        <p14:creationId xmlns:p14="http://schemas.microsoft.com/office/powerpoint/2010/main" val="616304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C2FA-0E35-4728-ACE4-DFC85B123FB8}"/>
              </a:ext>
            </a:extLst>
          </p:cNvPr>
          <p:cNvSpPr>
            <a:spLocks noGrp="1"/>
          </p:cNvSpPr>
          <p:nvPr>
            <p:ph type="title"/>
          </p:nvPr>
        </p:nvSpPr>
        <p:spPr>
          <a:xfrm>
            <a:off x="583164" y="0"/>
            <a:ext cx="10131425" cy="1456267"/>
          </a:xfrm>
        </p:spPr>
        <p:txBody>
          <a:bodyPr/>
          <a:lstStyle/>
          <a:p>
            <a:r>
              <a:rPr lang="en-IN" b="1" u="sng" cap="none" dirty="0">
                <a:latin typeface="Arial" panose="020B0604020202020204" pitchFamily="34" charset="0"/>
                <a:cs typeface="Arial" panose="020B0604020202020204" pitchFamily="34" charset="0"/>
              </a:rPr>
              <a:t>Manufacturing Strategies</a:t>
            </a:r>
          </a:p>
        </p:txBody>
      </p:sp>
      <p:sp>
        <p:nvSpPr>
          <p:cNvPr id="5" name="Google Shape;483;p16">
            <a:extLst>
              <a:ext uri="{FF2B5EF4-FFF2-40B4-BE49-F238E27FC236}">
                <a16:creationId xmlns:a16="http://schemas.microsoft.com/office/drawing/2014/main" id="{99E79BA1-565C-4F23-93DA-66D519CE5372}"/>
              </a:ext>
            </a:extLst>
          </p:cNvPr>
          <p:cNvSpPr txBox="1">
            <a:spLocks noGrp="1"/>
          </p:cNvSpPr>
          <p:nvPr>
            <p:ph idx="1"/>
          </p:nvPr>
        </p:nvSpPr>
        <p:spPr>
          <a:xfrm>
            <a:off x="-111967" y="923812"/>
            <a:ext cx="7931019" cy="5010376"/>
          </a:xfrm>
          <a:prstGeom prst="rect">
            <a:avLst/>
          </a:prstGeom>
          <a:noFill/>
          <a:ln>
            <a:noFill/>
          </a:ln>
        </p:spPr>
        <p:txBody>
          <a:bodyPr spcFirstLastPara="1" wrap="square" lIns="91425" tIns="45700" rIns="91425" bIns="45700" anchor="t" anchorCtr="0">
            <a:noAutofit/>
          </a:bodyPr>
          <a:lstStyle/>
          <a:p>
            <a:pPr marL="228600" lvl="0" indent="-182880" algn="l" rtl="0">
              <a:lnSpc>
                <a:spcPct val="150000"/>
              </a:lnSpc>
              <a:spcBef>
                <a:spcPts val="1400"/>
              </a:spcBef>
              <a:spcAft>
                <a:spcPts val="0"/>
              </a:spcAft>
              <a:buSzPts val="1760"/>
              <a:buChar char="•"/>
            </a:pPr>
            <a:r>
              <a:rPr lang="en-US" sz="1600" b="1" dirty="0">
                <a:latin typeface="Arial" panose="020B0604020202020204" pitchFamily="34" charset="0"/>
                <a:cs typeface="Arial" panose="020B0604020202020204" pitchFamily="34" charset="0"/>
              </a:rPr>
              <a:t>Make to Order (MTO) </a:t>
            </a:r>
            <a:r>
              <a:rPr lang="en-US" sz="1600" dirty="0">
                <a:latin typeface="Arial" panose="020B0604020202020204" pitchFamily="34" charset="0"/>
                <a:cs typeface="Arial" panose="020B0604020202020204" pitchFamily="34" charset="0"/>
              </a:rPr>
              <a:t>– </a:t>
            </a:r>
          </a:p>
          <a:p>
            <a:pPr lvl="1" indent="-182880" algn="just">
              <a:lnSpc>
                <a:spcPct val="150000"/>
              </a:lnSpc>
              <a:spcBef>
                <a:spcPts val="1400"/>
              </a:spcBef>
              <a:buSzPts val="1760"/>
            </a:pPr>
            <a:r>
              <a:rPr lang="en-US" sz="1600" dirty="0">
                <a:latin typeface="Arial" panose="020B0604020202020204" pitchFamily="34" charset="0"/>
                <a:cs typeface="Arial" panose="020B0604020202020204" pitchFamily="34" charset="0"/>
              </a:rPr>
              <a:t>Allows consumers to purchase products that are customized to their specifications. </a:t>
            </a:r>
          </a:p>
          <a:p>
            <a:pPr lvl="1" indent="-182880" algn="just">
              <a:lnSpc>
                <a:spcPct val="150000"/>
              </a:lnSpc>
              <a:spcBef>
                <a:spcPts val="1400"/>
              </a:spcBef>
              <a:buSzPts val="1760"/>
            </a:pPr>
            <a:r>
              <a:rPr lang="en-US" sz="1600" dirty="0">
                <a:latin typeface="Arial" panose="020B0604020202020204" pitchFamily="34" charset="0"/>
                <a:cs typeface="Arial" panose="020B0604020202020204" pitchFamily="34" charset="0"/>
              </a:rPr>
              <a:t>Only manufactures the end product once the customer places the order. </a:t>
            </a:r>
          </a:p>
          <a:p>
            <a:pPr lvl="1" indent="-182880" algn="just">
              <a:lnSpc>
                <a:spcPct val="150000"/>
              </a:lnSpc>
              <a:spcBef>
                <a:spcPts val="1400"/>
              </a:spcBef>
              <a:buSzPts val="1760"/>
            </a:pPr>
            <a:r>
              <a:rPr lang="en-US" sz="1600" dirty="0">
                <a:latin typeface="Arial" panose="020B0604020202020204" pitchFamily="34" charset="0"/>
                <a:cs typeface="Arial" panose="020B0604020202020204" pitchFamily="34" charset="0"/>
              </a:rPr>
              <a:t>Additional wait time for the consumer to receive the product, but more flexible customization </a:t>
            </a:r>
            <a:endParaRPr sz="1600" dirty="0">
              <a:latin typeface="Arial" panose="020B0604020202020204" pitchFamily="34" charset="0"/>
              <a:cs typeface="Arial" panose="020B0604020202020204" pitchFamily="34" charset="0"/>
            </a:endParaRPr>
          </a:p>
          <a:p>
            <a:pPr marL="228600" lvl="0" indent="-182880" algn="l" rtl="0">
              <a:lnSpc>
                <a:spcPct val="150000"/>
              </a:lnSpc>
              <a:spcBef>
                <a:spcPts val="1400"/>
              </a:spcBef>
              <a:spcAft>
                <a:spcPts val="0"/>
              </a:spcAft>
              <a:buSzPts val="1760"/>
              <a:buChar char="•"/>
            </a:pPr>
            <a:r>
              <a:rPr lang="en-US" sz="1600" b="1" dirty="0">
                <a:latin typeface="Arial" panose="020B0604020202020204" pitchFamily="34" charset="0"/>
                <a:cs typeface="Arial" panose="020B0604020202020204" pitchFamily="34" charset="0"/>
              </a:rPr>
              <a:t>Engineer to Order (ETO)  </a:t>
            </a:r>
            <a:r>
              <a:rPr lang="en-US" sz="1600" dirty="0">
                <a:latin typeface="Arial" panose="020B0604020202020204" pitchFamily="34" charset="0"/>
                <a:cs typeface="Arial" panose="020B0604020202020204" pitchFamily="34" charset="0"/>
              </a:rPr>
              <a:t>- </a:t>
            </a:r>
          </a:p>
          <a:p>
            <a:pPr lvl="1" indent="-182880">
              <a:lnSpc>
                <a:spcPct val="150000"/>
              </a:lnSpc>
              <a:spcBef>
                <a:spcPts val="1400"/>
              </a:spcBef>
              <a:buSzPts val="1760"/>
            </a:pPr>
            <a:r>
              <a:rPr lang="en-US" sz="1600" dirty="0">
                <a:latin typeface="Arial" panose="020B0604020202020204" pitchFamily="34" charset="0"/>
                <a:cs typeface="Arial" panose="020B0604020202020204" pitchFamily="34" charset="0"/>
              </a:rPr>
              <a:t>Where customer specifications require unique engineering design, significant customization, or new purchased material.</a:t>
            </a:r>
          </a:p>
          <a:p>
            <a:pPr lvl="1" indent="-182880">
              <a:lnSpc>
                <a:spcPct val="150000"/>
              </a:lnSpc>
              <a:spcBef>
                <a:spcPts val="1400"/>
              </a:spcBef>
              <a:buSzPts val="1760"/>
            </a:pPr>
            <a:r>
              <a:rPr lang="en-US" sz="1600" dirty="0">
                <a:latin typeface="Arial" panose="020B0604020202020204" pitchFamily="34" charset="0"/>
                <a:cs typeface="Arial" panose="020B0604020202020204" pitchFamily="34" charset="0"/>
              </a:rPr>
              <a:t> Usually the customer is highly involved in the product design.</a:t>
            </a:r>
          </a:p>
          <a:p>
            <a:pPr lvl="1" indent="-182880">
              <a:lnSpc>
                <a:spcPct val="150000"/>
              </a:lnSpc>
              <a:spcBef>
                <a:spcPts val="1400"/>
              </a:spcBef>
              <a:buSzPts val="1760"/>
            </a:pPr>
            <a:r>
              <a:rPr lang="en-US" sz="1600" dirty="0">
                <a:latin typeface="Arial" panose="020B0604020202020204" pitchFamily="34" charset="0"/>
                <a:cs typeface="Arial" panose="020B0604020202020204" pitchFamily="34" charset="0"/>
              </a:rPr>
              <a:t> Each customer order results in a unique set of part numbers, bill of material, and routings. Custom design, slowest</a:t>
            </a:r>
            <a:endParaRPr sz="1600" dirty="0">
              <a:latin typeface="Arial" panose="020B0604020202020204" pitchFamily="34" charset="0"/>
              <a:cs typeface="Arial" panose="020B0604020202020204" pitchFamily="34" charset="0"/>
            </a:endParaRPr>
          </a:p>
          <a:p>
            <a:pPr marL="228600" lvl="0" indent="-71120" algn="l" rtl="0">
              <a:lnSpc>
                <a:spcPct val="90000"/>
              </a:lnSpc>
              <a:spcBef>
                <a:spcPts val="1400"/>
              </a:spcBef>
              <a:spcAft>
                <a:spcPts val="0"/>
              </a:spcAft>
              <a:buSzPts val="1760"/>
              <a:buNone/>
            </a:pPr>
            <a:endParaRPr sz="1600" dirty="0">
              <a:solidFill>
                <a:schemeClr val="dk1"/>
              </a:solidFill>
            </a:endParaRPr>
          </a:p>
        </p:txBody>
      </p:sp>
      <p:pic>
        <p:nvPicPr>
          <p:cNvPr id="3" name="Picture 2" descr="Make to Order (MTO) - Definition, Advantages, Examples">
            <a:extLst>
              <a:ext uri="{FF2B5EF4-FFF2-40B4-BE49-F238E27FC236}">
                <a16:creationId xmlns:a16="http://schemas.microsoft.com/office/drawing/2014/main" id="{DE1C0AA5-D83A-4CC1-86FB-2F1AC6E01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367" y="1539551"/>
            <a:ext cx="3937519" cy="21294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ngineer to Order (ETO) vs Made to Order (MTO) Manufacturing">
            <a:extLst>
              <a:ext uri="{FF2B5EF4-FFF2-40B4-BE49-F238E27FC236}">
                <a16:creationId xmlns:a16="http://schemas.microsoft.com/office/drawing/2014/main" id="{105D311D-635C-4BE9-9ABF-D62AE9CD7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2483" y="4299469"/>
            <a:ext cx="4329403" cy="1970702"/>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88;p8">
            <a:extLst>
              <a:ext uri="{FF2B5EF4-FFF2-40B4-BE49-F238E27FC236}">
                <a16:creationId xmlns:a16="http://schemas.microsoft.com/office/drawing/2014/main" id="{DC12A9C3-A2E5-A3A7-D3B7-CC534E0DDAD7}"/>
              </a:ext>
            </a:extLst>
          </p:cNvPr>
          <p:cNvSpPr txBox="1">
            <a:spLocks/>
          </p:cNvSpPr>
          <p:nvPr/>
        </p:nvSpPr>
        <p:spPr>
          <a:xfrm>
            <a:off x="0" y="0"/>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dirty="0"/>
              <a:t>Manufacturing Strategies</a:t>
            </a:r>
            <a:endParaRPr lang="en-US" b="1" dirty="0"/>
          </a:p>
        </p:txBody>
      </p:sp>
    </p:spTree>
    <p:extLst>
      <p:ext uri="{BB962C8B-B14F-4D97-AF65-F5344CB8AC3E}">
        <p14:creationId xmlns:p14="http://schemas.microsoft.com/office/powerpoint/2010/main" val="2901328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17"/>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endParaRPr/>
          </a:p>
        </p:txBody>
      </p:sp>
      <p:sp>
        <p:nvSpPr>
          <p:cNvPr id="489" name="Google Shape;489;p17"/>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p>
            <a:pPr marL="228600" lvl="0" indent="-71120" algn="l" rtl="0">
              <a:lnSpc>
                <a:spcPct val="90000"/>
              </a:lnSpc>
              <a:spcBef>
                <a:spcPts val="0"/>
              </a:spcBef>
              <a:spcAft>
                <a:spcPts val="0"/>
              </a:spcAft>
              <a:buSzPts val="1760"/>
              <a:buNone/>
            </a:pPr>
            <a:endParaRPr/>
          </a:p>
        </p:txBody>
      </p:sp>
      <p:pic>
        <p:nvPicPr>
          <p:cNvPr id="490" name="Google Shape;490;p17"/>
          <p:cNvPicPr preferRelativeResize="0"/>
          <p:nvPr/>
        </p:nvPicPr>
        <p:blipFill rotWithShape="1">
          <a:blip r:embed="rId3">
            <a:alphaModFix/>
          </a:blip>
          <a:srcRect l="3183" t="7673" r="1816" b="910"/>
          <a:stretch/>
        </p:blipFill>
        <p:spPr>
          <a:xfrm>
            <a:off x="0" y="0"/>
            <a:ext cx="12192000" cy="6858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Rectangle 103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1ECC2FA-0E35-4728-ACE4-DFC85B123FB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b="1" u="sng" kern="1200" cap="none" dirty="0">
                <a:solidFill>
                  <a:srgbClr val="FFFFFF"/>
                </a:solidFill>
                <a:latin typeface="+mj-lt"/>
                <a:ea typeface="+mj-ea"/>
                <a:cs typeface="+mj-cs"/>
              </a:rPr>
              <a:t>Manufacturing Strategies</a:t>
            </a:r>
          </a:p>
        </p:txBody>
      </p:sp>
      <p:sp>
        <p:nvSpPr>
          <p:cNvPr id="4" name="Google Shape;288;p8">
            <a:extLst>
              <a:ext uri="{FF2B5EF4-FFF2-40B4-BE49-F238E27FC236}">
                <a16:creationId xmlns:a16="http://schemas.microsoft.com/office/drawing/2014/main" id="{DC12A9C3-A2E5-A3A7-D3B7-CC534E0DDAD7}"/>
              </a:ext>
            </a:extLst>
          </p:cNvPr>
          <p:cNvSpPr txBox="1">
            <a:spLocks/>
          </p:cNvSpPr>
          <p:nvPr/>
        </p:nvSpPr>
        <p:spPr>
          <a:xfrm>
            <a:off x="660042" y="806824"/>
            <a:ext cx="2919738" cy="1494117"/>
          </a:xfrm>
          <a:prstGeom prst="rect">
            <a:avLst/>
          </a:prstGeom>
        </p:spPr>
        <p:txBody>
          <a:bodyPr spcFirstLastPara="1"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buClr>
                <a:schemeClr val="accent1"/>
              </a:buClr>
              <a:buSzPts val="4400"/>
            </a:pPr>
            <a:r>
              <a:rPr lang="en-US" sz="2000" kern="1200" dirty="0">
                <a:solidFill>
                  <a:srgbClr val="FFFFFF"/>
                </a:solidFill>
                <a:latin typeface="+mn-lt"/>
                <a:ea typeface="+mn-ea"/>
                <a:cs typeface="+mn-cs"/>
              </a:rPr>
              <a:t>Postponement Strategies (Delayed Product Differentiation)</a:t>
            </a:r>
            <a:endParaRPr lang="en-US" sz="2000" b="1" kern="1200" dirty="0">
              <a:solidFill>
                <a:srgbClr val="FFFFFF"/>
              </a:solidFill>
              <a:latin typeface="+mn-lt"/>
              <a:ea typeface="+mn-ea"/>
              <a:cs typeface="+mn-cs"/>
            </a:endParaRPr>
          </a:p>
        </p:txBody>
      </p:sp>
      <p:sp>
        <p:nvSpPr>
          <p:cNvPr id="9" name="TextBox 8">
            <a:extLst>
              <a:ext uri="{FF2B5EF4-FFF2-40B4-BE49-F238E27FC236}">
                <a16:creationId xmlns:a16="http://schemas.microsoft.com/office/drawing/2014/main" id="{7A382823-FAD2-AA99-FE79-1896D6C43879}"/>
              </a:ext>
            </a:extLst>
          </p:cNvPr>
          <p:cNvSpPr txBox="1"/>
          <p:nvPr/>
        </p:nvSpPr>
        <p:spPr>
          <a:xfrm>
            <a:off x="5119920" y="1352819"/>
            <a:ext cx="6096000" cy="4524315"/>
          </a:xfrm>
          <a:prstGeom prst="rect">
            <a:avLst/>
          </a:prstGeom>
          <a:noFill/>
        </p:spPr>
        <p:txBody>
          <a:bodyPr wrap="square">
            <a:spAutoFit/>
          </a:bodyPr>
          <a:lstStyle/>
          <a:p>
            <a:pPr marL="285750" indent="-285750">
              <a:buFont typeface="Wingdings" panose="05000000000000000000" pitchFamily="2" charset="2"/>
              <a:buChar char="Ø"/>
            </a:pPr>
            <a:r>
              <a:rPr lang="en-US" sz="2400" b="1" i="0" dirty="0">
                <a:solidFill>
                  <a:srgbClr val="444444"/>
                </a:solidFill>
                <a:effectLst/>
                <a:latin typeface="Times New Roman" panose="02020603050405020304" pitchFamily="18" charset="0"/>
                <a:cs typeface="Times New Roman" panose="02020603050405020304" pitchFamily="18" charset="0"/>
              </a:rPr>
              <a:t>Postponed Customization</a:t>
            </a:r>
            <a:r>
              <a:rPr lang="en-US" sz="2400" b="0" i="0" dirty="0">
                <a:solidFill>
                  <a:srgbClr val="444444"/>
                </a:solidFill>
                <a:effectLst/>
                <a:latin typeface="Times New Roman" panose="02020603050405020304" pitchFamily="18" charset="0"/>
                <a:cs typeface="Times New Roman" panose="02020603050405020304" pitchFamily="18" charset="0"/>
              </a:rPr>
              <a:t>: Standard product produced; customization delayed until later in the supply chain.</a:t>
            </a:r>
          </a:p>
          <a:p>
            <a:pPr marL="285750" indent="-285750">
              <a:buFont typeface="Wingdings" panose="05000000000000000000" pitchFamily="2" charset="2"/>
              <a:buChar char="Ø"/>
            </a:pPr>
            <a:r>
              <a:rPr lang="en-US" sz="2400" b="1" i="0" dirty="0">
                <a:solidFill>
                  <a:srgbClr val="444444"/>
                </a:solidFill>
                <a:effectLst/>
                <a:latin typeface="Times New Roman" panose="02020603050405020304" pitchFamily="18" charset="0"/>
                <a:cs typeface="Times New Roman" panose="02020603050405020304" pitchFamily="18" charset="0"/>
              </a:rPr>
              <a:t>Inventory Efficiency: </a:t>
            </a:r>
            <a:r>
              <a:rPr lang="en-US" sz="2400" b="0" i="0" dirty="0">
                <a:solidFill>
                  <a:srgbClr val="444444"/>
                </a:solidFill>
                <a:effectLst/>
                <a:latin typeface="Times New Roman" panose="02020603050405020304" pitchFamily="18" charset="0"/>
                <a:cs typeface="Times New Roman" panose="02020603050405020304" pitchFamily="18" charset="0"/>
              </a:rPr>
              <a:t>Reduces need for multiple variations, lowering inventory costs.</a:t>
            </a:r>
          </a:p>
          <a:p>
            <a:pPr marL="285750" indent="-285750">
              <a:buFont typeface="Wingdings" panose="05000000000000000000" pitchFamily="2" charset="2"/>
              <a:buChar char="Ø"/>
            </a:pPr>
            <a:r>
              <a:rPr lang="en-US" sz="2400" b="1" i="0" dirty="0">
                <a:solidFill>
                  <a:srgbClr val="444444"/>
                </a:solidFill>
                <a:effectLst/>
                <a:latin typeface="Times New Roman" panose="02020603050405020304" pitchFamily="18" charset="0"/>
                <a:cs typeface="Times New Roman" panose="02020603050405020304" pitchFamily="18" charset="0"/>
              </a:rPr>
              <a:t>Forecast Accuracy: </a:t>
            </a:r>
            <a:r>
              <a:rPr lang="en-US" sz="2400" b="0" i="0" dirty="0">
                <a:solidFill>
                  <a:srgbClr val="444444"/>
                </a:solidFill>
                <a:effectLst/>
                <a:latin typeface="Times New Roman" panose="02020603050405020304" pitchFamily="18" charset="0"/>
                <a:cs typeface="Times New Roman" panose="02020603050405020304" pitchFamily="18" charset="0"/>
              </a:rPr>
              <a:t>Easier to predict demand for base products than for each variant.</a:t>
            </a:r>
          </a:p>
          <a:p>
            <a:pPr marL="285750" indent="-285750">
              <a:buFont typeface="Wingdings" panose="05000000000000000000" pitchFamily="2" charset="2"/>
              <a:buChar char="Ø"/>
            </a:pPr>
            <a:r>
              <a:rPr lang="en-US" sz="2400" b="1" i="0" dirty="0">
                <a:solidFill>
                  <a:srgbClr val="444444"/>
                </a:solidFill>
                <a:effectLst/>
                <a:latin typeface="Times New Roman" panose="02020603050405020304" pitchFamily="18" charset="0"/>
                <a:cs typeface="Times New Roman" panose="02020603050405020304" pitchFamily="18" charset="0"/>
              </a:rPr>
              <a:t>Reduced Obsolescence: </a:t>
            </a:r>
            <a:r>
              <a:rPr lang="en-US" sz="2400" b="0" i="0" dirty="0">
                <a:solidFill>
                  <a:srgbClr val="444444"/>
                </a:solidFill>
                <a:effectLst/>
                <a:latin typeface="Times New Roman" panose="02020603050405020304" pitchFamily="18" charset="0"/>
                <a:cs typeface="Times New Roman" panose="02020603050405020304" pitchFamily="18" charset="0"/>
              </a:rPr>
              <a:t>Minimizes unsold or obsolete products by aligning customization with real demand.</a:t>
            </a:r>
          </a:p>
          <a:p>
            <a:pPr marL="285750" indent="-285750">
              <a:buFont typeface="Wingdings" panose="05000000000000000000" pitchFamily="2" charset="2"/>
              <a:buChar char="Ø"/>
            </a:pPr>
            <a:r>
              <a:rPr lang="en-US" sz="2400" b="1" i="0" dirty="0">
                <a:solidFill>
                  <a:srgbClr val="444444"/>
                </a:solidFill>
                <a:effectLst/>
                <a:latin typeface="Times New Roman" panose="02020603050405020304" pitchFamily="18" charset="0"/>
                <a:cs typeface="Times New Roman" panose="02020603050405020304" pitchFamily="18" charset="0"/>
              </a:rPr>
              <a:t>Flexibility: </a:t>
            </a:r>
            <a:r>
              <a:rPr lang="en-US" sz="2400" b="0" i="0" dirty="0">
                <a:solidFill>
                  <a:srgbClr val="444444"/>
                </a:solidFill>
                <a:effectLst/>
                <a:latin typeface="Times New Roman" panose="02020603050405020304" pitchFamily="18" charset="0"/>
                <a:cs typeface="Times New Roman" panose="02020603050405020304" pitchFamily="18" charset="0"/>
              </a:rPr>
              <a:t>Faster response to market trends and customer preferences.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38426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Rectangle 103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1ECC2FA-0E35-4728-ACE4-DFC85B123FB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b="1" u="sng" kern="1200" cap="none" dirty="0">
                <a:solidFill>
                  <a:srgbClr val="FFFFFF"/>
                </a:solidFill>
                <a:latin typeface="+mj-lt"/>
                <a:ea typeface="+mj-ea"/>
                <a:cs typeface="+mj-cs"/>
              </a:rPr>
              <a:t>Example</a:t>
            </a:r>
          </a:p>
        </p:txBody>
      </p:sp>
      <p:sp>
        <p:nvSpPr>
          <p:cNvPr id="4" name="Google Shape;288;p8">
            <a:extLst>
              <a:ext uri="{FF2B5EF4-FFF2-40B4-BE49-F238E27FC236}">
                <a16:creationId xmlns:a16="http://schemas.microsoft.com/office/drawing/2014/main" id="{DC12A9C3-A2E5-A3A7-D3B7-CC534E0DDAD7}"/>
              </a:ext>
            </a:extLst>
          </p:cNvPr>
          <p:cNvSpPr txBox="1">
            <a:spLocks/>
          </p:cNvSpPr>
          <p:nvPr/>
        </p:nvSpPr>
        <p:spPr>
          <a:xfrm>
            <a:off x="660042" y="806824"/>
            <a:ext cx="2919738" cy="1494117"/>
          </a:xfrm>
          <a:prstGeom prst="rect">
            <a:avLst/>
          </a:prstGeom>
        </p:spPr>
        <p:txBody>
          <a:bodyPr spcFirstLastPara="1"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buClr>
                <a:schemeClr val="accent1"/>
              </a:buClr>
              <a:buSzPts val="4400"/>
            </a:pPr>
            <a:r>
              <a:rPr lang="en-US" sz="2000" kern="1200" dirty="0">
                <a:solidFill>
                  <a:srgbClr val="FFFFFF"/>
                </a:solidFill>
                <a:latin typeface="+mn-lt"/>
                <a:ea typeface="+mn-ea"/>
                <a:cs typeface="+mn-cs"/>
              </a:rPr>
              <a:t>Postponement Strategies (Delayed Product Differentiation)</a:t>
            </a:r>
            <a:endParaRPr lang="en-US" sz="2000" b="1" kern="1200" dirty="0">
              <a:solidFill>
                <a:srgbClr val="FFFFFF"/>
              </a:solidFill>
              <a:latin typeface="+mn-lt"/>
              <a:ea typeface="+mn-ea"/>
              <a:cs typeface="+mn-cs"/>
            </a:endParaRPr>
          </a:p>
        </p:txBody>
      </p:sp>
      <p:pic>
        <p:nvPicPr>
          <p:cNvPr id="1026" name="Picture 2" descr="Postponement As Supply Chain Strategy">
            <a:extLst>
              <a:ext uri="{FF2B5EF4-FFF2-40B4-BE49-F238E27FC236}">
                <a16:creationId xmlns:a16="http://schemas.microsoft.com/office/drawing/2014/main" id="{ED2B2E65-477D-3310-5217-C88074860C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1396758"/>
            <a:ext cx="7225748" cy="4064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935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Rectangle 103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1ECC2FA-0E35-4728-ACE4-DFC85B123FB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b="1" u="sng" kern="1200" cap="none" dirty="0">
                <a:solidFill>
                  <a:srgbClr val="FFFFFF"/>
                </a:solidFill>
                <a:latin typeface="+mj-lt"/>
                <a:ea typeface="+mj-ea"/>
                <a:cs typeface="+mj-cs"/>
              </a:rPr>
              <a:t>Example</a:t>
            </a:r>
          </a:p>
        </p:txBody>
      </p:sp>
      <p:sp>
        <p:nvSpPr>
          <p:cNvPr id="4" name="Google Shape;288;p8">
            <a:extLst>
              <a:ext uri="{FF2B5EF4-FFF2-40B4-BE49-F238E27FC236}">
                <a16:creationId xmlns:a16="http://schemas.microsoft.com/office/drawing/2014/main" id="{DC12A9C3-A2E5-A3A7-D3B7-CC534E0DDAD7}"/>
              </a:ext>
            </a:extLst>
          </p:cNvPr>
          <p:cNvSpPr txBox="1">
            <a:spLocks/>
          </p:cNvSpPr>
          <p:nvPr/>
        </p:nvSpPr>
        <p:spPr>
          <a:xfrm>
            <a:off x="660042" y="806824"/>
            <a:ext cx="2919738" cy="1494117"/>
          </a:xfrm>
          <a:prstGeom prst="rect">
            <a:avLst/>
          </a:prstGeom>
        </p:spPr>
        <p:txBody>
          <a:bodyPr spcFirstLastPara="1"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buClr>
                <a:schemeClr val="accent1"/>
              </a:buClr>
              <a:buSzPts val="4400"/>
            </a:pPr>
            <a:r>
              <a:rPr lang="en-US" sz="2000" kern="1200" dirty="0">
                <a:solidFill>
                  <a:srgbClr val="FFFFFF"/>
                </a:solidFill>
                <a:latin typeface="+mn-lt"/>
                <a:ea typeface="+mn-ea"/>
                <a:cs typeface="+mn-cs"/>
              </a:rPr>
              <a:t>Postponement Strategies (Delayed Product Differentiation)</a:t>
            </a:r>
            <a:endParaRPr lang="en-US" sz="2000" b="1" kern="1200" dirty="0">
              <a:solidFill>
                <a:srgbClr val="FFFFFF"/>
              </a:solidFill>
              <a:latin typeface="+mn-lt"/>
              <a:ea typeface="+mn-ea"/>
              <a:cs typeface="+mn-cs"/>
            </a:endParaRPr>
          </a:p>
        </p:txBody>
      </p:sp>
      <p:pic>
        <p:nvPicPr>
          <p:cNvPr id="56322" name="Picture 2" descr="Application of Postponement: Examples from Industry | SpringerLink">
            <a:extLst>
              <a:ext uri="{FF2B5EF4-FFF2-40B4-BE49-F238E27FC236}">
                <a16:creationId xmlns:a16="http://schemas.microsoft.com/office/drawing/2014/main" id="{A1AA3CB1-5AA2-20A8-0998-592F07562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1379" y="1553882"/>
            <a:ext cx="6733566" cy="4562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18030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57</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Why to use Demand Driven Strategy?</a:t>
            </a:r>
          </a:p>
        </p:txBody>
      </p:sp>
      <p:graphicFrame>
        <p:nvGraphicFramePr>
          <p:cNvPr id="6" name="Diagram 5">
            <a:extLst>
              <a:ext uri="{FF2B5EF4-FFF2-40B4-BE49-F238E27FC236}">
                <a16:creationId xmlns:a16="http://schemas.microsoft.com/office/drawing/2014/main" id="{262D68A3-D3D9-DA80-BBDF-593D76E5F537}"/>
              </a:ext>
            </a:extLst>
          </p:cNvPr>
          <p:cNvGraphicFramePr/>
          <p:nvPr>
            <p:extLst>
              <p:ext uri="{D42A27DB-BD31-4B8C-83A1-F6EECF244321}">
                <p14:modId xmlns:p14="http://schemas.microsoft.com/office/powerpoint/2010/main" val="3948579788"/>
              </p:ext>
            </p:extLst>
          </p:nvPr>
        </p:nvGraphicFramePr>
        <p:xfrm>
          <a:off x="1080796" y="1696940"/>
          <a:ext cx="9694506" cy="3293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6771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58</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Demand Driven Strategy</a:t>
            </a:r>
          </a:p>
        </p:txBody>
      </p:sp>
      <p:sp>
        <p:nvSpPr>
          <p:cNvPr id="2" name="TextBox 1">
            <a:extLst>
              <a:ext uri="{FF2B5EF4-FFF2-40B4-BE49-F238E27FC236}">
                <a16:creationId xmlns:a16="http://schemas.microsoft.com/office/drawing/2014/main" id="{777FC8F4-C0EE-EC42-1312-A4AF335033B8}"/>
              </a:ext>
            </a:extLst>
          </p:cNvPr>
          <p:cNvSpPr txBox="1"/>
          <p:nvPr/>
        </p:nvSpPr>
        <p:spPr>
          <a:xfrm>
            <a:off x="1220755" y="1659285"/>
            <a:ext cx="9770706" cy="2677656"/>
          </a:xfrm>
          <a:prstGeom prst="rect">
            <a:avLst/>
          </a:prstGeom>
          <a:noFill/>
        </p:spPr>
        <p:txBody>
          <a:bodyPr wrap="square" rtlCol="0">
            <a:spAutoFit/>
          </a:bodyPr>
          <a:lstStyle/>
          <a:p>
            <a:pPr marL="285750" indent="-285750">
              <a:buFont typeface="Arial" panose="020B0604020202020204" pitchFamily="34" charset="0"/>
              <a:buChar char="•"/>
            </a:pPr>
            <a:r>
              <a:rPr lang="en-IN" sz="2800" b="1" dirty="0"/>
              <a:t>Demand Forecast</a:t>
            </a:r>
            <a:r>
              <a:rPr lang="en-IN" sz="2800" dirty="0"/>
              <a:t>: Using historical data to develop long-term estimates of expected demand.</a:t>
            </a:r>
          </a:p>
          <a:p>
            <a:pPr marL="285750" indent="-285750">
              <a:buFont typeface="Arial" panose="020B0604020202020204" pitchFamily="34" charset="0"/>
              <a:buChar char="•"/>
            </a:pPr>
            <a:r>
              <a:rPr lang="en-IN" sz="2800" b="1" dirty="0"/>
              <a:t>Demand Shaping: </a:t>
            </a:r>
            <a:r>
              <a:rPr lang="en-IN" sz="2800" dirty="0"/>
              <a:t>Determining the impact of various marketing plans such as promotions, pricing discounts, rebates, new product introductions and product withdrawal on demand forecasts.</a:t>
            </a:r>
          </a:p>
        </p:txBody>
      </p:sp>
    </p:spTree>
    <p:extLst>
      <p:ext uri="{BB962C8B-B14F-4D97-AF65-F5344CB8AC3E}">
        <p14:creationId xmlns:p14="http://schemas.microsoft.com/office/powerpoint/2010/main" val="26536565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660041" y="2767106"/>
            <a:ext cx="2880828" cy="3071906"/>
          </a:xfrm>
          <a:prstGeom prst="rect">
            <a:avLst/>
          </a:prstGeom>
        </p:spPr>
        <p:txBody>
          <a:bodyPr spcFirstLastPara="1" vert="horz" lIns="91440" tIns="45720" rIns="91440" bIns="4572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buClr>
                <a:schemeClr val="accent1"/>
              </a:buClr>
              <a:buSzPts val="4400"/>
            </a:pPr>
            <a:r>
              <a:rPr lang="en-US" sz="4000" b="1" kern="1200">
                <a:solidFill>
                  <a:srgbClr val="FFFFFF"/>
                </a:solidFill>
                <a:latin typeface="+mj-lt"/>
                <a:ea typeface="+mj-ea"/>
                <a:cs typeface="+mj-cs"/>
              </a:rPr>
              <a:t>Demand Forecast Method</a:t>
            </a:r>
          </a:p>
        </p:txBody>
      </p:sp>
      <p:sp>
        <p:nvSpPr>
          <p:cNvPr id="2" name="TextBox 1">
            <a:extLst>
              <a:ext uri="{FF2B5EF4-FFF2-40B4-BE49-F238E27FC236}">
                <a16:creationId xmlns:a16="http://schemas.microsoft.com/office/drawing/2014/main" id="{777FC8F4-C0EE-EC42-1312-A4AF335033B8}"/>
              </a:ext>
            </a:extLst>
          </p:cNvPr>
          <p:cNvSpPr txBox="1"/>
          <p:nvPr/>
        </p:nvSpPr>
        <p:spPr>
          <a:xfrm>
            <a:off x="660042" y="806824"/>
            <a:ext cx="2919738" cy="1494117"/>
          </a:xfrm>
          <a:prstGeom prst="rect">
            <a:avLst/>
          </a:prstGeom>
        </p:spPr>
        <p:txBody>
          <a:bodyPr vert="horz" lIns="91440" tIns="45720" rIns="91440" bIns="45720" rtlCol="0" anchor="b">
            <a:normAutofit/>
          </a:bodyPr>
          <a:lstStyle/>
          <a:p>
            <a:pPr>
              <a:lnSpc>
                <a:spcPct val="90000"/>
              </a:lnSpc>
              <a:spcBef>
                <a:spcPts val="1000"/>
              </a:spcBef>
            </a:pPr>
            <a:r>
              <a:rPr lang="en-US" sz="2000" b="1" kern="1200">
                <a:solidFill>
                  <a:srgbClr val="FFFFFF"/>
                </a:solidFill>
                <a:latin typeface="+mn-lt"/>
                <a:ea typeface="+mn-ea"/>
                <a:cs typeface="+mn-cs"/>
              </a:rPr>
              <a:t>Demand Forecast</a:t>
            </a:r>
            <a:r>
              <a:rPr lang="en-US" sz="2000" kern="1200">
                <a:solidFill>
                  <a:srgbClr val="FFFFFF"/>
                </a:solidFill>
                <a:latin typeface="+mn-lt"/>
                <a:ea typeface="+mn-ea"/>
                <a:cs typeface="+mn-cs"/>
              </a:rPr>
              <a:t>: Using historical data to develop long-term estimates of expected demand.</a:t>
            </a:r>
          </a:p>
        </p:txBody>
      </p:sp>
      <p:pic>
        <p:nvPicPr>
          <p:cNvPr id="5" name="Picture 4">
            <a:extLst>
              <a:ext uri="{FF2B5EF4-FFF2-40B4-BE49-F238E27FC236}">
                <a16:creationId xmlns:a16="http://schemas.microsoft.com/office/drawing/2014/main" id="{5E0F6009-0B00-2874-6D88-4BE8065D26CF}"/>
              </a:ext>
            </a:extLst>
          </p:cNvPr>
          <p:cNvPicPr>
            <a:picLocks noChangeAspect="1"/>
          </p:cNvPicPr>
          <p:nvPr/>
        </p:nvPicPr>
        <p:blipFill>
          <a:blip r:embed="rId2"/>
          <a:stretch>
            <a:fillRect/>
          </a:stretch>
        </p:blipFill>
        <p:spPr>
          <a:xfrm>
            <a:off x="4502428" y="954181"/>
            <a:ext cx="7225748" cy="4949637"/>
          </a:xfrm>
          <a:prstGeom prst="rect">
            <a:avLst/>
          </a:prstGeom>
        </p:spPr>
      </p:pic>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6B07C8CD-4FE2-46F0-9611-E3B643750200}" type="slidenum">
              <a:rPr lang="en-US" sz="1100">
                <a:solidFill>
                  <a:schemeClr val="tx1">
                    <a:lumMod val="50000"/>
                    <a:lumOff val="50000"/>
                  </a:schemeClr>
                </a:solidFill>
              </a:rPr>
              <a:pPr>
                <a:spcAft>
                  <a:spcPts val="600"/>
                </a:spcAft>
              </a:pPr>
              <a:t>59</a:t>
            </a:fld>
            <a:endParaRPr lang="en-US" sz="1100">
              <a:solidFill>
                <a:schemeClr val="tx1">
                  <a:lumMod val="50000"/>
                  <a:lumOff val="50000"/>
                </a:schemeClr>
              </a:solidFill>
            </a:endParaRPr>
          </a:p>
        </p:txBody>
      </p:sp>
    </p:spTree>
    <p:extLst>
      <p:ext uri="{BB962C8B-B14F-4D97-AF65-F5344CB8AC3E}">
        <p14:creationId xmlns:p14="http://schemas.microsoft.com/office/powerpoint/2010/main" val="1579600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510987"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0983" name="Picture 510982" descr="Hourglass with green sand">
            <a:extLst>
              <a:ext uri="{FF2B5EF4-FFF2-40B4-BE49-F238E27FC236}">
                <a16:creationId xmlns:a16="http://schemas.microsoft.com/office/drawing/2014/main" id="{B73084A3-73AF-0219-3E59-0D7D0048E43F}"/>
              </a:ext>
            </a:extLst>
          </p:cNvPr>
          <p:cNvPicPr>
            <a:picLocks noChangeAspect="1"/>
          </p:cNvPicPr>
          <p:nvPr/>
        </p:nvPicPr>
        <p:blipFill>
          <a:blip r:embed="rId3"/>
          <a:srcRect l="47342" r="-2" b="-2"/>
          <a:stretch/>
        </p:blipFill>
        <p:spPr>
          <a:xfrm>
            <a:off x="-1" y="-2"/>
            <a:ext cx="5410198" cy="6858002"/>
          </a:xfrm>
          <a:prstGeom prst="rect">
            <a:avLst/>
          </a:prstGeom>
        </p:spPr>
      </p:pic>
      <p:sp useBgFill="1">
        <p:nvSpPr>
          <p:cNvPr id="510989" name="Rectangle 510988">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8" name="Rectangle 4">
            <a:extLst>
              <a:ext uri="{FF2B5EF4-FFF2-40B4-BE49-F238E27FC236}">
                <a16:creationId xmlns:a16="http://schemas.microsoft.com/office/drawing/2014/main" id="{5BF2F3D5-790B-E4A7-BBFA-31625F025539}"/>
              </a:ext>
            </a:extLst>
          </p:cNvPr>
          <p:cNvSpPr>
            <a:spLocks noGrp="1" noChangeArrowheads="1"/>
          </p:cNvSpPr>
          <p:nvPr>
            <p:ph type="title"/>
          </p:nvPr>
        </p:nvSpPr>
        <p:spPr>
          <a:xfrm>
            <a:off x="6115317" y="405685"/>
            <a:ext cx="5464968" cy="1559301"/>
          </a:xfrm>
        </p:spPr>
        <p:txBody>
          <a:bodyPr vert="horz" lIns="90488" tIns="44450" rIns="90488" bIns="44450" numCol="1" anchorCtr="0" compatLnSpc="1">
            <a:prstTxWarp prst="textNoShape">
              <a:avLst/>
            </a:prstTxWarp>
            <a:normAutofit/>
          </a:bodyPr>
          <a:lstStyle/>
          <a:p>
            <a:r>
              <a:rPr lang="en-US" altLang="en-US" sz="4000"/>
              <a:t>Time Series Models</a:t>
            </a:r>
          </a:p>
        </p:txBody>
      </p:sp>
      <p:sp>
        <p:nvSpPr>
          <p:cNvPr id="510981" name="Rectangle 5">
            <a:extLst>
              <a:ext uri="{FF2B5EF4-FFF2-40B4-BE49-F238E27FC236}">
                <a16:creationId xmlns:a16="http://schemas.microsoft.com/office/drawing/2014/main" id="{767F6642-3493-497B-FF9D-677517CB0E9A}"/>
              </a:ext>
            </a:extLst>
          </p:cNvPr>
          <p:cNvSpPr>
            <a:spLocks noGrp="1" noChangeArrowheads="1"/>
          </p:cNvSpPr>
          <p:nvPr>
            <p:ph type="body" idx="1"/>
          </p:nvPr>
        </p:nvSpPr>
        <p:spPr>
          <a:xfrm>
            <a:off x="6115317" y="2743200"/>
            <a:ext cx="5247340" cy="3496878"/>
          </a:xfrm>
        </p:spPr>
        <p:txBody>
          <a:bodyPr vert="horz" lIns="90488" tIns="44450" rIns="90488" bIns="44450" numCol="1" anchor="ctr" anchorCtr="0" compatLnSpc="1">
            <a:prstTxWarp prst="textNoShape">
              <a:avLst/>
            </a:prstTxWarp>
            <a:normAutofit/>
          </a:bodyPr>
          <a:lstStyle/>
          <a:p>
            <a:r>
              <a:rPr lang="en-US" altLang="en-US" sz="2000" b="1"/>
              <a:t>Try to predict the future based on past data</a:t>
            </a:r>
          </a:p>
          <a:p>
            <a:pPr lvl="1" eaLnBrk="1" hangingPunct="1">
              <a:spcBef>
                <a:spcPct val="11000"/>
              </a:spcBef>
            </a:pPr>
            <a:endParaRPr lang="en-US" altLang="en-US" sz="2000"/>
          </a:p>
          <a:p>
            <a:pPr lvl="1" eaLnBrk="1" hangingPunct="1">
              <a:spcBef>
                <a:spcPct val="11000"/>
              </a:spcBef>
            </a:pPr>
            <a:r>
              <a:rPr lang="en-US" altLang="en-US" sz="2000"/>
              <a:t>Assume that factors influencing the past will continue to influence the future</a:t>
            </a:r>
          </a:p>
          <a:p>
            <a:pPr lvl="1"/>
            <a:endParaRPr lang="en-US" altLang="en-US" sz="2000" b="1" i="1"/>
          </a:p>
        </p:txBody>
      </p:sp>
      <p:sp>
        <p:nvSpPr>
          <p:cNvPr id="36866" name="Rectangle 2">
            <a:extLst>
              <a:ext uri="{FF2B5EF4-FFF2-40B4-BE49-F238E27FC236}">
                <a16:creationId xmlns:a16="http://schemas.microsoft.com/office/drawing/2014/main" id="{7706CFBC-704C-D394-4FEB-46E3046177F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36867" name="Rectangle 3">
            <a:extLst>
              <a:ext uri="{FF2B5EF4-FFF2-40B4-BE49-F238E27FC236}">
                <a16:creationId xmlns:a16="http://schemas.microsoft.com/office/drawing/2014/main" id="{555CDEED-983B-1960-2F50-B3D1B3EC8D7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0981">
                                            <p:txEl>
                                              <p:pRg st="2" end="2"/>
                                            </p:txEl>
                                          </p:spTgt>
                                        </p:tgtEl>
                                        <p:attrNameLst>
                                          <p:attrName>style.visibility</p:attrName>
                                        </p:attrNameLst>
                                      </p:cBhvr>
                                      <p:to>
                                        <p:strVal val="visible"/>
                                      </p:to>
                                    </p:set>
                                    <p:animEffect transition="in" filter="wipe(left)">
                                      <p:cBhvr>
                                        <p:cTn id="7" dur="500"/>
                                        <p:tgtEl>
                                          <p:spTgt spid="5109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1" grpId="0" uiExpand="1"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6542"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76544" name="Rectangle 576543">
            <a:extLst>
              <a:ext uri="{FF2B5EF4-FFF2-40B4-BE49-F238E27FC236}">
                <a16:creationId xmlns:a16="http://schemas.microsoft.com/office/drawing/2014/main" id="{3E65D517-46E4-8037-A63D-629DE1253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5" name="Rectangle 26">
            <a:extLst>
              <a:ext uri="{FF2B5EF4-FFF2-40B4-BE49-F238E27FC236}">
                <a16:creationId xmlns:a16="http://schemas.microsoft.com/office/drawing/2014/main" id="{6D7819A6-DECA-044A-0A95-16D7F1735320}"/>
              </a:ext>
            </a:extLst>
          </p:cNvPr>
          <p:cNvSpPr>
            <a:spLocks noGrp="1" noChangeArrowheads="1"/>
          </p:cNvSpPr>
          <p:nvPr>
            <p:ph type="title"/>
          </p:nvPr>
        </p:nvSpPr>
        <p:spPr>
          <a:xfrm>
            <a:off x="758952" y="276198"/>
            <a:ext cx="10477600" cy="1157242"/>
          </a:xfrm>
        </p:spPr>
        <p:txBody>
          <a:bodyPr>
            <a:normAutofit/>
          </a:bodyPr>
          <a:lstStyle/>
          <a:p>
            <a:pPr eaLnBrk="1" hangingPunct="1"/>
            <a:r>
              <a:rPr lang="en-US" altLang="en-US" sz="4000"/>
              <a:t>Time Series Models: Components</a:t>
            </a:r>
          </a:p>
        </p:txBody>
      </p:sp>
      <p:grpSp>
        <p:nvGrpSpPr>
          <p:cNvPr id="38914" name="Group 2">
            <a:extLst>
              <a:ext uri="{FF2B5EF4-FFF2-40B4-BE49-F238E27FC236}">
                <a16:creationId xmlns:a16="http://schemas.microsoft.com/office/drawing/2014/main" id="{E4AD8A91-5039-1051-B859-4627A288778B}"/>
              </a:ext>
            </a:extLst>
          </p:cNvPr>
          <p:cNvGrpSpPr>
            <a:grpSpLocks/>
          </p:cNvGrpSpPr>
          <p:nvPr/>
        </p:nvGrpSpPr>
        <p:grpSpPr bwMode="auto">
          <a:xfrm>
            <a:off x="2203994" y="2120282"/>
            <a:ext cx="7787776" cy="3877729"/>
            <a:chOff x="523" y="1325"/>
            <a:chExt cx="4137" cy="2136"/>
          </a:xfrm>
        </p:grpSpPr>
        <p:grpSp>
          <p:nvGrpSpPr>
            <p:cNvPr id="38916" name="Group 3">
              <a:extLst>
                <a:ext uri="{FF2B5EF4-FFF2-40B4-BE49-F238E27FC236}">
                  <a16:creationId xmlns:a16="http://schemas.microsoft.com/office/drawing/2014/main" id="{D41976AD-F026-67FC-2735-214BC09482C2}"/>
                </a:ext>
              </a:extLst>
            </p:cNvPr>
            <p:cNvGrpSpPr>
              <a:grpSpLocks/>
            </p:cNvGrpSpPr>
            <p:nvPr/>
          </p:nvGrpSpPr>
          <p:grpSpPr bwMode="auto">
            <a:xfrm>
              <a:off x="523" y="1325"/>
              <a:ext cx="2066" cy="1068"/>
              <a:chOff x="523" y="1325"/>
              <a:chExt cx="2066" cy="1068"/>
            </a:xfrm>
          </p:grpSpPr>
          <p:grpSp>
            <p:nvGrpSpPr>
              <p:cNvPr id="38934" name="Group 4">
                <a:extLst>
                  <a:ext uri="{FF2B5EF4-FFF2-40B4-BE49-F238E27FC236}">
                    <a16:creationId xmlns:a16="http://schemas.microsoft.com/office/drawing/2014/main" id="{226DE9C7-5664-697B-BCAB-7263CC50C74C}"/>
                  </a:ext>
                </a:extLst>
              </p:cNvPr>
              <p:cNvGrpSpPr>
                <a:grpSpLocks/>
              </p:cNvGrpSpPr>
              <p:nvPr/>
            </p:nvGrpSpPr>
            <p:grpSpPr bwMode="auto">
              <a:xfrm>
                <a:off x="523" y="1325"/>
                <a:ext cx="2066" cy="1068"/>
                <a:chOff x="581" y="1421"/>
                <a:chExt cx="2296" cy="1145"/>
              </a:xfrm>
            </p:grpSpPr>
            <p:sp>
              <p:nvSpPr>
                <p:cNvPr id="38936" name="Rectangle 5">
                  <a:extLst>
                    <a:ext uri="{FF2B5EF4-FFF2-40B4-BE49-F238E27FC236}">
                      <a16:creationId xmlns:a16="http://schemas.microsoft.com/office/drawing/2014/main" id="{91A6DC33-F164-D40E-F927-A536A598E8E6}"/>
                    </a:ext>
                  </a:extLst>
                </p:cNvPr>
                <p:cNvSpPr>
                  <a:spLocks noChangeArrowheads="1"/>
                </p:cNvSpPr>
                <p:nvPr/>
              </p:nvSpPr>
              <p:spPr bwMode="auto">
                <a:xfrm>
                  <a:off x="582" y="1422"/>
                  <a:ext cx="1627" cy="641"/>
                </a:xfrm>
                <a:prstGeom prst="rect">
                  <a:avLst/>
                </a:prstGeom>
                <a:solidFill>
                  <a:srgbClr val="FF00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38937" name="Freeform 6">
                  <a:extLst>
                    <a:ext uri="{FF2B5EF4-FFF2-40B4-BE49-F238E27FC236}">
                      <a16:creationId xmlns:a16="http://schemas.microsoft.com/office/drawing/2014/main" id="{FF90EDD1-33C5-726A-C1EA-DCDC6EC5AAB4}"/>
                    </a:ext>
                  </a:extLst>
                </p:cNvPr>
                <p:cNvSpPr>
                  <a:spLocks/>
                </p:cNvSpPr>
                <p:nvPr/>
              </p:nvSpPr>
              <p:spPr bwMode="auto">
                <a:xfrm>
                  <a:off x="2220" y="1421"/>
                  <a:ext cx="657" cy="1145"/>
                </a:xfrm>
                <a:custGeom>
                  <a:avLst/>
                  <a:gdLst>
                    <a:gd name="T0" fmla="*/ 0 w 657"/>
                    <a:gd name="T1" fmla="*/ 0 h 1145"/>
                    <a:gd name="T2" fmla="*/ 656 w 657"/>
                    <a:gd name="T3" fmla="*/ 1144 h 1145"/>
                    <a:gd name="T4" fmla="*/ 0 w 657"/>
                    <a:gd name="T5" fmla="*/ 653 h 1145"/>
                    <a:gd name="T6" fmla="*/ 0 w 657"/>
                    <a:gd name="T7" fmla="*/ 0 h 1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7" h="1145">
                      <a:moveTo>
                        <a:pt x="0" y="0"/>
                      </a:moveTo>
                      <a:lnTo>
                        <a:pt x="656" y="1144"/>
                      </a:lnTo>
                      <a:lnTo>
                        <a:pt x="0" y="653"/>
                      </a:lnTo>
                      <a:lnTo>
                        <a:pt x="0" y="0"/>
                      </a:lnTo>
                    </a:path>
                  </a:pathLst>
                </a:custGeom>
                <a:solidFill>
                  <a:srgbClr val="800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38938" name="Freeform 7">
                  <a:extLst>
                    <a:ext uri="{FF2B5EF4-FFF2-40B4-BE49-F238E27FC236}">
                      <a16:creationId xmlns:a16="http://schemas.microsoft.com/office/drawing/2014/main" id="{40596FA0-293A-C118-E759-E88BB95FD25D}"/>
                    </a:ext>
                  </a:extLst>
                </p:cNvPr>
                <p:cNvSpPr>
                  <a:spLocks/>
                </p:cNvSpPr>
                <p:nvPr/>
              </p:nvSpPr>
              <p:spPr bwMode="auto">
                <a:xfrm>
                  <a:off x="581" y="2074"/>
                  <a:ext cx="2296" cy="492"/>
                </a:xfrm>
                <a:custGeom>
                  <a:avLst/>
                  <a:gdLst>
                    <a:gd name="T0" fmla="*/ 0 w 2296"/>
                    <a:gd name="T1" fmla="*/ 0 h 492"/>
                    <a:gd name="T2" fmla="*/ 1639 w 2296"/>
                    <a:gd name="T3" fmla="*/ 0 h 492"/>
                    <a:gd name="T4" fmla="*/ 2295 w 2296"/>
                    <a:gd name="T5" fmla="*/ 491 h 492"/>
                    <a:gd name="T6" fmla="*/ 0 w 2296"/>
                    <a:gd name="T7" fmla="*/ 0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96" h="492">
                      <a:moveTo>
                        <a:pt x="0" y="0"/>
                      </a:moveTo>
                      <a:lnTo>
                        <a:pt x="1639" y="0"/>
                      </a:lnTo>
                      <a:lnTo>
                        <a:pt x="2295" y="491"/>
                      </a:lnTo>
                      <a:lnTo>
                        <a:pt x="0" y="0"/>
                      </a:lnTo>
                    </a:path>
                  </a:pathLst>
                </a:custGeom>
                <a:solidFill>
                  <a:srgbClr val="400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pSp>
          <p:sp>
            <p:nvSpPr>
              <p:cNvPr id="576520" name="Rectangle 8">
                <a:extLst>
                  <a:ext uri="{FF2B5EF4-FFF2-40B4-BE49-F238E27FC236}">
                    <a16:creationId xmlns:a16="http://schemas.microsoft.com/office/drawing/2014/main" id="{3B675EA5-89B6-2F5D-BE9E-2EC030FBFC8F}"/>
                  </a:ext>
                </a:extLst>
              </p:cNvPr>
              <p:cNvSpPr>
                <a:spLocks noChangeArrowheads="1"/>
              </p:cNvSpPr>
              <p:nvPr/>
            </p:nvSpPr>
            <p:spPr bwMode="auto">
              <a:xfrm>
                <a:off x="822" y="1457"/>
                <a:ext cx="819" cy="270"/>
              </a:xfrm>
              <a:prstGeom prst="rect">
                <a:avLst/>
              </a:prstGeom>
              <a:noFill/>
              <a:ln>
                <a:noFill/>
              </a:ln>
              <a:effectLst/>
            </p:spPr>
            <p:txBody>
              <a:bodyPr lIns="90475" tIns="44444" rIns="90475" bIns="44444">
                <a:spAutoFit/>
              </a:bodyPr>
              <a:lstStyle/>
              <a:p>
                <a:pPr algn="ctr" defTabSz="969264" eaLnBrk="0" fontAlgn="base" hangingPunct="0">
                  <a:spcBef>
                    <a:spcPct val="20000"/>
                  </a:spcBef>
                  <a:spcAft>
                    <a:spcPct val="0"/>
                  </a:spcAft>
                  <a:defRPr/>
                </a:pPr>
                <a:r>
                  <a:rPr lang="en-US" altLang="en-US" sz="2544" b="1" kern="1200">
                    <a:solidFill>
                      <a:srgbClr val="292929"/>
                    </a:solidFill>
                    <a:effectLst>
                      <a:outerShdw blurRad="38100" dist="38100" dir="2700000" algn="tl">
                        <a:srgbClr val="C0C0C0"/>
                      </a:outerShdw>
                    </a:effectLst>
                    <a:latin typeface="Arial" panose="020B0604020202020204" pitchFamily="34" charset="0"/>
                    <a:ea typeface="+mn-ea"/>
                    <a:cs typeface="+mn-cs"/>
                  </a:rPr>
                  <a:t>Random</a:t>
                </a:r>
                <a:endParaRPr lang="en-US" altLang="en-US" sz="2400" b="1">
                  <a:solidFill>
                    <a:srgbClr val="292929"/>
                  </a:solidFill>
                  <a:effectLst>
                    <a:outerShdw blurRad="38100" dist="38100" dir="2700000" algn="tl">
                      <a:srgbClr val="C0C0C0"/>
                    </a:outerShdw>
                  </a:effectLst>
                  <a:latin typeface="Arial" panose="020B0604020202020204" pitchFamily="34" charset="0"/>
                </a:endParaRPr>
              </a:p>
            </p:txBody>
          </p:sp>
        </p:grpSp>
        <p:grpSp>
          <p:nvGrpSpPr>
            <p:cNvPr id="38917" name="Group 9">
              <a:extLst>
                <a:ext uri="{FF2B5EF4-FFF2-40B4-BE49-F238E27FC236}">
                  <a16:creationId xmlns:a16="http://schemas.microsoft.com/office/drawing/2014/main" id="{B0E75E3C-C918-CA78-81BF-D52CEE5201F0}"/>
                </a:ext>
              </a:extLst>
            </p:cNvPr>
            <p:cNvGrpSpPr>
              <a:grpSpLocks/>
            </p:cNvGrpSpPr>
            <p:nvPr/>
          </p:nvGrpSpPr>
          <p:grpSpPr bwMode="auto">
            <a:xfrm>
              <a:off x="523" y="2393"/>
              <a:ext cx="2066" cy="1066"/>
              <a:chOff x="523" y="2393"/>
              <a:chExt cx="2066" cy="1066"/>
            </a:xfrm>
          </p:grpSpPr>
          <p:grpSp>
            <p:nvGrpSpPr>
              <p:cNvPr id="38929" name="Group 10">
                <a:extLst>
                  <a:ext uri="{FF2B5EF4-FFF2-40B4-BE49-F238E27FC236}">
                    <a16:creationId xmlns:a16="http://schemas.microsoft.com/office/drawing/2014/main" id="{9EF42914-4424-1B5F-7BF3-85E4982566EF}"/>
                  </a:ext>
                </a:extLst>
              </p:cNvPr>
              <p:cNvGrpSpPr>
                <a:grpSpLocks/>
              </p:cNvGrpSpPr>
              <p:nvPr/>
            </p:nvGrpSpPr>
            <p:grpSpPr bwMode="auto">
              <a:xfrm>
                <a:off x="523" y="2393"/>
                <a:ext cx="2066" cy="1066"/>
                <a:chOff x="581" y="2565"/>
                <a:chExt cx="2296" cy="1143"/>
              </a:xfrm>
            </p:grpSpPr>
            <p:sp>
              <p:nvSpPr>
                <p:cNvPr id="38931" name="Rectangle 11">
                  <a:extLst>
                    <a:ext uri="{FF2B5EF4-FFF2-40B4-BE49-F238E27FC236}">
                      <a16:creationId xmlns:a16="http://schemas.microsoft.com/office/drawing/2014/main" id="{2A9B47E6-7DEE-B9DE-38ED-5415C0BE90D6}"/>
                    </a:ext>
                  </a:extLst>
                </p:cNvPr>
                <p:cNvSpPr>
                  <a:spLocks noChangeArrowheads="1"/>
                </p:cNvSpPr>
                <p:nvPr/>
              </p:nvSpPr>
              <p:spPr bwMode="auto">
                <a:xfrm>
                  <a:off x="582" y="3055"/>
                  <a:ext cx="1627" cy="641"/>
                </a:xfrm>
                <a:prstGeom prst="rect">
                  <a:avLst/>
                </a:prstGeom>
                <a:solidFill>
                  <a:srgbClr val="FF0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38932" name="Freeform 12">
                  <a:extLst>
                    <a:ext uri="{FF2B5EF4-FFF2-40B4-BE49-F238E27FC236}">
                      <a16:creationId xmlns:a16="http://schemas.microsoft.com/office/drawing/2014/main" id="{D81A9DB9-DDA1-BFD3-9EDF-2183877E5662}"/>
                    </a:ext>
                  </a:extLst>
                </p:cNvPr>
                <p:cNvSpPr>
                  <a:spLocks/>
                </p:cNvSpPr>
                <p:nvPr/>
              </p:nvSpPr>
              <p:spPr bwMode="auto">
                <a:xfrm>
                  <a:off x="581" y="2565"/>
                  <a:ext cx="2296" cy="490"/>
                </a:xfrm>
                <a:custGeom>
                  <a:avLst/>
                  <a:gdLst>
                    <a:gd name="T0" fmla="*/ 0 w 2296"/>
                    <a:gd name="T1" fmla="*/ 489 h 490"/>
                    <a:gd name="T2" fmla="*/ 2295 w 2296"/>
                    <a:gd name="T3" fmla="*/ 0 h 490"/>
                    <a:gd name="T4" fmla="*/ 1639 w 2296"/>
                    <a:gd name="T5" fmla="*/ 489 h 490"/>
                    <a:gd name="T6" fmla="*/ 0 w 2296"/>
                    <a:gd name="T7" fmla="*/ 489 h 4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96" h="490">
                      <a:moveTo>
                        <a:pt x="0" y="489"/>
                      </a:moveTo>
                      <a:lnTo>
                        <a:pt x="2295" y="0"/>
                      </a:lnTo>
                      <a:lnTo>
                        <a:pt x="1639" y="489"/>
                      </a:lnTo>
                      <a:lnTo>
                        <a:pt x="0" y="489"/>
                      </a:lnTo>
                    </a:path>
                  </a:pathLst>
                </a:custGeom>
                <a:solidFill>
                  <a:srgbClr val="80008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38933" name="Freeform 13">
                  <a:extLst>
                    <a:ext uri="{FF2B5EF4-FFF2-40B4-BE49-F238E27FC236}">
                      <a16:creationId xmlns:a16="http://schemas.microsoft.com/office/drawing/2014/main" id="{DF9E3855-9468-3B76-2334-557350856ACF}"/>
                    </a:ext>
                  </a:extLst>
                </p:cNvPr>
                <p:cNvSpPr>
                  <a:spLocks/>
                </p:cNvSpPr>
                <p:nvPr/>
              </p:nvSpPr>
              <p:spPr bwMode="auto">
                <a:xfrm>
                  <a:off x="2220" y="2565"/>
                  <a:ext cx="657" cy="1143"/>
                </a:xfrm>
                <a:custGeom>
                  <a:avLst/>
                  <a:gdLst>
                    <a:gd name="T0" fmla="*/ 0 w 657"/>
                    <a:gd name="T1" fmla="*/ 1142 h 1143"/>
                    <a:gd name="T2" fmla="*/ 0 w 657"/>
                    <a:gd name="T3" fmla="*/ 489 h 1143"/>
                    <a:gd name="T4" fmla="*/ 656 w 657"/>
                    <a:gd name="T5" fmla="*/ 0 h 1143"/>
                    <a:gd name="T6" fmla="*/ 0 w 657"/>
                    <a:gd name="T7" fmla="*/ 1142 h 1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7" h="1143">
                      <a:moveTo>
                        <a:pt x="0" y="1142"/>
                      </a:moveTo>
                      <a:lnTo>
                        <a:pt x="0" y="489"/>
                      </a:lnTo>
                      <a:lnTo>
                        <a:pt x="656" y="0"/>
                      </a:lnTo>
                      <a:lnTo>
                        <a:pt x="0" y="1142"/>
                      </a:lnTo>
                    </a:path>
                  </a:pathLst>
                </a:custGeom>
                <a:solidFill>
                  <a:srgbClr val="C000C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pSp>
          <p:sp>
            <p:nvSpPr>
              <p:cNvPr id="576526" name="Rectangle 14">
                <a:extLst>
                  <a:ext uri="{FF2B5EF4-FFF2-40B4-BE49-F238E27FC236}">
                    <a16:creationId xmlns:a16="http://schemas.microsoft.com/office/drawing/2014/main" id="{F2B4F98D-BEF9-76D1-D909-FFC47402A961}"/>
                  </a:ext>
                </a:extLst>
              </p:cNvPr>
              <p:cNvSpPr>
                <a:spLocks noChangeArrowheads="1"/>
              </p:cNvSpPr>
              <p:nvPr/>
            </p:nvSpPr>
            <p:spPr bwMode="auto">
              <a:xfrm>
                <a:off x="649" y="2980"/>
                <a:ext cx="1165" cy="342"/>
              </a:xfrm>
              <a:prstGeom prst="rect">
                <a:avLst/>
              </a:prstGeom>
              <a:noFill/>
              <a:ln>
                <a:noFill/>
              </a:ln>
              <a:effectLst/>
            </p:spPr>
            <p:txBody>
              <a:bodyPr lIns="90475" tIns="44444" rIns="90475" bIns="44444">
                <a:spAutoFit/>
              </a:bodyPr>
              <a:lstStyle/>
              <a:p>
                <a:pPr algn="ctr" defTabSz="969264" eaLnBrk="0" fontAlgn="base" hangingPunct="0">
                  <a:spcBef>
                    <a:spcPct val="20000"/>
                  </a:spcBef>
                  <a:spcAft>
                    <a:spcPct val="0"/>
                  </a:spcAft>
                  <a:defRPr/>
                </a:pPr>
                <a:r>
                  <a:rPr lang="en-US" altLang="en-US" sz="3392" b="1" kern="1200">
                    <a:solidFill>
                      <a:srgbClr val="292929"/>
                    </a:solidFill>
                    <a:effectLst>
                      <a:outerShdw blurRad="38100" dist="38100" dir="2700000" algn="tl">
                        <a:srgbClr val="C0C0C0"/>
                      </a:outerShdw>
                    </a:effectLst>
                    <a:latin typeface="Arial" panose="020B0604020202020204" pitchFamily="34" charset="0"/>
                    <a:ea typeface="+mn-ea"/>
                    <a:cs typeface="+mn-cs"/>
                  </a:rPr>
                  <a:t>Seasonal</a:t>
                </a:r>
                <a:endParaRPr lang="en-US" altLang="en-US" sz="3200" b="1">
                  <a:solidFill>
                    <a:srgbClr val="292929"/>
                  </a:solidFill>
                  <a:effectLst>
                    <a:outerShdw blurRad="38100" dist="38100" dir="2700000" algn="tl">
                      <a:srgbClr val="C0C0C0"/>
                    </a:outerShdw>
                  </a:effectLst>
                  <a:latin typeface="Arial" panose="020B0604020202020204" pitchFamily="34" charset="0"/>
                </a:endParaRPr>
              </a:p>
            </p:txBody>
          </p:sp>
        </p:grpSp>
        <p:grpSp>
          <p:nvGrpSpPr>
            <p:cNvPr id="38918" name="Group 15">
              <a:extLst>
                <a:ext uri="{FF2B5EF4-FFF2-40B4-BE49-F238E27FC236}">
                  <a16:creationId xmlns:a16="http://schemas.microsoft.com/office/drawing/2014/main" id="{3DA68201-C603-1591-FCB6-444FED886C51}"/>
                </a:ext>
              </a:extLst>
            </p:cNvPr>
            <p:cNvGrpSpPr>
              <a:grpSpLocks/>
            </p:cNvGrpSpPr>
            <p:nvPr/>
          </p:nvGrpSpPr>
          <p:grpSpPr bwMode="auto">
            <a:xfrm>
              <a:off x="2593" y="1343"/>
              <a:ext cx="2067" cy="1068"/>
              <a:chOff x="2589" y="1325"/>
              <a:chExt cx="2067" cy="1068"/>
            </a:xfrm>
          </p:grpSpPr>
          <p:grpSp>
            <p:nvGrpSpPr>
              <p:cNvPr id="38924" name="Group 16">
                <a:extLst>
                  <a:ext uri="{FF2B5EF4-FFF2-40B4-BE49-F238E27FC236}">
                    <a16:creationId xmlns:a16="http://schemas.microsoft.com/office/drawing/2014/main" id="{E6EF5EE7-8700-F6D6-3EF8-EE6F9A4F2C17}"/>
                  </a:ext>
                </a:extLst>
              </p:cNvPr>
              <p:cNvGrpSpPr>
                <a:grpSpLocks/>
              </p:cNvGrpSpPr>
              <p:nvPr/>
            </p:nvGrpSpPr>
            <p:grpSpPr bwMode="auto">
              <a:xfrm>
                <a:off x="2589" y="1325"/>
                <a:ext cx="2067" cy="1068"/>
                <a:chOff x="2876" y="1421"/>
                <a:chExt cx="2295" cy="1145"/>
              </a:xfrm>
            </p:grpSpPr>
            <p:sp>
              <p:nvSpPr>
                <p:cNvPr id="38926" name="Rectangle 17">
                  <a:extLst>
                    <a:ext uri="{FF2B5EF4-FFF2-40B4-BE49-F238E27FC236}">
                      <a16:creationId xmlns:a16="http://schemas.microsoft.com/office/drawing/2014/main" id="{7918E98C-0F8E-4C44-32F9-BAC369F51A87}"/>
                    </a:ext>
                  </a:extLst>
                </p:cNvPr>
                <p:cNvSpPr>
                  <a:spLocks noChangeArrowheads="1"/>
                </p:cNvSpPr>
                <p:nvPr/>
              </p:nvSpPr>
              <p:spPr bwMode="auto">
                <a:xfrm>
                  <a:off x="3532" y="1422"/>
                  <a:ext cx="1627" cy="641"/>
                </a:xfrm>
                <a:prstGeom prst="rect">
                  <a:avLst/>
                </a:prstGeom>
                <a:solidFill>
                  <a:srgbClr val="FF80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38927" name="Freeform 18">
                  <a:extLst>
                    <a:ext uri="{FF2B5EF4-FFF2-40B4-BE49-F238E27FC236}">
                      <a16:creationId xmlns:a16="http://schemas.microsoft.com/office/drawing/2014/main" id="{C25977F6-977F-61C5-CDC2-083CEBED6B2A}"/>
                    </a:ext>
                  </a:extLst>
                </p:cNvPr>
                <p:cNvSpPr>
                  <a:spLocks/>
                </p:cNvSpPr>
                <p:nvPr/>
              </p:nvSpPr>
              <p:spPr bwMode="auto">
                <a:xfrm>
                  <a:off x="2876" y="1421"/>
                  <a:ext cx="656" cy="1145"/>
                </a:xfrm>
                <a:custGeom>
                  <a:avLst/>
                  <a:gdLst>
                    <a:gd name="T0" fmla="*/ 655 w 656"/>
                    <a:gd name="T1" fmla="*/ 0 h 1145"/>
                    <a:gd name="T2" fmla="*/ 0 w 656"/>
                    <a:gd name="T3" fmla="*/ 1144 h 1145"/>
                    <a:gd name="T4" fmla="*/ 655 w 656"/>
                    <a:gd name="T5" fmla="*/ 653 h 1145"/>
                    <a:gd name="T6" fmla="*/ 655 w 656"/>
                    <a:gd name="T7" fmla="*/ 0 h 1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6" h="1145">
                      <a:moveTo>
                        <a:pt x="655" y="0"/>
                      </a:moveTo>
                      <a:lnTo>
                        <a:pt x="0" y="1144"/>
                      </a:lnTo>
                      <a:lnTo>
                        <a:pt x="655" y="653"/>
                      </a:lnTo>
                      <a:lnTo>
                        <a:pt x="655" y="0"/>
                      </a:lnTo>
                    </a:path>
                  </a:pathLst>
                </a:custGeom>
                <a:solidFill>
                  <a:srgbClr val="804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38928" name="Freeform 19">
                  <a:extLst>
                    <a:ext uri="{FF2B5EF4-FFF2-40B4-BE49-F238E27FC236}">
                      <a16:creationId xmlns:a16="http://schemas.microsoft.com/office/drawing/2014/main" id="{92189EAF-34E9-94CA-C94B-516CD6A4EE53}"/>
                    </a:ext>
                  </a:extLst>
                </p:cNvPr>
                <p:cNvSpPr>
                  <a:spLocks/>
                </p:cNvSpPr>
                <p:nvPr/>
              </p:nvSpPr>
              <p:spPr bwMode="auto">
                <a:xfrm>
                  <a:off x="2876" y="2074"/>
                  <a:ext cx="2295" cy="492"/>
                </a:xfrm>
                <a:custGeom>
                  <a:avLst/>
                  <a:gdLst>
                    <a:gd name="T0" fmla="*/ 2294 w 2295"/>
                    <a:gd name="T1" fmla="*/ 0 h 492"/>
                    <a:gd name="T2" fmla="*/ 655 w 2295"/>
                    <a:gd name="T3" fmla="*/ 0 h 492"/>
                    <a:gd name="T4" fmla="*/ 0 w 2295"/>
                    <a:gd name="T5" fmla="*/ 491 h 492"/>
                    <a:gd name="T6" fmla="*/ 2294 w 2295"/>
                    <a:gd name="T7" fmla="*/ 0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95" h="492">
                      <a:moveTo>
                        <a:pt x="2294" y="0"/>
                      </a:moveTo>
                      <a:lnTo>
                        <a:pt x="655" y="0"/>
                      </a:lnTo>
                      <a:lnTo>
                        <a:pt x="0" y="491"/>
                      </a:lnTo>
                      <a:lnTo>
                        <a:pt x="2294" y="0"/>
                      </a:lnTo>
                    </a:path>
                  </a:pathLst>
                </a:custGeom>
                <a:solidFill>
                  <a:srgbClr val="402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pSp>
          <p:sp>
            <p:nvSpPr>
              <p:cNvPr id="576532" name="Rectangle 20">
                <a:extLst>
                  <a:ext uri="{FF2B5EF4-FFF2-40B4-BE49-F238E27FC236}">
                    <a16:creationId xmlns:a16="http://schemas.microsoft.com/office/drawing/2014/main" id="{B9A57569-E256-4488-82B3-12D3B9430517}"/>
                  </a:ext>
                </a:extLst>
              </p:cNvPr>
              <p:cNvSpPr>
                <a:spLocks noChangeArrowheads="1"/>
              </p:cNvSpPr>
              <p:nvPr/>
            </p:nvSpPr>
            <p:spPr bwMode="auto">
              <a:xfrm>
                <a:off x="3414" y="1455"/>
                <a:ext cx="1035" cy="342"/>
              </a:xfrm>
              <a:prstGeom prst="rect">
                <a:avLst/>
              </a:prstGeom>
              <a:noFill/>
              <a:ln>
                <a:noFill/>
              </a:ln>
              <a:effectLst/>
            </p:spPr>
            <p:txBody>
              <a:bodyPr lIns="90475" tIns="44444" rIns="90475" bIns="44444">
                <a:spAutoFit/>
              </a:bodyPr>
              <a:lstStyle/>
              <a:p>
                <a:pPr algn="ctr" defTabSz="969264" eaLnBrk="0" fontAlgn="base" hangingPunct="0">
                  <a:spcBef>
                    <a:spcPct val="20000"/>
                  </a:spcBef>
                  <a:spcAft>
                    <a:spcPct val="0"/>
                  </a:spcAft>
                  <a:defRPr/>
                </a:pPr>
                <a:r>
                  <a:rPr lang="en-US" altLang="en-US" sz="3392" b="1" kern="1200">
                    <a:solidFill>
                      <a:srgbClr val="292929"/>
                    </a:solidFill>
                    <a:effectLst>
                      <a:outerShdw blurRad="38100" dist="38100" dir="2700000" algn="tl">
                        <a:srgbClr val="C0C0C0"/>
                      </a:outerShdw>
                    </a:effectLst>
                    <a:latin typeface="Arial" panose="020B0604020202020204" pitchFamily="34" charset="0"/>
                    <a:ea typeface="+mn-ea"/>
                    <a:cs typeface="+mn-cs"/>
                  </a:rPr>
                  <a:t>Trend</a:t>
                </a:r>
                <a:endParaRPr lang="en-US" altLang="en-US" sz="3200" b="1">
                  <a:solidFill>
                    <a:srgbClr val="292929"/>
                  </a:solidFill>
                  <a:effectLst>
                    <a:outerShdw blurRad="38100" dist="38100" dir="2700000" algn="tl">
                      <a:srgbClr val="C0C0C0"/>
                    </a:outerShdw>
                  </a:effectLst>
                  <a:latin typeface="Arial" panose="020B0604020202020204" pitchFamily="34" charset="0"/>
                </a:endParaRPr>
              </a:p>
            </p:txBody>
          </p:sp>
        </p:grpSp>
        <p:grpSp>
          <p:nvGrpSpPr>
            <p:cNvPr id="38919" name="Group 21">
              <a:extLst>
                <a:ext uri="{FF2B5EF4-FFF2-40B4-BE49-F238E27FC236}">
                  <a16:creationId xmlns:a16="http://schemas.microsoft.com/office/drawing/2014/main" id="{E3B7F2E3-8F97-E7ED-6EC4-5F8FD34466F7}"/>
                </a:ext>
              </a:extLst>
            </p:cNvPr>
            <p:cNvGrpSpPr>
              <a:grpSpLocks/>
            </p:cNvGrpSpPr>
            <p:nvPr/>
          </p:nvGrpSpPr>
          <p:grpSpPr bwMode="auto">
            <a:xfrm>
              <a:off x="2588" y="2394"/>
              <a:ext cx="2066" cy="1067"/>
              <a:chOff x="2588" y="2394"/>
              <a:chExt cx="2066" cy="1067"/>
            </a:xfrm>
          </p:grpSpPr>
          <p:sp>
            <p:nvSpPr>
              <p:cNvPr id="38920" name="Rectangle 22">
                <a:extLst>
                  <a:ext uri="{FF2B5EF4-FFF2-40B4-BE49-F238E27FC236}">
                    <a16:creationId xmlns:a16="http://schemas.microsoft.com/office/drawing/2014/main" id="{4A8F00BA-1F3A-502D-89B9-3907DD7BCB88}"/>
                  </a:ext>
                </a:extLst>
              </p:cNvPr>
              <p:cNvSpPr>
                <a:spLocks noChangeArrowheads="1"/>
              </p:cNvSpPr>
              <p:nvPr/>
            </p:nvSpPr>
            <p:spPr bwMode="auto">
              <a:xfrm>
                <a:off x="3179" y="2851"/>
                <a:ext cx="1464" cy="599"/>
              </a:xfrm>
              <a:prstGeom prst="rect">
                <a:avLst/>
              </a:prstGeom>
              <a:solidFill>
                <a:srgbClr val="51DC0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38921" name="Freeform 23">
                <a:extLst>
                  <a:ext uri="{FF2B5EF4-FFF2-40B4-BE49-F238E27FC236}">
                    <a16:creationId xmlns:a16="http://schemas.microsoft.com/office/drawing/2014/main" id="{0A8090C9-66F7-3B92-E34B-BF57EEC5C2C1}"/>
                  </a:ext>
                </a:extLst>
              </p:cNvPr>
              <p:cNvSpPr>
                <a:spLocks/>
              </p:cNvSpPr>
              <p:nvPr/>
            </p:nvSpPr>
            <p:spPr bwMode="auto">
              <a:xfrm>
                <a:off x="2588" y="2394"/>
                <a:ext cx="2066" cy="457"/>
              </a:xfrm>
              <a:custGeom>
                <a:avLst/>
                <a:gdLst>
                  <a:gd name="T0" fmla="*/ 1357 w 2295"/>
                  <a:gd name="T1" fmla="*/ 344 h 490"/>
                  <a:gd name="T2" fmla="*/ 0 w 2295"/>
                  <a:gd name="T3" fmla="*/ 0 h 490"/>
                  <a:gd name="T4" fmla="*/ 387 w 2295"/>
                  <a:gd name="T5" fmla="*/ 344 h 490"/>
                  <a:gd name="T6" fmla="*/ 1357 w 2295"/>
                  <a:gd name="T7" fmla="*/ 344 h 4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95" h="490">
                    <a:moveTo>
                      <a:pt x="2294" y="489"/>
                    </a:moveTo>
                    <a:lnTo>
                      <a:pt x="0" y="0"/>
                    </a:lnTo>
                    <a:lnTo>
                      <a:pt x="655" y="489"/>
                    </a:lnTo>
                    <a:lnTo>
                      <a:pt x="2294" y="489"/>
                    </a:lnTo>
                  </a:path>
                </a:pathLst>
              </a:custGeom>
              <a:solidFill>
                <a:srgbClr val="006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38922" name="Freeform 24">
                <a:extLst>
                  <a:ext uri="{FF2B5EF4-FFF2-40B4-BE49-F238E27FC236}">
                    <a16:creationId xmlns:a16="http://schemas.microsoft.com/office/drawing/2014/main" id="{1B4666FF-88AF-3BFE-13B4-F941DA044D56}"/>
                  </a:ext>
                </a:extLst>
              </p:cNvPr>
              <p:cNvSpPr>
                <a:spLocks/>
              </p:cNvSpPr>
              <p:nvPr/>
            </p:nvSpPr>
            <p:spPr bwMode="auto">
              <a:xfrm>
                <a:off x="2588" y="2394"/>
                <a:ext cx="591" cy="1067"/>
              </a:xfrm>
              <a:custGeom>
                <a:avLst/>
                <a:gdLst>
                  <a:gd name="T0" fmla="*/ 389 w 656"/>
                  <a:gd name="T1" fmla="*/ 809 h 1143"/>
                  <a:gd name="T2" fmla="*/ 389 w 656"/>
                  <a:gd name="T3" fmla="*/ 347 h 1143"/>
                  <a:gd name="T4" fmla="*/ 0 w 656"/>
                  <a:gd name="T5" fmla="*/ 0 h 1143"/>
                  <a:gd name="T6" fmla="*/ 389 w 656"/>
                  <a:gd name="T7" fmla="*/ 809 h 1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6" h="1143">
                    <a:moveTo>
                      <a:pt x="655" y="1142"/>
                    </a:moveTo>
                    <a:lnTo>
                      <a:pt x="655" y="489"/>
                    </a:lnTo>
                    <a:lnTo>
                      <a:pt x="0" y="0"/>
                    </a:lnTo>
                    <a:lnTo>
                      <a:pt x="655" y="1142"/>
                    </a:lnTo>
                  </a:path>
                </a:pathLst>
              </a:custGeom>
              <a:solidFill>
                <a:srgbClr val="00A000"/>
              </a:solidFill>
              <a:ln w="254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6537" name="Rectangle 25">
                <a:extLst>
                  <a:ext uri="{FF2B5EF4-FFF2-40B4-BE49-F238E27FC236}">
                    <a16:creationId xmlns:a16="http://schemas.microsoft.com/office/drawing/2014/main" id="{2A27CEF7-D5ED-6C8B-3067-84BB00E0E1C8}"/>
                  </a:ext>
                </a:extLst>
              </p:cNvPr>
              <p:cNvSpPr>
                <a:spLocks noChangeArrowheads="1"/>
              </p:cNvSpPr>
              <p:nvPr/>
            </p:nvSpPr>
            <p:spPr bwMode="auto">
              <a:xfrm>
                <a:off x="3371" y="2980"/>
                <a:ext cx="1121" cy="288"/>
              </a:xfrm>
              <a:prstGeom prst="rect">
                <a:avLst/>
              </a:prstGeom>
              <a:noFill/>
              <a:ln>
                <a:noFill/>
              </a:ln>
              <a:effectLst/>
            </p:spPr>
            <p:txBody>
              <a:bodyPr lIns="90475" tIns="44444" rIns="90475" bIns="44444">
                <a:spAutoFit/>
              </a:bodyPr>
              <a:lstStyle/>
              <a:p>
                <a:pPr algn="ctr" defTabSz="969264" eaLnBrk="0" fontAlgn="base" hangingPunct="0">
                  <a:spcBef>
                    <a:spcPct val="20000"/>
                  </a:spcBef>
                  <a:spcAft>
                    <a:spcPct val="0"/>
                  </a:spcAft>
                  <a:defRPr/>
                </a:pPr>
                <a:r>
                  <a:rPr lang="en-US" altLang="en-US" sz="2756" b="1" kern="1200">
                    <a:solidFill>
                      <a:srgbClr val="292929"/>
                    </a:solidFill>
                    <a:effectLst>
                      <a:outerShdw blurRad="38100" dist="38100" dir="2700000" algn="tl">
                        <a:srgbClr val="C0C0C0"/>
                      </a:outerShdw>
                    </a:effectLst>
                    <a:latin typeface="Arial" panose="020B0604020202020204" pitchFamily="34" charset="0"/>
                    <a:ea typeface="+mn-ea"/>
                    <a:cs typeface="+mn-cs"/>
                  </a:rPr>
                  <a:t>Composite</a:t>
                </a:r>
                <a:endParaRPr lang="en-US" altLang="en-US" sz="2600" b="1">
                  <a:solidFill>
                    <a:srgbClr val="292929"/>
                  </a:solidFill>
                  <a:effectLst>
                    <a:outerShdw blurRad="38100" dist="38100" dir="2700000" algn="tl">
                      <a:srgbClr val="C0C0C0"/>
                    </a:outerShdw>
                  </a:effectLst>
                  <a:latin typeface="Arial" panose="020B0604020202020204" pitchFamily="34" charset="0"/>
                </a:endParaRPr>
              </a:p>
            </p:txBody>
          </p:sp>
        </p:grpSp>
      </p:gr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AF7359-1E55-220C-FF03-EA6CE0608FA3}"/>
              </a:ext>
            </a:extLst>
          </p:cNvPr>
          <p:cNvSpPr>
            <a:spLocks noGrp="1" noChangeArrowheads="1"/>
          </p:cNvSpPr>
          <p:nvPr>
            <p:ph type="title"/>
          </p:nvPr>
        </p:nvSpPr>
        <p:spPr>
          <a:xfrm>
            <a:off x="2173288" y="0"/>
            <a:ext cx="8128000" cy="1143000"/>
          </a:xfrm>
        </p:spPr>
        <p:txBody>
          <a:bodyPr/>
          <a:lstStyle/>
          <a:p>
            <a:pPr eaLnBrk="1" hangingPunct="1">
              <a:lnSpc>
                <a:spcPct val="80000"/>
              </a:lnSpc>
            </a:pPr>
            <a:r>
              <a:rPr lang="en-US" altLang="en-US"/>
              <a:t>Product Demand over Time</a:t>
            </a:r>
          </a:p>
        </p:txBody>
      </p:sp>
      <p:sp>
        <p:nvSpPr>
          <p:cNvPr id="40963" name="Freeform 3">
            <a:extLst>
              <a:ext uri="{FF2B5EF4-FFF2-40B4-BE49-F238E27FC236}">
                <a16:creationId xmlns:a16="http://schemas.microsoft.com/office/drawing/2014/main" id="{3297509A-B169-3890-4EA1-BB03E72BA42F}"/>
              </a:ext>
            </a:extLst>
          </p:cNvPr>
          <p:cNvSpPr>
            <a:spLocks/>
          </p:cNvSpPr>
          <p:nvPr/>
        </p:nvSpPr>
        <p:spPr bwMode="auto">
          <a:xfrm>
            <a:off x="3219450" y="2236788"/>
            <a:ext cx="5981700" cy="3111500"/>
          </a:xfrm>
          <a:custGeom>
            <a:avLst/>
            <a:gdLst>
              <a:gd name="T0" fmla="*/ 0 w 3391"/>
              <a:gd name="T1" fmla="*/ 2147483646 h 1829"/>
              <a:gd name="T2" fmla="*/ 2147483646 w 3391"/>
              <a:gd name="T3" fmla="*/ 2147483646 h 1829"/>
              <a:gd name="T4" fmla="*/ 2147483646 w 3391"/>
              <a:gd name="T5" fmla="*/ 2147483646 h 1829"/>
              <a:gd name="T6" fmla="*/ 2147483646 w 3391"/>
              <a:gd name="T7" fmla="*/ 2147483646 h 1829"/>
              <a:gd name="T8" fmla="*/ 2147483646 w 3391"/>
              <a:gd name="T9" fmla="*/ 2147483646 h 1829"/>
              <a:gd name="T10" fmla="*/ 2147483646 w 3391"/>
              <a:gd name="T11" fmla="*/ 2147483646 h 1829"/>
              <a:gd name="T12" fmla="*/ 2147483646 w 3391"/>
              <a:gd name="T13" fmla="*/ 2147483646 h 1829"/>
              <a:gd name="T14" fmla="*/ 2147483646 w 3391"/>
              <a:gd name="T15" fmla="*/ 2147483646 h 1829"/>
              <a:gd name="T16" fmla="*/ 2147483646 w 3391"/>
              <a:gd name="T17" fmla="*/ 2147483646 h 1829"/>
              <a:gd name="T18" fmla="*/ 2147483646 w 3391"/>
              <a:gd name="T19" fmla="*/ 2147483646 h 1829"/>
              <a:gd name="T20" fmla="*/ 2147483646 w 3391"/>
              <a:gd name="T21" fmla="*/ 2147483646 h 1829"/>
              <a:gd name="T22" fmla="*/ 2147483646 w 3391"/>
              <a:gd name="T23" fmla="*/ 2147483646 h 1829"/>
              <a:gd name="T24" fmla="*/ 2147483646 w 3391"/>
              <a:gd name="T25" fmla="*/ 2147483646 h 1829"/>
              <a:gd name="T26" fmla="*/ 2147483646 w 3391"/>
              <a:gd name="T27" fmla="*/ 2147483646 h 1829"/>
              <a:gd name="T28" fmla="*/ 2147483646 w 3391"/>
              <a:gd name="T29" fmla="*/ 2147483646 h 1829"/>
              <a:gd name="T30" fmla="*/ 2147483646 w 3391"/>
              <a:gd name="T31" fmla="*/ 2147483646 h 1829"/>
              <a:gd name="T32" fmla="*/ 2147483646 w 3391"/>
              <a:gd name="T33" fmla="*/ 2147483646 h 1829"/>
              <a:gd name="T34" fmla="*/ 2147483646 w 3391"/>
              <a:gd name="T35" fmla="*/ 2147483646 h 1829"/>
              <a:gd name="T36" fmla="*/ 2147483646 w 3391"/>
              <a:gd name="T37" fmla="*/ 2147483646 h 1829"/>
              <a:gd name="T38" fmla="*/ 2147483646 w 3391"/>
              <a:gd name="T39" fmla="*/ 2147483646 h 1829"/>
              <a:gd name="T40" fmla="*/ 2147483646 w 3391"/>
              <a:gd name="T41" fmla="*/ 2147483646 h 1829"/>
              <a:gd name="T42" fmla="*/ 2147483646 w 3391"/>
              <a:gd name="T43" fmla="*/ 2147483646 h 1829"/>
              <a:gd name="T44" fmla="*/ 2147483646 w 3391"/>
              <a:gd name="T45" fmla="*/ 2147483646 h 1829"/>
              <a:gd name="T46" fmla="*/ 2147483646 w 3391"/>
              <a:gd name="T47" fmla="*/ 2147483646 h 1829"/>
              <a:gd name="T48" fmla="*/ 2147483646 w 3391"/>
              <a:gd name="T49" fmla="*/ 2147483646 h 1829"/>
              <a:gd name="T50" fmla="*/ 2147483646 w 3391"/>
              <a:gd name="T51" fmla="*/ 2147483646 h 1829"/>
              <a:gd name="T52" fmla="*/ 2147483646 w 3391"/>
              <a:gd name="T53" fmla="*/ 2147483646 h 1829"/>
              <a:gd name="T54" fmla="*/ 2147483646 w 3391"/>
              <a:gd name="T55" fmla="*/ 2147483646 h 1829"/>
              <a:gd name="T56" fmla="*/ 2147483646 w 3391"/>
              <a:gd name="T57" fmla="*/ 2147483646 h 1829"/>
              <a:gd name="T58" fmla="*/ 2147483646 w 3391"/>
              <a:gd name="T59" fmla="*/ 2147483646 h 1829"/>
              <a:gd name="T60" fmla="*/ 2147483646 w 3391"/>
              <a:gd name="T61" fmla="*/ 2147483646 h 1829"/>
              <a:gd name="T62" fmla="*/ 2147483646 w 3391"/>
              <a:gd name="T63" fmla="*/ 2147483646 h 1829"/>
              <a:gd name="T64" fmla="*/ 2147483646 w 3391"/>
              <a:gd name="T65" fmla="*/ 0 h 182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391" h="1829">
                <a:moveTo>
                  <a:pt x="0" y="1800"/>
                </a:moveTo>
                <a:cubicBezTo>
                  <a:pt x="18" y="1750"/>
                  <a:pt x="75" y="1625"/>
                  <a:pt x="116" y="1497"/>
                </a:cubicBezTo>
                <a:cubicBezTo>
                  <a:pt x="157" y="1369"/>
                  <a:pt x="203" y="1099"/>
                  <a:pt x="246" y="1034"/>
                </a:cubicBezTo>
                <a:cubicBezTo>
                  <a:pt x="289" y="969"/>
                  <a:pt x="346" y="1034"/>
                  <a:pt x="376" y="1106"/>
                </a:cubicBezTo>
                <a:cubicBezTo>
                  <a:pt x="406" y="1178"/>
                  <a:pt x="405" y="1366"/>
                  <a:pt x="427" y="1468"/>
                </a:cubicBezTo>
                <a:cubicBezTo>
                  <a:pt x="449" y="1570"/>
                  <a:pt x="465" y="1671"/>
                  <a:pt x="506" y="1719"/>
                </a:cubicBezTo>
                <a:cubicBezTo>
                  <a:pt x="547" y="1767"/>
                  <a:pt x="628" y="1767"/>
                  <a:pt x="671" y="1757"/>
                </a:cubicBezTo>
                <a:cubicBezTo>
                  <a:pt x="714" y="1747"/>
                  <a:pt x="743" y="1661"/>
                  <a:pt x="767" y="1661"/>
                </a:cubicBezTo>
                <a:cubicBezTo>
                  <a:pt x="791" y="1661"/>
                  <a:pt x="803" y="1732"/>
                  <a:pt x="815" y="1757"/>
                </a:cubicBezTo>
                <a:cubicBezTo>
                  <a:pt x="827" y="1782"/>
                  <a:pt x="829" y="1829"/>
                  <a:pt x="837" y="1813"/>
                </a:cubicBezTo>
                <a:cubicBezTo>
                  <a:pt x="845" y="1797"/>
                  <a:pt x="853" y="1731"/>
                  <a:pt x="863" y="1661"/>
                </a:cubicBezTo>
                <a:cubicBezTo>
                  <a:pt x="873" y="1591"/>
                  <a:pt x="883" y="1468"/>
                  <a:pt x="898" y="1394"/>
                </a:cubicBezTo>
                <a:cubicBezTo>
                  <a:pt x="913" y="1320"/>
                  <a:pt x="932" y="1268"/>
                  <a:pt x="955" y="1215"/>
                </a:cubicBezTo>
                <a:cubicBezTo>
                  <a:pt x="978" y="1162"/>
                  <a:pt x="1010" y="1107"/>
                  <a:pt x="1034" y="1077"/>
                </a:cubicBezTo>
                <a:cubicBezTo>
                  <a:pt x="1058" y="1047"/>
                  <a:pt x="1079" y="1032"/>
                  <a:pt x="1099" y="1034"/>
                </a:cubicBezTo>
                <a:cubicBezTo>
                  <a:pt x="1119" y="1036"/>
                  <a:pt x="1143" y="1071"/>
                  <a:pt x="1157" y="1092"/>
                </a:cubicBezTo>
                <a:cubicBezTo>
                  <a:pt x="1171" y="1113"/>
                  <a:pt x="1156" y="1108"/>
                  <a:pt x="1184" y="1162"/>
                </a:cubicBezTo>
                <a:cubicBezTo>
                  <a:pt x="1212" y="1216"/>
                  <a:pt x="1271" y="1348"/>
                  <a:pt x="1328" y="1416"/>
                </a:cubicBezTo>
                <a:cubicBezTo>
                  <a:pt x="1385" y="1484"/>
                  <a:pt x="1474" y="1573"/>
                  <a:pt x="1526" y="1569"/>
                </a:cubicBezTo>
                <a:cubicBezTo>
                  <a:pt x="1578" y="1565"/>
                  <a:pt x="1611" y="1509"/>
                  <a:pt x="1642" y="1394"/>
                </a:cubicBezTo>
                <a:cubicBezTo>
                  <a:pt x="1673" y="1279"/>
                  <a:pt x="1690" y="1015"/>
                  <a:pt x="1714" y="882"/>
                </a:cubicBezTo>
                <a:cubicBezTo>
                  <a:pt x="1738" y="749"/>
                  <a:pt x="1755" y="664"/>
                  <a:pt x="1786" y="593"/>
                </a:cubicBezTo>
                <a:cubicBezTo>
                  <a:pt x="1817" y="522"/>
                  <a:pt x="1855" y="414"/>
                  <a:pt x="1901" y="456"/>
                </a:cubicBezTo>
                <a:cubicBezTo>
                  <a:pt x="1947" y="498"/>
                  <a:pt x="2018" y="755"/>
                  <a:pt x="2063" y="845"/>
                </a:cubicBezTo>
                <a:cubicBezTo>
                  <a:pt x="2108" y="935"/>
                  <a:pt x="2108" y="977"/>
                  <a:pt x="2169" y="998"/>
                </a:cubicBezTo>
                <a:cubicBezTo>
                  <a:pt x="2230" y="1019"/>
                  <a:pt x="2378" y="1039"/>
                  <a:pt x="2429" y="969"/>
                </a:cubicBezTo>
                <a:cubicBezTo>
                  <a:pt x="2480" y="899"/>
                  <a:pt x="2456" y="696"/>
                  <a:pt x="2473" y="579"/>
                </a:cubicBezTo>
                <a:cubicBezTo>
                  <a:pt x="2490" y="462"/>
                  <a:pt x="2499" y="345"/>
                  <a:pt x="2530" y="268"/>
                </a:cubicBezTo>
                <a:cubicBezTo>
                  <a:pt x="2561" y="191"/>
                  <a:pt x="2596" y="70"/>
                  <a:pt x="2660" y="116"/>
                </a:cubicBezTo>
                <a:cubicBezTo>
                  <a:pt x="2724" y="162"/>
                  <a:pt x="2838" y="423"/>
                  <a:pt x="2913" y="543"/>
                </a:cubicBezTo>
                <a:cubicBezTo>
                  <a:pt x="2988" y="663"/>
                  <a:pt x="3052" y="902"/>
                  <a:pt x="3109" y="839"/>
                </a:cubicBezTo>
                <a:cubicBezTo>
                  <a:pt x="3166" y="776"/>
                  <a:pt x="3206" y="307"/>
                  <a:pt x="3253" y="167"/>
                </a:cubicBezTo>
                <a:cubicBezTo>
                  <a:pt x="3300" y="27"/>
                  <a:pt x="3362" y="35"/>
                  <a:pt x="3391" y="0"/>
                </a:cubicBezTo>
              </a:path>
            </a:pathLst>
          </a:custGeom>
          <a:noFill/>
          <a:ln w="50800" cmpd="sng">
            <a:solidFill>
              <a:srgbClr val="66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4" name="Line 4">
            <a:extLst>
              <a:ext uri="{FF2B5EF4-FFF2-40B4-BE49-F238E27FC236}">
                <a16:creationId xmlns:a16="http://schemas.microsoft.com/office/drawing/2014/main" id="{491850B6-E3BD-6045-236C-652F5800A33B}"/>
              </a:ext>
            </a:extLst>
          </p:cNvPr>
          <p:cNvSpPr>
            <a:spLocks noChangeShapeType="1"/>
          </p:cNvSpPr>
          <p:nvPr/>
        </p:nvSpPr>
        <p:spPr bwMode="auto">
          <a:xfrm>
            <a:off x="2540000" y="5715000"/>
            <a:ext cx="736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5" name="Line 5">
            <a:extLst>
              <a:ext uri="{FF2B5EF4-FFF2-40B4-BE49-F238E27FC236}">
                <a16:creationId xmlns:a16="http://schemas.microsoft.com/office/drawing/2014/main" id="{36738560-D2A6-64D4-F078-B01CD6B12CAF}"/>
              </a:ext>
            </a:extLst>
          </p:cNvPr>
          <p:cNvSpPr>
            <a:spLocks noChangeShapeType="1"/>
          </p:cNvSpPr>
          <p:nvPr/>
        </p:nvSpPr>
        <p:spPr bwMode="auto">
          <a:xfrm flipV="1">
            <a:off x="2878138" y="1958975"/>
            <a:ext cx="0" cy="40830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6" name="Line 6">
            <a:extLst>
              <a:ext uri="{FF2B5EF4-FFF2-40B4-BE49-F238E27FC236}">
                <a16:creationId xmlns:a16="http://schemas.microsoft.com/office/drawing/2014/main" id="{B43108A0-80BB-13C3-93F7-F91906B607F1}"/>
              </a:ext>
            </a:extLst>
          </p:cNvPr>
          <p:cNvSpPr>
            <a:spLocks noChangeShapeType="1"/>
          </p:cNvSpPr>
          <p:nvPr/>
        </p:nvSpPr>
        <p:spPr bwMode="auto">
          <a:xfrm>
            <a:off x="4318000"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7" name="Line 7">
            <a:extLst>
              <a:ext uri="{FF2B5EF4-FFF2-40B4-BE49-F238E27FC236}">
                <a16:creationId xmlns:a16="http://schemas.microsoft.com/office/drawing/2014/main" id="{0A833B8C-62B2-8EDC-B268-319BC790F62F}"/>
              </a:ext>
            </a:extLst>
          </p:cNvPr>
          <p:cNvSpPr>
            <a:spLocks noChangeShapeType="1"/>
          </p:cNvSpPr>
          <p:nvPr/>
        </p:nvSpPr>
        <p:spPr bwMode="auto">
          <a:xfrm>
            <a:off x="2868613" y="5715001"/>
            <a:ext cx="0" cy="163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8" name="Line 8">
            <a:extLst>
              <a:ext uri="{FF2B5EF4-FFF2-40B4-BE49-F238E27FC236}">
                <a16:creationId xmlns:a16="http://schemas.microsoft.com/office/drawing/2014/main" id="{EBD79084-79C3-57E9-6351-092FCE8A93E0}"/>
              </a:ext>
            </a:extLst>
          </p:cNvPr>
          <p:cNvSpPr>
            <a:spLocks noChangeShapeType="1"/>
          </p:cNvSpPr>
          <p:nvPr/>
        </p:nvSpPr>
        <p:spPr bwMode="auto">
          <a:xfrm>
            <a:off x="578961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69" name="Line 9">
            <a:extLst>
              <a:ext uri="{FF2B5EF4-FFF2-40B4-BE49-F238E27FC236}">
                <a16:creationId xmlns:a16="http://schemas.microsoft.com/office/drawing/2014/main" id="{9818C2C9-1A30-8A0F-1A31-532FEC7CA023}"/>
              </a:ext>
            </a:extLst>
          </p:cNvPr>
          <p:cNvSpPr>
            <a:spLocks noChangeShapeType="1"/>
          </p:cNvSpPr>
          <p:nvPr/>
        </p:nvSpPr>
        <p:spPr bwMode="auto">
          <a:xfrm>
            <a:off x="721836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70" name="Line 10">
            <a:extLst>
              <a:ext uri="{FF2B5EF4-FFF2-40B4-BE49-F238E27FC236}">
                <a16:creationId xmlns:a16="http://schemas.microsoft.com/office/drawing/2014/main" id="{1EC0CA51-ED9E-CBAF-B20E-A078C8167BDB}"/>
              </a:ext>
            </a:extLst>
          </p:cNvPr>
          <p:cNvSpPr>
            <a:spLocks noChangeShapeType="1"/>
          </p:cNvSpPr>
          <p:nvPr/>
        </p:nvSpPr>
        <p:spPr bwMode="auto">
          <a:xfrm>
            <a:off x="858361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0971" name="Text Box 11">
            <a:extLst>
              <a:ext uri="{FF2B5EF4-FFF2-40B4-BE49-F238E27FC236}">
                <a16:creationId xmlns:a16="http://schemas.microsoft.com/office/drawing/2014/main" id="{85D6E0F3-588A-76F9-E78D-9B9183862C20}"/>
              </a:ext>
            </a:extLst>
          </p:cNvPr>
          <p:cNvSpPr txBox="1">
            <a:spLocks noChangeArrowheads="1"/>
          </p:cNvSpPr>
          <p:nvPr/>
        </p:nvSpPr>
        <p:spPr bwMode="auto">
          <a:xfrm>
            <a:off x="3973722" y="5753101"/>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1</a:t>
            </a:r>
          </a:p>
        </p:txBody>
      </p:sp>
      <p:sp>
        <p:nvSpPr>
          <p:cNvPr id="40972" name="Text Box 12">
            <a:extLst>
              <a:ext uri="{FF2B5EF4-FFF2-40B4-BE49-F238E27FC236}">
                <a16:creationId xmlns:a16="http://schemas.microsoft.com/office/drawing/2014/main" id="{3F2152D7-8CCD-86A8-3FB1-710186BFED37}"/>
              </a:ext>
            </a:extLst>
          </p:cNvPr>
          <p:cNvSpPr txBox="1">
            <a:spLocks noChangeArrowheads="1"/>
          </p:cNvSpPr>
          <p:nvPr/>
        </p:nvSpPr>
        <p:spPr bwMode="auto">
          <a:xfrm>
            <a:off x="5445335" y="5745164"/>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2</a:t>
            </a:r>
          </a:p>
        </p:txBody>
      </p:sp>
      <p:sp>
        <p:nvSpPr>
          <p:cNvPr id="40973" name="Text Box 13">
            <a:extLst>
              <a:ext uri="{FF2B5EF4-FFF2-40B4-BE49-F238E27FC236}">
                <a16:creationId xmlns:a16="http://schemas.microsoft.com/office/drawing/2014/main" id="{FF2D1007-09F1-3DBD-DC30-78B675605E18}"/>
              </a:ext>
            </a:extLst>
          </p:cNvPr>
          <p:cNvSpPr txBox="1">
            <a:spLocks noChangeArrowheads="1"/>
          </p:cNvSpPr>
          <p:nvPr/>
        </p:nvSpPr>
        <p:spPr bwMode="auto">
          <a:xfrm>
            <a:off x="6862972" y="5745164"/>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3</a:t>
            </a:r>
          </a:p>
        </p:txBody>
      </p:sp>
      <p:sp>
        <p:nvSpPr>
          <p:cNvPr id="40974" name="Text Box 14">
            <a:extLst>
              <a:ext uri="{FF2B5EF4-FFF2-40B4-BE49-F238E27FC236}">
                <a16:creationId xmlns:a16="http://schemas.microsoft.com/office/drawing/2014/main" id="{A28E1F8C-FFDC-9BF4-B9C6-FEA2F4AF6915}"/>
              </a:ext>
            </a:extLst>
          </p:cNvPr>
          <p:cNvSpPr txBox="1">
            <a:spLocks noChangeArrowheads="1"/>
          </p:cNvSpPr>
          <p:nvPr/>
        </p:nvSpPr>
        <p:spPr bwMode="auto">
          <a:xfrm>
            <a:off x="8217902" y="5745164"/>
            <a:ext cx="647284"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4</a:t>
            </a:r>
          </a:p>
        </p:txBody>
      </p:sp>
      <p:sp>
        <p:nvSpPr>
          <p:cNvPr id="40975" name="Text Box 15">
            <a:extLst>
              <a:ext uri="{FF2B5EF4-FFF2-40B4-BE49-F238E27FC236}">
                <a16:creationId xmlns:a16="http://schemas.microsoft.com/office/drawing/2014/main" id="{C133863C-8F33-5849-691C-1F8A6CEA8EB9}"/>
              </a:ext>
            </a:extLst>
          </p:cNvPr>
          <p:cNvSpPr txBox="1">
            <a:spLocks noChangeArrowheads="1"/>
          </p:cNvSpPr>
          <p:nvPr/>
        </p:nvSpPr>
        <p:spPr bwMode="auto">
          <a:xfrm rot="16200000">
            <a:off x="809871" y="3606900"/>
            <a:ext cx="3561863" cy="439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292929"/>
                </a:solidFill>
                <a:latin typeface="Arial Narrow" panose="020B0606020202030204" pitchFamily="34" charset="0"/>
              </a:rPr>
              <a:t>Demand for product or service</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C8EB6AF-0C4F-CEF5-BB14-5C60E95C4C96}"/>
              </a:ext>
            </a:extLst>
          </p:cNvPr>
          <p:cNvSpPr>
            <a:spLocks noGrp="1" noChangeArrowheads="1"/>
          </p:cNvSpPr>
          <p:nvPr>
            <p:ph type="title"/>
          </p:nvPr>
        </p:nvSpPr>
        <p:spPr>
          <a:xfrm>
            <a:off x="2173288" y="-76200"/>
            <a:ext cx="8128000" cy="1143000"/>
          </a:xfrm>
        </p:spPr>
        <p:txBody>
          <a:bodyPr/>
          <a:lstStyle/>
          <a:p>
            <a:pPr eaLnBrk="1" hangingPunct="1">
              <a:lnSpc>
                <a:spcPct val="80000"/>
              </a:lnSpc>
            </a:pPr>
            <a:r>
              <a:rPr lang="en-US" altLang="en-US"/>
              <a:t>Product Demand over Time</a:t>
            </a:r>
          </a:p>
        </p:txBody>
      </p:sp>
      <p:sp>
        <p:nvSpPr>
          <p:cNvPr id="43011" name="Line 3">
            <a:extLst>
              <a:ext uri="{FF2B5EF4-FFF2-40B4-BE49-F238E27FC236}">
                <a16:creationId xmlns:a16="http://schemas.microsoft.com/office/drawing/2014/main" id="{63A1FBDD-76F0-068F-D8D6-CB082B080522}"/>
              </a:ext>
            </a:extLst>
          </p:cNvPr>
          <p:cNvSpPr>
            <a:spLocks noChangeShapeType="1"/>
          </p:cNvSpPr>
          <p:nvPr/>
        </p:nvSpPr>
        <p:spPr bwMode="auto">
          <a:xfrm>
            <a:off x="2540000" y="5715000"/>
            <a:ext cx="736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2" name="Line 4">
            <a:extLst>
              <a:ext uri="{FF2B5EF4-FFF2-40B4-BE49-F238E27FC236}">
                <a16:creationId xmlns:a16="http://schemas.microsoft.com/office/drawing/2014/main" id="{29C9C43F-DE00-83C3-6223-CC7192E5EE75}"/>
              </a:ext>
            </a:extLst>
          </p:cNvPr>
          <p:cNvSpPr>
            <a:spLocks noChangeShapeType="1"/>
          </p:cNvSpPr>
          <p:nvPr/>
        </p:nvSpPr>
        <p:spPr bwMode="auto">
          <a:xfrm flipV="1">
            <a:off x="2878138" y="1958975"/>
            <a:ext cx="0" cy="40830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3" name="Line 5">
            <a:extLst>
              <a:ext uri="{FF2B5EF4-FFF2-40B4-BE49-F238E27FC236}">
                <a16:creationId xmlns:a16="http://schemas.microsoft.com/office/drawing/2014/main" id="{7D143743-FFAB-5DB9-EC13-162B35BA0B7D}"/>
              </a:ext>
            </a:extLst>
          </p:cNvPr>
          <p:cNvSpPr>
            <a:spLocks noChangeShapeType="1"/>
          </p:cNvSpPr>
          <p:nvPr/>
        </p:nvSpPr>
        <p:spPr bwMode="auto">
          <a:xfrm>
            <a:off x="4318000"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4" name="Line 6">
            <a:extLst>
              <a:ext uri="{FF2B5EF4-FFF2-40B4-BE49-F238E27FC236}">
                <a16:creationId xmlns:a16="http://schemas.microsoft.com/office/drawing/2014/main" id="{48534C2A-9BEC-4EA8-110F-04670A5D9755}"/>
              </a:ext>
            </a:extLst>
          </p:cNvPr>
          <p:cNvSpPr>
            <a:spLocks noChangeShapeType="1"/>
          </p:cNvSpPr>
          <p:nvPr/>
        </p:nvSpPr>
        <p:spPr bwMode="auto">
          <a:xfrm>
            <a:off x="2868613" y="5715001"/>
            <a:ext cx="0" cy="163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5" name="Line 7">
            <a:extLst>
              <a:ext uri="{FF2B5EF4-FFF2-40B4-BE49-F238E27FC236}">
                <a16:creationId xmlns:a16="http://schemas.microsoft.com/office/drawing/2014/main" id="{8EAC028B-5CD3-8FAE-F883-7EF1C725FFAF}"/>
              </a:ext>
            </a:extLst>
          </p:cNvPr>
          <p:cNvSpPr>
            <a:spLocks noChangeShapeType="1"/>
          </p:cNvSpPr>
          <p:nvPr/>
        </p:nvSpPr>
        <p:spPr bwMode="auto">
          <a:xfrm>
            <a:off x="578961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6" name="Line 8">
            <a:extLst>
              <a:ext uri="{FF2B5EF4-FFF2-40B4-BE49-F238E27FC236}">
                <a16:creationId xmlns:a16="http://schemas.microsoft.com/office/drawing/2014/main" id="{EFB9DE5E-CA4C-34D9-F2F4-25DDF8196E90}"/>
              </a:ext>
            </a:extLst>
          </p:cNvPr>
          <p:cNvSpPr>
            <a:spLocks noChangeShapeType="1"/>
          </p:cNvSpPr>
          <p:nvPr/>
        </p:nvSpPr>
        <p:spPr bwMode="auto">
          <a:xfrm>
            <a:off x="721836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7" name="Line 9">
            <a:extLst>
              <a:ext uri="{FF2B5EF4-FFF2-40B4-BE49-F238E27FC236}">
                <a16:creationId xmlns:a16="http://schemas.microsoft.com/office/drawing/2014/main" id="{3AAA1911-DFEA-C426-428C-F7A668A07D8E}"/>
              </a:ext>
            </a:extLst>
          </p:cNvPr>
          <p:cNvSpPr>
            <a:spLocks noChangeShapeType="1"/>
          </p:cNvSpPr>
          <p:nvPr/>
        </p:nvSpPr>
        <p:spPr bwMode="auto">
          <a:xfrm>
            <a:off x="8583613" y="555148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18" name="Text Box 10">
            <a:extLst>
              <a:ext uri="{FF2B5EF4-FFF2-40B4-BE49-F238E27FC236}">
                <a16:creationId xmlns:a16="http://schemas.microsoft.com/office/drawing/2014/main" id="{E4D65778-6DE5-F1CC-B1A7-2EFAF131FAC2}"/>
              </a:ext>
            </a:extLst>
          </p:cNvPr>
          <p:cNvSpPr txBox="1">
            <a:spLocks noChangeArrowheads="1"/>
          </p:cNvSpPr>
          <p:nvPr/>
        </p:nvSpPr>
        <p:spPr bwMode="auto">
          <a:xfrm>
            <a:off x="3973722" y="5753101"/>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1</a:t>
            </a:r>
          </a:p>
        </p:txBody>
      </p:sp>
      <p:sp>
        <p:nvSpPr>
          <p:cNvPr id="43019" name="Text Box 11">
            <a:extLst>
              <a:ext uri="{FF2B5EF4-FFF2-40B4-BE49-F238E27FC236}">
                <a16:creationId xmlns:a16="http://schemas.microsoft.com/office/drawing/2014/main" id="{A099D928-A9B4-964A-9034-39AAABBD6605}"/>
              </a:ext>
            </a:extLst>
          </p:cNvPr>
          <p:cNvSpPr txBox="1">
            <a:spLocks noChangeArrowheads="1"/>
          </p:cNvSpPr>
          <p:nvPr/>
        </p:nvSpPr>
        <p:spPr bwMode="auto">
          <a:xfrm>
            <a:off x="5445335" y="5745164"/>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2</a:t>
            </a:r>
          </a:p>
        </p:txBody>
      </p:sp>
      <p:sp>
        <p:nvSpPr>
          <p:cNvPr id="43020" name="Text Box 12">
            <a:extLst>
              <a:ext uri="{FF2B5EF4-FFF2-40B4-BE49-F238E27FC236}">
                <a16:creationId xmlns:a16="http://schemas.microsoft.com/office/drawing/2014/main" id="{1FE44740-78A6-8B4E-A0F6-591A41AFDCE2}"/>
              </a:ext>
            </a:extLst>
          </p:cNvPr>
          <p:cNvSpPr txBox="1">
            <a:spLocks noChangeArrowheads="1"/>
          </p:cNvSpPr>
          <p:nvPr/>
        </p:nvSpPr>
        <p:spPr bwMode="auto">
          <a:xfrm>
            <a:off x="6862972" y="5745164"/>
            <a:ext cx="647283"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3</a:t>
            </a:r>
          </a:p>
        </p:txBody>
      </p:sp>
      <p:sp>
        <p:nvSpPr>
          <p:cNvPr id="43021" name="Text Box 13">
            <a:extLst>
              <a:ext uri="{FF2B5EF4-FFF2-40B4-BE49-F238E27FC236}">
                <a16:creationId xmlns:a16="http://schemas.microsoft.com/office/drawing/2014/main" id="{BB73A0E6-A72E-BE9E-150F-4B896CBAE0C5}"/>
              </a:ext>
            </a:extLst>
          </p:cNvPr>
          <p:cNvSpPr txBox="1">
            <a:spLocks noChangeArrowheads="1"/>
          </p:cNvSpPr>
          <p:nvPr/>
        </p:nvSpPr>
        <p:spPr bwMode="auto">
          <a:xfrm>
            <a:off x="8217902" y="5745164"/>
            <a:ext cx="647284" cy="5346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Year</a:t>
            </a:r>
          </a:p>
          <a:p>
            <a:pPr algn="ctr" eaLnBrk="0" fontAlgn="base" hangingPunct="0">
              <a:lnSpc>
                <a:spcPct val="70000"/>
              </a:lnSpc>
              <a:spcBef>
                <a:spcPct val="0"/>
              </a:spcBef>
              <a:spcAft>
                <a:spcPct val="0"/>
              </a:spcAft>
              <a:buClrTx/>
              <a:buNone/>
            </a:pPr>
            <a:r>
              <a:rPr lang="en-US" altLang="en-US" sz="2000" b="1">
                <a:solidFill>
                  <a:srgbClr val="292929"/>
                </a:solidFill>
                <a:latin typeface="Arial Narrow" panose="020B0606020202030204" pitchFamily="34" charset="0"/>
              </a:rPr>
              <a:t>4</a:t>
            </a:r>
          </a:p>
        </p:txBody>
      </p:sp>
      <p:sp>
        <p:nvSpPr>
          <p:cNvPr id="43022" name="Text Box 14">
            <a:extLst>
              <a:ext uri="{FF2B5EF4-FFF2-40B4-BE49-F238E27FC236}">
                <a16:creationId xmlns:a16="http://schemas.microsoft.com/office/drawing/2014/main" id="{5770F105-440E-7BC5-7710-44068F9313F6}"/>
              </a:ext>
            </a:extLst>
          </p:cNvPr>
          <p:cNvSpPr txBox="1">
            <a:spLocks noChangeArrowheads="1"/>
          </p:cNvSpPr>
          <p:nvPr/>
        </p:nvSpPr>
        <p:spPr bwMode="auto">
          <a:xfrm rot="16200000">
            <a:off x="809871" y="3606900"/>
            <a:ext cx="3561863" cy="439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292929"/>
                </a:solidFill>
                <a:latin typeface="Arial Narrow" panose="020B0606020202030204" pitchFamily="34" charset="0"/>
              </a:rPr>
              <a:t>Demand for product or service</a:t>
            </a:r>
          </a:p>
        </p:txBody>
      </p:sp>
      <p:sp>
        <p:nvSpPr>
          <p:cNvPr id="580624" name="Line 16">
            <a:extLst>
              <a:ext uri="{FF2B5EF4-FFF2-40B4-BE49-F238E27FC236}">
                <a16:creationId xmlns:a16="http://schemas.microsoft.com/office/drawing/2014/main" id="{86DFD75F-0DCE-6CD2-8771-E0768F38B25D}"/>
              </a:ext>
            </a:extLst>
          </p:cNvPr>
          <p:cNvSpPr>
            <a:spLocks noChangeShapeType="1"/>
          </p:cNvSpPr>
          <p:nvPr/>
        </p:nvSpPr>
        <p:spPr bwMode="auto">
          <a:xfrm flipV="1">
            <a:off x="3302000" y="2286001"/>
            <a:ext cx="6350000" cy="2938463"/>
          </a:xfrm>
          <a:prstGeom prst="line">
            <a:avLst/>
          </a:prstGeom>
          <a:noFill/>
          <a:ln w="38100">
            <a:solidFill>
              <a:srgbClr val="FF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25" name="Text Box 17">
            <a:extLst>
              <a:ext uri="{FF2B5EF4-FFF2-40B4-BE49-F238E27FC236}">
                <a16:creationId xmlns:a16="http://schemas.microsoft.com/office/drawing/2014/main" id="{43407CEF-982B-822F-48E0-BC20F3FE0E51}"/>
              </a:ext>
            </a:extLst>
          </p:cNvPr>
          <p:cNvSpPr txBox="1">
            <a:spLocks noChangeArrowheads="1"/>
          </p:cNvSpPr>
          <p:nvPr/>
        </p:nvSpPr>
        <p:spPr bwMode="auto">
          <a:xfrm>
            <a:off x="7302501" y="1385889"/>
            <a:ext cx="2138525" cy="439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FF3399"/>
                </a:solidFill>
                <a:latin typeface="Arial Narrow" panose="020B0606020202030204" pitchFamily="34" charset="0"/>
              </a:rPr>
              <a:t>Trend component</a:t>
            </a:r>
            <a:endParaRPr lang="en-US" altLang="en-US" sz="2200" b="1">
              <a:solidFill>
                <a:srgbClr val="292929"/>
              </a:solidFill>
              <a:latin typeface="Arial Narrow" panose="020B0606020202030204" pitchFamily="34" charset="0"/>
            </a:endParaRPr>
          </a:p>
        </p:txBody>
      </p:sp>
      <p:sp>
        <p:nvSpPr>
          <p:cNvPr id="580626" name="Freeform 18">
            <a:extLst>
              <a:ext uri="{FF2B5EF4-FFF2-40B4-BE49-F238E27FC236}">
                <a16:creationId xmlns:a16="http://schemas.microsoft.com/office/drawing/2014/main" id="{F2FEAE42-6402-5D5A-8AF4-153B28706459}"/>
              </a:ext>
            </a:extLst>
          </p:cNvPr>
          <p:cNvSpPr>
            <a:spLocks/>
          </p:cNvSpPr>
          <p:nvPr/>
        </p:nvSpPr>
        <p:spPr bwMode="auto">
          <a:xfrm>
            <a:off x="8026400" y="1784350"/>
            <a:ext cx="611188" cy="858838"/>
          </a:xfrm>
          <a:custGeom>
            <a:avLst/>
            <a:gdLst>
              <a:gd name="T0" fmla="*/ 0 w 296"/>
              <a:gd name="T1" fmla="*/ 0 h 296"/>
              <a:gd name="T2" fmla="*/ 2147483646 w 296"/>
              <a:gd name="T3" fmla="*/ 2147483646 h 296"/>
              <a:gd name="T4" fmla="*/ 2147483646 w 296"/>
              <a:gd name="T5" fmla="*/ 2147483646 h 296"/>
              <a:gd name="T6" fmla="*/ 2147483646 w 296"/>
              <a:gd name="T7" fmla="*/ 2147483646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6" h="296">
                <a:moveTo>
                  <a:pt x="0" y="0"/>
                </a:moveTo>
                <a:cubicBezTo>
                  <a:pt x="18" y="24"/>
                  <a:pt x="75" y="138"/>
                  <a:pt x="109" y="144"/>
                </a:cubicBezTo>
                <a:cubicBezTo>
                  <a:pt x="143" y="150"/>
                  <a:pt x="172" y="11"/>
                  <a:pt x="203" y="36"/>
                </a:cubicBezTo>
                <a:cubicBezTo>
                  <a:pt x="234" y="61"/>
                  <a:pt x="277" y="242"/>
                  <a:pt x="296" y="296"/>
                </a:cubicBezTo>
              </a:path>
            </a:pathLst>
          </a:custGeom>
          <a:noFill/>
          <a:ln w="28575" cmpd="sng">
            <a:solidFill>
              <a:srgbClr val="FF3399"/>
            </a:solidFill>
            <a:round/>
            <a:headEnd type="none" w="med" len="med"/>
            <a:tailEnd type="arrow"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26" name="Text Box 20">
            <a:extLst>
              <a:ext uri="{FF2B5EF4-FFF2-40B4-BE49-F238E27FC236}">
                <a16:creationId xmlns:a16="http://schemas.microsoft.com/office/drawing/2014/main" id="{F5CCC59E-15F6-0AFC-8547-AFBAAE14217F}"/>
              </a:ext>
            </a:extLst>
          </p:cNvPr>
          <p:cNvSpPr txBox="1">
            <a:spLocks noChangeArrowheads="1"/>
          </p:cNvSpPr>
          <p:nvPr/>
        </p:nvSpPr>
        <p:spPr bwMode="auto">
          <a:xfrm>
            <a:off x="7212013" y="4565651"/>
            <a:ext cx="1795462" cy="7780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6600FF"/>
                </a:solidFill>
                <a:latin typeface="Arial Narrow" panose="020B0606020202030204" pitchFamily="34" charset="0"/>
              </a:rPr>
              <a:t>Actual demand line</a:t>
            </a:r>
            <a:endParaRPr lang="en-US" altLang="en-US" sz="2200" b="1">
              <a:solidFill>
                <a:srgbClr val="FFCC00"/>
              </a:solidFill>
              <a:latin typeface="Arial Narrow" panose="020B0606020202030204" pitchFamily="34" charset="0"/>
            </a:endParaRPr>
          </a:p>
        </p:txBody>
      </p:sp>
      <p:sp>
        <p:nvSpPr>
          <p:cNvPr id="43027" name="Freeform 21">
            <a:extLst>
              <a:ext uri="{FF2B5EF4-FFF2-40B4-BE49-F238E27FC236}">
                <a16:creationId xmlns:a16="http://schemas.microsoft.com/office/drawing/2014/main" id="{6A00CC65-98C3-7843-8DFF-A8C2D24EED69}"/>
              </a:ext>
            </a:extLst>
          </p:cNvPr>
          <p:cNvSpPr>
            <a:spLocks/>
          </p:cNvSpPr>
          <p:nvPr/>
        </p:nvSpPr>
        <p:spPr bwMode="auto">
          <a:xfrm>
            <a:off x="3219450" y="2236788"/>
            <a:ext cx="5981700" cy="3111500"/>
          </a:xfrm>
          <a:custGeom>
            <a:avLst/>
            <a:gdLst>
              <a:gd name="T0" fmla="*/ 0 w 3391"/>
              <a:gd name="T1" fmla="*/ 2147483646 h 1829"/>
              <a:gd name="T2" fmla="*/ 2147483646 w 3391"/>
              <a:gd name="T3" fmla="*/ 2147483646 h 1829"/>
              <a:gd name="T4" fmla="*/ 2147483646 w 3391"/>
              <a:gd name="T5" fmla="*/ 2147483646 h 1829"/>
              <a:gd name="T6" fmla="*/ 2147483646 w 3391"/>
              <a:gd name="T7" fmla="*/ 2147483646 h 1829"/>
              <a:gd name="T8" fmla="*/ 2147483646 w 3391"/>
              <a:gd name="T9" fmla="*/ 2147483646 h 1829"/>
              <a:gd name="T10" fmla="*/ 2147483646 w 3391"/>
              <a:gd name="T11" fmla="*/ 2147483646 h 1829"/>
              <a:gd name="T12" fmla="*/ 2147483646 w 3391"/>
              <a:gd name="T13" fmla="*/ 2147483646 h 1829"/>
              <a:gd name="T14" fmla="*/ 2147483646 w 3391"/>
              <a:gd name="T15" fmla="*/ 2147483646 h 1829"/>
              <a:gd name="T16" fmla="*/ 2147483646 w 3391"/>
              <a:gd name="T17" fmla="*/ 2147483646 h 1829"/>
              <a:gd name="T18" fmla="*/ 2147483646 w 3391"/>
              <a:gd name="T19" fmla="*/ 2147483646 h 1829"/>
              <a:gd name="T20" fmla="*/ 2147483646 w 3391"/>
              <a:gd name="T21" fmla="*/ 2147483646 h 1829"/>
              <a:gd name="T22" fmla="*/ 2147483646 w 3391"/>
              <a:gd name="T23" fmla="*/ 2147483646 h 1829"/>
              <a:gd name="T24" fmla="*/ 2147483646 w 3391"/>
              <a:gd name="T25" fmla="*/ 2147483646 h 1829"/>
              <a:gd name="T26" fmla="*/ 2147483646 w 3391"/>
              <a:gd name="T27" fmla="*/ 2147483646 h 1829"/>
              <a:gd name="T28" fmla="*/ 2147483646 w 3391"/>
              <a:gd name="T29" fmla="*/ 2147483646 h 1829"/>
              <a:gd name="T30" fmla="*/ 2147483646 w 3391"/>
              <a:gd name="T31" fmla="*/ 2147483646 h 1829"/>
              <a:gd name="T32" fmla="*/ 2147483646 w 3391"/>
              <a:gd name="T33" fmla="*/ 2147483646 h 1829"/>
              <a:gd name="T34" fmla="*/ 2147483646 w 3391"/>
              <a:gd name="T35" fmla="*/ 2147483646 h 1829"/>
              <a:gd name="T36" fmla="*/ 2147483646 w 3391"/>
              <a:gd name="T37" fmla="*/ 2147483646 h 1829"/>
              <a:gd name="T38" fmla="*/ 2147483646 w 3391"/>
              <a:gd name="T39" fmla="*/ 2147483646 h 1829"/>
              <a:gd name="T40" fmla="*/ 2147483646 w 3391"/>
              <a:gd name="T41" fmla="*/ 2147483646 h 1829"/>
              <a:gd name="T42" fmla="*/ 2147483646 w 3391"/>
              <a:gd name="T43" fmla="*/ 2147483646 h 1829"/>
              <a:gd name="T44" fmla="*/ 2147483646 w 3391"/>
              <a:gd name="T45" fmla="*/ 2147483646 h 1829"/>
              <a:gd name="T46" fmla="*/ 2147483646 w 3391"/>
              <a:gd name="T47" fmla="*/ 2147483646 h 1829"/>
              <a:gd name="T48" fmla="*/ 2147483646 w 3391"/>
              <a:gd name="T49" fmla="*/ 2147483646 h 1829"/>
              <a:gd name="T50" fmla="*/ 2147483646 w 3391"/>
              <a:gd name="T51" fmla="*/ 2147483646 h 1829"/>
              <a:gd name="T52" fmla="*/ 2147483646 w 3391"/>
              <a:gd name="T53" fmla="*/ 2147483646 h 1829"/>
              <a:gd name="T54" fmla="*/ 2147483646 w 3391"/>
              <a:gd name="T55" fmla="*/ 2147483646 h 1829"/>
              <a:gd name="T56" fmla="*/ 2147483646 w 3391"/>
              <a:gd name="T57" fmla="*/ 2147483646 h 1829"/>
              <a:gd name="T58" fmla="*/ 2147483646 w 3391"/>
              <a:gd name="T59" fmla="*/ 2147483646 h 1829"/>
              <a:gd name="T60" fmla="*/ 2147483646 w 3391"/>
              <a:gd name="T61" fmla="*/ 2147483646 h 1829"/>
              <a:gd name="T62" fmla="*/ 2147483646 w 3391"/>
              <a:gd name="T63" fmla="*/ 2147483646 h 1829"/>
              <a:gd name="T64" fmla="*/ 2147483646 w 3391"/>
              <a:gd name="T65" fmla="*/ 0 h 182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391" h="1829">
                <a:moveTo>
                  <a:pt x="0" y="1800"/>
                </a:moveTo>
                <a:cubicBezTo>
                  <a:pt x="18" y="1750"/>
                  <a:pt x="75" y="1625"/>
                  <a:pt x="116" y="1497"/>
                </a:cubicBezTo>
                <a:cubicBezTo>
                  <a:pt x="157" y="1369"/>
                  <a:pt x="203" y="1099"/>
                  <a:pt x="246" y="1034"/>
                </a:cubicBezTo>
                <a:cubicBezTo>
                  <a:pt x="289" y="969"/>
                  <a:pt x="346" y="1034"/>
                  <a:pt x="376" y="1106"/>
                </a:cubicBezTo>
                <a:cubicBezTo>
                  <a:pt x="406" y="1178"/>
                  <a:pt x="405" y="1366"/>
                  <a:pt x="427" y="1468"/>
                </a:cubicBezTo>
                <a:cubicBezTo>
                  <a:pt x="449" y="1570"/>
                  <a:pt x="465" y="1671"/>
                  <a:pt x="506" y="1719"/>
                </a:cubicBezTo>
                <a:cubicBezTo>
                  <a:pt x="547" y="1767"/>
                  <a:pt x="628" y="1767"/>
                  <a:pt x="671" y="1757"/>
                </a:cubicBezTo>
                <a:cubicBezTo>
                  <a:pt x="714" y="1747"/>
                  <a:pt x="743" y="1661"/>
                  <a:pt x="767" y="1661"/>
                </a:cubicBezTo>
                <a:cubicBezTo>
                  <a:pt x="791" y="1661"/>
                  <a:pt x="803" y="1732"/>
                  <a:pt x="815" y="1757"/>
                </a:cubicBezTo>
                <a:cubicBezTo>
                  <a:pt x="827" y="1782"/>
                  <a:pt x="829" y="1829"/>
                  <a:pt x="837" y="1813"/>
                </a:cubicBezTo>
                <a:cubicBezTo>
                  <a:pt x="845" y="1797"/>
                  <a:pt x="853" y="1731"/>
                  <a:pt x="863" y="1661"/>
                </a:cubicBezTo>
                <a:cubicBezTo>
                  <a:pt x="873" y="1591"/>
                  <a:pt x="883" y="1468"/>
                  <a:pt x="898" y="1394"/>
                </a:cubicBezTo>
                <a:cubicBezTo>
                  <a:pt x="913" y="1320"/>
                  <a:pt x="932" y="1268"/>
                  <a:pt x="955" y="1215"/>
                </a:cubicBezTo>
                <a:cubicBezTo>
                  <a:pt x="978" y="1162"/>
                  <a:pt x="1010" y="1107"/>
                  <a:pt x="1034" y="1077"/>
                </a:cubicBezTo>
                <a:cubicBezTo>
                  <a:pt x="1058" y="1047"/>
                  <a:pt x="1079" y="1032"/>
                  <a:pt x="1099" y="1034"/>
                </a:cubicBezTo>
                <a:cubicBezTo>
                  <a:pt x="1119" y="1036"/>
                  <a:pt x="1143" y="1071"/>
                  <a:pt x="1157" y="1092"/>
                </a:cubicBezTo>
                <a:cubicBezTo>
                  <a:pt x="1171" y="1113"/>
                  <a:pt x="1156" y="1108"/>
                  <a:pt x="1184" y="1162"/>
                </a:cubicBezTo>
                <a:cubicBezTo>
                  <a:pt x="1212" y="1216"/>
                  <a:pt x="1271" y="1348"/>
                  <a:pt x="1328" y="1416"/>
                </a:cubicBezTo>
                <a:cubicBezTo>
                  <a:pt x="1385" y="1484"/>
                  <a:pt x="1474" y="1573"/>
                  <a:pt x="1526" y="1569"/>
                </a:cubicBezTo>
                <a:cubicBezTo>
                  <a:pt x="1578" y="1565"/>
                  <a:pt x="1611" y="1509"/>
                  <a:pt x="1642" y="1394"/>
                </a:cubicBezTo>
                <a:cubicBezTo>
                  <a:pt x="1673" y="1279"/>
                  <a:pt x="1690" y="1015"/>
                  <a:pt x="1714" y="882"/>
                </a:cubicBezTo>
                <a:cubicBezTo>
                  <a:pt x="1738" y="749"/>
                  <a:pt x="1755" y="664"/>
                  <a:pt x="1786" y="593"/>
                </a:cubicBezTo>
                <a:cubicBezTo>
                  <a:pt x="1817" y="522"/>
                  <a:pt x="1855" y="414"/>
                  <a:pt x="1901" y="456"/>
                </a:cubicBezTo>
                <a:cubicBezTo>
                  <a:pt x="1947" y="498"/>
                  <a:pt x="2018" y="755"/>
                  <a:pt x="2063" y="845"/>
                </a:cubicBezTo>
                <a:cubicBezTo>
                  <a:pt x="2108" y="935"/>
                  <a:pt x="2108" y="977"/>
                  <a:pt x="2169" y="998"/>
                </a:cubicBezTo>
                <a:cubicBezTo>
                  <a:pt x="2230" y="1019"/>
                  <a:pt x="2378" y="1039"/>
                  <a:pt x="2429" y="969"/>
                </a:cubicBezTo>
                <a:cubicBezTo>
                  <a:pt x="2480" y="899"/>
                  <a:pt x="2456" y="696"/>
                  <a:pt x="2473" y="579"/>
                </a:cubicBezTo>
                <a:cubicBezTo>
                  <a:pt x="2490" y="462"/>
                  <a:pt x="2499" y="345"/>
                  <a:pt x="2530" y="268"/>
                </a:cubicBezTo>
                <a:cubicBezTo>
                  <a:pt x="2561" y="191"/>
                  <a:pt x="2596" y="70"/>
                  <a:pt x="2660" y="116"/>
                </a:cubicBezTo>
                <a:cubicBezTo>
                  <a:pt x="2724" y="162"/>
                  <a:pt x="2838" y="423"/>
                  <a:pt x="2913" y="543"/>
                </a:cubicBezTo>
                <a:cubicBezTo>
                  <a:pt x="2988" y="663"/>
                  <a:pt x="3052" y="902"/>
                  <a:pt x="3109" y="839"/>
                </a:cubicBezTo>
                <a:cubicBezTo>
                  <a:pt x="3166" y="776"/>
                  <a:pt x="3206" y="307"/>
                  <a:pt x="3253" y="167"/>
                </a:cubicBezTo>
                <a:cubicBezTo>
                  <a:pt x="3300" y="27"/>
                  <a:pt x="3362" y="35"/>
                  <a:pt x="3391" y="0"/>
                </a:cubicBezTo>
              </a:path>
            </a:pathLst>
          </a:custGeom>
          <a:noFill/>
          <a:ln w="50800" cmpd="sng">
            <a:solidFill>
              <a:srgbClr val="66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43028" name="Freeform 22">
            <a:extLst>
              <a:ext uri="{FF2B5EF4-FFF2-40B4-BE49-F238E27FC236}">
                <a16:creationId xmlns:a16="http://schemas.microsoft.com/office/drawing/2014/main" id="{F78ED2EE-5F96-F756-1461-D58D26983587}"/>
              </a:ext>
            </a:extLst>
          </p:cNvPr>
          <p:cNvSpPr>
            <a:spLocks/>
          </p:cNvSpPr>
          <p:nvPr/>
        </p:nvSpPr>
        <p:spPr bwMode="auto">
          <a:xfrm>
            <a:off x="7631114" y="3848101"/>
            <a:ext cx="333375" cy="714375"/>
          </a:xfrm>
          <a:custGeom>
            <a:avLst/>
            <a:gdLst>
              <a:gd name="T0" fmla="*/ 2147483646 w 189"/>
              <a:gd name="T1" fmla="*/ 2147483646 h 420"/>
              <a:gd name="T2" fmla="*/ 2147483646 w 189"/>
              <a:gd name="T3" fmla="*/ 2147483646 h 420"/>
              <a:gd name="T4" fmla="*/ 2147483646 w 189"/>
              <a:gd name="T5" fmla="*/ 2147483646 h 420"/>
              <a:gd name="T6" fmla="*/ 0 w 189"/>
              <a:gd name="T7" fmla="*/ 0 h 4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9" h="420">
                <a:moveTo>
                  <a:pt x="87" y="420"/>
                </a:moveTo>
                <a:cubicBezTo>
                  <a:pt x="81" y="390"/>
                  <a:pt x="35" y="264"/>
                  <a:pt x="51" y="239"/>
                </a:cubicBezTo>
                <a:cubicBezTo>
                  <a:pt x="67" y="214"/>
                  <a:pt x="189" y="308"/>
                  <a:pt x="181" y="268"/>
                </a:cubicBezTo>
                <a:cubicBezTo>
                  <a:pt x="173" y="228"/>
                  <a:pt x="38" y="56"/>
                  <a:pt x="0" y="0"/>
                </a:cubicBezTo>
              </a:path>
            </a:pathLst>
          </a:custGeom>
          <a:noFill/>
          <a:ln w="28575" cmpd="sng">
            <a:solidFill>
              <a:srgbClr val="6600FF"/>
            </a:solidFill>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32" name="Text Box 24">
            <a:extLst>
              <a:ext uri="{FF2B5EF4-FFF2-40B4-BE49-F238E27FC236}">
                <a16:creationId xmlns:a16="http://schemas.microsoft.com/office/drawing/2014/main" id="{90805965-AAAD-21BF-EE89-D7A122ABC189}"/>
              </a:ext>
            </a:extLst>
          </p:cNvPr>
          <p:cNvSpPr txBox="1">
            <a:spLocks noChangeArrowheads="1"/>
          </p:cNvSpPr>
          <p:nvPr/>
        </p:nvSpPr>
        <p:spPr bwMode="auto">
          <a:xfrm>
            <a:off x="3538538" y="1730376"/>
            <a:ext cx="1933212" cy="4395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292929"/>
                </a:solidFill>
                <a:latin typeface="Arial Narrow" panose="020B0606020202030204" pitchFamily="34" charset="0"/>
              </a:rPr>
              <a:t>Seasonal peaks</a:t>
            </a:r>
          </a:p>
        </p:txBody>
      </p:sp>
      <p:sp>
        <p:nvSpPr>
          <p:cNvPr id="580633" name="Text Box 25">
            <a:extLst>
              <a:ext uri="{FF2B5EF4-FFF2-40B4-BE49-F238E27FC236}">
                <a16:creationId xmlns:a16="http://schemas.microsoft.com/office/drawing/2014/main" id="{AEB40E80-478B-B903-A4E8-9C26278CDB28}"/>
              </a:ext>
            </a:extLst>
          </p:cNvPr>
          <p:cNvSpPr txBox="1">
            <a:spLocks noChangeArrowheads="1"/>
          </p:cNvSpPr>
          <p:nvPr/>
        </p:nvSpPr>
        <p:spPr bwMode="auto">
          <a:xfrm>
            <a:off x="5062538" y="4832351"/>
            <a:ext cx="1287462" cy="7780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008" tIns="50004" rIns="100008" bIns="50004">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200" b="1">
                <a:solidFill>
                  <a:srgbClr val="292929"/>
                </a:solidFill>
                <a:latin typeface="Arial Narrow" panose="020B0606020202030204" pitchFamily="34" charset="0"/>
              </a:rPr>
              <a:t>Random variation</a:t>
            </a:r>
          </a:p>
        </p:txBody>
      </p:sp>
      <p:sp>
        <p:nvSpPr>
          <p:cNvPr id="580634" name="Freeform 26">
            <a:extLst>
              <a:ext uri="{FF2B5EF4-FFF2-40B4-BE49-F238E27FC236}">
                <a16:creationId xmlns:a16="http://schemas.microsoft.com/office/drawing/2014/main" id="{826B5B5D-25FE-74F8-9072-72DD76DF3311}"/>
              </a:ext>
            </a:extLst>
          </p:cNvPr>
          <p:cNvSpPr>
            <a:spLocks/>
          </p:cNvSpPr>
          <p:nvPr/>
        </p:nvSpPr>
        <p:spPr bwMode="auto">
          <a:xfrm>
            <a:off x="4741864" y="5048250"/>
            <a:ext cx="422275" cy="292100"/>
          </a:xfrm>
          <a:custGeom>
            <a:avLst/>
            <a:gdLst>
              <a:gd name="T0" fmla="*/ 2147483646 w 240"/>
              <a:gd name="T1" fmla="*/ 2147483646 h 171"/>
              <a:gd name="T2" fmla="*/ 2147483646 w 240"/>
              <a:gd name="T3" fmla="*/ 2147483646 h 171"/>
              <a:gd name="T4" fmla="*/ 2147483646 w 240"/>
              <a:gd name="T5" fmla="*/ 2147483646 h 171"/>
              <a:gd name="T6" fmla="*/ 0 w 240"/>
              <a:gd name="T7" fmla="*/ 2147483646 h 1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71">
                <a:moveTo>
                  <a:pt x="240" y="120"/>
                </a:moveTo>
                <a:cubicBezTo>
                  <a:pt x="216" y="125"/>
                  <a:pt x="109" y="171"/>
                  <a:pt x="96" y="152"/>
                </a:cubicBezTo>
                <a:cubicBezTo>
                  <a:pt x="83" y="133"/>
                  <a:pt x="176" y="16"/>
                  <a:pt x="160" y="8"/>
                </a:cubicBezTo>
                <a:cubicBezTo>
                  <a:pt x="144" y="0"/>
                  <a:pt x="33" y="84"/>
                  <a:pt x="0" y="104"/>
                </a:cubicBez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35" name="Freeform 27">
            <a:extLst>
              <a:ext uri="{FF2B5EF4-FFF2-40B4-BE49-F238E27FC236}">
                <a16:creationId xmlns:a16="http://schemas.microsoft.com/office/drawing/2014/main" id="{A46043C9-9A22-0BB4-593F-5C32B60C58B6}"/>
              </a:ext>
            </a:extLst>
          </p:cNvPr>
          <p:cNvSpPr>
            <a:spLocks/>
          </p:cNvSpPr>
          <p:nvPr/>
        </p:nvSpPr>
        <p:spPr bwMode="auto">
          <a:xfrm>
            <a:off x="3743326" y="2109789"/>
            <a:ext cx="574675" cy="1703387"/>
          </a:xfrm>
          <a:custGeom>
            <a:avLst/>
            <a:gdLst>
              <a:gd name="T0" fmla="*/ 2147483646 w 326"/>
              <a:gd name="T1" fmla="*/ 0 h 1001"/>
              <a:gd name="T2" fmla="*/ 0 w 326"/>
              <a:gd name="T3" fmla="*/ 2147483646 h 1001"/>
              <a:gd name="T4" fmla="*/ 0 60000 65536"/>
              <a:gd name="T5" fmla="*/ 0 60000 65536"/>
            </a:gdLst>
            <a:ahLst/>
            <a:cxnLst>
              <a:cxn ang="T4">
                <a:pos x="T0" y="T1"/>
              </a:cxn>
              <a:cxn ang="T5">
                <a:pos x="T2" y="T3"/>
              </a:cxn>
            </a:cxnLst>
            <a:rect l="0" t="0" r="r" b="b"/>
            <a:pathLst>
              <a:path w="326" h="1001">
                <a:moveTo>
                  <a:pt x="326" y="0"/>
                </a:moveTo>
                <a:lnTo>
                  <a:pt x="0" y="1001"/>
                </a:lnTo>
              </a:path>
            </a:pathLst>
          </a:custGeom>
          <a:noFill/>
          <a:ln w="2857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36" name="Freeform 28">
            <a:extLst>
              <a:ext uri="{FF2B5EF4-FFF2-40B4-BE49-F238E27FC236}">
                <a16:creationId xmlns:a16="http://schemas.microsoft.com/office/drawing/2014/main" id="{D380BB4B-8EAB-4CEA-8185-B27FECC574F8}"/>
              </a:ext>
            </a:extLst>
          </p:cNvPr>
          <p:cNvSpPr>
            <a:spLocks/>
          </p:cNvSpPr>
          <p:nvPr/>
        </p:nvSpPr>
        <p:spPr bwMode="auto">
          <a:xfrm>
            <a:off x="4360864" y="2124075"/>
            <a:ext cx="720725" cy="1785938"/>
          </a:xfrm>
          <a:custGeom>
            <a:avLst/>
            <a:gdLst>
              <a:gd name="T0" fmla="*/ 0 w 409"/>
              <a:gd name="T1" fmla="*/ 0 h 1050"/>
              <a:gd name="T2" fmla="*/ 2147483646 w 409"/>
              <a:gd name="T3" fmla="*/ 2147483646 h 1050"/>
              <a:gd name="T4" fmla="*/ 0 60000 65536"/>
              <a:gd name="T5" fmla="*/ 0 60000 65536"/>
            </a:gdLst>
            <a:ahLst/>
            <a:cxnLst>
              <a:cxn ang="T4">
                <a:pos x="T0" y="T1"/>
              </a:cxn>
              <a:cxn ang="T5">
                <a:pos x="T2" y="T3"/>
              </a:cxn>
            </a:cxnLst>
            <a:rect l="0" t="0" r="r" b="b"/>
            <a:pathLst>
              <a:path w="409" h="1050">
                <a:moveTo>
                  <a:pt x="0" y="0"/>
                </a:moveTo>
                <a:lnTo>
                  <a:pt x="409" y="1050"/>
                </a:lnTo>
              </a:path>
            </a:pathLst>
          </a:custGeom>
          <a:noFill/>
          <a:ln w="2857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37" name="Freeform 29">
            <a:extLst>
              <a:ext uri="{FF2B5EF4-FFF2-40B4-BE49-F238E27FC236}">
                <a16:creationId xmlns:a16="http://schemas.microsoft.com/office/drawing/2014/main" id="{8EAE7935-F92A-C383-B147-19FEF930BC21}"/>
              </a:ext>
            </a:extLst>
          </p:cNvPr>
          <p:cNvSpPr>
            <a:spLocks/>
          </p:cNvSpPr>
          <p:nvPr/>
        </p:nvSpPr>
        <p:spPr bwMode="auto">
          <a:xfrm>
            <a:off x="4360864" y="2124076"/>
            <a:ext cx="2058987" cy="766763"/>
          </a:xfrm>
          <a:custGeom>
            <a:avLst/>
            <a:gdLst>
              <a:gd name="T0" fmla="*/ 0 w 1168"/>
              <a:gd name="T1" fmla="*/ 0 h 451"/>
              <a:gd name="T2" fmla="*/ 2147483646 w 1168"/>
              <a:gd name="T3" fmla="*/ 2147483646 h 451"/>
              <a:gd name="T4" fmla="*/ 0 60000 65536"/>
              <a:gd name="T5" fmla="*/ 0 60000 65536"/>
            </a:gdLst>
            <a:ahLst/>
            <a:cxnLst>
              <a:cxn ang="T4">
                <a:pos x="T0" y="T1"/>
              </a:cxn>
              <a:cxn ang="T5">
                <a:pos x="T2" y="T3"/>
              </a:cxn>
            </a:cxnLst>
            <a:rect l="0" t="0" r="r" b="b"/>
            <a:pathLst>
              <a:path w="1168" h="451">
                <a:moveTo>
                  <a:pt x="0" y="0"/>
                </a:moveTo>
                <a:lnTo>
                  <a:pt x="1168" y="451"/>
                </a:lnTo>
              </a:path>
            </a:pathLst>
          </a:custGeom>
          <a:noFill/>
          <a:ln w="2857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38" name="Freeform 30">
            <a:extLst>
              <a:ext uri="{FF2B5EF4-FFF2-40B4-BE49-F238E27FC236}">
                <a16:creationId xmlns:a16="http://schemas.microsoft.com/office/drawing/2014/main" id="{680D5B91-6D6C-919C-CD1D-52831C8CDE56}"/>
              </a:ext>
            </a:extLst>
          </p:cNvPr>
          <p:cNvSpPr>
            <a:spLocks/>
          </p:cNvSpPr>
          <p:nvPr/>
        </p:nvSpPr>
        <p:spPr bwMode="auto">
          <a:xfrm>
            <a:off x="4389439" y="2095501"/>
            <a:ext cx="3279775" cy="315913"/>
          </a:xfrm>
          <a:custGeom>
            <a:avLst/>
            <a:gdLst>
              <a:gd name="T0" fmla="*/ 0 w 1860"/>
              <a:gd name="T1" fmla="*/ 0 h 185"/>
              <a:gd name="T2" fmla="*/ 2147483646 w 1860"/>
              <a:gd name="T3" fmla="*/ 2147483646 h 185"/>
              <a:gd name="T4" fmla="*/ 0 60000 65536"/>
              <a:gd name="T5" fmla="*/ 0 60000 65536"/>
            </a:gdLst>
            <a:ahLst/>
            <a:cxnLst>
              <a:cxn ang="T4">
                <a:pos x="T0" y="T1"/>
              </a:cxn>
              <a:cxn ang="T5">
                <a:pos x="T2" y="T3"/>
              </a:cxn>
            </a:cxnLst>
            <a:rect l="0" t="0" r="r" b="b"/>
            <a:pathLst>
              <a:path w="1860" h="185">
                <a:moveTo>
                  <a:pt x="0" y="0"/>
                </a:moveTo>
                <a:lnTo>
                  <a:pt x="1860" y="185"/>
                </a:lnTo>
              </a:path>
            </a:pathLst>
          </a:custGeom>
          <a:noFill/>
          <a:ln w="28575">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80644" name="Rectangle 36">
            <a:extLst>
              <a:ext uri="{FF2B5EF4-FFF2-40B4-BE49-F238E27FC236}">
                <a16:creationId xmlns:a16="http://schemas.microsoft.com/office/drawing/2014/main" id="{DFBC79DD-97DA-09C2-524B-2B3FEFE3617A}"/>
              </a:ext>
            </a:extLst>
          </p:cNvPr>
          <p:cNvSpPr>
            <a:spLocks noChangeArrowheads="1"/>
          </p:cNvSpPr>
          <p:nvPr/>
        </p:nvSpPr>
        <p:spPr bwMode="auto">
          <a:xfrm>
            <a:off x="1905000" y="6324600"/>
            <a:ext cx="80959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500063"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lvl="1" eaLnBrk="0" fontAlgn="base" hangingPunct="0">
              <a:spcBef>
                <a:spcPct val="0"/>
              </a:spcBef>
              <a:spcAft>
                <a:spcPct val="0"/>
              </a:spcAft>
              <a:buNone/>
            </a:pPr>
            <a:r>
              <a:rPr lang="en-US" altLang="en-US" sz="2400" b="1">
                <a:solidFill>
                  <a:srgbClr val="B82629"/>
                </a:solidFill>
                <a:latin typeface="Arial Narrow" panose="020B0606020202030204" pitchFamily="34" charset="0"/>
              </a:rPr>
              <a:t>Now let’s look at some time series approaches to forecasting…</a:t>
            </a:r>
          </a:p>
        </p:txBody>
      </p:sp>
      <p:sp>
        <p:nvSpPr>
          <p:cNvPr id="43037" name="Rectangle 50">
            <a:extLst>
              <a:ext uri="{FF2B5EF4-FFF2-40B4-BE49-F238E27FC236}">
                <a16:creationId xmlns:a16="http://schemas.microsoft.com/office/drawing/2014/main" id="{CCBA06B6-DBE8-8FE3-5777-E9FD8CE12870}"/>
              </a:ext>
            </a:extLst>
          </p:cNvPr>
          <p:cNvSpPr>
            <a:spLocks noChangeArrowheads="1"/>
          </p:cNvSpPr>
          <p:nvPr/>
        </p:nvSpPr>
        <p:spPr bwMode="auto">
          <a:xfrm>
            <a:off x="1752600" y="6661150"/>
            <a:ext cx="5029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3594" tIns="41797" rIns="83594" bIns="41797"/>
          <a:lstStyle>
            <a:lvl1pPr defTabSz="836613">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836613">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836613">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836613">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836613">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836613"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836613"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836613"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836613"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900">
                <a:solidFill>
                  <a:srgbClr val="292929"/>
                </a:solidFill>
                <a:latin typeface="Arial Narrow" panose="020B0606020202030204" pitchFamily="34" charset="0"/>
              </a:rPr>
              <a:t>Borrowed from Heizer/Render - Principles of Operations Management, 5e, and Operations Management, 7e</a:t>
            </a:r>
            <a:endParaRPr lang="en-US" altLang="en-US" sz="1300">
              <a:solidFill>
                <a:srgbClr val="292929"/>
              </a:solidFill>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06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063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806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06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062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806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06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06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06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063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580644"/>
                                        </p:tgtEl>
                                        <p:attrNameLst>
                                          <p:attrName>style.visibility</p:attrName>
                                        </p:attrNameLst>
                                      </p:cBhvr>
                                      <p:to>
                                        <p:strVal val="visible"/>
                                      </p:to>
                                    </p:set>
                                    <p:anim calcmode="lin" valueType="num">
                                      <p:cBhvr additive="base">
                                        <p:cTn id="33" dur="500" fill="hold"/>
                                        <p:tgtEl>
                                          <p:spTgt spid="580644"/>
                                        </p:tgtEl>
                                        <p:attrNameLst>
                                          <p:attrName>ppt_x</p:attrName>
                                        </p:attrNameLst>
                                      </p:cBhvr>
                                      <p:tavLst>
                                        <p:tav tm="0">
                                          <p:val>
                                            <p:strVal val="#ppt_x"/>
                                          </p:val>
                                        </p:tav>
                                        <p:tav tm="100000">
                                          <p:val>
                                            <p:strVal val="#ppt_x"/>
                                          </p:val>
                                        </p:tav>
                                      </p:tavLst>
                                    </p:anim>
                                    <p:anim calcmode="lin" valueType="num">
                                      <p:cBhvr additive="base">
                                        <p:cTn id="34" dur="500" fill="hold"/>
                                        <p:tgtEl>
                                          <p:spTgt spid="580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25" grpId="0"/>
      <p:bldP spid="580632" grpId="0"/>
      <p:bldP spid="580633" grpId="0"/>
      <p:bldP spid="580644"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BB513FFA-508D-6F05-86B9-B57B58DC90A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49155" name="Rectangle 4">
            <a:extLst>
              <a:ext uri="{FF2B5EF4-FFF2-40B4-BE49-F238E27FC236}">
                <a16:creationId xmlns:a16="http://schemas.microsoft.com/office/drawing/2014/main" id="{5EB985A5-6C8B-861A-4345-0835A53251CB}"/>
              </a:ext>
            </a:extLst>
          </p:cNvPr>
          <p:cNvSpPr>
            <a:spLocks noGrp="1" noChangeArrowheads="1"/>
          </p:cNvSpPr>
          <p:nvPr>
            <p:ph type="title"/>
          </p:nvPr>
        </p:nvSpPr>
        <p:spPr>
          <a:xfrm>
            <a:off x="1730376" y="533400"/>
            <a:ext cx="8785225" cy="457200"/>
          </a:xfrm>
          <a:noFill/>
        </p:spPr>
        <p:txBody>
          <a:bodyPr vert="horz" wrap="square" lIns="90488" tIns="44450" rIns="90488" bIns="44450" numCol="1" anchor="b" anchorCtr="0" compatLnSpc="1">
            <a:prstTxWarp prst="textNoShape">
              <a:avLst/>
            </a:prstTxWarp>
          </a:bodyPr>
          <a:lstStyle/>
          <a:p>
            <a:r>
              <a:rPr lang="en-US" altLang="en-US" dirty="0"/>
              <a:t> Simple Moving Average</a:t>
            </a:r>
          </a:p>
        </p:txBody>
      </p:sp>
      <p:graphicFrame>
        <p:nvGraphicFramePr>
          <p:cNvPr id="513029" name="Object 5">
            <a:extLst>
              <a:ext uri="{FF2B5EF4-FFF2-40B4-BE49-F238E27FC236}">
                <a16:creationId xmlns:a16="http://schemas.microsoft.com/office/drawing/2014/main" id="{13A5C74B-504D-7D88-57C5-8F41AD628273}"/>
              </a:ext>
            </a:extLst>
          </p:cNvPr>
          <p:cNvGraphicFramePr>
            <a:graphicFrameLocks/>
          </p:cNvGraphicFramePr>
          <p:nvPr/>
        </p:nvGraphicFramePr>
        <p:xfrm>
          <a:off x="4038600" y="3962401"/>
          <a:ext cx="4495800" cy="879475"/>
        </p:xfrm>
        <a:graphic>
          <a:graphicData uri="http://schemas.openxmlformats.org/presentationml/2006/ole">
            <mc:AlternateContent xmlns:mc="http://schemas.openxmlformats.org/markup-compatibility/2006">
              <mc:Choice xmlns:v="urn:schemas-microsoft-com:vml" Requires="v">
                <p:oleObj name="Equation" r:id="rId3" imgW="35766375" imgH="6800850" progId="Equation.3">
                  <p:embed/>
                </p:oleObj>
              </mc:Choice>
              <mc:Fallback>
                <p:oleObj name="Equation" r:id="rId3" imgW="35766375" imgH="6800850" progId="Equation.3">
                  <p:embed/>
                  <p:pic>
                    <p:nvPicPr>
                      <p:cNvPr id="513029" name="Object 5">
                        <a:extLst>
                          <a:ext uri="{FF2B5EF4-FFF2-40B4-BE49-F238E27FC236}">
                            <a16:creationId xmlns:a16="http://schemas.microsoft.com/office/drawing/2014/main" id="{13A5C74B-504D-7D88-57C5-8F41AD62827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3962401"/>
                        <a:ext cx="4495800" cy="879475"/>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513030" name="Rectangle 6">
            <a:extLst>
              <a:ext uri="{FF2B5EF4-FFF2-40B4-BE49-F238E27FC236}">
                <a16:creationId xmlns:a16="http://schemas.microsoft.com/office/drawing/2014/main" id="{232994E9-0F89-4941-262A-16C366809044}"/>
              </a:ext>
            </a:extLst>
          </p:cNvPr>
          <p:cNvSpPr>
            <a:spLocks noGrp="1" noChangeArrowheads="1"/>
          </p:cNvSpPr>
          <p:nvPr>
            <p:ph type="body" idx="1"/>
          </p:nvPr>
        </p:nvSpPr>
        <p:spPr>
          <a:xfrm>
            <a:off x="1752600" y="1447800"/>
            <a:ext cx="8915400" cy="4343400"/>
          </a:xfrm>
          <a:noFill/>
        </p:spPr>
        <p:txBody>
          <a:bodyPr vert="horz" wrap="square" lIns="90488" tIns="44450" rIns="90488" bIns="44450" numCol="1" anchor="t" anchorCtr="0" compatLnSpc="1">
            <a:prstTxWarp prst="textNoShape">
              <a:avLst/>
            </a:prstTxWarp>
          </a:bodyPr>
          <a:lstStyle/>
          <a:p>
            <a:r>
              <a:rPr lang="en-US" altLang="en-US" sz="2800" b="1"/>
              <a:t>Assumes an average is a good estimator of future behavior</a:t>
            </a:r>
            <a:r>
              <a:rPr lang="en-US" altLang="en-US" sz="2800" b="1" i="1"/>
              <a:t> </a:t>
            </a:r>
          </a:p>
          <a:p>
            <a:pPr lvl="1" eaLnBrk="1" hangingPunct="1">
              <a:spcBef>
                <a:spcPct val="40000"/>
              </a:spcBef>
            </a:pPr>
            <a:r>
              <a:rPr lang="en-US" altLang="en-US">
                <a:solidFill>
                  <a:srgbClr val="000099"/>
                </a:solidFill>
              </a:rPr>
              <a:t>Used if </a:t>
            </a:r>
            <a:r>
              <a:rPr lang="en-US" altLang="en-US" i="1">
                <a:solidFill>
                  <a:srgbClr val="000099"/>
                </a:solidFill>
              </a:rPr>
              <a:t>little or no trend</a:t>
            </a:r>
            <a:endParaRPr lang="en-US" altLang="en-US">
              <a:solidFill>
                <a:srgbClr val="000099"/>
              </a:solidFill>
            </a:endParaRPr>
          </a:p>
          <a:p>
            <a:pPr lvl="1" eaLnBrk="1" hangingPunct="1">
              <a:spcBef>
                <a:spcPct val="40000"/>
              </a:spcBef>
            </a:pPr>
            <a:r>
              <a:rPr lang="en-US" altLang="en-US">
                <a:solidFill>
                  <a:srgbClr val="000099"/>
                </a:solidFill>
              </a:rPr>
              <a:t>Used for smoothing</a:t>
            </a:r>
            <a:endParaRPr lang="en-US" altLang="en-US" sz="2400" b="1" i="1">
              <a:solidFill>
                <a:srgbClr val="000099"/>
              </a:solidFill>
            </a:endParaRPr>
          </a:p>
        </p:txBody>
      </p:sp>
      <p:sp>
        <p:nvSpPr>
          <p:cNvPr id="513031" name="Text Box 7">
            <a:extLst>
              <a:ext uri="{FF2B5EF4-FFF2-40B4-BE49-F238E27FC236}">
                <a16:creationId xmlns:a16="http://schemas.microsoft.com/office/drawing/2014/main" id="{7CBBB288-0B7D-E86F-0C7B-2B5E821F93D2}"/>
              </a:ext>
            </a:extLst>
          </p:cNvPr>
          <p:cNvSpPr txBox="1">
            <a:spLocks noChangeArrowheads="1"/>
          </p:cNvSpPr>
          <p:nvPr/>
        </p:nvSpPr>
        <p:spPr bwMode="auto">
          <a:xfrm>
            <a:off x="4114800" y="5105401"/>
            <a:ext cx="6324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sz="2400">
                <a:solidFill>
                  <a:srgbClr val="292929"/>
                </a:solidFill>
                <a:latin typeface="Times New Roman" panose="02020603050405020304" pitchFamily="18" charset="0"/>
              </a:rPr>
              <a:t>F</a:t>
            </a:r>
            <a:r>
              <a:rPr lang="en-US" altLang="en-US" sz="2400" baseline="-25000">
                <a:solidFill>
                  <a:srgbClr val="292929"/>
                </a:solidFill>
                <a:latin typeface="Times New Roman" panose="02020603050405020304" pitchFamily="18" charset="0"/>
              </a:rPr>
              <a:t>t+1</a:t>
            </a:r>
            <a:r>
              <a:rPr lang="en-US" altLang="en-US" sz="2400">
                <a:solidFill>
                  <a:srgbClr val="292929"/>
                </a:solidFill>
                <a:latin typeface="Times New Roman" panose="02020603050405020304" pitchFamily="18" charset="0"/>
              </a:rPr>
              <a:t> 	= Forecast for the upcoming period, t+1</a:t>
            </a:r>
          </a:p>
          <a:p>
            <a:pPr fontAlgn="base">
              <a:spcBef>
                <a:spcPct val="0"/>
              </a:spcBef>
              <a:spcAft>
                <a:spcPct val="0"/>
              </a:spcAft>
              <a:buClrTx/>
              <a:buNone/>
            </a:pPr>
            <a:r>
              <a:rPr lang="en-US" altLang="en-US" sz="2400">
                <a:solidFill>
                  <a:srgbClr val="292929"/>
                </a:solidFill>
                <a:latin typeface="Times New Roman" panose="02020603050405020304" pitchFamily="18" charset="0"/>
              </a:rPr>
              <a:t>n 	= Number of periods to be averaged</a:t>
            </a:r>
          </a:p>
          <a:p>
            <a:pPr fontAlgn="base">
              <a:spcBef>
                <a:spcPct val="0"/>
              </a:spcBef>
              <a:spcAft>
                <a:spcPct val="0"/>
              </a:spcAft>
              <a:buClrTx/>
              <a:buNone/>
            </a:pPr>
            <a:r>
              <a:rPr lang="en-US" altLang="en-US" sz="2400">
                <a:solidFill>
                  <a:srgbClr val="292929"/>
                </a:solidFill>
                <a:latin typeface="Times New Roman" panose="02020603050405020304" pitchFamily="18" charset="0"/>
              </a:rPr>
              <a:t>A </a:t>
            </a:r>
            <a:r>
              <a:rPr lang="en-US" altLang="en-US" sz="2400" baseline="-25000">
                <a:solidFill>
                  <a:srgbClr val="292929"/>
                </a:solidFill>
                <a:latin typeface="Times New Roman" panose="02020603050405020304" pitchFamily="18" charset="0"/>
              </a:rPr>
              <a:t>t</a:t>
            </a:r>
            <a:r>
              <a:rPr lang="en-US" altLang="en-US" sz="2400">
                <a:solidFill>
                  <a:srgbClr val="292929"/>
                </a:solidFill>
                <a:latin typeface="Times New Roman" panose="02020603050405020304" pitchFamily="18" charset="0"/>
              </a:rPr>
              <a:t> 	= Actual occurrence in period t</a:t>
            </a:r>
            <a:endParaRPr lang="en-US" altLang="en-US" sz="2400" baseline="-25000">
              <a:solidFill>
                <a:srgbClr val="292929"/>
              </a:solidFill>
              <a:latin typeface="Times New Roman" panose="02020603050405020304" pitchFamily="18" charset="0"/>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30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303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3030">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1302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13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30" grpId="0" uiExpand="1" build="p" autoUpdateAnimBg="0"/>
      <p:bldP spid="513031"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CA30D83-893A-F2D2-1C85-CEAF68ED521C}"/>
              </a:ext>
            </a:extLst>
          </p:cNvPr>
          <p:cNvSpPr>
            <a:spLocks noGrp="1" noChangeArrowheads="1"/>
          </p:cNvSpPr>
          <p:nvPr>
            <p:ph type="title"/>
          </p:nvPr>
        </p:nvSpPr>
        <p:spPr/>
        <p:txBody>
          <a:bodyPr/>
          <a:lstStyle/>
          <a:p>
            <a:pPr eaLnBrk="1" hangingPunct="1"/>
            <a:r>
              <a:rPr lang="en-US" altLang="en-US"/>
              <a:t>2a. Simple Moving Average</a:t>
            </a:r>
          </a:p>
        </p:txBody>
      </p:sp>
      <p:sp>
        <p:nvSpPr>
          <p:cNvPr id="51203" name="Rectangle 3">
            <a:extLst>
              <a:ext uri="{FF2B5EF4-FFF2-40B4-BE49-F238E27FC236}">
                <a16:creationId xmlns:a16="http://schemas.microsoft.com/office/drawing/2014/main" id="{A5BA60C7-640B-6B70-FFE9-2FB45D6378B9}"/>
              </a:ext>
            </a:extLst>
          </p:cNvPr>
          <p:cNvSpPr>
            <a:spLocks noGrp="1" noChangeArrowheads="1"/>
          </p:cNvSpPr>
          <p:nvPr>
            <p:ph type="body" sz="half" idx="1"/>
          </p:nvPr>
        </p:nvSpPr>
        <p:spPr>
          <a:xfrm>
            <a:off x="2320926" y="1371600"/>
            <a:ext cx="8118475" cy="41148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75" tIns="44444" rIns="90475" bIns="44444" numCol="1" anchor="t" anchorCtr="0" compatLnSpc="1">
            <a:prstTxWarp prst="textNoShape">
              <a:avLst/>
            </a:prstTxWarp>
          </a:bodyPr>
          <a:lstStyle/>
          <a:p>
            <a:pPr marL="0" indent="0" eaLnBrk="1" hangingPunct="1">
              <a:lnSpc>
                <a:spcPct val="110000"/>
              </a:lnSpc>
              <a:buNone/>
              <a:tabLst>
                <a:tab pos="908050" algn="l"/>
                <a:tab pos="2347913" algn="ctr"/>
              </a:tabLst>
            </a:pPr>
            <a:r>
              <a:rPr lang="en-US" altLang="en-US" sz="2800"/>
              <a:t>You’re manager in Amazon’s electronics department. You want to forecast ipod sales for months 4-6 using a </a:t>
            </a:r>
            <a:r>
              <a:rPr lang="en-US" altLang="en-US" sz="2800">
                <a:solidFill>
                  <a:srgbClr val="FF00FF"/>
                </a:solidFill>
              </a:rPr>
              <a:t>3</a:t>
            </a:r>
            <a:r>
              <a:rPr lang="en-US" altLang="en-US" sz="2800"/>
              <a:t>-period moving average.</a:t>
            </a:r>
            <a:br>
              <a:rPr lang="en-US" altLang="en-US" sz="2800"/>
            </a:br>
            <a:r>
              <a:rPr lang="en-US" altLang="en-US" sz="2800"/>
              <a:t>	</a:t>
            </a:r>
          </a:p>
          <a:p>
            <a:pPr marL="0" indent="0" eaLnBrk="1" hangingPunct="1">
              <a:lnSpc>
                <a:spcPct val="110000"/>
              </a:lnSpc>
              <a:buNone/>
              <a:tabLst>
                <a:tab pos="908050" algn="l"/>
                <a:tab pos="2347913" algn="ctr"/>
              </a:tabLst>
            </a:pPr>
            <a:endParaRPr lang="en-US" altLang="en-US" sz="2800"/>
          </a:p>
          <a:p>
            <a:pPr marL="0" indent="0" eaLnBrk="1" hangingPunct="1">
              <a:lnSpc>
                <a:spcPct val="110000"/>
              </a:lnSpc>
              <a:buNone/>
              <a:tabLst>
                <a:tab pos="908050" algn="l"/>
                <a:tab pos="2347913" algn="ctr"/>
              </a:tabLst>
            </a:pPr>
            <a:r>
              <a:rPr lang="en-US" altLang="en-US" sz="2800"/>
              <a:t>	</a:t>
            </a:r>
            <a:endParaRPr lang="en-US" altLang="en-US" sz="2800">
              <a:solidFill>
                <a:schemeClr val="tx2"/>
              </a:solidFill>
            </a:endParaRPr>
          </a:p>
        </p:txBody>
      </p:sp>
      <p:graphicFrame>
        <p:nvGraphicFramePr>
          <p:cNvPr id="692230" name="Object 6">
            <a:extLst>
              <a:ext uri="{FF2B5EF4-FFF2-40B4-BE49-F238E27FC236}">
                <a16:creationId xmlns:a16="http://schemas.microsoft.com/office/drawing/2014/main" id="{259B36C0-520F-B362-A0BA-889B445C52F3}"/>
              </a:ext>
            </a:extLst>
          </p:cNvPr>
          <p:cNvGraphicFramePr>
            <a:graphicFrameLocks noGrp="1"/>
          </p:cNvGraphicFramePr>
          <p:nvPr>
            <p:ph sz="half" idx="2"/>
          </p:nvPr>
        </p:nvGraphicFramePr>
        <p:xfrm>
          <a:off x="7239000" y="0"/>
          <a:ext cx="3429000" cy="685800"/>
        </p:xfrm>
        <a:graphic>
          <a:graphicData uri="http://schemas.openxmlformats.org/presentationml/2006/ole">
            <mc:AlternateContent xmlns:mc="http://schemas.openxmlformats.org/markup-compatibility/2006">
              <mc:Choice xmlns:v="urn:schemas-microsoft-com:vml" Requires="v">
                <p:oleObj name="Equation" r:id="rId3" imgW="35766375" imgH="6800850" progId="Equation.3">
                  <p:embed/>
                </p:oleObj>
              </mc:Choice>
              <mc:Fallback>
                <p:oleObj name="Equation" r:id="rId3" imgW="35766375" imgH="6800850" progId="Equation.3">
                  <p:embed/>
                  <p:pic>
                    <p:nvPicPr>
                      <p:cNvPr id="692230" name="Object 6">
                        <a:extLst>
                          <a:ext uri="{FF2B5EF4-FFF2-40B4-BE49-F238E27FC236}">
                            <a16:creationId xmlns:a16="http://schemas.microsoft.com/office/drawing/2014/main" id="{259B36C0-520F-B362-A0BA-889B445C5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0"/>
                        <a:ext cx="3429000" cy="6858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692284" name="Rectangle 60">
            <a:extLst>
              <a:ext uri="{FF2B5EF4-FFF2-40B4-BE49-F238E27FC236}">
                <a16:creationId xmlns:a16="http://schemas.microsoft.com/office/drawing/2014/main" id="{112674A6-1CE8-158B-860A-7D0D1D292CB8}"/>
              </a:ext>
            </a:extLst>
          </p:cNvPr>
          <p:cNvSpPr>
            <a:spLocks noChangeArrowheads="1"/>
          </p:cNvSpPr>
          <p:nvPr/>
        </p:nvSpPr>
        <p:spPr bwMode="auto">
          <a:xfrm>
            <a:off x="2486025" y="5295901"/>
            <a:ext cx="1474788"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85" name="Rectangle 61">
            <a:extLst>
              <a:ext uri="{FF2B5EF4-FFF2-40B4-BE49-F238E27FC236}">
                <a16:creationId xmlns:a16="http://schemas.microsoft.com/office/drawing/2014/main" id="{EB0CC985-FFE2-C2A5-7DE6-6A4FAC48E2EE}"/>
              </a:ext>
            </a:extLst>
          </p:cNvPr>
          <p:cNvSpPr>
            <a:spLocks noChangeArrowheads="1"/>
          </p:cNvSpPr>
          <p:nvPr/>
        </p:nvSpPr>
        <p:spPr bwMode="auto">
          <a:xfrm>
            <a:off x="3970339" y="5295901"/>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86" name="Rectangle 62">
            <a:extLst>
              <a:ext uri="{FF2B5EF4-FFF2-40B4-BE49-F238E27FC236}">
                <a16:creationId xmlns:a16="http://schemas.microsoft.com/office/drawing/2014/main" id="{6A1B7931-64B2-A1F3-D2A1-ECDE77E64486}"/>
              </a:ext>
            </a:extLst>
          </p:cNvPr>
          <p:cNvSpPr>
            <a:spLocks noChangeArrowheads="1"/>
          </p:cNvSpPr>
          <p:nvPr/>
        </p:nvSpPr>
        <p:spPr bwMode="auto">
          <a:xfrm>
            <a:off x="6129339" y="5295901"/>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88" name="Rectangle 64">
            <a:extLst>
              <a:ext uri="{FF2B5EF4-FFF2-40B4-BE49-F238E27FC236}">
                <a16:creationId xmlns:a16="http://schemas.microsoft.com/office/drawing/2014/main" id="{70CB34F8-B110-8C6F-1C4C-69EDC1F13753}"/>
              </a:ext>
            </a:extLst>
          </p:cNvPr>
          <p:cNvSpPr>
            <a:spLocks noChangeArrowheads="1"/>
          </p:cNvSpPr>
          <p:nvPr/>
        </p:nvSpPr>
        <p:spPr bwMode="auto">
          <a:xfrm>
            <a:off x="2446338" y="487203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89" name="Rectangle 65">
            <a:extLst>
              <a:ext uri="{FF2B5EF4-FFF2-40B4-BE49-F238E27FC236}">
                <a16:creationId xmlns:a16="http://schemas.microsoft.com/office/drawing/2014/main" id="{2BAD095A-1130-44A5-24A7-88002EE01C15}"/>
              </a:ext>
            </a:extLst>
          </p:cNvPr>
          <p:cNvSpPr>
            <a:spLocks noChangeArrowheads="1"/>
          </p:cNvSpPr>
          <p:nvPr/>
        </p:nvSpPr>
        <p:spPr bwMode="auto">
          <a:xfrm>
            <a:off x="2476500" y="4872039"/>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0" name="Rectangle 66">
            <a:extLst>
              <a:ext uri="{FF2B5EF4-FFF2-40B4-BE49-F238E27FC236}">
                <a16:creationId xmlns:a16="http://schemas.microsoft.com/office/drawing/2014/main" id="{1FD959F5-2BBE-59D4-D0E5-480BA2D72282}"/>
              </a:ext>
            </a:extLst>
          </p:cNvPr>
          <p:cNvSpPr>
            <a:spLocks noChangeArrowheads="1"/>
          </p:cNvSpPr>
          <p:nvPr/>
        </p:nvSpPr>
        <p:spPr bwMode="auto">
          <a:xfrm>
            <a:off x="3951289" y="487203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1" name="Rectangle 67">
            <a:extLst>
              <a:ext uri="{FF2B5EF4-FFF2-40B4-BE49-F238E27FC236}">
                <a16:creationId xmlns:a16="http://schemas.microsoft.com/office/drawing/2014/main" id="{34C9DF77-6322-76FB-6A53-9AC588FE01BE}"/>
              </a:ext>
            </a:extLst>
          </p:cNvPr>
          <p:cNvSpPr>
            <a:spLocks noChangeArrowheads="1"/>
          </p:cNvSpPr>
          <p:nvPr/>
        </p:nvSpPr>
        <p:spPr bwMode="auto">
          <a:xfrm>
            <a:off x="3960814" y="487203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2" name="Rectangle 68">
            <a:extLst>
              <a:ext uri="{FF2B5EF4-FFF2-40B4-BE49-F238E27FC236}">
                <a16:creationId xmlns:a16="http://schemas.microsoft.com/office/drawing/2014/main" id="{C7524D79-EFAF-3434-C5F2-80CE341D2D40}"/>
              </a:ext>
            </a:extLst>
          </p:cNvPr>
          <p:cNvSpPr>
            <a:spLocks noChangeArrowheads="1"/>
          </p:cNvSpPr>
          <p:nvPr/>
        </p:nvSpPr>
        <p:spPr bwMode="auto">
          <a:xfrm>
            <a:off x="6110289" y="487203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3" name="Rectangle 69">
            <a:extLst>
              <a:ext uri="{FF2B5EF4-FFF2-40B4-BE49-F238E27FC236}">
                <a16:creationId xmlns:a16="http://schemas.microsoft.com/office/drawing/2014/main" id="{3097B936-0A1F-F00D-4164-093948A0388D}"/>
              </a:ext>
            </a:extLst>
          </p:cNvPr>
          <p:cNvSpPr>
            <a:spLocks noChangeArrowheads="1"/>
          </p:cNvSpPr>
          <p:nvPr/>
        </p:nvSpPr>
        <p:spPr bwMode="auto">
          <a:xfrm>
            <a:off x="6119814" y="487203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7" name="Rectangle 73">
            <a:extLst>
              <a:ext uri="{FF2B5EF4-FFF2-40B4-BE49-F238E27FC236}">
                <a16:creationId xmlns:a16="http://schemas.microsoft.com/office/drawing/2014/main" id="{19CD8E2D-0066-CB64-C0DD-DEFA497FC9ED}"/>
              </a:ext>
            </a:extLst>
          </p:cNvPr>
          <p:cNvSpPr>
            <a:spLocks noChangeArrowheads="1"/>
          </p:cNvSpPr>
          <p:nvPr/>
        </p:nvSpPr>
        <p:spPr bwMode="auto">
          <a:xfrm>
            <a:off x="2446338" y="5800726"/>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8" name="Rectangle 74">
            <a:extLst>
              <a:ext uri="{FF2B5EF4-FFF2-40B4-BE49-F238E27FC236}">
                <a16:creationId xmlns:a16="http://schemas.microsoft.com/office/drawing/2014/main" id="{7782EFCE-54C5-82C2-C250-7F6731A15908}"/>
              </a:ext>
            </a:extLst>
          </p:cNvPr>
          <p:cNvSpPr>
            <a:spLocks noChangeArrowheads="1"/>
          </p:cNvSpPr>
          <p:nvPr/>
        </p:nvSpPr>
        <p:spPr bwMode="auto">
          <a:xfrm>
            <a:off x="2476500" y="5800726"/>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299" name="Rectangle 75">
            <a:extLst>
              <a:ext uri="{FF2B5EF4-FFF2-40B4-BE49-F238E27FC236}">
                <a16:creationId xmlns:a16="http://schemas.microsoft.com/office/drawing/2014/main" id="{5CF64FC8-3AF1-7F86-D4D6-82082A5E154A}"/>
              </a:ext>
            </a:extLst>
          </p:cNvPr>
          <p:cNvSpPr>
            <a:spLocks noChangeArrowheads="1"/>
          </p:cNvSpPr>
          <p:nvPr/>
        </p:nvSpPr>
        <p:spPr bwMode="auto">
          <a:xfrm>
            <a:off x="3951289" y="5800726"/>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300" name="Rectangle 76">
            <a:extLst>
              <a:ext uri="{FF2B5EF4-FFF2-40B4-BE49-F238E27FC236}">
                <a16:creationId xmlns:a16="http://schemas.microsoft.com/office/drawing/2014/main" id="{41A8C032-AC19-2213-7274-F91C62937F0B}"/>
              </a:ext>
            </a:extLst>
          </p:cNvPr>
          <p:cNvSpPr>
            <a:spLocks noChangeArrowheads="1"/>
          </p:cNvSpPr>
          <p:nvPr/>
        </p:nvSpPr>
        <p:spPr bwMode="auto">
          <a:xfrm>
            <a:off x="3960814" y="5800726"/>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301" name="Rectangle 77">
            <a:extLst>
              <a:ext uri="{FF2B5EF4-FFF2-40B4-BE49-F238E27FC236}">
                <a16:creationId xmlns:a16="http://schemas.microsoft.com/office/drawing/2014/main" id="{C3590687-CC9C-11E0-0427-B558C96FF4CD}"/>
              </a:ext>
            </a:extLst>
          </p:cNvPr>
          <p:cNvSpPr>
            <a:spLocks noChangeArrowheads="1"/>
          </p:cNvSpPr>
          <p:nvPr/>
        </p:nvSpPr>
        <p:spPr bwMode="auto">
          <a:xfrm>
            <a:off x="6110289" y="5800726"/>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302" name="Rectangle 78">
            <a:extLst>
              <a:ext uri="{FF2B5EF4-FFF2-40B4-BE49-F238E27FC236}">
                <a16:creationId xmlns:a16="http://schemas.microsoft.com/office/drawing/2014/main" id="{784030E6-2153-F5B7-0840-A17EB28562AB}"/>
              </a:ext>
            </a:extLst>
          </p:cNvPr>
          <p:cNvSpPr>
            <a:spLocks noChangeArrowheads="1"/>
          </p:cNvSpPr>
          <p:nvPr/>
        </p:nvSpPr>
        <p:spPr bwMode="auto">
          <a:xfrm>
            <a:off x="6119814" y="5800726"/>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306" name="Rectangle 82">
            <a:extLst>
              <a:ext uri="{FF2B5EF4-FFF2-40B4-BE49-F238E27FC236}">
                <a16:creationId xmlns:a16="http://schemas.microsoft.com/office/drawing/2014/main" id="{A2855160-3BEF-A736-DC19-83FDF783ADC6}"/>
              </a:ext>
            </a:extLst>
          </p:cNvPr>
          <p:cNvSpPr>
            <a:spLocks noChangeArrowheads="1"/>
          </p:cNvSpPr>
          <p:nvPr/>
        </p:nvSpPr>
        <p:spPr bwMode="auto">
          <a:xfrm>
            <a:off x="2462214" y="2901951"/>
            <a:ext cx="7731125" cy="38592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92307" name="Rectangle 83">
            <a:extLst>
              <a:ext uri="{FF2B5EF4-FFF2-40B4-BE49-F238E27FC236}">
                <a16:creationId xmlns:a16="http://schemas.microsoft.com/office/drawing/2014/main" id="{52F932FE-DE53-3EA0-AB19-1C2A2DF83B02}"/>
              </a:ext>
            </a:extLst>
          </p:cNvPr>
          <p:cNvSpPr>
            <a:spLocks noChangeArrowheads="1"/>
          </p:cNvSpPr>
          <p:nvPr/>
        </p:nvSpPr>
        <p:spPr bwMode="auto">
          <a:xfrm>
            <a:off x="2619375" y="3362326"/>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692308" name="Rectangle 84">
            <a:extLst>
              <a:ext uri="{FF2B5EF4-FFF2-40B4-BE49-F238E27FC236}">
                <a16:creationId xmlns:a16="http://schemas.microsoft.com/office/drawing/2014/main" id="{DBED9AAA-7ADE-32E7-D33D-8F82F1032035}"/>
              </a:ext>
            </a:extLst>
          </p:cNvPr>
          <p:cNvSpPr>
            <a:spLocks noChangeArrowheads="1"/>
          </p:cNvSpPr>
          <p:nvPr/>
        </p:nvSpPr>
        <p:spPr bwMode="auto">
          <a:xfrm>
            <a:off x="4382186" y="289560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692311" name="Line 87">
            <a:extLst>
              <a:ext uri="{FF2B5EF4-FFF2-40B4-BE49-F238E27FC236}">
                <a16:creationId xmlns:a16="http://schemas.microsoft.com/office/drawing/2014/main" id="{2C3B872B-1729-5D36-FBC9-E4274236A748}"/>
              </a:ext>
            </a:extLst>
          </p:cNvPr>
          <p:cNvSpPr>
            <a:spLocks noChangeShapeType="1"/>
          </p:cNvSpPr>
          <p:nvPr/>
        </p:nvSpPr>
        <p:spPr bwMode="auto">
          <a:xfrm>
            <a:off x="3951289" y="2917825"/>
            <a:ext cx="1587"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12" name="Line 88">
            <a:extLst>
              <a:ext uri="{FF2B5EF4-FFF2-40B4-BE49-F238E27FC236}">
                <a16:creationId xmlns:a16="http://schemas.microsoft.com/office/drawing/2014/main" id="{759E089B-FE90-69F5-D05F-929015909CA1}"/>
              </a:ext>
            </a:extLst>
          </p:cNvPr>
          <p:cNvSpPr>
            <a:spLocks noChangeShapeType="1"/>
          </p:cNvSpPr>
          <p:nvPr/>
        </p:nvSpPr>
        <p:spPr bwMode="auto">
          <a:xfrm>
            <a:off x="6096001" y="2917825"/>
            <a:ext cx="4763"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13" name="Rectangle 89">
            <a:extLst>
              <a:ext uri="{FF2B5EF4-FFF2-40B4-BE49-F238E27FC236}">
                <a16:creationId xmlns:a16="http://schemas.microsoft.com/office/drawing/2014/main" id="{C595D232-97F2-654D-B9BB-96CB82F8DAC3}"/>
              </a:ext>
            </a:extLst>
          </p:cNvPr>
          <p:cNvSpPr>
            <a:spLocks noChangeArrowheads="1"/>
          </p:cNvSpPr>
          <p:nvPr/>
        </p:nvSpPr>
        <p:spPr bwMode="auto">
          <a:xfrm>
            <a:off x="2833688" y="38925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692314" name="Rectangle 90">
            <a:extLst>
              <a:ext uri="{FF2B5EF4-FFF2-40B4-BE49-F238E27FC236}">
                <a16:creationId xmlns:a16="http://schemas.microsoft.com/office/drawing/2014/main" id="{2BB18773-CDB0-E855-A05F-CD395BC717AB}"/>
              </a:ext>
            </a:extLst>
          </p:cNvPr>
          <p:cNvSpPr>
            <a:spLocks noChangeArrowheads="1"/>
          </p:cNvSpPr>
          <p:nvPr/>
        </p:nvSpPr>
        <p:spPr bwMode="auto">
          <a:xfrm>
            <a:off x="4543425" y="38925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92316" name="Line 92">
            <a:extLst>
              <a:ext uri="{FF2B5EF4-FFF2-40B4-BE49-F238E27FC236}">
                <a16:creationId xmlns:a16="http://schemas.microsoft.com/office/drawing/2014/main" id="{89D7CFA2-2099-2AA3-4907-969B190BC32F}"/>
              </a:ext>
            </a:extLst>
          </p:cNvPr>
          <p:cNvSpPr>
            <a:spLocks noChangeShapeType="1"/>
          </p:cNvSpPr>
          <p:nvPr/>
        </p:nvSpPr>
        <p:spPr bwMode="auto">
          <a:xfrm>
            <a:off x="2476501" y="387985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17" name="Rectangle 93">
            <a:extLst>
              <a:ext uri="{FF2B5EF4-FFF2-40B4-BE49-F238E27FC236}">
                <a16:creationId xmlns:a16="http://schemas.microsoft.com/office/drawing/2014/main" id="{06695DEE-8487-647B-35B6-0B18BFC493A2}"/>
              </a:ext>
            </a:extLst>
          </p:cNvPr>
          <p:cNvSpPr>
            <a:spLocks noChangeArrowheads="1"/>
          </p:cNvSpPr>
          <p:nvPr/>
        </p:nvSpPr>
        <p:spPr bwMode="auto">
          <a:xfrm>
            <a:off x="2833688" y="43830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692318" name="Rectangle 94">
            <a:extLst>
              <a:ext uri="{FF2B5EF4-FFF2-40B4-BE49-F238E27FC236}">
                <a16:creationId xmlns:a16="http://schemas.microsoft.com/office/drawing/2014/main" id="{D71D0976-B634-0269-8F9B-239E1B4D06C4}"/>
              </a:ext>
            </a:extLst>
          </p:cNvPr>
          <p:cNvSpPr>
            <a:spLocks noChangeArrowheads="1"/>
          </p:cNvSpPr>
          <p:nvPr/>
        </p:nvSpPr>
        <p:spPr bwMode="auto">
          <a:xfrm>
            <a:off x="4543425" y="43830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92320" name="Rectangle 96">
            <a:extLst>
              <a:ext uri="{FF2B5EF4-FFF2-40B4-BE49-F238E27FC236}">
                <a16:creationId xmlns:a16="http://schemas.microsoft.com/office/drawing/2014/main" id="{16150011-6B8A-86FF-BD66-FEEB038BD390}"/>
              </a:ext>
            </a:extLst>
          </p:cNvPr>
          <p:cNvSpPr>
            <a:spLocks noChangeArrowheads="1"/>
          </p:cNvSpPr>
          <p:nvPr/>
        </p:nvSpPr>
        <p:spPr bwMode="auto">
          <a:xfrm>
            <a:off x="2833688" y="48815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692321" name="Rectangle 97">
            <a:extLst>
              <a:ext uri="{FF2B5EF4-FFF2-40B4-BE49-F238E27FC236}">
                <a16:creationId xmlns:a16="http://schemas.microsoft.com/office/drawing/2014/main" id="{7283A6F4-BBAB-F22E-5A24-5085854B51DD}"/>
              </a:ext>
            </a:extLst>
          </p:cNvPr>
          <p:cNvSpPr>
            <a:spLocks noChangeArrowheads="1"/>
          </p:cNvSpPr>
          <p:nvPr/>
        </p:nvSpPr>
        <p:spPr bwMode="auto">
          <a:xfrm>
            <a:off x="4543425" y="48815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92323" name="Rectangle 99">
            <a:extLst>
              <a:ext uri="{FF2B5EF4-FFF2-40B4-BE49-F238E27FC236}">
                <a16:creationId xmlns:a16="http://schemas.microsoft.com/office/drawing/2014/main" id="{4E224A9C-8BF3-D670-E302-6CB3A3542037}"/>
              </a:ext>
            </a:extLst>
          </p:cNvPr>
          <p:cNvSpPr>
            <a:spLocks noChangeArrowheads="1"/>
          </p:cNvSpPr>
          <p:nvPr/>
        </p:nvSpPr>
        <p:spPr bwMode="auto">
          <a:xfrm>
            <a:off x="2833688" y="53451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92324" name="Rectangle 100">
            <a:extLst>
              <a:ext uri="{FF2B5EF4-FFF2-40B4-BE49-F238E27FC236}">
                <a16:creationId xmlns:a16="http://schemas.microsoft.com/office/drawing/2014/main" id="{E1B4934D-A3BA-EAC4-F24A-EB11FEEC488D}"/>
              </a:ext>
            </a:extLst>
          </p:cNvPr>
          <p:cNvSpPr>
            <a:spLocks noChangeArrowheads="1"/>
          </p:cNvSpPr>
          <p:nvPr/>
        </p:nvSpPr>
        <p:spPr bwMode="auto">
          <a:xfrm>
            <a:off x="4543425" y="53451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92325" name="Rectangle 101">
            <a:extLst>
              <a:ext uri="{FF2B5EF4-FFF2-40B4-BE49-F238E27FC236}">
                <a16:creationId xmlns:a16="http://schemas.microsoft.com/office/drawing/2014/main" id="{FE55DA48-F499-E813-C5F7-4FBFF63F771C}"/>
              </a:ext>
            </a:extLst>
          </p:cNvPr>
          <p:cNvSpPr>
            <a:spLocks noChangeArrowheads="1"/>
          </p:cNvSpPr>
          <p:nvPr/>
        </p:nvSpPr>
        <p:spPr bwMode="auto">
          <a:xfrm>
            <a:off x="2833688" y="58134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92326" name="Rectangle 102">
            <a:extLst>
              <a:ext uri="{FF2B5EF4-FFF2-40B4-BE49-F238E27FC236}">
                <a16:creationId xmlns:a16="http://schemas.microsoft.com/office/drawing/2014/main" id="{E512DA61-3927-22E9-0EBB-C1FDA5582318}"/>
              </a:ext>
            </a:extLst>
          </p:cNvPr>
          <p:cNvSpPr>
            <a:spLocks noChangeArrowheads="1"/>
          </p:cNvSpPr>
          <p:nvPr/>
        </p:nvSpPr>
        <p:spPr bwMode="auto">
          <a:xfrm>
            <a:off x="4543425" y="58134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92328" name="Rectangle 104">
            <a:extLst>
              <a:ext uri="{FF2B5EF4-FFF2-40B4-BE49-F238E27FC236}">
                <a16:creationId xmlns:a16="http://schemas.microsoft.com/office/drawing/2014/main" id="{F1FA11BF-AE5B-449C-4CE6-DFF81FFC742D}"/>
              </a:ext>
            </a:extLst>
          </p:cNvPr>
          <p:cNvSpPr>
            <a:spLocks noChangeArrowheads="1"/>
          </p:cNvSpPr>
          <p:nvPr/>
        </p:nvSpPr>
        <p:spPr bwMode="auto">
          <a:xfrm>
            <a:off x="2833688" y="62738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92329" name="Rectangle 105">
            <a:extLst>
              <a:ext uri="{FF2B5EF4-FFF2-40B4-BE49-F238E27FC236}">
                <a16:creationId xmlns:a16="http://schemas.microsoft.com/office/drawing/2014/main" id="{376AF76D-575A-2C62-EC19-191A015EEADD}"/>
              </a:ext>
            </a:extLst>
          </p:cNvPr>
          <p:cNvSpPr>
            <a:spLocks noChangeArrowheads="1"/>
          </p:cNvSpPr>
          <p:nvPr/>
        </p:nvSpPr>
        <p:spPr bwMode="auto">
          <a:xfrm>
            <a:off x="4506913" y="63023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92331" name="Line 107">
            <a:extLst>
              <a:ext uri="{FF2B5EF4-FFF2-40B4-BE49-F238E27FC236}">
                <a16:creationId xmlns:a16="http://schemas.microsoft.com/office/drawing/2014/main" id="{36F5B1F1-BC6C-212C-1D0C-9E4E16F53711}"/>
              </a:ext>
            </a:extLst>
          </p:cNvPr>
          <p:cNvSpPr>
            <a:spLocks noChangeShapeType="1"/>
          </p:cNvSpPr>
          <p:nvPr/>
        </p:nvSpPr>
        <p:spPr bwMode="auto">
          <a:xfrm>
            <a:off x="2471739" y="4367214"/>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32" name="Line 108">
            <a:extLst>
              <a:ext uri="{FF2B5EF4-FFF2-40B4-BE49-F238E27FC236}">
                <a16:creationId xmlns:a16="http://schemas.microsoft.com/office/drawing/2014/main" id="{1FF49964-E773-D077-C242-88ECE69E6614}"/>
              </a:ext>
            </a:extLst>
          </p:cNvPr>
          <p:cNvSpPr>
            <a:spLocks noChangeShapeType="1"/>
          </p:cNvSpPr>
          <p:nvPr/>
        </p:nvSpPr>
        <p:spPr bwMode="auto">
          <a:xfrm>
            <a:off x="2479676" y="487838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33" name="Line 109">
            <a:extLst>
              <a:ext uri="{FF2B5EF4-FFF2-40B4-BE49-F238E27FC236}">
                <a16:creationId xmlns:a16="http://schemas.microsoft.com/office/drawing/2014/main" id="{7923719E-9C93-1BDF-36F7-384386A8C8C8}"/>
              </a:ext>
            </a:extLst>
          </p:cNvPr>
          <p:cNvSpPr>
            <a:spLocks noChangeShapeType="1"/>
          </p:cNvSpPr>
          <p:nvPr/>
        </p:nvSpPr>
        <p:spPr bwMode="auto">
          <a:xfrm>
            <a:off x="2447926" y="5326064"/>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34" name="Line 110">
            <a:extLst>
              <a:ext uri="{FF2B5EF4-FFF2-40B4-BE49-F238E27FC236}">
                <a16:creationId xmlns:a16="http://schemas.microsoft.com/office/drawing/2014/main" id="{8270B4D2-3B2D-9F84-E4B3-A2669F86FC5A}"/>
              </a:ext>
            </a:extLst>
          </p:cNvPr>
          <p:cNvSpPr>
            <a:spLocks noChangeShapeType="1"/>
          </p:cNvSpPr>
          <p:nvPr/>
        </p:nvSpPr>
        <p:spPr bwMode="auto">
          <a:xfrm flipV="1">
            <a:off x="2471739" y="5803900"/>
            <a:ext cx="7718425" cy="79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92335" name="Line 111">
            <a:extLst>
              <a:ext uri="{FF2B5EF4-FFF2-40B4-BE49-F238E27FC236}">
                <a16:creationId xmlns:a16="http://schemas.microsoft.com/office/drawing/2014/main" id="{3E8340A3-7C5F-D371-623A-22B98D779E2C}"/>
              </a:ext>
            </a:extLst>
          </p:cNvPr>
          <p:cNvSpPr>
            <a:spLocks noChangeShapeType="1"/>
          </p:cNvSpPr>
          <p:nvPr/>
        </p:nvSpPr>
        <p:spPr bwMode="auto">
          <a:xfrm>
            <a:off x="2451100" y="6259514"/>
            <a:ext cx="775970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pic>
        <p:nvPicPr>
          <p:cNvPr id="692339" name="Picture 115">
            <a:extLst>
              <a:ext uri="{FF2B5EF4-FFF2-40B4-BE49-F238E27FC236}">
                <a16:creationId xmlns:a16="http://schemas.microsoft.com/office/drawing/2014/main" id="{97A734F0-A60F-0756-2472-0954398CC4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6382" y="1371600"/>
            <a:ext cx="180975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69233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922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228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22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22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228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22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229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22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229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22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229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9229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9230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9230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9230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230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9230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9230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923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923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9231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9231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9231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9231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923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923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9232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9232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9232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9232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232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9232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9232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9233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9233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9233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923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92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307" grpId="0"/>
      <p:bldP spid="692308" grpId="0"/>
      <p:bldP spid="692313" grpId="0"/>
      <p:bldP spid="692314" grpId="0"/>
      <p:bldP spid="692317" grpId="0"/>
      <p:bldP spid="692318" grpId="0"/>
      <p:bldP spid="692320" grpId="0"/>
      <p:bldP spid="692321" grpId="0"/>
      <p:bldP spid="692323" grpId="0"/>
      <p:bldP spid="692324" grpId="0"/>
      <p:bldP spid="692325" grpId="0"/>
      <p:bldP spid="692326" grpId="0"/>
      <p:bldP spid="692328" grpId="0"/>
      <p:bldP spid="69232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2809B6B-A766-EE29-F435-3759EBCA9D39}"/>
              </a:ext>
            </a:extLst>
          </p:cNvPr>
          <p:cNvSpPr>
            <a:spLocks noGrp="1" noChangeArrowheads="1"/>
          </p:cNvSpPr>
          <p:nvPr>
            <p:ph type="title"/>
          </p:nvPr>
        </p:nvSpPr>
        <p:spPr/>
        <p:txBody>
          <a:bodyPr/>
          <a:lstStyle/>
          <a:p>
            <a:pPr eaLnBrk="1" hangingPunct="1"/>
            <a:r>
              <a:rPr lang="en-US" altLang="en-US" dirty="0"/>
              <a:t> Simple Moving Average</a:t>
            </a:r>
          </a:p>
        </p:txBody>
      </p:sp>
      <p:sp>
        <p:nvSpPr>
          <p:cNvPr id="53251" name="Rectangle 3">
            <a:extLst>
              <a:ext uri="{FF2B5EF4-FFF2-40B4-BE49-F238E27FC236}">
                <a16:creationId xmlns:a16="http://schemas.microsoft.com/office/drawing/2014/main" id="{CE8655D0-F87C-D06C-D421-BF39FB7D2A3E}"/>
              </a:ext>
            </a:extLst>
          </p:cNvPr>
          <p:cNvSpPr>
            <a:spLocks noChangeArrowheads="1"/>
          </p:cNvSpPr>
          <p:nvPr/>
        </p:nvSpPr>
        <p:spPr bwMode="auto">
          <a:xfrm>
            <a:off x="2478089" y="5289551"/>
            <a:ext cx="1474787"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2" name="Rectangle 4">
            <a:extLst>
              <a:ext uri="{FF2B5EF4-FFF2-40B4-BE49-F238E27FC236}">
                <a16:creationId xmlns:a16="http://schemas.microsoft.com/office/drawing/2014/main" id="{9D96AF2C-7C11-092F-F5B4-96EA420EB457}"/>
              </a:ext>
            </a:extLst>
          </p:cNvPr>
          <p:cNvSpPr>
            <a:spLocks noChangeArrowheads="1"/>
          </p:cNvSpPr>
          <p:nvPr/>
        </p:nvSpPr>
        <p:spPr bwMode="auto">
          <a:xfrm>
            <a:off x="3962401" y="5289551"/>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3" name="Rectangle 5">
            <a:extLst>
              <a:ext uri="{FF2B5EF4-FFF2-40B4-BE49-F238E27FC236}">
                <a16:creationId xmlns:a16="http://schemas.microsoft.com/office/drawing/2014/main" id="{127782B7-476E-827A-B8CF-7D0A56080E75}"/>
              </a:ext>
            </a:extLst>
          </p:cNvPr>
          <p:cNvSpPr>
            <a:spLocks noChangeArrowheads="1"/>
          </p:cNvSpPr>
          <p:nvPr/>
        </p:nvSpPr>
        <p:spPr bwMode="auto">
          <a:xfrm>
            <a:off x="6121401" y="5289551"/>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4" name="Rectangle 6">
            <a:extLst>
              <a:ext uri="{FF2B5EF4-FFF2-40B4-BE49-F238E27FC236}">
                <a16:creationId xmlns:a16="http://schemas.microsoft.com/office/drawing/2014/main" id="{73DD718F-B2B2-80C2-73C1-E5E93F2F0D80}"/>
              </a:ext>
            </a:extLst>
          </p:cNvPr>
          <p:cNvSpPr>
            <a:spLocks noChangeArrowheads="1"/>
          </p:cNvSpPr>
          <p:nvPr/>
        </p:nvSpPr>
        <p:spPr bwMode="auto">
          <a:xfrm>
            <a:off x="7958138" y="5289551"/>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5" name="Rectangle 8">
            <a:extLst>
              <a:ext uri="{FF2B5EF4-FFF2-40B4-BE49-F238E27FC236}">
                <a16:creationId xmlns:a16="http://schemas.microsoft.com/office/drawing/2014/main" id="{CCC890EF-B18D-0B28-EFD8-904E22C4013A}"/>
              </a:ext>
            </a:extLst>
          </p:cNvPr>
          <p:cNvSpPr>
            <a:spLocks noChangeArrowheads="1"/>
          </p:cNvSpPr>
          <p:nvPr/>
        </p:nvSpPr>
        <p:spPr bwMode="auto">
          <a:xfrm>
            <a:off x="2438401" y="4865689"/>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6" name="Rectangle 9">
            <a:extLst>
              <a:ext uri="{FF2B5EF4-FFF2-40B4-BE49-F238E27FC236}">
                <a16:creationId xmlns:a16="http://schemas.microsoft.com/office/drawing/2014/main" id="{987BD79A-9509-0FD2-8286-1EDBD5E52BD4}"/>
              </a:ext>
            </a:extLst>
          </p:cNvPr>
          <p:cNvSpPr>
            <a:spLocks noChangeArrowheads="1"/>
          </p:cNvSpPr>
          <p:nvPr/>
        </p:nvSpPr>
        <p:spPr bwMode="auto">
          <a:xfrm>
            <a:off x="2468564" y="4865689"/>
            <a:ext cx="14747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7" name="Rectangle 10">
            <a:extLst>
              <a:ext uri="{FF2B5EF4-FFF2-40B4-BE49-F238E27FC236}">
                <a16:creationId xmlns:a16="http://schemas.microsoft.com/office/drawing/2014/main" id="{19EF892F-5465-5019-C164-CE4CA99BBCAA}"/>
              </a:ext>
            </a:extLst>
          </p:cNvPr>
          <p:cNvSpPr>
            <a:spLocks noChangeArrowheads="1"/>
          </p:cNvSpPr>
          <p:nvPr/>
        </p:nvSpPr>
        <p:spPr bwMode="auto">
          <a:xfrm>
            <a:off x="3943351" y="48656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8" name="Rectangle 11">
            <a:extLst>
              <a:ext uri="{FF2B5EF4-FFF2-40B4-BE49-F238E27FC236}">
                <a16:creationId xmlns:a16="http://schemas.microsoft.com/office/drawing/2014/main" id="{FEFDDC94-0920-DDDF-29E4-EC9B1B265EF8}"/>
              </a:ext>
            </a:extLst>
          </p:cNvPr>
          <p:cNvSpPr>
            <a:spLocks noChangeArrowheads="1"/>
          </p:cNvSpPr>
          <p:nvPr/>
        </p:nvSpPr>
        <p:spPr bwMode="auto">
          <a:xfrm>
            <a:off x="3952876" y="486568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59" name="Rectangle 12">
            <a:extLst>
              <a:ext uri="{FF2B5EF4-FFF2-40B4-BE49-F238E27FC236}">
                <a16:creationId xmlns:a16="http://schemas.microsoft.com/office/drawing/2014/main" id="{A8F2C174-6E67-3B87-43BC-EC674DCBDA9E}"/>
              </a:ext>
            </a:extLst>
          </p:cNvPr>
          <p:cNvSpPr>
            <a:spLocks noChangeArrowheads="1"/>
          </p:cNvSpPr>
          <p:nvPr/>
        </p:nvSpPr>
        <p:spPr bwMode="auto">
          <a:xfrm>
            <a:off x="6102351" y="48656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0" name="Rectangle 13">
            <a:extLst>
              <a:ext uri="{FF2B5EF4-FFF2-40B4-BE49-F238E27FC236}">
                <a16:creationId xmlns:a16="http://schemas.microsoft.com/office/drawing/2014/main" id="{C8BDA65A-D635-4238-E9DB-808B72407F37}"/>
              </a:ext>
            </a:extLst>
          </p:cNvPr>
          <p:cNvSpPr>
            <a:spLocks noChangeArrowheads="1"/>
          </p:cNvSpPr>
          <p:nvPr/>
        </p:nvSpPr>
        <p:spPr bwMode="auto">
          <a:xfrm>
            <a:off x="6111876" y="486568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1" name="Rectangle 14">
            <a:extLst>
              <a:ext uri="{FF2B5EF4-FFF2-40B4-BE49-F238E27FC236}">
                <a16:creationId xmlns:a16="http://schemas.microsoft.com/office/drawing/2014/main" id="{3DFE9F8F-0BFB-7C29-07B2-1ED6437FF830}"/>
              </a:ext>
            </a:extLst>
          </p:cNvPr>
          <p:cNvSpPr>
            <a:spLocks noChangeArrowheads="1"/>
          </p:cNvSpPr>
          <p:nvPr/>
        </p:nvSpPr>
        <p:spPr bwMode="auto">
          <a:xfrm>
            <a:off x="7937501" y="4865689"/>
            <a:ext cx="111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2" name="Rectangle 15">
            <a:extLst>
              <a:ext uri="{FF2B5EF4-FFF2-40B4-BE49-F238E27FC236}">
                <a16:creationId xmlns:a16="http://schemas.microsoft.com/office/drawing/2014/main" id="{5A851F12-B419-6A6D-0FCD-96E2C5D53AA0}"/>
              </a:ext>
            </a:extLst>
          </p:cNvPr>
          <p:cNvSpPr>
            <a:spLocks noChangeArrowheads="1"/>
          </p:cNvSpPr>
          <p:nvPr/>
        </p:nvSpPr>
        <p:spPr bwMode="auto">
          <a:xfrm>
            <a:off x="7948613" y="4865689"/>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3" name="Rectangle 16">
            <a:extLst>
              <a:ext uri="{FF2B5EF4-FFF2-40B4-BE49-F238E27FC236}">
                <a16:creationId xmlns:a16="http://schemas.microsoft.com/office/drawing/2014/main" id="{85B6F1A8-AA9A-371D-6A0B-C69C4BFCB20F}"/>
              </a:ext>
            </a:extLst>
          </p:cNvPr>
          <p:cNvSpPr>
            <a:spLocks noChangeArrowheads="1"/>
          </p:cNvSpPr>
          <p:nvPr/>
        </p:nvSpPr>
        <p:spPr bwMode="auto">
          <a:xfrm>
            <a:off x="10152063" y="486568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4" name="Rectangle 17">
            <a:extLst>
              <a:ext uri="{FF2B5EF4-FFF2-40B4-BE49-F238E27FC236}">
                <a16:creationId xmlns:a16="http://schemas.microsoft.com/office/drawing/2014/main" id="{B07B58A8-DBE5-D404-57CA-E70BFC077F4F}"/>
              </a:ext>
            </a:extLst>
          </p:cNvPr>
          <p:cNvSpPr>
            <a:spLocks noChangeArrowheads="1"/>
          </p:cNvSpPr>
          <p:nvPr/>
        </p:nvSpPr>
        <p:spPr bwMode="auto">
          <a:xfrm>
            <a:off x="2438401" y="5794376"/>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5" name="Rectangle 18">
            <a:extLst>
              <a:ext uri="{FF2B5EF4-FFF2-40B4-BE49-F238E27FC236}">
                <a16:creationId xmlns:a16="http://schemas.microsoft.com/office/drawing/2014/main" id="{022F4067-EAD7-0545-E611-7A9EF95B61A3}"/>
              </a:ext>
            </a:extLst>
          </p:cNvPr>
          <p:cNvSpPr>
            <a:spLocks noChangeArrowheads="1"/>
          </p:cNvSpPr>
          <p:nvPr/>
        </p:nvSpPr>
        <p:spPr bwMode="auto">
          <a:xfrm>
            <a:off x="2468564" y="5794376"/>
            <a:ext cx="14747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6" name="Rectangle 19">
            <a:extLst>
              <a:ext uri="{FF2B5EF4-FFF2-40B4-BE49-F238E27FC236}">
                <a16:creationId xmlns:a16="http://schemas.microsoft.com/office/drawing/2014/main" id="{C652F4E4-4173-59AD-F8DF-712A09A2B032}"/>
              </a:ext>
            </a:extLst>
          </p:cNvPr>
          <p:cNvSpPr>
            <a:spLocks noChangeArrowheads="1"/>
          </p:cNvSpPr>
          <p:nvPr/>
        </p:nvSpPr>
        <p:spPr bwMode="auto">
          <a:xfrm>
            <a:off x="3943351" y="5794376"/>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7" name="Rectangle 20">
            <a:extLst>
              <a:ext uri="{FF2B5EF4-FFF2-40B4-BE49-F238E27FC236}">
                <a16:creationId xmlns:a16="http://schemas.microsoft.com/office/drawing/2014/main" id="{C3BBE99F-A7B9-91D4-EF26-1A3EAE8FEC91}"/>
              </a:ext>
            </a:extLst>
          </p:cNvPr>
          <p:cNvSpPr>
            <a:spLocks noChangeArrowheads="1"/>
          </p:cNvSpPr>
          <p:nvPr/>
        </p:nvSpPr>
        <p:spPr bwMode="auto">
          <a:xfrm>
            <a:off x="3952876" y="5794376"/>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8" name="Rectangle 21">
            <a:extLst>
              <a:ext uri="{FF2B5EF4-FFF2-40B4-BE49-F238E27FC236}">
                <a16:creationId xmlns:a16="http://schemas.microsoft.com/office/drawing/2014/main" id="{A36771C8-2DB2-016E-550D-10808808431D}"/>
              </a:ext>
            </a:extLst>
          </p:cNvPr>
          <p:cNvSpPr>
            <a:spLocks noChangeArrowheads="1"/>
          </p:cNvSpPr>
          <p:nvPr/>
        </p:nvSpPr>
        <p:spPr bwMode="auto">
          <a:xfrm>
            <a:off x="6102351" y="5794376"/>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69" name="Rectangle 22">
            <a:extLst>
              <a:ext uri="{FF2B5EF4-FFF2-40B4-BE49-F238E27FC236}">
                <a16:creationId xmlns:a16="http://schemas.microsoft.com/office/drawing/2014/main" id="{56A6A348-A314-C396-3B0C-1FE46E75E2EE}"/>
              </a:ext>
            </a:extLst>
          </p:cNvPr>
          <p:cNvSpPr>
            <a:spLocks noChangeArrowheads="1"/>
          </p:cNvSpPr>
          <p:nvPr/>
        </p:nvSpPr>
        <p:spPr bwMode="auto">
          <a:xfrm>
            <a:off x="6111876" y="5794376"/>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70" name="Rectangle 23">
            <a:extLst>
              <a:ext uri="{FF2B5EF4-FFF2-40B4-BE49-F238E27FC236}">
                <a16:creationId xmlns:a16="http://schemas.microsoft.com/office/drawing/2014/main" id="{DA232CDF-93FE-DDB3-3967-F552A0377055}"/>
              </a:ext>
            </a:extLst>
          </p:cNvPr>
          <p:cNvSpPr>
            <a:spLocks noChangeArrowheads="1"/>
          </p:cNvSpPr>
          <p:nvPr/>
        </p:nvSpPr>
        <p:spPr bwMode="auto">
          <a:xfrm>
            <a:off x="7937501" y="5794376"/>
            <a:ext cx="111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71" name="Rectangle 24">
            <a:extLst>
              <a:ext uri="{FF2B5EF4-FFF2-40B4-BE49-F238E27FC236}">
                <a16:creationId xmlns:a16="http://schemas.microsoft.com/office/drawing/2014/main" id="{C6FE91E3-FA86-2C0C-7F10-66ABFEC550B2}"/>
              </a:ext>
            </a:extLst>
          </p:cNvPr>
          <p:cNvSpPr>
            <a:spLocks noChangeArrowheads="1"/>
          </p:cNvSpPr>
          <p:nvPr/>
        </p:nvSpPr>
        <p:spPr bwMode="auto">
          <a:xfrm>
            <a:off x="7948613" y="5794376"/>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72" name="Rectangle 25">
            <a:extLst>
              <a:ext uri="{FF2B5EF4-FFF2-40B4-BE49-F238E27FC236}">
                <a16:creationId xmlns:a16="http://schemas.microsoft.com/office/drawing/2014/main" id="{A1ECE6F1-099C-8333-8B51-D06A6AD2AB12}"/>
              </a:ext>
            </a:extLst>
          </p:cNvPr>
          <p:cNvSpPr>
            <a:spLocks noChangeArrowheads="1"/>
          </p:cNvSpPr>
          <p:nvPr/>
        </p:nvSpPr>
        <p:spPr bwMode="auto">
          <a:xfrm>
            <a:off x="10152063" y="5794376"/>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73" name="Rectangle 26">
            <a:extLst>
              <a:ext uri="{FF2B5EF4-FFF2-40B4-BE49-F238E27FC236}">
                <a16:creationId xmlns:a16="http://schemas.microsoft.com/office/drawing/2014/main" id="{589F7E6C-EA31-089A-E2D6-7D53AB6D1A4F}"/>
              </a:ext>
            </a:extLst>
          </p:cNvPr>
          <p:cNvSpPr>
            <a:spLocks noChangeArrowheads="1"/>
          </p:cNvSpPr>
          <p:nvPr/>
        </p:nvSpPr>
        <p:spPr bwMode="auto">
          <a:xfrm>
            <a:off x="2454276" y="2895601"/>
            <a:ext cx="7731125" cy="38592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3274" name="Rectangle 27">
            <a:extLst>
              <a:ext uri="{FF2B5EF4-FFF2-40B4-BE49-F238E27FC236}">
                <a16:creationId xmlns:a16="http://schemas.microsoft.com/office/drawing/2014/main" id="{7C944620-81EC-F04E-601E-84F04F6222D1}"/>
              </a:ext>
            </a:extLst>
          </p:cNvPr>
          <p:cNvSpPr>
            <a:spLocks noChangeArrowheads="1"/>
          </p:cNvSpPr>
          <p:nvPr/>
        </p:nvSpPr>
        <p:spPr bwMode="auto">
          <a:xfrm>
            <a:off x="2611438" y="3355976"/>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53275" name="Rectangle 28">
            <a:extLst>
              <a:ext uri="{FF2B5EF4-FFF2-40B4-BE49-F238E27FC236}">
                <a16:creationId xmlns:a16="http://schemas.microsoft.com/office/drawing/2014/main" id="{1923E3AE-2EA3-B1C1-4186-9CBCD3920FED}"/>
              </a:ext>
            </a:extLst>
          </p:cNvPr>
          <p:cNvSpPr>
            <a:spLocks noChangeArrowheads="1"/>
          </p:cNvSpPr>
          <p:nvPr/>
        </p:nvSpPr>
        <p:spPr bwMode="auto">
          <a:xfrm>
            <a:off x="4374248" y="288925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53276" name="Rectangle 29">
            <a:extLst>
              <a:ext uri="{FF2B5EF4-FFF2-40B4-BE49-F238E27FC236}">
                <a16:creationId xmlns:a16="http://schemas.microsoft.com/office/drawing/2014/main" id="{AC03B8D1-0EFD-014C-05CA-CF05AAC5AB59}"/>
              </a:ext>
            </a:extLst>
          </p:cNvPr>
          <p:cNvSpPr>
            <a:spLocks noChangeArrowheads="1"/>
          </p:cNvSpPr>
          <p:nvPr/>
        </p:nvSpPr>
        <p:spPr bwMode="auto">
          <a:xfrm>
            <a:off x="6773863" y="2989264"/>
            <a:ext cx="24106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53277" name="Rectangle 30">
            <a:extLst>
              <a:ext uri="{FF2B5EF4-FFF2-40B4-BE49-F238E27FC236}">
                <a16:creationId xmlns:a16="http://schemas.microsoft.com/office/drawing/2014/main" id="{A5C48DC2-17A9-4249-6F32-87D3E7BE1B17}"/>
              </a:ext>
            </a:extLst>
          </p:cNvPr>
          <p:cNvSpPr>
            <a:spLocks noChangeArrowheads="1"/>
          </p:cNvSpPr>
          <p:nvPr/>
        </p:nvSpPr>
        <p:spPr bwMode="auto">
          <a:xfrm>
            <a:off x="7631114" y="3436939"/>
            <a:ext cx="7966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(n=3)</a:t>
            </a:r>
            <a:endParaRPr lang="en-US" altLang="en-US" sz="2600">
              <a:solidFill>
                <a:srgbClr val="292929"/>
              </a:solidFill>
              <a:latin typeface="Arial Narrow" panose="020B0606020202030204" pitchFamily="34" charset="0"/>
            </a:endParaRPr>
          </a:p>
        </p:txBody>
      </p:sp>
      <p:sp>
        <p:nvSpPr>
          <p:cNvPr id="53278" name="Line 31">
            <a:extLst>
              <a:ext uri="{FF2B5EF4-FFF2-40B4-BE49-F238E27FC236}">
                <a16:creationId xmlns:a16="http://schemas.microsoft.com/office/drawing/2014/main" id="{5B1114EC-5526-6F88-1581-7D922088A7C3}"/>
              </a:ext>
            </a:extLst>
          </p:cNvPr>
          <p:cNvSpPr>
            <a:spLocks noChangeShapeType="1"/>
          </p:cNvSpPr>
          <p:nvPr/>
        </p:nvSpPr>
        <p:spPr bwMode="auto">
          <a:xfrm>
            <a:off x="3943350" y="2911475"/>
            <a:ext cx="1588"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279" name="Line 32">
            <a:extLst>
              <a:ext uri="{FF2B5EF4-FFF2-40B4-BE49-F238E27FC236}">
                <a16:creationId xmlns:a16="http://schemas.microsoft.com/office/drawing/2014/main" id="{4E00F7BB-19AA-461F-D7DD-DFA380E2FD08}"/>
              </a:ext>
            </a:extLst>
          </p:cNvPr>
          <p:cNvSpPr>
            <a:spLocks noChangeShapeType="1"/>
          </p:cNvSpPr>
          <p:nvPr/>
        </p:nvSpPr>
        <p:spPr bwMode="auto">
          <a:xfrm>
            <a:off x="6088063" y="2911475"/>
            <a:ext cx="4762"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280" name="Rectangle 33">
            <a:extLst>
              <a:ext uri="{FF2B5EF4-FFF2-40B4-BE49-F238E27FC236}">
                <a16:creationId xmlns:a16="http://schemas.microsoft.com/office/drawing/2014/main" id="{3BD3247D-8333-DA40-3463-2C00D4AB5A31}"/>
              </a:ext>
            </a:extLst>
          </p:cNvPr>
          <p:cNvSpPr>
            <a:spLocks noChangeArrowheads="1"/>
          </p:cNvSpPr>
          <p:nvPr/>
        </p:nvSpPr>
        <p:spPr bwMode="auto">
          <a:xfrm>
            <a:off x="2825750" y="38862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53281" name="Rectangle 34">
            <a:extLst>
              <a:ext uri="{FF2B5EF4-FFF2-40B4-BE49-F238E27FC236}">
                <a16:creationId xmlns:a16="http://schemas.microsoft.com/office/drawing/2014/main" id="{2EA73E39-70A1-AEDC-AB7D-FA87050C7109}"/>
              </a:ext>
            </a:extLst>
          </p:cNvPr>
          <p:cNvSpPr>
            <a:spLocks noChangeArrowheads="1"/>
          </p:cNvSpPr>
          <p:nvPr/>
        </p:nvSpPr>
        <p:spPr bwMode="auto">
          <a:xfrm>
            <a:off x="4535488" y="38862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97027" name="Rectangle 35">
            <a:extLst>
              <a:ext uri="{FF2B5EF4-FFF2-40B4-BE49-F238E27FC236}">
                <a16:creationId xmlns:a16="http://schemas.microsoft.com/office/drawing/2014/main" id="{DCE30E74-AD1B-BDA8-21EB-7BFD13CE140A}"/>
              </a:ext>
            </a:extLst>
          </p:cNvPr>
          <p:cNvSpPr>
            <a:spLocks noChangeArrowheads="1"/>
          </p:cNvSpPr>
          <p:nvPr/>
        </p:nvSpPr>
        <p:spPr bwMode="auto">
          <a:xfrm>
            <a:off x="7805739" y="38735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3283" name="Line 36">
            <a:extLst>
              <a:ext uri="{FF2B5EF4-FFF2-40B4-BE49-F238E27FC236}">
                <a16:creationId xmlns:a16="http://schemas.microsoft.com/office/drawing/2014/main" id="{4E87BA44-E1D7-F3C9-61FD-51957A144586}"/>
              </a:ext>
            </a:extLst>
          </p:cNvPr>
          <p:cNvSpPr>
            <a:spLocks noChangeShapeType="1"/>
          </p:cNvSpPr>
          <p:nvPr/>
        </p:nvSpPr>
        <p:spPr bwMode="auto">
          <a:xfrm>
            <a:off x="2468564" y="387350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284" name="Rectangle 37">
            <a:extLst>
              <a:ext uri="{FF2B5EF4-FFF2-40B4-BE49-F238E27FC236}">
                <a16:creationId xmlns:a16="http://schemas.microsoft.com/office/drawing/2014/main" id="{830A28DB-E8E7-E4FF-4DF6-1674521BE164}"/>
              </a:ext>
            </a:extLst>
          </p:cNvPr>
          <p:cNvSpPr>
            <a:spLocks noChangeArrowheads="1"/>
          </p:cNvSpPr>
          <p:nvPr/>
        </p:nvSpPr>
        <p:spPr bwMode="auto">
          <a:xfrm>
            <a:off x="2825750" y="43767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53285" name="Rectangle 38">
            <a:extLst>
              <a:ext uri="{FF2B5EF4-FFF2-40B4-BE49-F238E27FC236}">
                <a16:creationId xmlns:a16="http://schemas.microsoft.com/office/drawing/2014/main" id="{9C519814-82F9-3DFD-44AB-332118E293A7}"/>
              </a:ext>
            </a:extLst>
          </p:cNvPr>
          <p:cNvSpPr>
            <a:spLocks noChangeArrowheads="1"/>
          </p:cNvSpPr>
          <p:nvPr/>
        </p:nvSpPr>
        <p:spPr bwMode="auto">
          <a:xfrm>
            <a:off x="4535488" y="43767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97031" name="Rectangle 39">
            <a:extLst>
              <a:ext uri="{FF2B5EF4-FFF2-40B4-BE49-F238E27FC236}">
                <a16:creationId xmlns:a16="http://schemas.microsoft.com/office/drawing/2014/main" id="{7078578C-F9CE-F7AB-26CC-2B11B2FA07A8}"/>
              </a:ext>
            </a:extLst>
          </p:cNvPr>
          <p:cNvSpPr>
            <a:spLocks noChangeArrowheads="1"/>
          </p:cNvSpPr>
          <p:nvPr/>
        </p:nvSpPr>
        <p:spPr bwMode="auto">
          <a:xfrm>
            <a:off x="7805739" y="43656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3287" name="Rectangle 40">
            <a:extLst>
              <a:ext uri="{FF2B5EF4-FFF2-40B4-BE49-F238E27FC236}">
                <a16:creationId xmlns:a16="http://schemas.microsoft.com/office/drawing/2014/main" id="{52E9EC03-A46B-AE14-4F5A-26DF81CF08EA}"/>
              </a:ext>
            </a:extLst>
          </p:cNvPr>
          <p:cNvSpPr>
            <a:spLocks noChangeArrowheads="1"/>
          </p:cNvSpPr>
          <p:nvPr/>
        </p:nvSpPr>
        <p:spPr bwMode="auto">
          <a:xfrm>
            <a:off x="2825750" y="48752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3288" name="Rectangle 41">
            <a:extLst>
              <a:ext uri="{FF2B5EF4-FFF2-40B4-BE49-F238E27FC236}">
                <a16:creationId xmlns:a16="http://schemas.microsoft.com/office/drawing/2014/main" id="{3D6E3019-4EB9-F0C8-E6CF-5A19E1B35150}"/>
              </a:ext>
            </a:extLst>
          </p:cNvPr>
          <p:cNvSpPr>
            <a:spLocks noChangeArrowheads="1"/>
          </p:cNvSpPr>
          <p:nvPr/>
        </p:nvSpPr>
        <p:spPr bwMode="auto">
          <a:xfrm>
            <a:off x="4535488" y="48752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97034" name="Rectangle 42">
            <a:extLst>
              <a:ext uri="{FF2B5EF4-FFF2-40B4-BE49-F238E27FC236}">
                <a16:creationId xmlns:a16="http://schemas.microsoft.com/office/drawing/2014/main" id="{77C9D780-E793-1234-4F2B-DD29D894C073}"/>
              </a:ext>
            </a:extLst>
          </p:cNvPr>
          <p:cNvSpPr>
            <a:spLocks noChangeArrowheads="1"/>
          </p:cNvSpPr>
          <p:nvPr/>
        </p:nvSpPr>
        <p:spPr bwMode="auto">
          <a:xfrm>
            <a:off x="7805739" y="48641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3290" name="Rectangle 43">
            <a:extLst>
              <a:ext uri="{FF2B5EF4-FFF2-40B4-BE49-F238E27FC236}">
                <a16:creationId xmlns:a16="http://schemas.microsoft.com/office/drawing/2014/main" id="{B64F8831-BA74-B554-F37B-0E8170166C7C}"/>
              </a:ext>
            </a:extLst>
          </p:cNvPr>
          <p:cNvSpPr>
            <a:spLocks noChangeArrowheads="1"/>
          </p:cNvSpPr>
          <p:nvPr/>
        </p:nvSpPr>
        <p:spPr bwMode="auto">
          <a:xfrm>
            <a:off x="2825750" y="53387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3291" name="Rectangle 44">
            <a:extLst>
              <a:ext uri="{FF2B5EF4-FFF2-40B4-BE49-F238E27FC236}">
                <a16:creationId xmlns:a16="http://schemas.microsoft.com/office/drawing/2014/main" id="{2028441E-C44C-F327-6620-E7BAB78B5C6B}"/>
              </a:ext>
            </a:extLst>
          </p:cNvPr>
          <p:cNvSpPr>
            <a:spLocks noChangeArrowheads="1"/>
          </p:cNvSpPr>
          <p:nvPr/>
        </p:nvSpPr>
        <p:spPr bwMode="auto">
          <a:xfrm>
            <a:off x="4535488" y="53387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3292" name="Rectangle 45">
            <a:extLst>
              <a:ext uri="{FF2B5EF4-FFF2-40B4-BE49-F238E27FC236}">
                <a16:creationId xmlns:a16="http://schemas.microsoft.com/office/drawing/2014/main" id="{F3F34452-BD7F-EE36-B9BA-2954E2BCE69A}"/>
              </a:ext>
            </a:extLst>
          </p:cNvPr>
          <p:cNvSpPr>
            <a:spLocks noChangeArrowheads="1"/>
          </p:cNvSpPr>
          <p:nvPr/>
        </p:nvSpPr>
        <p:spPr bwMode="auto">
          <a:xfrm>
            <a:off x="2825750" y="58070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3293" name="Rectangle 46">
            <a:extLst>
              <a:ext uri="{FF2B5EF4-FFF2-40B4-BE49-F238E27FC236}">
                <a16:creationId xmlns:a16="http://schemas.microsoft.com/office/drawing/2014/main" id="{4175C90E-F30F-7315-9E58-05A473F07D02}"/>
              </a:ext>
            </a:extLst>
          </p:cNvPr>
          <p:cNvSpPr>
            <a:spLocks noChangeArrowheads="1"/>
          </p:cNvSpPr>
          <p:nvPr/>
        </p:nvSpPr>
        <p:spPr bwMode="auto">
          <a:xfrm>
            <a:off x="4535488" y="58070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97039" name="Rectangle 47">
            <a:extLst>
              <a:ext uri="{FF2B5EF4-FFF2-40B4-BE49-F238E27FC236}">
                <a16:creationId xmlns:a16="http://schemas.microsoft.com/office/drawing/2014/main" id="{F611608E-7DA4-14FA-E1CD-95653A8815E2}"/>
              </a:ext>
            </a:extLst>
          </p:cNvPr>
          <p:cNvSpPr>
            <a:spLocks noChangeArrowheads="1"/>
          </p:cNvSpPr>
          <p:nvPr/>
        </p:nvSpPr>
        <p:spPr bwMode="auto">
          <a:xfrm>
            <a:off x="7196139" y="5303839"/>
            <a:ext cx="184665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3300"/>
                </a:solidFill>
                <a:latin typeface="Arial Narrow" panose="020B0606020202030204" pitchFamily="34" charset="0"/>
              </a:rPr>
              <a:t>(4+6+5)/3=5</a:t>
            </a:r>
            <a:endParaRPr lang="en-US" altLang="en-US" sz="2600">
              <a:solidFill>
                <a:srgbClr val="FF3300"/>
              </a:solidFill>
              <a:latin typeface="Arial Narrow" panose="020B0606020202030204" pitchFamily="34" charset="0"/>
            </a:endParaRPr>
          </a:p>
        </p:txBody>
      </p:sp>
      <p:sp>
        <p:nvSpPr>
          <p:cNvPr id="53295" name="Rectangle 48">
            <a:extLst>
              <a:ext uri="{FF2B5EF4-FFF2-40B4-BE49-F238E27FC236}">
                <a16:creationId xmlns:a16="http://schemas.microsoft.com/office/drawing/2014/main" id="{58002BE5-4347-5FF9-5020-53E121A57D49}"/>
              </a:ext>
            </a:extLst>
          </p:cNvPr>
          <p:cNvSpPr>
            <a:spLocks noChangeArrowheads="1"/>
          </p:cNvSpPr>
          <p:nvPr/>
        </p:nvSpPr>
        <p:spPr bwMode="auto">
          <a:xfrm>
            <a:off x="2825750" y="62674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3296" name="Rectangle 49">
            <a:extLst>
              <a:ext uri="{FF2B5EF4-FFF2-40B4-BE49-F238E27FC236}">
                <a16:creationId xmlns:a16="http://schemas.microsoft.com/office/drawing/2014/main" id="{B8579507-E903-E899-6E01-02A69DE24733}"/>
              </a:ext>
            </a:extLst>
          </p:cNvPr>
          <p:cNvSpPr>
            <a:spLocks noChangeArrowheads="1"/>
          </p:cNvSpPr>
          <p:nvPr/>
        </p:nvSpPr>
        <p:spPr bwMode="auto">
          <a:xfrm>
            <a:off x="4498975" y="62960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97042" name="Freeform 50">
            <a:extLst>
              <a:ext uri="{FF2B5EF4-FFF2-40B4-BE49-F238E27FC236}">
                <a16:creationId xmlns:a16="http://schemas.microsoft.com/office/drawing/2014/main" id="{DE2E209C-9C4A-1FA2-2C78-66E03F58CCCF}"/>
              </a:ext>
            </a:extLst>
          </p:cNvPr>
          <p:cNvSpPr>
            <a:spLocks/>
          </p:cNvSpPr>
          <p:nvPr/>
        </p:nvSpPr>
        <p:spPr bwMode="auto">
          <a:xfrm>
            <a:off x="4953000" y="4032250"/>
            <a:ext cx="95250" cy="1212850"/>
          </a:xfrm>
          <a:custGeom>
            <a:avLst/>
            <a:gdLst>
              <a:gd name="T0" fmla="*/ 0 w 69"/>
              <a:gd name="T1" fmla="*/ 2147483646 h 713"/>
              <a:gd name="T2" fmla="*/ 2147483646 w 69"/>
              <a:gd name="T3" fmla="*/ 2147483646 h 713"/>
              <a:gd name="T4" fmla="*/ 2147483646 w 69"/>
              <a:gd name="T5" fmla="*/ 2147483646 h 713"/>
              <a:gd name="T6" fmla="*/ 2147483646 w 69"/>
              <a:gd name="T7" fmla="*/ 2147483646 h 713"/>
              <a:gd name="T8" fmla="*/ 2147483646 w 69"/>
              <a:gd name="T9" fmla="*/ 2147483646 h 713"/>
              <a:gd name="T10" fmla="*/ 2147483646 w 69"/>
              <a:gd name="T11" fmla="*/ 2147483646 h 713"/>
              <a:gd name="T12" fmla="*/ 2147483646 w 69"/>
              <a:gd name="T13" fmla="*/ 2147483646 h 713"/>
              <a:gd name="T14" fmla="*/ 2147483646 w 69"/>
              <a:gd name="T15" fmla="*/ 2147483646 h 713"/>
              <a:gd name="T16" fmla="*/ 2147483646 w 69"/>
              <a:gd name="T17" fmla="*/ 2147483646 h 713"/>
              <a:gd name="T18" fmla="*/ 2147483646 w 69"/>
              <a:gd name="T19" fmla="*/ 2147483646 h 713"/>
              <a:gd name="T20" fmla="*/ 2147483646 w 69"/>
              <a:gd name="T21" fmla="*/ 2147483646 h 713"/>
              <a:gd name="T22" fmla="*/ 2147483646 w 69"/>
              <a:gd name="T23" fmla="*/ 2147483646 h 713"/>
              <a:gd name="T24" fmla="*/ 2147483646 w 69"/>
              <a:gd name="T25" fmla="*/ 2147483646 h 713"/>
              <a:gd name="T26" fmla="*/ 2147483646 w 69"/>
              <a:gd name="T27" fmla="*/ 2147483646 h 713"/>
              <a:gd name="T28" fmla="*/ 2147483646 w 69"/>
              <a:gd name="T29" fmla="*/ 2147483646 h 713"/>
              <a:gd name="T30" fmla="*/ 2147483646 w 69"/>
              <a:gd name="T31" fmla="*/ 2147483646 h 713"/>
              <a:gd name="T32" fmla="*/ 2147483646 w 69"/>
              <a:gd name="T33" fmla="*/ 2147483646 h 713"/>
              <a:gd name="T34" fmla="*/ 2147483646 w 69"/>
              <a:gd name="T35" fmla="*/ 2147483646 h 713"/>
              <a:gd name="T36" fmla="*/ 2147483646 w 69"/>
              <a:gd name="T37" fmla="*/ 2147483646 h 713"/>
              <a:gd name="T38" fmla="*/ 2147483646 w 69"/>
              <a:gd name="T39" fmla="*/ 2147483646 h 713"/>
              <a:gd name="T40" fmla="*/ 2147483646 w 69"/>
              <a:gd name="T41" fmla="*/ 2147483646 h 713"/>
              <a:gd name="T42" fmla="*/ 2147483646 w 69"/>
              <a:gd name="T43" fmla="*/ 2147483646 h 713"/>
              <a:gd name="T44" fmla="*/ 2147483646 w 69"/>
              <a:gd name="T45" fmla="*/ 2147483646 h 713"/>
              <a:gd name="T46" fmla="*/ 2147483646 w 69"/>
              <a:gd name="T47" fmla="*/ 2147483646 h 713"/>
              <a:gd name="T48" fmla="*/ 2147483646 w 69"/>
              <a:gd name="T49" fmla="*/ 2147483646 h 713"/>
              <a:gd name="T50" fmla="*/ 2147483646 w 69"/>
              <a:gd name="T51" fmla="*/ 2147483646 h 713"/>
              <a:gd name="T52" fmla="*/ 0 w 69"/>
              <a:gd name="T53" fmla="*/ 2147483646 h 713"/>
              <a:gd name="T54" fmla="*/ 2147483646 w 69"/>
              <a:gd name="T55" fmla="*/ 2147483646 h 713"/>
              <a:gd name="T56" fmla="*/ 2147483646 w 69"/>
              <a:gd name="T57" fmla="*/ 2147483646 h 713"/>
              <a:gd name="T58" fmla="*/ 2147483646 w 69"/>
              <a:gd name="T59" fmla="*/ 2147483646 h 713"/>
              <a:gd name="T60" fmla="*/ 2147483646 w 69"/>
              <a:gd name="T61" fmla="*/ 2147483646 h 713"/>
              <a:gd name="T62" fmla="*/ 2147483646 w 69"/>
              <a:gd name="T63" fmla="*/ 2147483646 h 713"/>
              <a:gd name="T64" fmla="*/ 2147483646 w 69"/>
              <a:gd name="T65" fmla="*/ 2147483646 h 713"/>
              <a:gd name="T66" fmla="*/ 2147483646 w 69"/>
              <a:gd name="T67" fmla="*/ 2147483646 h 713"/>
              <a:gd name="T68" fmla="*/ 2147483646 w 69"/>
              <a:gd name="T69" fmla="*/ 2147483646 h 713"/>
              <a:gd name="T70" fmla="*/ 2147483646 w 69"/>
              <a:gd name="T71" fmla="*/ 2147483646 h 713"/>
              <a:gd name="T72" fmla="*/ 2147483646 w 69"/>
              <a:gd name="T73" fmla="*/ 2147483646 h 713"/>
              <a:gd name="T74" fmla="*/ 2147483646 w 69"/>
              <a:gd name="T75" fmla="*/ 2147483646 h 713"/>
              <a:gd name="T76" fmla="*/ 2147483646 w 69"/>
              <a:gd name="T77" fmla="*/ 2147483646 h 713"/>
              <a:gd name="T78" fmla="*/ 2147483646 w 69"/>
              <a:gd name="T79" fmla="*/ 2147483646 h 713"/>
              <a:gd name="T80" fmla="*/ 2147483646 w 69"/>
              <a:gd name="T81" fmla="*/ 2147483646 h 713"/>
              <a:gd name="T82" fmla="*/ 2147483646 w 69"/>
              <a:gd name="T83" fmla="*/ 2147483646 h 713"/>
              <a:gd name="T84" fmla="*/ 2147483646 w 69"/>
              <a:gd name="T85" fmla="*/ 2147483646 h 713"/>
              <a:gd name="T86" fmla="*/ 2147483646 w 69"/>
              <a:gd name="T87" fmla="*/ 2147483646 h 713"/>
              <a:gd name="T88" fmla="*/ 2147483646 w 69"/>
              <a:gd name="T89" fmla="*/ 2147483646 h 713"/>
              <a:gd name="T90" fmla="*/ 2147483646 w 69"/>
              <a:gd name="T91" fmla="*/ 2147483646 h 713"/>
              <a:gd name="T92" fmla="*/ 2147483646 w 69"/>
              <a:gd name="T93" fmla="*/ 2147483646 h 713"/>
              <a:gd name="T94" fmla="*/ 2147483646 w 69"/>
              <a:gd name="T95" fmla="*/ 2147483646 h 713"/>
              <a:gd name="T96" fmla="*/ 2147483646 w 69"/>
              <a:gd name="T97" fmla="*/ 2147483646 h 713"/>
              <a:gd name="T98" fmla="*/ 2147483646 w 69"/>
              <a:gd name="T99" fmla="*/ 2147483646 h 713"/>
              <a:gd name="T100" fmla="*/ 2147483646 w 69"/>
              <a:gd name="T101" fmla="*/ 2147483646 h 713"/>
              <a:gd name="T102" fmla="*/ 2147483646 w 69"/>
              <a:gd name="T103" fmla="*/ 2147483646 h 713"/>
              <a:gd name="T104" fmla="*/ 2147483646 w 69"/>
              <a:gd name="T105" fmla="*/ 2147483646 h 71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9" h="713">
                <a:moveTo>
                  <a:pt x="0" y="0"/>
                </a:moveTo>
                <a:lnTo>
                  <a:pt x="0" y="23"/>
                </a:lnTo>
                <a:lnTo>
                  <a:pt x="6" y="25"/>
                </a:lnTo>
                <a:lnTo>
                  <a:pt x="6" y="14"/>
                </a:lnTo>
                <a:lnTo>
                  <a:pt x="0" y="23"/>
                </a:lnTo>
                <a:lnTo>
                  <a:pt x="6" y="27"/>
                </a:lnTo>
                <a:lnTo>
                  <a:pt x="12" y="16"/>
                </a:lnTo>
                <a:lnTo>
                  <a:pt x="2" y="25"/>
                </a:lnTo>
                <a:lnTo>
                  <a:pt x="8" y="31"/>
                </a:lnTo>
                <a:lnTo>
                  <a:pt x="12" y="37"/>
                </a:lnTo>
                <a:lnTo>
                  <a:pt x="21" y="29"/>
                </a:lnTo>
                <a:lnTo>
                  <a:pt x="10" y="29"/>
                </a:lnTo>
                <a:lnTo>
                  <a:pt x="15" y="46"/>
                </a:lnTo>
                <a:lnTo>
                  <a:pt x="17" y="69"/>
                </a:lnTo>
                <a:lnTo>
                  <a:pt x="17" y="299"/>
                </a:lnTo>
                <a:lnTo>
                  <a:pt x="19" y="322"/>
                </a:lnTo>
                <a:lnTo>
                  <a:pt x="27" y="339"/>
                </a:lnTo>
                <a:lnTo>
                  <a:pt x="29" y="349"/>
                </a:lnTo>
                <a:lnTo>
                  <a:pt x="33" y="356"/>
                </a:lnTo>
                <a:lnTo>
                  <a:pt x="38" y="360"/>
                </a:lnTo>
                <a:lnTo>
                  <a:pt x="42" y="362"/>
                </a:lnTo>
                <a:lnTo>
                  <a:pt x="48" y="366"/>
                </a:lnTo>
                <a:lnTo>
                  <a:pt x="52" y="366"/>
                </a:lnTo>
                <a:lnTo>
                  <a:pt x="58" y="368"/>
                </a:lnTo>
                <a:lnTo>
                  <a:pt x="58" y="356"/>
                </a:lnTo>
                <a:lnTo>
                  <a:pt x="58" y="345"/>
                </a:lnTo>
                <a:lnTo>
                  <a:pt x="54" y="347"/>
                </a:lnTo>
                <a:lnTo>
                  <a:pt x="50" y="349"/>
                </a:lnTo>
                <a:lnTo>
                  <a:pt x="46" y="356"/>
                </a:lnTo>
                <a:lnTo>
                  <a:pt x="50" y="364"/>
                </a:lnTo>
                <a:lnTo>
                  <a:pt x="54" y="366"/>
                </a:lnTo>
                <a:lnTo>
                  <a:pt x="58" y="345"/>
                </a:lnTo>
                <a:lnTo>
                  <a:pt x="52" y="347"/>
                </a:lnTo>
                <a:lnTo>
                  <a:pt x="48" y="347"/>
                </a:lnTo>
                <a:lnTo>
                  <a:pt x="42" y="351"/>
                </a:lnTo>
                <a:lnTo>
                  <a:pt x="38" y="353"/>
                </a:lnTo>
                <a:lnTo>
                  <a:pt x="33" y="358"/>
                </a:lnTo>
                <a:lnTo>
                  <a:pt x="29" y="364"/>
                </a:lnTo>
                <a:lnTo>
                  <a:pt x="27" y="374"/>
                </a:lnTo>
                <a:lnTo>
                  <a:pt x="19" y="391"/>
                </a:lnTo>
                <a:lnTo>
                  <a:pt x="17" y="414"/>
                </a:lnTo>
                <a:lnTo>
                  <a:pt x="17" y="644"/>
                </a:lnTo>
                <a:lnTo>
                  <a:pt x="15" y="667"/>
                </a:lnTo>
                <a:lnTo>
                  <a:pt x="10" y="684"/>
                </a:lnTo>
                <a:lnTo>
                  <a:pt x="21" y="684"/>
                </a:lnTo>
                <a:lnTo>
                  <a:pt x="12" y="676"/>
                </a:lnTo>
                <a:lnTo>
                  <a:pt x="8" y="684"/>
                </a:lnTo>
                <a:lnTo>
                  <a:pt x="2" y="688"/>
                </a:lnTo>
                <a:lnTo>
                  <a:pt x="12" y="697"/>
                </a:lnTo>
                <a:lnTo>
                  <a:pt x="6" y="686"/>
                </a:lnTo>
                <a:lnTo>
                  <a:pt x="0" y="690"/>
                </a:lnTo>
                <a:lnTo>
                  <a:pt x="6" y="699"/>
                </a:lnTo>
                <a:lnTo>
                  <a:pt x="6" y="688"/>
                </a:lnTo>
                <a:lnTo>
                  <a:pt x="0" y="690"/>
                </a:lnTo>
                <a:lnTo>
                  <a:pt x="0" y="713"/>
                </a:lnTo>
                <a:lnTo>
                  <a:pt x="6" y="711"/>
                </a:lnTo>
                <a:lnTo>
                  <a:pt x="10" y="711"/>
                </a:lnTo>
                <a:lnTo>
                  <a:pt x="15" y="707"/>
                </a:lnTo>
                <a:lnTo>
                  <a:pt x="19" y="705"/>
                </a:lnTo>
                <a:lnTo>
                  <a:pt x="25" y="701"/>
                </a:lnTo>
                <a:lnTo>
                  <a:pt x="29" y="693"/>
                </a:lnTo>
                <a:lnTo>
                  <a:pt x="33" y="684"/>
                </a:lnTo>
                <a:lnTo>
                  <a:pt x="38" y="667"/>
                </a:lnTo>
                <a:lnTo>
                  <a:pt x="40" y="644"/>
                </a:lnTo>
                <a:lnTo>
                  <a:pt x="40" y="414"/>
                </a:lnTo>
                <a:lnTo>
                  <a:pt x="42" y="391"/>
                </a:lnTo>
                <a:lnTo>
                  <a:pt x="50" y="374"/>
                </a:lnTo>
                <a:lnTo>
                  <a:pt x="38" y="374"/>
                </a:lnTo>
                <a:lnTo>
                  <a:pt x="46" y="381"/>
                </a:lnTo>
                <a:lnTo>
                  <a:pt x="50" y="376"/>
                </a:lnTo>
                <a:lnTo>
                  <a:pt x="56" y="370"/>
                </a:lnTo>
                <a:lnTo>
                  <a:pt x="46" y="360"/>
                </a:lnTo>
                <a:lnTo>
                  <a:pt x="52" y="372"/>
                </a:lnTo>
                <a:lnTo>
                  <a:pt x="58" y="368"/>
                </a:lnTo>
                <a:lnTo>
                  <a:pt x="52" y="358"/>
                </a:lnTo>
                <a:lnTo>
                  <a:pt x="52" y="370"/>
                </a:lnTo>
                <a:lnTo>
                  <a:pt x="58" y="368"/>
                </a:lnTo>
                <a:lnTo>
                  <a:pt x="61" y="366"/>
                </a:lnTo>
                <a:lnTo>
                  <a:pt x="65" y="364"/>
                </a:lnTo>
                <a:lnTo>
                  <a:pt x="69" y="356"/>
                </a:lnTo>
                <a:lnTo>
                  <a:pt x="65" y="349"/>
                </a:lnTo>
                <a:lnTo>
                  <a:pt x="61" y="347"/>
                </a:lnTo>
                <a:lnTo>
                  <a:pt x="58" y="345"/>
                </a:lnTo>
                <a:lnTo>
                  <a:pt x="52" y="343"/>
                </a:lnTo>
                <a:lnTo>
                  <a:pt x="52" y="355"/>
                </a:lnTo>
                <a:lnTo>
                  <a:pt x="58" y="345"/>
                </a:lnTo>
                <a:lnTo>
                  <a:pt x="52" y="341"/>
                </a:lnTo>
                <a:lnTo>
                  <a:pt x="46" y="353"/>
                </a:lnTo>
                <a:lnTo>
                  <a:pt x="56" y="343"/>
                </a:lnTo>
                <a:lnTo>
                  <a:pt x="50" y="339"/>
                </a:lnTo>
                <a:lnTo>
                  <a:pt x="46" y="332"/>
                </a:lnTo>
                <a:lnTo>
                  <a:pt x="38" y="339"/>
                </a:lnTo>
                <a:lnTo>
                  <a:pt x="50" y="339"/>
                </a:lnTo>
                <a:lnTo>
                  <a:pt x="42" y="322"/>
                </a:lnTo>
                <a:lnTo>
                  <a:pt x="40" y="299"/>
                </a:lnTo>
                <a:lnTo>
                  <a:pt x="40" y="69"/>
                </a:lnTo>
                <a:lnTo>
                  <a:pt x="38" y="46"/>
                </a:lnTo>
                <a:lnTo>
                  <a:pt x="33" y="29"/>
                </a:lnTo>
                <a:lnTo>
                  <a:pt x="29" y="20"/>
                </a:lnTo>
                <a:lnTo>
                  <a:pt x="25" y="14"/>
                </a:lnTo>
                <a:lnTo>
                  <a:pt x="19" y="8"/>
                </a:lnTo>
                <a:lnTo>
                  <a:pt x="15" y="6"/>
                </a:lnTo>
                <a:lnTo>
                  <a:pt x="10" y="2"/>
                </a:lnTo>
                <a:lnTo>
                  <a:pt x="6" y="2"/>
                </a:lnTo>
                <a:lnTo>
                  <a:pt x="0" y="0"/>
                </a:lnTo>
                <a:close/>
              </a:path>
            </a:pathLst>
          </a:custGeom>
          <a:solidFill>
            <a:srgbClr val="000000"/>
          </a:solidFill>
          <a:ln w="9525">
            <a:solidFill>
              <a:schemeClr val="tx1"/>
            </a:solidFill>
            <a:round/>
            <a:headEnd/>
            <a:tailEnd/>
          </a:ln>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298" name="Line 51">
            <a:extLst>
              <a:ext uri="{FF2B5EF4-FFF2-40B4-BE49-F238E27FC236}">
                <a16:creationId xmlns:a16="http://schemas.microsoft.com/office/drawing/2014/main" id="{9EDBFD11-3627-BEEC-3F59-B9A23A3E0A95}"/>
              </a:ext>
            </a:extLst>
          </p:cNvPr>
          <p:cNvSpPr>
            <a:spLocks noChangeShapeType="1"/>
          </p:cNvSpPr>
          <p:nvPr/>
        </p:nvSpPr>
        <p:spPr bwMode="auto">
          <a:xfrm>
            <a:off x="2463801" y="4360864"/>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299" name="Line 52">
            <a:extLst>
              <a:ext uri="{FF2B5EF4-FFF2-40B4-BE49-F238E27FC236}">
                <a16:creationId xmlns:a16="http://schemas.microsoft.com/office/drawing/2014/main" id="{147EBF9C-3259-4602-E19D-0B65D69BE52D}"/>
              </a:ext>
            </a:extLst>
          </p:cNvPr>
          <p:cNvSpPr>
            <a:spLocks noChangeShapeType="1"/>
          </p:cNvSpPr>
          <p:nvPr/>
        </p:nvSpPr>
        <p:spPr bwMode="auto">
          <a:xfrm>
            <a:off x="2471739" y="487203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300" name="Line 53">
            <a:extLst>
              <a:ext uri="{FF2B5EF4-FFF2-40B4-BE49-F238E27FC236}">
                <a16:creationId xmlns:a16="http://schemas.microsoft.com/office/drawing/2014/main" id="{688855F7-72DD-F002-712C-4CAF2D064F08}"/>
              </a:ext>
            </a:extLst>
          </p:cNvPr>
          <p:cNvSpPr>
            <a:spLocks noChangeShapeType="1"/>
          </p:cNvSpPr>
          <p:nvPr/>
        </p:nvSpPr>
        <p:spPr bwMode="auto">
          <a:xfrm>
            <a:off x="2439989" y="5319714"/>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301" name="Line 54">
            <a:extLst>
              <a:ext uri="{FF2B5EF4-FFF2-40B4-BE49-F238E27FC236}">
                <a16:creationId xmlns:a16="http://schemas.microsoft.com/office/drawing/2014/main" id="{DB22E76D-8D43-B0F9-D381-DCEA80916746}"/>
              </a:ext>
            </a:extLst>
          </p:cNvPr>
          <p:cNvSpPr>
            <a:spLocks noChangeShapeType="1"/>
          </p:cNvSpPr>
          <p:nvPr/>
        </p:nvSpPr>
        <p:spPr bwMode="auto">
          <a:xfrm flipV="1">
            <a:off x="2463801" y="5797550"/>
            <a:ext cx="7718425" cy="79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3302" name="Line 55">
            <a:extLst>
              <a:ext uri="{FF2B5EF4-FFF2-40B4-BE49-F238E27FC236}">
                <a16:creationId xmlns:a16="http://schemas.microsoft.com/office/drawing/2014/main" id="{D8FFFB38-C030-6EBD-FE8B-8C104020DA50}"/>
              </a:ext>
            </a:extLst>
          </p:cNvPr>
          <p:cNvSpPr>
            <a:spLocks noChangeShapeType="1"/>
          </p:cNvSpPr>
          <p:nvPr/>
        </p:nvSpPr>
        <p:spPr bwMode="auto">
          <a:xfrm>
            <a:off x="2443163" y="6253164"/>
            <a:ext cx="775970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97048" name="Freeform 56">
            <a:extLst>
              <a:ext uri="{FF2B5EF4-FFF2-40B4-BE49-F238E27FC236}">
                <a16:creationId xmlns:a16="http://schemas.microsoft.com/office/drawing/2014/main" id="{5B38B9D0-7274-793E-5B8C-6322082133E8}"/>
              </a:ext>
            </a:extLst>
          </p:cNvPr>
          <p:cNvSpPr>
            <a:spLocks/>
          </p:cNvSpPr>
          <p:nvPr/>
        </p:nvSpPr>
        <p:spPr bwMode="auto">
          <a:xfrm>
            <a:off x="5211763" y="4643438"/>
            <a:ext cx="1797050" cy="882650"/>
          </a:xfrm>
          <a:custGeom>
            <a:avLst/>
            <a:gdLst>
              <a:gd name="T0" fmla="*/ 0 w 1019"/>
              <a:gd name="T1" fmla="*/ 0 h 519"/>
              <a:gd name="T2" fmla="*/ 2147483646 w 1019"/>
              <a:gd name="T3" fmla="*/ 2147483646 h 519"/>
              <a:gd name="T4" fmla="*/ 2147483646 w 1019"/>
              <a:gd name="T5" fmla="*/ 2147483646 h 519"/>
              <a:gd name="T6" fmla="*/ 2147483646 w 1019"/>
              <a:gd name="T7" fmla="*/ 2147483646 h 5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9" h="519">
                <a:moveTo>
                  <a:pt x="0" y="0"/>
                </a:moveTo>
                <a:cubicBezTo>
                  <a:pt x="153" y="43"/>
                  <a:pt x="823" y="185"/>
                  <a:pt x="921" y="259"/>
                </a:cubicBezTo>
                <a:cubicBezTo>
                  <a:pt x="1019" y="333"/>
                  <a:pt x="578" y="404"/>
                  <a:pt x="590" y="447"/>
                </a:cubicBezTo>
                <a:cubicBezTo>
                  <a:pt x="602" y="490"/>
                  <a:pt x="909" y="504"/>
                  <a:pt x="993" y="519"/>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aphicFrame>
        <p:nvGraphicFramePr>
          <p:cNvPr id="53304" name="Object 57">
            <a:extLst>
              <a:ext uri="{FF2B5EF4-FFF2-40B4-BE49-F238E27FC236}">
                <a16:creationId xmlns:a16="http://schemas.microsoft.com/office/drawing/2014/main" id="{F0C30A52-238B-5D6F-57F7-69AB14C15003}"/>
              </a:ext>
            </a:extLst>
          </p:cNvPr>
          <p:cNvGraphicFramePr>
            <a:graphicFrameLocks noGrp="1"/>
          </p:cNvGraphicFramePr>
          <p:nvPr>
            <p:ph idx="1"/>
          </p:nvPr>
        </p:nvGraphicFramePr>
        <p:xfrm>
          <a:off x="7250114" y="0"/>
          <a:ext cx="3417887" cy="685800"/>
        </p:xfrm>
        <a:graphic>
          <a:graphicData uri="http://schemas.openxmlformats.org/presentationml/2006/ole">
            <mc:AlternateContent xmlns:mc="http://schemas.openxmlformats.org/markup-compatibility/2006">
              <mc:Choice xmlns:v="urn:schemas-microsoft-com:vml" Requires="v">
                <p:oleObj name="Equation" r:id="rId2" imgW="35766375" imgH="6800850" progId="Equation.3">
                  <p:embed/>
                </p:oleObj>
              </mc:Choice>
              <mc:Fallback>
                <p:oleObj name="Equation" r:id="rId2" imgW="35766375" imgH="6800850" progId="Equation.3">
                  <p:embed/>
                  <p:pic>
                    <p:nvPicPr>
                      <p:cNvPr id="53304" name="Object 57">
                        <a:extLst>
                          <a:ext uri="{FF2B5EF4-FFF2-40B4-BE49-F238E27FC236}">
                            <a16:creationId xmlns:a16="http://schemas.microsoft.com/office/drawing/2014/main" id="{F0C30A52-238B-5D6F-57F7-69AB14C150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0114" y="0"/>
                        <a:ext cx="3417887" cy="6858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53305" name="Rectangle 59">
            <a:extLst>
              <a:ext uri="{FF2B5EF4-FFF2-40B4-BE49-F238E27FC236}">
                <a16:creationId xmlns:a16="http://schemas.microsoft.com/office/drawing/2014/main" id="{3AA40D85-52CF-26B9-8E4D-46A7E9E624E6}"/>
              </a:ext>
            </a:extLst>
          </p:cNvPr>
          <p:cNvSpPr>
            <a:spLocks noChangeArrowheads="1"/>
          </p:cNvSpPr>
          <p:nvPr/>
        </p:nvSpPr>
        <p:spPr bwMode="auto">
          <a:xfrm>
            <a:off x="2320926" y="1371600"/>
            <a:ext cx="811847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5" tIns="44444" rIns="90475" bIns="44444"/>
          <a:lstStyle>
            <a:lvl1pPr>
              <a:spcBef>
                <a:spcPct val="20000"/>
              </a:spcBef>
              <a:buClr>
                <a:srgbClr val="B82629"/>
              </a:buClr>
              <a:buFont typeface="Wingdings" panose="05000000000000000000" pitchFamily="2" charset="2"/>
              <a:buChar char="n"/>
              <a:tabLst>
                <a:tab pos="908050" algn="l"/>
                <a:tab pos="2347913" algn="ctr"/>
              </a:tabLst>
              <a:defRPr sz="3200">
                <a:solidFill>
                  <a:schemeClr val="tx1"/>
                </a:solidFill>
                <a:latin typeface="Arial" panose="020B0604020202020204" pitchFamily="34" charset="0"/>
              </a:defRPr>
            </a:lvl1pPr>
            <a:lvl2pPr marL="971550" indent="-285750">
              <a:spcBef>
                <a:spcPct val="20000"/>
              </a:spcBef>
              <a:buClr>
                <a:srgbClr val="B82629"/>
              </a:buClr>
              <a:buFont typeface="Wingdings" panose="05000000000000000000" pitchFamily="2" charset="2"/>
              <a:buChar char="ü"/>
              <a:tabLst>
                <a:tab pos="908050" algn="l"/>
                <a:tab pos="2347913" algn="ctr"/>
              </a:tabLst>
              <a:defRPr sz="2800">
                <a:solidFill>
                  <a:schemeClr val="tx1"/>
                </a:solidFill>
                <a:latin typeface="Arial" panose="020B0604020202020204" pitchFamily="34" charset="0"/>
              </a:defRPr>
            </a:lvl2pPr>
            <a:lvl3pPr marL="1314450" indent="-228600">
              <a:spcBef>
                <a:spcPct val="20000"/>
              </a:spcBef>
              <a:buClr>
                <a:srgbClr val="B82629"/>
              </a:buClr>
              <a:buFont typeface="Wingdings" panose="05000000000000000000" pitchFamily="2" charset="2"/>
              <a:buChar char="n"/>
              <a:tabLst>
                <a:tab pos="908050" algn="l"/>
                <a:tab pos="2347913" algn="ctr"/>
              </a:tabLst>
              <a:defRPr sz="2400">
                <a:solidFill>
                  <a:schemeClr val="tx1"/>
                </a:solidFill>
                <a:latin typeface="Arial" panose="020B0604020202020204" pitchFamily="34" charset="0"/>
              </a:defRPr>
            </a:lvl3pPr>
            <a:lvl4pPr marL="1657350" indent="-228600">
              <a:spcBef>
                <a:spcPct val="20000"/>
              </a:spcBef>
              <a:buClr>
                <a:srgbClr val="B82629"/>
              </a:buClr>
              <a:buFont typeface="Wingdings" panose="05000000000000000000" pitchFamily="2" charset="2"/>
              <a:buChar char="ü"/>
              <a:tabLst>
                <a:tab pos="908050" algn="l"/>
                <a:tab pos="2347913" algn="ctr"/>
              </a:tabLst>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tabLst>
                <a:tab pos="908050" algn="l"/>
                <a:tab pos="2347913" algn="ctr"/>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tabLst>
                <a:tab pos="908050" algn="l"/>
                <a:tab pos="2347913" algn="ctr"/>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tabLst>
                <a:tab pos="908050" algn="l"/>
                <a:tab pos="2347913" algn="ctr"/>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tabLst>
                <a:tab pos="908050" algn="l"/>
                <a:tab pos="2347913" algn="ctr"/>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tabLst>
                <a:tab pos="908050" algn="l"/>
                <a:tab pos="2347913" algn="ctr"/>
              </a:tabLst>
              <a:defRPr sz="2000">
                <a:solidFill>
                  <a:schemeClr val="tx1"/>
                </a:solidFill>
                <a:latin typeface="Arial" panose="020B0604020202020204" pitchFamily="34" charset="0"/>
              </a:defRPr>
            </a:lvl9pPr>
          </a:lstStyle>
          <a:p>
            <a:pPr fontAlgn="base">
              <a:lnSpc>
                <a:spcPct val="110000"/>
              </a:lnSpc>
              <a:spcAft>
                <a:spcPct val="0"/>
              </a:spcAft>
              <a:buNone/>
            </a:pPr>
            <a:r>
              <a:rPr lang="en-US" altLang="en-US" sz="2800">
                <a:solidFill>
                  <a:srgbClr val="292929"/>
                </a:solidFill>
              </a:rPr>
              <a:t>You’re manager in Amazon’s electronics department. You want to forecast ipod sales for months 4-6 using a </a:t>
            </a:r>
            <a:r>
              <a:rPr lang="en-US" altLang="en-US" sz="2800">
                <a:solidFill>
                  <a:srgbClr val="FF00FF"/>
                </a:solidFill>
              </a:rPr>
              <a:t>3</a:t>
            </a:r>
            <a:r>
              <a:rPr lang="en-US" altLang="en-US" sz="2800">
                <a:solidFill>
                  <a:srgbClr val="292929"/>
                </a:solidFill>
              </a:rPr>
              <a:t>-period moving average.</a:t>
            </a:r>
            <a:br>
              <a:rPr lang="en-US" altLang="en-US" sz="2800">
                <a:solidFill>
                  <a:srgbClr val="292929"/>
                </a:solidFill>
              </a:rPr>
            </a:br>
            <a:r>
              <a:rPr lang="en-US" altLang="en-US" sz="2800">
                <a:solidFill>
                  <a:srgbClr val="292929"/>
                </a:solidFill>
              </a:rPr>
              <a:t>	</a:t>
            </a:r>
          </a:p>
          <a:p>
            <a:pPr fontAlgn="base">
              <a:lnSpc>
                <a:spcPct val="110000"/>
              </a:lnSpc>
              <a:spcAft>
                <a:spcPct val="0"/>
              </a:spcAft>
              <a:buNone/>
            </a:pPr>
            <a:endParaRPr lang="en-US" altLang="en-US" sz="2800">
              <a:solidFill>
                <a:srgbClr val="292929"/>
              </a:solidFill>
            </a:endParaRPr>
          </a:p>
          <a:p>
            <a:pPr fontAlgn="base">
              <a:lnSpc>
                <a:spcPct val="110000"/>
              </a:lnSpc>
              <a:spcAft>
                <a:spcPct val="0"/>
              </a:spcAft>
              <a:buNone/>
            </a:pPr>
            <a:r>
              <a:rPr lang="en-US" altLang="en-US" sz="2800">
                <a:solidFill>
                  <a:srgbClr val="292929"/>
                </a:solidFill>
              </a:rPr>
              <a:t>	</a:t>
            </a:r>
            <a:endParaRPr lang="en-US" altLang="en-US" sz="28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70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70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70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9704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970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7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27" grpId="0"/>
      <p:bldP spid="597031" grpId="0"/>
      <p:bldP spid="597034" grpId="0"/>
      <p:bldP spid="59703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6F1A3B0-71F0-5C68-4D08-FA985AA9F64B}"/>
              </a:ext>
            </a:extLst>
          </p:cNvPr>
          <p:cNvSpPr>
            <a:spLocks noGrp="1" noChangeArrowheads="1"/>
          </p:cNvSpPr>
          <p:nvPr>
            <p:ph type="title"/>
          </p:nvPr>
        </p:nvSpPr>
        <p:spPr>
          <a:xfrm>
            <a:off x="1752600" y="762001"/>
            <a:ext cx="8991600" cy="1412875"/>
          </a:xfrm>
        </p:spPr>
        <p:txBody>
          <a:bodyPr/>
          <a:lstStyle/>
          <a:p>
            <a:pPr eaLnBrk="1" hangingPunct="1"/>
            <a:r>
              <a:rPr lang="en-US" altLang="en-US"/>
              <a:t>What if ipod sales were actually 3 in month 4 </a:t>
            </a:r>
          </a:p>
        </p:txBody>
      </p:sp>
      <p:sp>
        <p:nvSpPr>
          <p:cNvPr id="54275" name="Rectangle 3">
            <a:extLst>
              <a:ext uri="{FF2B5EF4-FFF2-40B4-BE49-F238E27FC236}">
                <a16:creationId xmlns:a16="http://schemas.microsoft.com/office/drawing/2014/main" id="{AC68E623-0D38-EFFD-0A55-83B6488E85C7}"/>
              </a:ext>
            </a:extLst>
          </p:cNvPr>
          <p:cNvSpPr>
            <a:spLocks noChangeArrowheads="1"/>
          </p:cNvSpPr>
          <p:nvPr/>
        </p:nvSpPr>
        <p:spPr bwMode="auto">
          <a:xfrm>
            <a:off x="2476500" y="5248276"/>
            <a:ext cx="1474788"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76" name="Rectangle 4">
            <a:extLst>
              <a:ext uri="{FF2B5EF4-FFF2-40B4-BE49-F238E27FC236}">
                <a16:creationId xmlns:a16="http://schemas.microsoft.com/office/drawing/2014/main" id="{658D499A-5D73-3A2C-D111-ECE9DB7BDCD3}"/>
              </a:ext>
            </a:extLst>
          </p:cNvPr>
          <p:cNvSpPr>
            <a:spLocks noChangeArrowheads="1"/>
          </p:cNvSpPr>
          <p:nvPr/>
        </p:nvSpPr>
        <p:spPr bwMode="auto">
          <a:xfrm>
            <a:off x="3960814" y="5248276"/>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77" name="Rectangle 5">
            <a:extLst>
              <a:ext uri="{FF2B5EF4-FFF2-40B4-BE49-F238E27FC236}">
                <a16:creationId xmlns:a16="http://schemas.microsoft.com/office/drawing/2014/main" id="{B398967F-404F-1FC0-0A41-6BB9C7C56C50}"/>
              </a:ext>
            </a:extLst>
          </p:cNvPr>
          <p:cNvSpPr>
            <a:spLocks noChangeArrowheads="1"/>
          </p:cNvSpPr>
          <p:nvPr/>
        </p:nvSpPr>
        <p:spPr bwMode="auto">
          <a:xfrm>
            <a:off x="6119814" y="5248276"/>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78" name="Rectangle 6">
            <a:extLst>
              <a:ext uri="{FF2B5EF4-FFF2-40B4-BE49-F238E27FC236}">
                <a16:creationId xmlns:a16="http://schemas.microsoft.com/office/drawing/2014/main" id="{66EDF367-E3FD-1E69-FB37-C0666A126E17}"/>
              </a:ext>
            </a:extLst>
          </p:cNvPr>
          <p:cNvSpPr>
            <a:spLocks noChangeArrowheads="1"/>
          </p:cNvSpPr>
          <p:nvPr/>
        </p:nvSpPr>
        <p:spPr bwMode="auto">
          <a:xfrm>
            <a:off x="7956550" y="5248276"/>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79" name="Rectangle 8">
            <a:extLst>
              <a:ext uri="{FF2B5EF4-FFF2-40B4-BE49-F238E27FC236}">
                <a16:creationId xmlns:a16="http://schemas.microsoft.com/office/drawing/2014/main" id="{49F72736-82D2-DBFC-3A43-15914A0B112B}"/>
              </a:ext>
            </a:extLst>
          </p:cNvPr>
          <p:cNvSpPr>
            <a:spLocks noChangeArrowheads="1"/>
          </p:cNvSpPr>
          <p:nvPr/>
        </p:nvSpPr>
        <p:spPr bwMode="auto">
          <a:xfrm>
            <a:off x="2446338" y="478948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0" name="Rectangle 9">
            <a:extLst>
              <a:ext uri="{FF2B5EF4-FFF2-40B4-BE49-F238E27FC236}">
                <a16:creationId xmlns:a16="http://schemas.microsoft.com/office/drawing/2014/main" id="{04C5746E-FD2D-0AC6-27D4-3195B0C8B163}"/>
              </a:ext>
            </a:extLst>
          </p:cNvPr>
          <p:cNvSpPr>
            <a:spLocks noChangeArrowheads="1"/>
          </p:cNvSpPr>
          <p:nvPr/>
        </p:nvSpPr>
        <p:spPr bwMode="auto">
          <a:xfrm>
            <a:off x="2476500" y="4789489"/>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1" name="Rectangle 10">
            <a:extLst>
              <a:ext uri="{FF2B5EF4-FFF2-40B4-BE49-F238E27FC236}">
                <a16:creationId xmlns:a16="http://schemas.microsoft.com/office/drawing/2014/main" id="{A09FD33E-4ABF-5BC3-85ED-4ECE82771DBA}"/>
              </a:ext>
            </a:extLst>
          </p:cNvPr>
          <p:cNvSpPr>
            <a:spLocks noChangeArrowheads="1"/>
          </p:cNvSpPr>
          <p:nvPr/>
        </p:nvSpPr>
        <p:spPr bwMode="auto">
          <a:xfrm>
            <a:off x="3951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2" name="Rectangle 11">
            <a:extLst>
              <a:ext uri="{FF2B5EF4-FFF2-40B4-BE49-F238E27FC236}">
                <a16:creationId xmlns:a16="http://schemas.microsoft.com/office/drawing/2014/main" id="{573327D3-8BE9-AE93-F828-360FE73463C1}"/>
              </a:ext>
            </a:extLst>
          </p:cNvPr>
          <p:cNvSpPr>
            <a:spLocks noChangeArrowheads="1"/>
          </p:cNvSpPr>
          <p:nvPr/>
        </p:nvSpPr>
        <p:spPr bwMode="auto">
          <a:xfrm>
            <a:off x="3960814" y="478948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3" name="Rectangle 12">
            <a:extLst>
              <a:ext uri="{FF2B5EF4-FFF2-40B4-BE49-F238E27FC236}">
                <a16:creationId xmlns:a16="http://schemas.microsoft.com/office/drawing/2014/main" id="{9FDF1ADF-B73F-2305-6D22-21ED994392CC}"/>
              </a:ext>
            </a:extLst>
          </p:cNvPr>
          <p:cNvSpPr>
            <a:spLocks noChangeArrowheads="1"/>
          </p:cNvSpPr>
          <p:nvPr/>
        </p:nvSpPr>
        <p:spPr bwMode="auto">
          <a:xfrm>
            <a:off x="6110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4" name="Rectangle 13">
            <a:extLst>
              <a:ext uri="{FF2B5EF4-FFF2-40B4-BE49-F238E27FC236}">
                <a16:creationId xmlns:a16="http://schemas.microsoft.com/office/drawing/2014/main" id="{03202216-F13B-F9C4-31D3-81D32191FC57}"/>
              </a:ext>
            </a:extLst>
          </p:cNvPr>
          <p:cNvSpPr>
            <a:spLocks noChangeArrowheads="1"/>
          </p:cNvSpPr>
          <p:nvPr/>
        </p:nvSpPr>
        <p:spPr bwMode="auto">
          <a:xfrm>
            <a:off x="6119814" y="478948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5" name="Rectangle 14">
            <a:extLst>
              <a:ext uri="{FF2B5EF4-FFF2-40B4-BE49-F238E27FC236}">
                <a16:creationId xmlns:a16="http://schemas.microsoft.com/office/drawing/2014/main" id="{A37EAEAA-4BE5-B4D1-6802-D483D1419FB5}"/>
              </a:ext>
            </a:extLst>
          </p:cNvPr>
          <p:cNvSpPr>
            <a:spLocks noChangeArrowheads="1"/>
          </p:cNvSpPr>
          <p:nvPr/>
        </p:nvSpPr>
        <p:spPr bwMode="auto">
          <a:xfrm>
            <a:off x="7945438" y="4789489"/>
            <a:ext cx="111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6" name="Rectangle 15">
            <a:extLst>
              <a:ext uri="{FF2B5EF4-FFF2-40B4-BE49-F238E27FC236}">
                <a16:creationId xmlns:a16="http://schemas.microsoft.com/office/drawing/2014/main" id="{6B2163E9-5186-4AA6-1216-0A3895C3C35B}"/>
              </a:ext>
            </a:extLst>
          </p:cNvPr>
          <p:cNvSpPr>
            <a:spLocks noChangeArrowheads="1"/>
          </p:cNvSpPr>
          <p:nvPr/>
        </p:nvSpPr>
        <p:spPr bwMode="auto">
          <a:xfrm>
            <a:off x="7956550" y="4789489"/>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7" name="Rectangle 16">
            <a:extLst>
              <a:ext uri="{FF2B5EF4-FFF2-40B4-BE49-F238E27FC236}">
                <a16:creationId xmlns:a16="http://schemas.microsoft.com/office/drawing/2014/main" id="{E8345189-2F1B-EEF3-43B4-38B04E8087F5}"/>
              </a:ext>
            </a:extLst>
          </p:cNvPr>
          <p:cNvSpPr>
            <a:spLocks noChangeArrowheads="1"/>
          </p:cNvSpPr>
          <p:nvPr/>
        </p:nvSpPr>
        <p:spPr bwMode="auto">
          <a:xfrm>
            <a:off x="10160001" y="4789489"/>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8" name="Rectangle 17">
            <a:extLst>
              <a:ext uri="{FF2B5EF4-FFF2-40B4-BE49-F238E27FC236}">
                <a16:creationId xmlns:a16="http://schemas.microsoft.com/office/drawing/2014/main" id="{4BBBAAD8-2229-C44F-2859-D49535FA0EB0}"/>
              </a:ext>
            </a:extLst>
          </p:cNvPr>
          <p:cNvSpPr>
            <a:spLocks noChangeArrowheads="1"/>
          </p:cNvSpPr>
          <p:nvPr/>
        </p:nvSpPr>
        <p:spPr bwMode="auto">
          <a:xfrm>
            <a:off x="2446338" y="5716588"/>
            <a:ext cx="3016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89" name="Rectangle 18">
            <a:extLst>
              <a:ext uri="{FF2B5EF4-FFF2-40B4-BE49-F238E27FC236}">
                <a16:creationId xmlns:a16="http://schemas.microsoft.com/office/drawing/2014/main" id="{7D615273-C2EB-CC38-3B7F-F44E98140C69}"/>
              </a:ext>
            </a:extLst>
          </p:cNvPr>
          <p:cNvSpPr>
            <a:spLocks noChangeArrowheads="1"/>
          </p:cNvSpPr>
          <p:nvPr/>
        </p:nvSpPr>
        <p:spPr bwMode="auto">
          <a:xfrm>
            <a:off x="2476500" y="5716588"/>
            <a:ext cx="1474788"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0" name="Rectangle 19">
            <a:extLst>
              <a:ext uri="{FF2B5EF4-FFF2-40B4-BE49-F238E27FC236}">
                <a16:creationId xmlns:a16="http://schemas.microsoft.com/office/drawing/2014/main" id="{6C9D2C60-918F-1708-68E7-BAE34DFA6EEC}"/>
              </a:ext>
            </a:extLst>
          </p:cNvPr>
          <p:cNvSpPr>
            <a:spLocks noChangeArrowheads="1"/>
          </p:cNvSpPr>
          <p:nvPr/>
        </p:nvSpPr>
        <p:spPr bwMode="auto">
          <a:xfrm>
            <a:off x="3951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1" name="Rectangle 20">
            <a:extLst>
              <a:ext uri="{FF2B5EF4-FFF2-40B4-BE49-F238E27FC236}">
                <a16:creationId xmlns:a16="http://schemas.microsoft.com/office/drawing/2014/main" id="{48B8E039-7564-16A3-40BE-4F91DD037E3F}"/>
              </a:ext>
            </a:extLst>
          </p:cNvPr>
          <p:cNvSpPr>
            <a:spLocks noChangeArrowheads="1"/>
          </p:cNvSpPr>
          <p:nvPr/>
        </p:nvSpPr>
        <p:spPr bwMode="auto">
          <a:xfrm>
            <a:off x="3960814" y="5716588"/>
            <a:ext cx="214947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2" name="Rectangle 21">
            <a:extLst>
              <a:ext uri="{FF2B5EF4-FFF2-40B4-BE49-F238E27FC236}">
                <a16:creationId xmlns:a16="http://schemas.microsoft.com/office/drawing/2014/main" id="{B004A36D-57B7-9785-008D-DDE47590DB62}"/>
              </a:ext>
            </a:extLst>
          </p:cNvPr>
          <p:cNvSpPr>
            <a:spLocks noChangeArrowheads="1"/>
          </p:cNvSpPr>
          <p:nvPr/>
        </p:nvSpPr>
        <p:spPr bwMode="auto">
          <a:xfrm>
            <a:off x="6110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3" name="Rectangle 22">
            <a:extLst>
              <a:ext uri="{FF2B5EF4-FFF2-40B4-BE49-F238E27FC236}">
                <a16:creationId xmlns:a16="http://schemas.microsoft.com/office/drawing/2014/main" id="{3A6B13D5-78D9-9ECE-F12B-9A0F2856AD25}"/>
              </a:ext>
            </a:extLst>
          </p:cNvPr>
          <p:cNvSpPr>
            <a:spLocks noChangeArrowheads="1"/>
          </p:cNvSpPr>
          <p:nvPr/>
        </p:nvSpPr>
        <p:spPr bwMode="auto">
          <a:xfrm>
            <a:off x="6119814" y="5716588"/>
            <a:ext cx="18256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4" name="Rectangle 23">
            <a:extLst>
              <a:ext uri="{FF2B5EF4-FFF2-40B4-BE49-F238E27FC236}">
                <a16:creationId xmlns:a16="http://schemas.microsoft.com/office/drawing/2014/main" id="{E47E75C5-7F1D-8DE1-4A24-20F228FA7D8B}"/>
              </a:ext>
            </a:extLst>
          </p:cNvPr>
          <p:cNvSpPr>
            <a:spLocks noChangeArrowheads="1"/>
          </p:cNvSpPr>
          <p:nvPr/>
        </p:nvSpPr>
        <p:spPr bwMode="auto">
          <a:xfrm>
            <a:off x="7945438" y="5716588"/>
            <a:ext cx="111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5" name="Rectangle 24">
            <a:extLst>
              <a:ext uri="{FF2B5EF4-FFF2-40B4-BE49-F238E27FC236}">
                <a16:creationId xmlns:a16="http://schemas.microsoft.com/office/drawing/2014/main" id="{935D586C-12A9-51A5-B451-4B09FFF4DA22}"/>
              </a:ext>
            </a:extLst>
          </p:cNvPr>
          <p:cNvSpPr>
            <a:spLocks noChangeArrowheads="1"/>
          </p:cNvSpPr>
          <p:nvPr/>
        </p:nvSpPr>
        <p:spPr bwMode="auto">
          <a:xfrm>
            <a:off x="7956550" y="5716588"/>
            <a:ext cx="220345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6" name="Rectangle 25">
            <a:extLst>
              <a:ext uri="{FF2B5EF4-FFF2-40B4-BE49-F238E27FC236}">
                <a16:creationId xmlns:a16="http://schemas.microsoft.com/office/drawing/2014/main" id="{F1201AB8-F806-60E7-819D-2CEB14ABF554}"/>
              </a:ext>
            </a:extLst>
          </p:cNvPr>
          <p:cNvSpPr>
            <a:spLocks noChangeArrowheads="1"/>
          </p:cNvSpPr>
          <p:nvPr/>
        </p:nvSpPr>
        <p:spPr bwMode="auto">
          <a:xfrm>
            <a:off x="10160001" y="5716588"/>
            <a:ext cx="3016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7" name="Rectangle 26">
            <a:extLst>
              <a:ext uri="{FF2B5EF4-FFF2-40B4-BE49-F238E27FC236}">
                <a16:creationId xmlns:a16="http://schemas.microsoft.com/office/drawing/2014/main" id="{CD4F16EE-8DC8-154F-BB8B-3087794A8FC8}"/>
              </a:ext>
            </a:extLst>
          </p:cNvPr>
          <p:cNvSpPr>
            <a:spLocks noChangeArrowheads="1"/>
          </p:cNvSpPr>
          <p:nvPr/>
        </p:nvSpPr>
        <p:spPr bwMode="auto">
          <a:xfrm>
            <a:off x="2462214" y="2819401"/>
            <a:ext cx="7731125" cy="38576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298" name="Rectangle 27">
            <a:extLst>
              <a:ext uri="{FF2B5EF4-FFF2-40B4-BE49-F238E27FC236}">
                <a16:creationId xmlns:a16="http://schemas.microsoft.com/office/drawing/2014/main" id="{52A1B661-F7BB-FCE5-74BC-BBA4BB39365D}"/>
              </a:ext>
            </a:extLst>
          </p:cNvPr>
          <p:cNvSpPr>
            <a:spLocks noChangeArrowheads="1"/>
          </p:cNvSpPr>
          <p:nvPr/>
        </p:nvSpPr>
        <p:spPr bwMode="auto">
          <a:xfrm>
            <a:off x="2619375" y="3278189"/>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54299" name="Rectangle 28">
            <a:extLst>
              <a:ext uri="{FF2B5EF4-FFF2-40B4-BE49-F238E27FC236}">
                <a16:creationId xmlns:a16="http://schemas.microsoft.com/office/drawing/2014/main" id="{298003F0-2E1E-1C88-9BCA-E08EF36E0873}"/>
              </a:ext>
            </a:extLst>
          </p:cNvPr>
          <p:cNvSpPr>
            <a:spLocks noChangeArrowheads="1"/>
          </p:cNvSpPr>
          <p:nvPr/>
        </p:nvSpPr>
        <p:spPr bwMode="auto">
          <a:xfrm>
            <a:off x="4383773" y="281305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54300" name="Rectangle 29">
            <a:extLst>
              <a:ext uri="{FF2B5EF4-FFF2-40B4-BE49-F238E27FC236}">
                <a16:creationId xmlns:a16="http://schemas.microsoft.com/office/drawing/2014/main" id="{E6D746BE-8070-418C-412F-A59D0A051043}"/>
              </a:ext>
            </a:extLst>
          </p:cNvPr>
          <p:cNvSpPr>
            <a:spLocks noChangeArrowheads="1"/>
          </p:cNvSpPr>
          <p:nvPr/>
        </p:nvSpPr>
        <p:spPr bwMode="auto">
          <a:xfrm>
            <a:off x="6781800" y="2913064"/>
            <a:ext cx="24106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54301" name="Rectangle 30">
            <a:extLst>
              <a:ext uri="{FF2B5EF4-FFF2-40B4-BE49-F238E27FC236}">
                <a16:creationId xmlns:a16="http://schemas.microsoft.com/office/drawing/2014/main" id="{2197A5CD-7F77-AE76-C724-A13AD14368BD}"/>
              </a:ext>
            </a:extLst>
          </p:cNvPr>
          <p:cNvSpPr>
            <a:spLocks noChangeArrowheads="1"/>
          </p:cNvSpPr>
          <p:nvPr/>
        </p:nvSpPr>
        <p:spPr bwMode="auto">
          <a:xfrm>
            <a:off x="7639051" y="3360739"/>
            <a:ext cx="7966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(n=3)</a:t>
            </a:r>
            <a:endParaRPr lang="en-US" altLang="en-US" sz="2600">
              <a:solidFill>
                <a:srgbClr val="292929"/>
              </a:solidFill>
              <a:latin typeface="Arial Narrow" panose="020B0606020202030204" pitchFamily="34" charset="0"/>
            </a:endParaRPr>
          </a:p>
        </p:txBody>
      </p:sp>
      <p:sp>
        <p:nvSpPr>
          <p:cNvPr id="54302" name="Line 31">
            <a:extLst>
              <a:ext uri="{FF2B5EF4-FFF2-40B4-BE49-F238E27FC236}">
                <a16:creationId xmlns:a16="http://schemas.microsoft.com/office/drawing/2014/main" id="{8F3261B8-E823-09DE-61F4-BA7EA91BDE13}"/>
              </a:ext>
            </a:extLst>
          </p:cNvPr>
          <p:cNvSpPr>
            <a:spLocks noChangeShapeType="1"/>
          </p:cNvSpPr>
          <p:nvPr/>
        </p:nvSpPr>
        <p:spPr bwMode="auto">
          <a:xfrm>
            <a:off x="3951289" y="2835275"/>
            <a:ext cx="1587"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03" name="Line 32">
            <a:extLst>
              <a:ext uri="{FF2B5EF4-FFF2-40B4-BE49-F238E27FC236}">
                <a16:creationId xmlns:a16="http://schemas.microsoft.com/office/drawing/2014/main" id="{352F2935-0C69-C7FC-A364-76F6F5FAA10D}"/>
              </a:ext>
            </a:extLst>
          </p:cNvPr>
          <p:cNvSpPr>
            <a:spLocks noChangeShapeType="1"/>
          </p:cNvSpPr>
          <p:nvPr/>
        </p:nvSpPr>
        <p:spPr bwMode="auto">
          <a:xfrm>
            <a:off x="6096001" y="2835275"/>
            <a:ext cx="4763"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04" name="Rectangle 33">
            <a:extLst>
              <a:ext uri="{FF2B5EF4-FFF2-40B4-BE49-F238E27FC236}">
                <a16:creationId xmlns:a16="http://schemas.microsoft.com/office/drawing/2014/main" id="{F9ABEAF1-E835-6743-50E4-8B16AD4DD95A}"/>
              </a:ext>
            </a:extLst>
          </p:cNvPr>
          <p:cNvSpPr>
            <a:spLocks noChangeArrowheads="1"/>
          </p:cNvSpPr>
          <p:nvPr/>
        </p:nvSpPr>
        <p:spPr bwMode="auto">
          <a:xfrm>
            <a:off x="2833688"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54305" name="Rectangle 34">
            <a:extLst>
              <a:ext uri="{FF2B5EF4-FFF2-40B4-BE49-F238E27FC236}">
                <a16:creationId xmlns:a16="http://schemas.microsoft.com/office/drawing/2014/main" id="{0DAF43CE-AFE6-BB91-844C-547B8E89A5BA}"/>
              </a:ext>
            </a:extLst>
          </p:cNvPr>
          <p:cNvSpPr>
            <a:spLocks noChangeArrowheads="1"/>
          </p:cNvSpPr>
          <p:nvPr/>
        </p:nvSpPr>
        <p:spPr bwMode="auto">
          <a:xfrm>
            <a:off x="4543425"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4306" name="Rectangle 35">
            <a:extLst>
              <a:ext uri="{FF2B5EF4-FFF2-40B4-BE49-F238E27FC236}">
                <a16:creationId xmlns:a16="http://schemas.microsoft.com/office/drawing/2014/main" id="{0F6F0FD0-BAE2-D323-BCFD-04BBD388E0C0}"/>
              </a:ext>
            </a:extLst>
          </p:cNvPr>
          <p:cNvSpPr>
            <a:spLocks noChangeArrowheads="1"/>
          </p:cNvSpPr>
          <p:nvPr/>
        </p:nvSpPr>
        <p:spPr bwMode="auto">
          <a:xfrm>
            <a:off x="7813676" y="37973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4307" name="Line 36">
            <a:extLst>
              <a:ext uri="{FF2B5EF4-FFF2-40B4-BE49-F238E27FC236}">
                <a16:creationId xmlns:a16="http://schemas.microsoft.com/office/drawing/2014/main" id="{E523EA47-1217-CB77-3763-FD1FDEE98728}"/>
              </a:ext>
            </a:extLst>
          </p:cNvPr>
          <p:cNvSpPr>
            <a:spLocks noChangeShapeType="1"/>
          </p:cNvSpPr>
          <p:nvPr/>
        </p:nvSpPr>
        <p:spPr bwMode="auto">
          <a:xfrm>
            <a:off x="2476501" y="379730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08" name="Rectangle 37">
            <a:extLst>
              <a:ext uri="{FF2B5EF4-FFF2-40B4-BE49-F238E27FC236}">
                <a16:creationId xmlns:a16="http://schemas.microsoft.com/office/drawing/2014/main" id="{AAA4E102-2C96-C566-80B8-C277B705FF78}"/>
              </a:ext>
            </a:extLst>
          </p:cNvPr>
          <p:cNvSpPr>
            <a:spLocks noChangeArrowheads="1"/>
          </p:cNvSpPr>
          <p:nvPr/>
        </p:nvSpPr>
        <p:spPr bwMode="auto">
          <a:xfrm>
            <a:off x="2833688"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54309" name="Rectangle 38">
            <a:extLst>
              <a:ext uri="{FF2B5EF4-FFF2-40B4-BE49-F238E27FC236}">
                <a16:creationId xmlns:a16="http://schemas.microsoft.com/office/drawing/2014/main" id="{2ED47CB1-8918-276F-A84C-10FA3EB30BE0}"/>
              </a:ext>
            </a:extLst>
          </p:cNvPr>
          <p:cNvSpPr>
            <a:spLocks noChangeArrowheads="1"/>
          </p:cNvSpPr>
          <p:nvPr/>
        </p:nvSpPr>
        <p:spPr bwMode="auto">
          <a:xfrm>
            <a:off x="4543425"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4310" name="Rectangle 39">
            <a:extLst>
              <a:ext uri="{FF2B5EF4-FFF2-40B4-BE49-F238E27FC236}">
                <a16:creationId xmlns:a16="http://schemas.microsoft.com/office/drawing/2014/main" id="{84D44785-6E14-1950-3850-16E1C0D3934B}"/>
              </a:ext>
            </a:extLst>
          </p:cNvPr>
          <p:cNvSpPr>
            <a:spLocks noChangeArrowheads="1"/>
          </p:cNvSpPr>
          <p:nvPr/>
        </p:nvSpPr>
        <p:spPr bwMode="auto">
          <a:xfrm>
            <a:off x="7813676" y="42894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4311" name="Rectangle 40">
            <a:extLst>
              <a:ext uri="{FF2B5EF4-FFF2-40B4-BE49-F238E27FC236}">
                <a16:creationId xmlns:a16="http://schemas.microsoft.com/office/drawing/2014/main" id="{5C69EC82-8D6F-C426-7BF5-55FAF1681937}"/>
              </a:ext>
            </a:extLst>
          </p:cNvPr>
          <p:cNvSpPr>
            <a:spLocks noChangeArrowheads="1"/>
          </p:cNvSpPr>
          <p:nvPr/>
        </p:nvSpPr>
        <p:spPr bwMode="auto">
          <a:xfrm>
            <a:off x="2833688"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4312" name="Rectangle 41">
            <a:extLst>
              <a:ext uri="{FF2B5EF4-FFF2-40B4-BE49-F238E27FC236}">
                <a16:creationId xmlns:a16="http://schemas.microsoft.com/office/drawing/2014/main" id="{8D63835F-8FDF-E9CF-7BB6-380BD86E39E6}"/>
              </a:ext>
            </a:extLst>
          </p:cNvPr>
          <p:cNvSpPr>
            <a:spLocks noChangeArrowheads="1"/>
          </p:cNvSpPr>
          <p:nvPr/>
        </p:nvSpPr>
        <p:spPr bwMode="auto">
          <a:xfrm>
            <a:off x="4543425"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4313" name="Rectangle 42">
            <a:extLst>
              <a:ext uri="{FF2B5EF4-FFF2-40B4-BE49-F238E27FC236}">
                <a16:creationId xmlns:a16="http://schemas.microsoft.com/office/drawing/2014/main" id="{5E3A0CB4-A82F-E1D8-8342-DB5A4DD251C1}"/>
              </a:ext>
            </a:extLst>
          </p:cNvPr>
          <p:cNvSpPr>
            <a:spLocks noChangeArrowheads="1"/>
          </p:cNvSpPr>
          <p:nvPr/>
        </p:nvSpPr>
        <p:spPr bwMode="auto">
          <a:xfrm>
            <a:off x="7813676" y="478631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4314" name="Rectangle 43">
            <a:extLst>
              <a:ext uri="{FF2B5EF4-FFF2-40B4-BE49-F238E27FC236}">
                <a16:creationId xmlns:a16="http://schemas.microsoft.com/office/drawing/2014/main" id="{D61CEDA3-51F7-4995-6BFE-34FEC8751354}"/>
              </a:ext>
            </a:extLst>
          </p:cNvPr>
          <p:cNvSpPr>
            <a:spLocks noChangeArrowheads="1"/>
          </p:cNvSpPr>
          <p:nvPr/>
        </p:nvSpPr>
        <p:spPr bwMode="auto">
          <a:xfrm>
            <a:off x="2833688"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00108" name="Rectangle 44">
            <a:extLst>
              <a:ext uri="{FF2B5EF4-FFF2-40B4-BE49-F238E27FC236}">
                <a16:creationId xmlns:a16="http://schemas.microsoft.com/office/drawing/2014/main" id="{47D2CF43-B47B-C9C7-1A62-C95CFF705E56}"/>
              </a:ext>
            </a:extLst>
          </p:cNvPr>
          <p:cNvSpPr>
            <a:spLocks noChangeArrowheads="1"/>
          </p:cNvSpPr>
          <p:nvPr/>
        </p:nvSpPr>
        <p:spPr bwMode="auto">
          <a:xfrm>
            <a:off x="4543425"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b="1">
                <a:solidFill>
                  <a:srgbClr val="FF3300"/>
                </a:solidFill>
                <a:latin typeface="Arial Narrow" panose="020B0606020202030204" pitchFamily="34" charset="0"/>
              </a:rPr>
              <a:t>3</a:t>
            </a:r>
            <a:endParaRPr lang="en-US" altLang="en-US" sz="2600" b="1">
              <a:solidFill>
                <a:srgbClr val="FF3300"/>
              </a:solidFill>
              <a:latin typeface="Arial Narrow" panose="020B0606020202030204" pitchFamily="34" charset="0"/>
            </a:endParaRPr>
          </a:p>
        </p:txBody>
      </p:sp>
      <p:sp>
        <p:nvSpPr>
          <p:cNvPr id="54316" name="Rectangle 45">
            <a:extLst>
              <a:ext uri="{FF2B5EF4-FFF2-40B4-BE49-F238E27FC236}">
                <a16:creationId xmlns:a16="http://schemas.microsoft.com/office/drawing/2014/main" id="{D0EFCAA0-2143-48C9-59E0-11DA1797D567}"/>
              </a:ext>
            </a:extLst>
          </p:cNvPr>
          <p:cNvSpPr>
            <a:spLocks noChangeArrowheads="1"/>
          </p:cNvSpPr>
          <p:nvPr/>
        </p:nvSpPr>
        <p:spPr bwMode="auto">
          <a:xfrm>
            <a:off x="2833688"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4317" name="Rectangle 46">
            <a:extLst>
              <a:ext uri="{FF2B5EF4-FFF2-40B4-BE49-F238E27FC236}">
                <a16:creationId xmlns:a16="http://schemas.microsoft.com/office/drawing/2014/main" id="{985857FB-4DED-EBF3-EC3F-DE5F5D417BC5}"/>
              </a:ext>
            </a:extLst>
          </p:cNvPr>
          <p:cNvSpPr>
            <a:spLocks noChangeArrowheads="1"/>
          </p:cNvSpPr>
          <p:nvPr/>
        </p:nvSpPr>
        <p:spPr bwMode="auto">
          <a:xfrm>
            <a:off x="4543425"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4318" name="Rectangle 47">
            <a:extLst>
              <a:ext uri="{FF2B5EF4-FFF2-40B4-BE49-F238E27FC236}">
                <a16:creationId xmlns:a16="http://schemas.microsoft.com/office/drawing/2014/main" id="{243C2DC6-1BCF-2F2D-2EBA-143F6BCF1300}"/>
              </a:ext>
            </a:extLst>
          </p:cNvPr>
          <p:cNvSpPr>
            <a:spLocks noChangeArrowheads="1"/>
          </p:cNvSpPr>
          <p:nvPr/>
        </p:nvSpPr>
        <p:spPr bwMode="auto">
          <a:xfrm>
            <a:off x="7204076" y="5227639"/>
            <a:ext cx="9313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        5</a:t>
            </a:r>
            <a:endParaRPr lang="en-US" altLang="en-US" sz="2600">
              <a:solidFill>
                <a:srgbClr val="292929"/>
              </a:solidFill>
              <a:latin typeface="Arial Narrow" panose="020B0606020202030204" pitchFamily="34" charset="0"/>
            </a:endParaRPr>
          </a:p>
        </p:txBody>
      </p:sp>
      <p:sp>
        <p:nvSpPr>
          <p:cNvPr id="54319" name="Rectangle 48">
            <a:extLst>
              <a:ext uri="{FF2B5EF4-FFF2-40B4-BE49-F238E27FC236}">
                <a16:creationId xmlns:a16="http://schemas.microsoft.com/office/drawing/2014/main" id="{7FEF65F5-BE7C-55A8-9AB1-141F3740C253}"/>
              </a:ext>
            </a:extLst>
          </p:cNvPr>
          <p:cNvSpPr>
            <a:spLocks noChangeArrowheads="1"/>
          </p:cNvSpPr>
          <p:nvPr/>
        </p:nvSpPr>
        <p:spPr bwMode="auto">
          <a:xfrm>
            <a:off x="2833688" y="61912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4320" name="Rectangle 49">
            <a:extLst>
              <a:ext uri="{FF2B5EF4-FFF2-40B4-BE49-F238E27FC236}">
                <a16:creationId xmlns:a16="http://schemas.microsoft.com/office/drawing/2014/main" id="{F8C3977F-1779-BE7E-FE02-252368645DC8}"/>
              </a:ext>
            </a:extLst>
          </p:cNvPr>
          <p:cNvSpPr>
            <a:spLocks noChangeArrowheads="1"/>
          </p:cNvSpPr>
          <p:nvPr/>
        </p:nvSpPr>
        <p:spPr bwMode="auto">
          <a:xfrm>
            <a:off x="4506913" y="62182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4321" name="Line 50">
            <a:extLst>
              <a:ext uri="{FF2B5EF4-FFF2-40B4-BE49-F238E27FC236}">
                <a16:creationId xmlns:a16="http://schemas.microsoft.com/office/drawing/2014/main" id="{10E6ADC4-E2A4-4EBF-6D4B-F61AA7BE57F1}"/>
              </a:ext>
            </a:extLst>
          </p:cNvPr>
          <p:cNvSpPr>
            <a:spLocks noChangeShapeType="1"/>
          </p:cNvSpPr>
          <p:nvPr/>
        </p:nvSpPr>
        <p:spPr bwMode="auto">
          <a:xfrm>
            <a:off x="2471739" y="428307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22" name="Line 51">
            <a:extLst>
              <a:ext uri="{FF2B5EF4-FFF2-40B4-BE49-F238E27FC236}">
                <a16:creationId xmlns:a16="http://schemas.microsoft.com/office/drawing/2014/main" id="{5F4FE617-DF16-6079-E152-EBFC8F1B4E1C}"/>
              </a:ext>
            </a:extLst>
          </p:cNvPr>
          <p:cNvSpPr>
            <a:spLocks noChangeShapeType="1"/>
          </p:cNvSpPr>
          <p:nvPr/>
        </p:nvSpPr>
        <p:spPr bwMode="auto">
          <a:xfrm>
            <a:off x="2479676" y="479583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23" name="Line 52">
            <a:extLst>
              <a:ext uri="{FF2B5EF4-FFF2-40B4-BE49-F238E27FC236}">
                <a16:creationId xmlns:a16="http://schemas.microsoft.com/office/drawing/2014/main" id="{0BFC9803-FAD3-78D3-FB8C-A564667C98E1}"/>
              </a:ext>
            </a:extLst>
          </p:cNvPr>
          <p:cNvSpPr>
            <a:spLocks noChangeShapeType="1"/>
          </p:cNvSpPr>
          <p:nvPr/>
        </p:nvSpPr>
        <p:spPr bwMode="auto">
          <a:xfrm>
            <a:off x="2447926" y="524192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24" name="Line 53">
            <a:extLst>
              <a:ext uri="{FF2B5EF4-FFF2-40B4-BE49-F238E27FC236}">
                <a16:creationId xmlns:a16="http://schemas.microsoft.com/office/drawing/2014/main" id="{7D7D094F-9503-FC95-7927-1850A88E0610}"/>
              </a:ext>
            </a:extLst>
          </p:cNvPr>
          <p:cNvSpPr>
            <a:spLocks noChangeShapeType="1"/>
          </p:cNvSpPr>
          <p:nvPr/>
        </p:nvSpPr>
        <p:spPr bwMode="auto">
          <a:xfrm flipV="1">
            <a:off x="2471739" y="5719764"/>
            <a:ext cx="771842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25" name="Line 54">
            <a:extLst>
              <a:ext uri="{FF2B5EF4-FFF2-40B4-BE49-F238E27FC236}">
                <a16:creationId xmlns:a16="http://schemas.microsoft.com/office/drawing/2014/main" id="{9F585DEB-592F-C988-445F-98EC18480E25}"/>
              </a:ext>
            </a:extLst>
          </p:cNvPr>
          <p:cNvSpPr>
            <a:spLocks noChangeShapeType="1"/>
          </p:cNvSpPr>
          <p:nvPr/>
        </p:nvSpPr>
        <p:spPr bwMode="auto">
          <a:xfrm>
            <a:off x="2451100" y="6175376"/>
            <a:ext cx="7759700"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326" name="Rectangle 55">
            <a:extLst>
              <a:ext uri="{FF2B5EF4-FFF2-40B4-BE49-F238E27FC236}">
                <a16:creationId xmlns:a16="http://schemas.microsoft.com/office/drawing/2014/main" id="{F3A3EEC3-74DF-7136-C1B7-1D5F56C27009}"/>
              </a:ext>
            </a:extLst>
          </p:cNvPr>
          <p:cNvSpPr>
            <a:spLocks noChangeArrowheads="1"/>
          </p:cNvSpPr>
          <p:nvPr/>
        </p:nvSpPr>
        <p:spPr bwMode="auto">
          <a:xfrm>
            <a:off x="1676400" y="-304800"/>
            <a:ext cx="7158038"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b="1" dirty="0">
                <a:solidFill>
                  <a:srgbClr val="000000"/>
                </a:solidFill>
              </a:rPr>
              <a:t>Simple Moving Average</a:t>
            </a:r>
          </a:p>
        </p:txBody>
      </p:sp>
      <p:sp>
        <p:nvSpPr>
          <p:cNvPr id="600120" name="Rectangle 56">
            <a:extLst>
              <a:ext uri="{FF2B5EF4-FFF2-40B4-BE49-F238E27FC236}">
                <a16:creationId xmlns:a16="http://schemas.microsoft.com/office/drawing/2014/main" id="{FEF00BF1-009E-8B5F-ECB4-C45CA3F58244}"/>
              </a:ext>
            </a:extLst>
          </p:cNvPr>
          <p:cNvSpPr>
            <a:spLocks noChangeArrowheads="1"/>
          </p:cNvSpPr>
          <p:nvPr/>
        </p:nvSpPr>
        <p:spPr bwMode="auto">
          <a:xfrm>
            <a:off x="4572000" y="52578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600120"/>
                                        </p:tgtEl>
                                        <p:attrNameLst>
                                          <p:attrName>style.visibility</p:attrName>
                                        </p:attrNameLst>
                                      </p:cBhvr>
                                      <p:to>
                                        <p:strVal val="hidden"/>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600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108" grpId="0"/>
      <p:bldP spid="6001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E7B8F3D-40DF-2729-AFDA-C16552B318BA}"/>
              </a:ext>
            </a:extLst>
          </p:cNvPr>
          <p:cNvSpPr>
            <a:spLocks noGrp="1" noChangeArrowheads="1"/>
          </p:cNvSpPr>
          <p:nvPr>
            <p:ph type="title"/>
          </p:nvPr>
        </p:nvSpPr>
        <p:spPr>
          <a:xfrm>
            <a:off x="1828801" y="762001"/>
            <a:ext cx="7159625" cy="1412875"/>
          </a:xfrm>
        </p:spPr>
        <p:txBody>
          <a:bodyPr/>
          <a:lstStyle/>
          <a:p>
            <a:pPr eaLnBrk="1" hangingPunct="1"/>
            <a:r>
              <a:rPr lang="en-US" altLang="en-US"/>
              <a:t>Forecast for Month 5?</a:t>
            </a:r>
          </a:p>
        </p:txBody>
      </p:sp>
      <p:sp>
        <p:nvSpPr>
          <p:cNvPr id="55299" name="Rectangle 3">
            <a:extLst>
              <a:ext uri="{FF2B5EF4-FFF2-40B4-BE49-F238E27FC236}">
                <a16:creationId xmlns:a16="http://schemas.microsoft.com/office/drawing/2014/main" id="{7C62F910-DA2F-624A-84AE-D3F452DC2567}"/>
              </a:ext>
            </a:extLst>
          </p:cNvPr>
          <p:cNvSpPr>
            <a:spLocks noChangeArrowheads="1"/>
          </p:cNvSpPr>
          <p:nvPr/>
        </p:nvSpPr>
        <p:spPr bwMode="auto">
          <a:xfrm>
            <a:off x="2476500" y="5248276"/>
            <a:ext cx="1474788"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0" name="Rectangle 4">
            <a:extLst>
              <a:ext uri="{FF2B5EF4-FFF2-40B4-BE49-F238E27FC236}">
                <a16:creationId xmlns:a16="http://schemas.microsoft.com/office/drawing/2014/main" id="{B09150C6-E3AA-9697-FF78-85E9C9E1A227}"/>
              </a:ext>
            </a:extLst>
          </p:cNvPr>
          <p:cNvSpPr>
            <a:spLocks noChangeArrowheads="1"/>
          </p:cNvSpPr>
          <p:nvPr/>
        </p:nvSpPr>
        <p:spPr bwMode="auto">
          <a:xfrm>
            <a:off x="3960814" y="5248276"/>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1" name="Rectangle 5">
            <a:extLst>
              <a:ext uri="{FF2B5EF4-FFF2-40B4-BE49-F238E27FC236}">
                <a16:creationId xmlns:a16="http://schemas.microsoft.com/office/drawing/2014/main" id="{E835370E-C1F0-DB72-88C2-E3395E0DE7A9}"/>
              </a:ext>
            </a:extLst>
          </p:cNvPr>
          <p:cNvSpPr>
            <a:spLocks noChangeArrowheads="1"/>
          </p:cNvSpPr>
          <p:nvPr/>
        </p:nvSpPr>
        <p:spPr bwMode="auto">
          <a:xfrm>
            <a:off x="6119814" y="5248276"/>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2" name="Rectangle 6">
            <a:extLst>
              <a:ext uri="{FF2B5EF4-FFF2-40B4-BE49-F238E27FC236}">
                <a16:creationId xmlns:a16="http://schemas.microsoft.com/office/drawing/2014/main" id="{C10BB3E7-EA1E-E108-8976-1102685357EC}"/>
              </a:ext>
            </a:extLst>
          </p:cNvPr>
          <p:cNvSpPr>
            <a:spLocks noChangeArrowheads="1"/>
          </p:cNvSpPr>
          <p:nvPr/>
        </p:nvSpPr>
        <p:spPr bwMode="auto">
          <a:xfrm>
            <a:off x="7956550" y="5248276"/>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3" name="Rectangle 8">
            <a:extLst>
              <a:ext uri="{FF2B5EF4-FFF2-40B4-BE49-F238E27FC236}">
                <a16:creationId xmlns:a16="http://schemas.microsoft.com/office/drawing/2014/main" id="{A73D8DB0-F58B-25C9-70F0-A7D2FC7BA6C2}"/>
              </a:ext>
            </a:extLst>
          </p:cNvPr>
          <p:cNvSpPr>
            <a:spLocks noChangeArrowheads="1"/>
          </p:cNvSpPr>
          <p:nvPr/>
        </p:nvSpPr>
        <p:spPr bwMode="auto">
          <a:xfrm>
            <a:off x="2446338" y="478948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4" name="Rectangle 9">
            <a:extLst>
              <a:ext uri="{FF2B5EF4-FFF2-40B4-BE49-F238E27FC236}">
                <a16:creationId xmlns:a16="http://schemas.microsoft.com/office/drawing/2014/main" id="{74CE874A-7E95-150E-000B-3B766188E1C4}"/>
              </a:ext>
            </a:extLst>
          </p:cNvPr>
          <p:cNvSpPr>
            <a:spLocks noChangeArrowheads="1"/>
          </p:cNvSpPr>
          <p:nvPr/>
        </p:nvSpPr>
        <p:spPr bwMode="auto">
          <a:xfrm>
            <a:off x="2476500" y="4789489"/>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5" name="Rectangle 10">
            <a:extLst>
              <a:ext uri="{FF2B5EF4-FFF2-40B4-BE49-F238E27FC236}">
                <a16:creationId xmlns:a16="http://schemas.microsoft.com/office/drawing/2014/main" id="{0E49036D-CAA0-1AF3-B5D8-1EB8B328CA49}"/>
              </a:ext>
            </a:extLst>
          </p:cNvPr>
          <p:cNvSpPr>
            <a:spLocks noChangeArrowheads="1"/>
          </p:cNvSpPr>
          <p:nvPr/>
        </p:nvSpPr>
        <p:spPr bwMode="auto">
          <a:xfrm>
            <a:off x="3951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6" name="Rectangle 11">
            <a:extLst>
              <a:ext uri="{FF2B5EF4-FFF2-40B4-BE49-F238E27FC236}">
                <a16:creationId xmlns:a16="http://schemas.microsoft.com/office/drawing/2014/main" id="{96781898-507C-9C20-4D83-9B6B8C7B6D19}"/>
              </a:ext>
            </a:extLst>
          </p:cNvPr>
          <p:cNvSpPr>
            <a:spLocks noChangeArrowheads="1"/>
          </p:cNvSpPr>
          <p:nvPr/>
        </p:nvSpPr>
        <p:spPr bwMode="auto">
          <a:xfrm>
            <a:off x="3960814" y="478948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7" name="Rectangle 12">
            <a:extLst>
              <a:ext uri="{FF2B5EF4-FFF2-40B4-BE49-F238E27FC236}">
                <a16:creationId xmlns:a16="http://schemas.microsoft.com/office/drawing/2014/main" id="{EAA1A438-CA7D-83D7-BF75-7F13A9B556BE}"/>
              </a:ext>
            </a:extLst>
          </p:cNvPr>
          <p:cNvSpPr>
            <a:spLocks noChangeArrowheads="1"/>
          </p:cNvSpPr>
          <p:nvPr/>
        </p:nvSpPr>
        <p:spPr bwMode="auto">
          <a:xfrm>
            <a:off x="6110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8" name="Rectangle 13">
            <a:extLst>
              <a:ext uri="{FF2B5EF4-FFF2-40B4-BE49-F238E27FC236}">
                <a16:creationId xmlns:a16="http://schemas.microsoft.com/office/drawing/2014/main" id="{805F46B8-BB88-9CDB-B1E2-46146A8A7DBA}"/>
              </a:ext>
            </a:extLst>
          </p:cNvPr>
          <p:cNvSpPr>
            <a:spLocks noChangeArrowheads="1"/>
          </p:cNvSpPr>
          <p:nvPr/>
        </p:nvSpPr>
        <p:spPr bwMode="auto">
          <a:xfrm>
            <a:off x="6119814" y="478948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09" name="Rectangle 14">
            <a:extLst>
              <a:ext uri="{FF2B5EF4-FFF2-40B4-BE49-F238E27FC236}">
                <a16:creationId xmlns:a16="http://schemas.microsoft.com/office/drawing/2014/main" id="{8DC73B21-58AA-60E7-0577-E49891163D6F}"/>
              </a:ext>
            </a:extLst>
          </p:cNvPr>
          <p:cNvSpPr>
            <a:spLocks noChangeArrowheads="1"/>
          </p:cNvSpPr>
          <p:nvPr/>
        </p:nvSpPr>
        <p:spPr bwMode="auto">
          <a:xfrm>
            <a:off x="7945438" y="4789489"/>
            <a:ext cx="111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0" name="Rectangle 15">
            <a:extLst>
              <a:ext uri="{FF2B5EF4-FFF2-40B4-BE49-F238E27FC236}">
                <a16:creationId xmlns:a16="http://schemas.microsoft.com/office/drawing/2014/main" id="{72D20207-4807-D037-F05B-86700D7A54C9}"/>
              </a:ext>
            </a:extLst>
          </p:cNvPr>
          <p:cNvSpPr>
            <a:spLocks noChangeArrowheads="1"/>
          </p:cNvSpPr>
          <p:nvPr/>
        </p:nvSpPr>
        <p:spPr bwMode="auto">
          <a:xfrm>
            <a:off x="7956550" y="4789489"/>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1" name="Rectangle 16">
            <a:extLst>
              <a:ext uri="{FF2B5EF4-FFF2-40B4-BE49-F238E27FC236}">
                <a16:creationId xmlns:a16="http://schemas.microsoft.com/office/drawing/2014/main" id="{40DB119E-7774-1475-665B-79E4237B7DFF}"/>
              </a:ext>
            </a:extLst>
          </p:cNvPr>
          <p:cNvSpPr>
            <a:spLocks noChangeArrowheads="1"/>
          </p:cNvSpPr>
          <p:nvPr/>
        </p:nvSpPr>
        <p:spPr bwMode="auto">
          <a:xfrm>
            <a:off x="10160001" y="4789489"/>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2" name="Rectangle 17">
            <a:extLst>
              <a:ext uri="{FF2B5EF4-FFF2-40B4-BE49-F238E27FC236}">
                <a16:creationId xmlns:a16="http://schemas.microsoft.com/office/drawing/2014/main" id="{CDBB1D69-0171-78D8-163C-1F0AAA24E2CF}"/>
              </a:ext>
            </a:extLst>
          </p:cNvPr>
          <p:cNvSpPr>
            <a:spLocks noChangeArrowheads="1"/>
          </p:cNvSpPr>
          <p:nvPr/>
        </p:nvSpPr>
        <p:spPr bwMode="auto">
          <a:xfrm>
            <a:off x="2446338" y="5716588"/>
            <a:ext cx="3016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3" name="Rectangle 18">
            <a:extLst>
              <a:ext uri="{FF2B5EF4-FFF2-40B4-BE49-F238E27FC236}">
                <a16:creationId xmlns:a16="http://schemas.microsoft.com/office/drawing/2014/main" id="{EC722CC0-A24D-4A74-141A-FE9D47DB55D0}"/>
              </a:ext>
            </a:extLst>
          </p:cNvPr>
          <p:cNvSpPr>
            <a:spLocks noChangeArrowheads="1"/>
          </p:cNvSpPr>
          <p:nvPr/>
        </p:nvSpPr>
        <p:spPr bwMode="auto">
          <a:xfrm>
            <a:off x="2476500" y="5716588"/>
            <a:ext cx="1474788"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4" name="Rectangle 19">
            <a:extLst>
              <a:ext uri="{FF2B5EF4-FFF2-40B4-BE49-F238E27FC236}">
                <a16:creationId xmlns:a16="http://schemas.microsoft.com/office/drawing/2014/main" id="{BD4004DB-4248-5CC7-4ECC-7CC63E2713C5}"/>
              </a:ext>
            </a:extLst>
          </p:cNvPr>
          <p:cNvSpPr>
            <a:spLocks noChangeArrowheads="1"/>
          </p:cNvSpPr>
          <p:nvPr/>
        </p:nvSpPr>
        <p:spPr bwMode="auto">
          <a:xfrm>
            <a:off x="3951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5" name="Rectangle 20">
            <a:extLst>
              <a:ext uri="{FF2B5EF4-FFF2-40B4-BE49-F238E27FC236}">
                <a16:creationId xmlns:a16="http://schemas.microsoft.com/office/drawing/2014/main" id="{04EE2D63-8E62-A642-58DC-00E0907FF199}"/>
              </a:ext>
            </a:extLst>
          </p:cNvPr>
          <p:cNvSpPr>
            <a:spLocks noChangeArrowheads="1"/>
          </p:cNvSpPr>
          <p:nvPr/>
        </p:nvSpPr>
        <p:spPr bwMode="auto">
          <a:xfrm>
            <a:off x="3960814" y="5716588"/>
            <a:ext cx="214947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6" name="Rectangle 21">
            <a:extLst>
              <a:ext uri="{FF2B5EF4-FFF2-40B4-BE49-F238E27FC236}">
                <a16:creationId xmlns:a16="http://schemas.microsoft.com/office/drawing/2014/main" id="{78CB1CA8-26CF-EAF7-D9FC-FAB2464E1A11}"/>
              </a:ext>
            </a:extLst>
          </p:cNvPr>
          <p:cNvSpPr>
            <a:spLocks noChangeArrowheads="1"/>
          </p:cNvSpPr>
          <p:nvPr/>
        </p:nvSpPr>
        <p:spPr bwMode="auto">
          <a:xfrm>
            <a:off x="6110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7" name="Rectangle 22">
            <a:extLst>
              <a:ext uri="{FF2B5EF4-FFF2-40B4-BE49-F238E27FC236}">
                <a16:creationId xmlns:a16="http://schemas.microsoft.com/office/drawing/2014/main" id="{A89BE378-ACBB-1444-EF5A-8AFAED1DD9DD}"/>
              </a:ext>
            </a:extLst>
          </p:cNvPr>
          <p:cNvSpPr>
            <a:spLocks noChangeArrowheads="1"/>
          </p:cNvSpPr>
          <p:nvPr/>
        </p:nvSpPr>
        <p:spPr bwMode="auto">
          <a:xfrm>
            <a:off x="6119814" y="5716588"/>
            <a:ext cx="18256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8" name="Rectangle 23">
            <a:extLst>
              <a:ext uri="{FF2B5EF4-FFF2-40B4-BE49-F238E27FC236}">
                <a16:creationId xmlns:a16="http://schemas.microsoft.com/office/drawing/2014/main" id="{2A64A758-E91B-5703-8994-D06BEEE77CDF}"/>
              </a:ext>
            </a:extLst>
          </p:cNvPr>
          <p:cNvSpPr>
            <a:spLocks noChangeArrowheads="1"/>
          </p:cNvSpPr>
          <p:nvPr/>
        </p:nvSpPr>
        <p:spPr bwMode="auto">
          <a:xfrm>
            <a:off x="7945438" y="5716588"/>
            <a:ext cx="111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19" name="Rectangle 24">
            <a:extLst>
              <a:ext uri="{FF2B5EF4-FFF2-40B4-BE49-F238E27FC236}">
                <a16:creationId xmlns:a16="http://schemas.microsoft.com/office/drawing/2014/main" id="{37F875DA-4709-19A9-043B-E694A0A3B78B}"/>
              </a:ext>
            </a:extLst>
          </p:cNvPr>
          <p:cNvSpPr>
            <a:spLocks noChangeArrowheads="1"/>
          </p:cNvSpPr>
          <p:nvPr/>
        </p:nvSpPr>
        <p:spPr bwMode="auto">
          <a:xfrm>
            <a:off x="7956550" y="5716588"/>
            <a:ext cx="220345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20" name="Rectangle 25">
            <a:extLst>
              <a:ext uri="{FF2B5EF4-FFF2-40B4-BE49-F238E27FC236}">
                <a16:creationId xmlns:a16="http://schemas.microsoft.com/office/drawing/2014/main" id="{B06D82D1-7D86-B7F7-7E23-D25734BF3418}"/>
              </a:ext>
            </a:extLst>
          </p:cNvPr>
          <p:cNvSpPr>
            <a:spLocks noChangeArrowheads="1"/>
          </p:cNvSpPr>
          <p:nvPr/>
        </p:nvSpPr>
        <p:spPr bwMode="auto">
          <a:xfrm>
            <a:off x="10160001" y="5716588"/>
            <a:ext cx="3016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21" name="Rectangle 26">
            <a:extLst>
              <a:ext uri="{FF2B5EF4-FFF2-40B4-BE49-F238E27FC236}">
                <a16:creationId xmlns:a16="http://schemas.microsoft.com/office/drawing/2014/main" id="{94F2CAE1-4395-3AD2-D844-66693032B637}"/>
              </a:ext>
            </a:extLst>
          </p:cNvPr>
          <p:cNvSpPr>
            <a:spLocks noChangeArrowheads="1"/>
          </p:cNvSpPr>
          <p:nvPr/>
        </p:nvSpPr>
        <p:spPr bwMode="auto">
          <a:xfrm>
            <a:off x="2462214" y="2819401"/>
            <a:ext cx="7731125" cy="38576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5322" name="Rectangle 27">
            <a:extLst>
              <a:ext uri="{FF2B5EF4-FFF2-40B4-BE49-F238E27FC236}">
                <a16:creationId xmlns:a16="http://schemas.microsoft.com/office/drawing/2014/main" id="{BED5C24A-C9D5-FB4D-3892-5ABF4A026EB7}"/>
              </a:ext>
            </a:extLst>
          </p:cNvPr>
          <p:cNvSpPr>
            <a:spLocks noChangeArrowheads="1"/>
          </p:cNvSpPr>
          <p:nvPr/>
        </p:nvSpPr>
        <p:spPr bwMode="auto">
          <a:xfrm>
            <a:off x="2619375" y="3278189"/>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55323" name="Rectangle 28">
            <a:extLst>
              <a:ext uri="{FF2B5EF4-FFF2-40B4-BE49-F238E27FC236}">
                <a16:creationId xmlns:a16="http://schemas.microsoft.com/office/drawing/2014/main" id="{E0C947C3-17FC-E027-4041-BD5117968311}"/>
              </a:ext>
            </a:extLst>
          </p:cNvPr>
          <p:cNvSpPr>
            <a:spLocks noChangeArrowheads="1"/>
          </p:cNvSpPr>
          <p:nvPr/>
        </p:nvSpPr>
        <p:spPr bwMode="auto">
          <a:xfrm>
            <a:off x="4383773" y="281305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55324" name="Rectangle 29">
            <a:extLst>
              <a:ext uri="{FF2B5EF4-FFF2-40B4-BE49-F238E27FC236}">
                <a16:creationId xmlns:a16="http://schemas.microsoft.com/office/drawing/2014/main" id="{215081D6-152D-A745-65CB-04EEBECA5478}"/>
              </a:ext>
            </a:extLst>
          </p:cNvPr>
          <p:cNvSpPr>
            <a:spLocks noChangeArrowheads="1"/>
          </p:cNvSpPr>
          <p:nvPr/>
        </p:nvSpPr>
        <p:spPr bwMode="auto">
          <a:xfrm>
            <a:off x="6781800" y="2913064"/>
            <a:ext cx="24106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55325" name="Rectangle 30">
            <a:extLst>
              <a:ext uri="{FF2B5EF4-FFF2-40B4-BE49-F238E27FC236}">
                <a16:creationId xmlns:a16="http://schemas.microsoft.com/office/drawing/2014/main" id="{A4885ECA-AF91-EF70-A44F-2E8F38160C61}"/>
              </a:ext>
            </a:extLst>
          </p:cNvPr>
          <p:cNvSpPr>
            <a:spLocks noChangeArrowheads="1"/>
          </p:cNvSpPr>
          <p:nvPr/>
        </p:nvSpPr>
        <p:spPr bwMode="auto">
          <a:xfrm>
            <a:off x="7639051" y="3360739"/>
            <a:ext cx="7966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(n=3)</a:t>
            </a:r>
            <a:endParaRPr lang="en-US" altLang="en-US" sz="2600">
              <a:solidFill>
                <a:srgbClr val="292929"/>
              </a:solidFill>
              <a:latin typeface="Arial Narrow" panose="020B0606020202030204" pitchFamily="34" charset="0"/>
            </a:endParaRPr>
          </a:p>
        </p:txBody>
      </p:sp>
      <p:sp>
        <p:nvSpPr>
          <p:cNvPr id="55326" name="Line 31">
            <a:extLst>
              <a:ext uri="{FF2B5EF4-FFF2-40B4-BE49-F238E27FC236}">
                <a16:creationId xmlns:a16="http://schemas.microsoft.com/office/drawing/2014/main" id="{4E043E55-466D-57D6-7523-5633A8893FA2}"/>
              </a:ext>
            </a:extLst>
          </p:cNvPr>
          <p:cNvSpPr>
            <a:spLocks noChangeShapeType="1"/>
          </p:cNvSpPr>
          <p:nvPr/>
        </p:nvSpPr>
        <p:spPr bwMode="auto">
          <a:xfrm>
            <a:off x="3951289" y="2835275"/>
            <a:ext cx="1587"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27" name="Line 32">
            <a:extLst>
              <a:ext uri="{FF2B5EF4-FFF2-40B4-BE49-F238E27FC236}">
                <a16:creationId xmlns:a16="http://schemas.microsoft.com/office/drawing/2014/main" id="{71548DCA-90F5-3DBB-3F43-8C71674B760A}"/>
              </a:ext>
            </a:extLst>
          </p:cNvPr>
          <p:cNvSpPr>
            <a:spLocks noChangeShapeType="1"/>
          </p:cNvSpPr>
          <p:nvPr/>
        </p:nvSpPr>
        <p:spPr bwMode="auto">
          <a:xfrm>
            <a:off x="6096001" y="2835275"/>
            <a:ext cx="4763"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28" name="Rectangle 33">
            <a:extLst>
              <a:ext uri="{FF2B5EF4-FFF2-40B4-BE49-F238E27FC236}">
                <a16:creationId xmlns:a16="http://schemas.microsoft.com/office/drawing/2014/main" id="{A41A890C-E2E3-AF00-76AE-D6862E8EAD63}"/>
              </a:ext>
            </a:extLst>
          </p:cNvPr>
          <p:cNvSpPr>
            <a:spLocks noChangeArrowheads="1"/>
          </p:cNvSpPr>
          <p:nvPr/>
        </p:nvSpPr>
        <p:spPr bwMode="auto">
          <a:xfrm>
            <a:off x="2833688"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55329" name="Rectangle 34">
            <a:extLst>
              <a:ext uri="{FF2B5EF4-FFF2-40B4-BE49-F238E27FC236}">
                <a16:creationId xmlns:a16="http://schemas.microsoft.com/office/drawing/2014/main" id="{9914B598-C6DD-03AA-ECDC-8E95DAFD6E27}"/>
              </a:ext>
            </a:extLst>
          </p:cNvPr>
          <p:cNvSpPr>
            <a:spLocks noChangeArrowheads="1"/>
          </p:cNvSpPr>
          <p:nvPr/>
        </p:nvSpPr>
        <p:spPr bwMode="auto">
          <a:xfrm>
            <a:off x="4543425"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5330" name="Rectangle 35">
            <a:extLst>
              <a:ext uri="{FF2B5EF4-FFF2-40B4-BE49-F238E27FC236}">
                <a16:creationId xmlns:a16="http://schemas.microsoft.com/office/drawing/2014/main" id="{729D3A7D-2EA8-6E60-FA3D-32B116ADC0A1}"/>
              </a:ext>
            </a:extLst>
          </p:cNvPr>
          <p:cNvSpPr>
            <a:spLocks noChangeArrowheads="1"/>
          </p:cNvSpPr>
          <p:nvPr/>
        </p:nvSpPr>
        <p:spPr bwMode="auto">
          <a:xfrm>
            <a:off x="7813676" y="37973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5331" name="Line 36">
            <a:extLst>
              <a:ext uri="{FF2B5EF4-FFF2-40B4-BE49-F238E27FC236}">
                <a16:creationId xmlns:a16="http://schemas.microsoft.com/office/drawing/2014/main" id="{048BBB77-F7DC-BE65-3A70-806A34D67E7D}"/>
              </a:ext>
            </a:extLst>
          </p:cNvPr>
          <p:cNvSpPr>
            <a:spLocks noChangeShapeType="1"/>
          </p:cNvSpPr>
          <p:nvPr/>
        </p:nvSpPr>
        <p:spPr bwMode="auto">
          <a:xfrm>
            <a:off x="2476501" y="379730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32" name="Rectangle 37">
            <a:extLst>
              <a:ext uri="{FF2B5EF4-FFF2-40B4-BE49-F238E27FC236}">
                <a16:creationId xmlns:a16="http://schemas.microsoft.com/office/drawing/2014/main" id="{8A38FE9B-5C98-F571-90BB-FEB78232A1BB}"/>
              </a:ext>
            </a:extLst>
          </p:cNvPr>
          <p:cNvSpPr>
            <a:spLocks noChangeArrowheads="1"/>
          </p:cNvSpPr>
          <p:nvPr/>
        </p:nvSpPr>
        <p:spPr bwMode="auto">
          <a:xfrm>
            <a:off x="2833688"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55333" name="Rectangle 38">
            <a:extLst>
              <a:ext uri="{FF2B5EF4-FFF2-40B4-BE49-F238E27FC236}">
                <a16:creationId xmlns:a16="http://schemas.microsoft.com/office/drawing/2014/main" id="{C5252B1B-6464-B879-6675-B7D613C90BF8}"/>
              </a:ext>
            </a:extLst>
          </p:cNvPr>
          <p:cNvSpPr>
            <a:spLocks noChangeArrowheads="1"/>
          </p:cNvSpPr>
          <p:nvPr/>
        </p:nvSpPr>
        <p:spPr bwMode="auto">
          <a:xfrm>
            <a:off x="4543425"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5334" name="Rectangle 39">
            <a:extLst>
              <a:ext uri="{FF2B5EF4-FFF2-40B4-BE49-F238E27FC236}">
                <a16:creationId xmlns:a16="http://schemas.microsoft.com/office/drawing/2014/main" id="{B0B82BF6-4C99-43A9-761F-A1FA3705082E}"/>
              </a:ext>
            </a:extLst>
          </p:cNvPr>
          <p:cNvSpPr>
            <a:spLocks noChangeArrowheads="1"/>
          </p:cNvSpPr>
          <p:nvPr/>
        </p:nvSpPr>
        <p:spPr bwMode="auto">
          <a:xfrm>
            <a:off x="7813676" y="42894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5335" name="Rectangle 40">
            <a:extLst>
              <a:ext uri="{FF2B5EF4-FFF2-40B4-BE49-F238E27FC236}">
                <a16:creationId xmlns:a16="http://schemas.microsoft.com/office/drawing/2014/main" id="{13231B43-E39A-55E3-93DC-EAD9BECF9B7F}"/>
              </a:ext>
            </a:extLst>
          </p:cNvPr>
          <p:cNvSpPr>
            <a:spLocks noChangeArrowheads="1"/>
          </p:cNvSpPr>
          <p:nvPr/>
        </p:nvSpPr>
        <p:spPr bwMode="auto">
          <a:xfrm>
            <a:off x="2833688"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5336" name="Rectangle 41">
            <a:extLst>
              <a:ext uri="{FF2B5EF4-FFF2-40B4-BE49-F238E27FC236}">
                <a16:creationId xmlns:a16="http://schemas.microsoft.com/office/drawing/2014/main" id="{0D965C9A-8AA1-5142-4843-4D1975184B52}"/>
              </a:ext>
            </a:extLst>
          </p:cNvPr>
          <p:cNvSpPr>
            <a:spLocks noChangeArrowheads="1"/>
          </p:cNvSpPr>
          <p:nvPr/>
        </p:nvSpPr>
        <p:spPr bwMode="auto">
          <a:xfrm>
            <a:off x="4543425"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5337" name="Rectangle 42">
            <a:extLst>
              <a:ext uri="{FF2B5EF4-FFF2-40B4-BE49-F238E27FC236}">
                <a16:creationId xmlns:a16="http://schemas.microsoft.com/office/drawing/2014/main" id="{2C289FF7-8A7E-2DF8-B019-FFC9DBFDBFAF}"/>
              </a:ext>
            </a:extLst>
          </p:cNvPr>
          <p:cNvSpPr>
            <a:spLocks noChangeArrowheads="1"/>
          </p:cNvSpPr>
          <p:nvPr/>
        </p:nvSpPr>
        <p:spPr bwMode="auto">
          <a:xfrm>
            <a:off x="7813676" y="478631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5338" name="Rectangle 43">
            <a:extLst>
              <a:ext uri="{FF2B5EF4-FFF2-40B4-BE49-F238E27FC236}">
                <a16:creationId xmlns:a16="http://schemas.microsoft.com/office/drawing/2014/main" id="{D28B6161-9708-D0A8-1E2D-B7489F37464E}"/>
              </a:ext>
            </a:extLst>
          </p:cNvPr>
          <p:cNvSpPr>
            <a:spLocks noChangeArrowheads="1"/>
          </p:cNvSpPr>
          <p:nvPr/>
        </p:nvSpPr>
        <p:spPr bwMode="auto">
          <a:xfrm>
            <a:off x="2833688"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5339" name="Rectangle 44">
            <a:extLst>
              <a:ext uri="{FF2B5EF4-FFF2-40B4-BE49-F238E27FC236}">
                <a16:creationId xmlns:a16="http://schemas.microsoft.com/office/drawing/2014/main" id="{758DE63F-6D2B-8851-84BF-CE06D44D4C3C}"/>
              </a:ext>
            </a:extLst>
          </p:cNvPr>
          <p:cNvSpPr>
            <a:spLocks noChangeArrowheads="1"/>
          </p:cNvSpPr>
          <p:nvPr/>
        </p:nvSpPr>
        <p:spPr bwMode="auto">
          <a:xfrm>
            <a:off x="4543425"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5340" name="Rectangle 45">
            <a:extLst>
              <a:ext uri="{FF2B5EF4-FFF2-40B4-BE49-F238E27FC236}">
                <a16:creationId xmlns:a16="http://schemas.microsoft.com/office/drawing/2014/main" id="{85BD82A9-8D0D-4939-7079-CC35A927B327}"/>
              </a:ext>
            </a:extLst>
          </p:cNvPr>
          <p:cNvSpPr>
            <a:spLocks noChangeArrowheads="1"/>
          </p:cNvSpPr>
          <p:nvPr/>
        </p:nvSpPr>
        <p:spPr bwMode="auto">
          <a:xfrm>
            <a:off x="2833688"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5341" name="Rectangle 46">
            <a:extLst>
              <a:ext uri="{FF2B5EF4-FFF2-40B4-BE49-F238E27FC236}">
                <a16:creationId xmlns:a16="http://schemas.microsoft.com/office/drawing/2014/main" id="{0476137C-85D1-33DE-8788-CE3F10401BB0}"/>
              </a:ext>
            </a:extLst>
          </p:cNvPr>
          <p:cNvSpPr>
            <a:spLocks noChangeArrowheads="1"/>
          </p:cNvSpPr>
          <p:nvPr/>
        </p:nvSpPr>
        <p:spPr bwMode="auto">
          <a:xfrm>
            <a:off x="4543425"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5342" name="Rectangle 47">
            <a:extLst>
              <a:ext uri="{FF2B5EF4-FFF2-40B4-BE49-F238E27FC236}">
                <a16:creationId xmlns:a16="http://schemas.microsoft.com/office/drawing/2014/main" id="{916033A6-B49D-1A1D-C1F6-A78BB5FA25D6}"/>
              </a:ext>
            </a:extLst>
          </p:cNvPr>
          <p:cNvSpPr>
            <a:spLocks noChangeArrowheads="1"/>
          </p:cNvSpPr>
          <p:nvPr/>
        </p:nvSpPr>
        <p:spPr bwMode="auto">
          <a:xfrm>
            <a:off x="7204076" y="5227639"/>
            <a:ext cx="9313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        5</a:t>
            </a:r>
            <a:endParaRPr lang="en-US" altLang="en-US" sz="2600">
              <a:solidFill>
                <a:srgbClr val="292929"/>
              </a:solidFill>
              <a:latin typeface="Arial Narrow" panose="020B0606020202030204" pitchFamily="34" charset="0"/>
            </a:endParaRPr>
          </a:p>
        </p:txBody>
      </p:sp>
      <p:sp>
        <p:nvSpPr>
          <p:cNvPr id="55343" name="Rectangle 48">
            <a:extLst>
              <a:ext uri="{FF2B5EF4-FFF2-40B4-BE49-F238E27FC236}">
                <a16:creationId xmlns:a16="http://schemas.microsoft.com/office/drawing/2014/main" id="{AE1982CE-42ED-2BC9-30BA-47FFAEC474C4}"/>
              </a:ext>
            </a:extLst>
          </p:cNvPr>
          <p:cNvSpPr>
            <a:spLocks noChangeArrowheads="1"/>
          </p:cNvSpPr>
          <p:nvPr/>
        </p:nvSpPr>
        <p:spPr bwMode="auto">
          <a:xfrm>
            <a:off x="2833688" y="61912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5344" name="Rectangle 49">
            <a:extLst>
              <a:ext uri="{FF2B5EF4-FFF2-40B4-BE49-F238E27FC236}">
                <a16:creationId xmlns:a16="http://schemas.microsoft.com/office/drawing/2014/main" id="{B5CAA577-2182-11F2-76F0-D2F01E23DA9C}"/>
              </a:ext>
            </a:extLst>
          </p:cNvPr>
          <p:cNvSpPr>
            <a:spLocks noChangeArrowheads="1"/>
          </p:cNvSpPr>
          <p:nvPr/>
        </p:nvSpPr>
        <p:spPr bwMode="auto">
          <a:xfrm>
            <a:off x="4506913" y="62182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03186" name="Freeform 50">
            <a:extLst>
              <a:ext uri="{FF2B5EF4-FFF2-40B4-BE49-F238E27FC236}">
                <a16:creationId xmlns:a16="http://schemas.microsoft.com/office/drawing/2014/main" id="{AFB48792-1614-E880-5082-E2314750439A}"/>
              </a:ext>
            </a:extLst>
          </p:cNvPr>
          <p:cNvSpPr>
            <a:spLocks/>
          </p:cNvSpPr>
          <p:nvPr/>
        </p:nvSpPr>
        <p:spPr bwMode="auto">
          <a:xfrm>
            <a:off x="5008563" y="4406901"/>
            <a:ext cx="95250" cy="1211263"/>
          </a:xfrm>
          <a:custGeom>
            <a:avLst/>
            <a:gdLst>
              <a:gd name="T0" fmla="*/ 0 w 69"/>
              <a:gd name="T1" fmla="*/ 2147483646 h 713"/>
              <a:gd name="T2" fmla="*/ 2147483646 w 69"/>
              <a:gd name="T3" fmla="*/ 2147483646 h 713"/>
              <a:gd name="T4" fmla="*/ 2147483646 w 69"/>
              <a:gd name="T5" fmla="*/ 2147483646 h 713"/>
              <a:gd name="T6" fmla="*/ 2147483646 w 69"/>
              <a:gd name="T7" fmla="*/ 2147483646 h 713"/>
              <a:gd name="T8" fmla="*/ 2147483646 w 69"/>
              <a:gd name="T9" fmla="*/ 2147483646 h 713"/>
              <a:gd name="T10" fmla="*/ 2147483646 w 69"/>
              <a:gd name="T11" fmla="*/ 2147483646 h 713"/>
              <a:gd name="T12" fmla="*/ 2147483646 w 69"/>
              <a:gd name="T13" fmla="*/ 2147483646 h 713"/>
              <a:gd name="T14" fmla="*/ 2147483646 w 69"/>
              <a:gd name="T15" fmla="*/ 2147483646 h 713"/>
              <a:gd name="T16" fmla="*/ 2147483646 w 69"/>
              <a:gd name="T17" fmla="*/ 2147483646 h 713"/>
              <a:gd name="T18" fmla="*/ 2147483646 w 69"/>
              <a:gd name="T19" fmla="*/ 2147483646 h 713"/>
              <a:gd name="T20" fmla="*/ 2147483646 w 69"/>
              <a:gd name="T21" fmla="*/ 2147483646 h 713"/>
              <a:gd name="T22" fmla="*/ 2147483646 w 69"/>
              <a:gd name="T23" fmla="*/ 2147483646 h 713"/>
              <a:gd name="T24" fmla="*/ 2147483646 w 69"/>
              <a:gd name="T25" fmla="*/ 2147483646 h 713"/>
              <a:gd name="T26" fmla="*/ 2147483646 w 69"/>
              <a:gd name="T27" fmla="*/ 2147483646 h 713"/>
              <a:gd name="T28" fmla="*/ 2147483646 w 69"/>
              <a:gd name="T29" fmla="*/ 2147483646 h 713"/>
              <a:gd name="T30" fmla="*/ 2147483646 w 69"/>
              <a:gd name="T31" fmla="*/ 2147483646 h 713"/>
              <a:gd name="T32" fmla="*/ 2147483646 w 69"/>
              <a:gd name="T33" fmla="*/ 2147483646 h 713"/>
              <a:gd name="T34" fmla="*/ 2147483646 w 69"/>
              <a:gd name="T35" fmla="*/ 2147483646 h 713"/>
              <a:gd name="T36" fmla="*/ 2147483646 w 69"/>
              <a:gd name="T37" fmla="*/ 2147483646 h 713"/>
              <a:gd name="T38" fmla="*/ 2147483646 w 69"/>
              <a:gd name="T39" fmla="*/ 2147483646 h 713"/>
              <a:gd name="T40" fmla="*/ 2147483646 w 69"/>
              <a:gd name="T41" fmla="*/ 2147483646 h 713"/>
              <a:gd name="T42" fmla="*/ 2147483646 w 69"/>
              <a:gd name="T43" fmla="*/ 2147483646 h 713"/>
              <a:gd name="T44" fmla="*/ 2147483646 w 69"/>
              <a:gd name="T45" fmla="*/ 2147483646 h 713"/>
              <a:gd name="T46" fmla="*/ 2147483646 w 69"/>
              <a:gd name="T47" fmla="*/ 2147483646 h 713"/>
              <a:gd name="T48" fmla="*/ 2147483646 w 69"/>
              <a:gd name="T49" fmla="*/ 2147483646 h 713"/>
              <a:gd name="T50" fmla="*/ 2147483646 w 69"/>
              <a:gd name="T51" fmla="*/ 2147483646 h 713"/>
              <a:gd name="T52" fmla="*/ 0 w 69"/>
              <a:gd name="T53" fmla="*/ 2147483646 h 713"/>
              <a:gd name="T54" fmla="*/ 2147483646 w 69"/>
              <a:gd name="T55" fmla="*/ 2147483646 h 713"/>
              <a:gd name="T56" fmla="*/ 2147483646 w 69"/>
              <a:gd name="T57" fmla="*/ 2147483646 h 713"/>
              <a:gd name="T58" fmla="*/ 2147483646 w 69"/>
              <a:gd name="T59" fmla="*/ 2147483646 h 713"/>
              <a:gd name="T60" fmla="*/ 2147483646 w 69"/>
              <a:gd name="T61" fmla="*/ 2147483646 h 713"/>
              <a:gd name="T62" fmla="*/ 2147483646 w 69"/>
              <a:gd name="T63" fmla="*/ 2147483646 h 713"/>
              <a:gd name="T64" fmla="*/ 2147483646 w 69"/>
              <a:gd name="T65" fmla="*/ 2147483646 h 713"/>
              <a:gd name="T66" fmla="*/ 2147483646 w 69"/>
              <a:gd name="T67" fmla="*/ 2147483646 h 713"/>
              <a:gd name="T68" fmla="*/ 2147483646 w 69"/>
              <a:gd name="T69" fmla="*/ 2147483646 h 713"/>
              <a:gd name="T70" fmla="*/ 2147483646 w 69"/>
              <a:gd name="T71" fmla="*/ 2147483646 h 713"/>
              <a:gd name="T72" fmla="*/ 2147483646 w 69"/>
              <a:gd name="T73" fmla="*/ 2147483646 h 713"/>
              <a:gd name="T74" fmla="*/ 2147483646 w 69"/>
              <a:gd name="T75" fmla="*/ 2147483646 h 713"/>
              <a:gd name="T76" fmla="*/ 2147483646 w 69"/>
              <a:gd name="T77" fmla="*/ 2147483646 h 713"/>
              <a:gd name="T78" fmla="*/ 2147483646 w 69"/>
              <a:gd name="T79" fmla="*/ 2147483646 h 713"/>
              <a:gd name="T80" fmla="*/ 2147483646 w 69"/>
              <a:gd name="T81" fmla="*/ 2147483646 h 713"/>
              <a:gd name="T82" fmla="*/ 2147483646 w 69"/>
              <a:gd name="T83" fmla="*/ 2147483646 h 713"/>
              <a:gd name="T84" fmla="*/ 2147483646 w 69"/>
              <a:gd name="T85" fmla="*/ 2147483646 h 713"/>
              <a:gd name="T86" fmla="*/ 2147483646 w 69"/>
              <a:gd name="T87" fmla="*/ 2147483646 h 713"/>
              <a:gd name="T88" fmla="*/ 2147483646 w 69"/>
              <a:gd name="T89" fmla="*/ 2147483646 h 713"/>
              <a:gd name="T90" fmla="*/ 2147483646 w 69"/>
              <a:gd name="T91" fmla="*/ 2147483646 h 713"/>
              <a:gd name="T92" fmla="*/ 2147483646 w 69"/>
              <a:gd name="T93" fmla="*/ 2147483646 h 713"/>
              <a:gd name="T94" fmla="*/ 2147483646 w 69"/>
              <a:gd name="T95" fmla="*/ 2147483646 h 713"/>
              <a:gd name="T96" fmla="*/ 2147483646 w 69"/>
              <a:gd name="T97" fmla="*/ 2147483646 h 713"/>
              <a:gd name="T98" fmla="*/ 2147483646 w 69"/>
              <a:gd name="T99" fmla="*/ 2147483646 h 713"/>
              <a:gd name="T100" fmla="*/ 2147483646 w 69"/>
              <a:gd name="T101" fmla="*/ 2147483646 h 713"/>
              <a:gd name="T102" fmla="*/ 2147483646 w 69"/>
              <a:gd name="T103" fmla="*/ 2147483646 h 713"/>
              <a:gd name="T104" fmla="*/ 2147483646 w 69"/>
              <a:gd name="T105" fmla="*/ 2147483646 h 71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9" h="713">
                <a:moveTo>
                  <a:pt x="0" y="0"/>
                </a:moveTo>
                <a:lnTo>
                  <a:pt x="0" y="23"/>
                </a:lnTo>
                <a:lnTo>
                  <a:pt x="6" y="25"/>
                </a:lnTo>
                <a:lnTo>
                  <a:pt x="6" y="14"/>
                </a:lnTo>
                <a:lnTo>
                  <a:pt x="0" y="23"/>
                </a:lnTo>
                <a:lnTo>
                  <a:pt x="6" y="27"/>
                </a:lnTo>
                <a:lnTo>
                  <a:pt x="12" y="16"/>
                </a:lnTo>
                <a:lnTo>
                  <a:pt x="2" y="25"/>
                </a:lnTo>
                <a:lnTo>
                  <a:pt x="8" y="31"/>
                </a:lnTo>
                <a:lnTo>
                  <a:pt x="12" y="37"/>
                </a:lnTo>
                <a:lnTo>
                  <a:pt x="21" y="29"/>
                </a:lnTo>
                <a:lnTo>
                  <a:pt x="10" y="29"/>
                </a:lnTo>
                <a:lnTo>
                  <a:pt x="15" y="46"/>
                </a:lnTo>
                <a:lnTo>
                  <a:pt x="17" y="69"/>
                </a:lnTo>
                <a:lnTo>
                  <a:pt x="17" y="299"/>
                </a:lnTo>
                <a:lnTo>
                  <a:pt x="19" y="322"/>
                </a:lnTo>
                <a:lnTo>
                  <a:pt x="27" y="339"/>
                </a:lnTo>
                <a:lnTo>
                  <a:pt x="29" y="349"/>
                </a:lnTo>
                <a:lnTo>
                  <a:pt x="33" y="356"/>
                </a:lnTo>
                <a:lnTo>
                  <a:pt x="38" y="360"/>
                </a:lnTo>
                <a:lnTo>
                  <a:pt x="42" y="362"/>
                </a:lnTo>
                <a:lnTo>
                  <a:pt x="48" y="366"/>
                </a:lnTo>
                <a:lnTo>
                  <a:pt x="52" y="366"/>
                </a:lnTo>
                <a:lnTo>
                  <a:pt x="58" y="368"/>
                </a:lnTo>
                <a:lnTo>
                  <a:pt x="58" y="356"/>
                </a:lnTo>
                <a:lnTo>
                  <a:pt x="58" y="345"/>
                </a:lnTo>
                <a:lnTo>
                  <a:pt x="54" y="347"/>
                </a:lnTo>
                <a:lnTo>
                  <a:pt x="50" y="349"/>
                </a:lnTo>
                <a:lnTo>
                  <a:pt x="46" y="356"/>
                </a:lnTo>
                <a:lnTo>
                  <a:pt x="50" y="364"/>
                </a:lnTo>
                <a:lnTo>
                  <a:pt x="54" y="366"/>
                </a:lnTo>
                <a:lnTo>
                  <a:pt x="58" y="345"/>
                </a:lnTo>
                <a:lnTo>
                  <a:pt x="52" y="347"/>
                </a:lnTo>
                <a:lnTo>
                  <a:pt x="48" y="347"/>
                </a:lnTo>
                <a:lnTo>
                  <a:pt x="42" y="351"/>
                </a:lnTo>
                <a:lnTo>
                  <a:pt x="38" y="353"/>
                </a:lnTo>
                <a:lnTo>
                  <a:pt x="33" y="358"/>
                </a:lnTo>
                <a:lnTo>
                  <a:pt x="29" y="364"/>
                </a:lnTo>
                <a:lnTo>
                  <a:pt x="27" y="374"/>
                </a:lnTo>
                <a:lnTo>
                  <a:pt x="19" y="391"/>
                </a:lnTo>
                <a:lnTo>
                  <a:pt x="17" y="414"/>
                </a:lnTo>
                <a:lnTo>
                  <a:pt x="17" y="644"/>
                </a:lnTo>
                <a:lnTo>
                  <a:pt x="15" y="667"/>
                </a:lnTo>
                <a:lnTo>
                  <a:pt x="10" y="684"/>
                </a:lnTo>
                <a:lnTo>
                  <a:pt x="21" y="684"/>
                </a:lnTo>
                <a:lnTo>
                  <a:pt x="12" y="676"/>
                </a:lnTo>
                <a:lnTo>
                  <a:pt x="8" y="684"/>
                </a:lnTo>
                <a:lnTo>
                  <a:pt x="2" y="688"/>
                </a:lnTo>
                <a:lnTo>
                  <a:pt x="12" y="697"/>
                </a:lnTo>
                <a:lnTo>
                  <a:pt x="6" y="686"/>
                </a:lnTo>
                <a:lnTo>
                  <a:pt x="0" y="690"/>
                </a:lnTo>
                <a:lnTo>
                  <a:pt x="6" y="699"/>
                </a:lnTo>
                <a:lnTo>
                  <a:pt x="6" y="688"/>
                </a:lnTo>
                <a:lnTo>
                  <a:pt x="0" y="690"/>
                </a:lnTo>
                <a:lnTo>
                  <a:pt x="0" y="713"/>
                </a:lnTo>
                <a:lnTo>
                  <a:pt x="6" y="711"/>
                </a:lnTo>
                <a:lnTo>
                  <a:pt x="10" y="711"/>
                </a:lnTo>
                <a:lnTo>
                  <a:pt x="15" y="707"/>
                </a:lnTo>
                <a:lnTo>
                  <a:pt x="19" y="705"/>
                </a:lnTo>
                <a:lnTo>
                  <a:pt x="25" y="701"/>
                </a:lnTo>
                <a:lnTo>
                  <a:pt x="29" y="693"/>
                </a:lnTo>
                <a:lnTo>
                  <a:pt x="33" y="684"/>
                </a:lnTo>
                <a:lnTo>
                  <a:pt x="38" y="667"/>
                </a:lnTo>
                <a:lnTo>
                  <a:pt x="40" y="644"/>
                </a:lnTo>
                <a:lnTo>
                  <a:pt x="40" y="414"/>
                </a:lnTo>
                <a:lnTo>
                  <a:pt x="42" y="391"/>
                </a:lnTo>
                <a:lnTo>
                  <a:pt x="50" y="374"/>
                </a:lnTo>
                <a:lnTo>
                  <a:pt x="38" y="374"/>
                </a:lnTo>
                <a:lnTo>
                  <a:pt x="46" y="381"/>
                </a:lnTo>
                <a:lnTo>
                  <a:pt x="50" y="376"/>
                </a:lnTo>
                <a:lnTo>
                  <a:pt x="56" y="370"/>
                </a:lnTo>
                <a:lnTo>
                  <a:pt x="46" y="360"/>
                </a:lnTo>
                <a:lnTo>
                  <a:pt x="52" y="372"/>
                </a:lnTo>
                <a:lnTo>
                  <a:pt x="58" y="368"/>
                </a:lnTo>
                <a:lnTo>
                  <a:pt x="52" y="358"/>
                </a:lnTo>
                <a:lnTo>
                  <a:pt x="52" y="370"/>
                </a:lnTo>
                <a:lnTo>
                  <a:pt x="58" y="368"/>
                </a:lnTo>
                <a:lnTo>
                  <a:pt x="61" y="366"/>
                </a:lnTo>
                <a:lnTo>
                  <a:pt x="65" y="364"/>
                </a:lnTo>
                <a:lnTo>
                  <a:pt x="69" y="356"/>
                </a:lnTo>
                <a:lnTo>
                  <a:pt x="65" y="349"/>
                </a:lnTo>
                <a:lnTo>
                  <a:pt x="61" y="347"/>
                </a:lnTo>
                <a:lnTo>
                  <a:pt x="58" y="345"/>
                </a:lnTo>
                <a:lnTo>
                  <a:pt x="52" y="343"/>
                </a:lnTo>
                <a:lnTo>
                  <a:pt x="52" y="355"/>
                </a:lnTo>
                <a:lnTo>
                  <a:pt x="58" y="345"/>
                </a:lnTo>
                <a:lnTo>
                  <a:pt x="52" y="341"/>
                </a:lnTo>
                <a:lnTo>
                  <a:pt x="46" y="353"/>
                </a:lnTo>
                <a:lnTo>
                  <a:pt x="56" y="343"/>
                </a:lnTo>
                <a:lnTo>
                  <a:pt x="50" y="339"/>
                </a:lnTo>
                <a:lnTo>
                  <a:pt x="46" y="332"/>
                </a:lnTo>
                <a:lnTo>
                  <a:pt x="38" y="339"/>
                </a:lnTo>
                <a:lnTo>
                  <a:pt x="50" y="339"/>
                </a:lnTo>
                <a:lnTo>
                  <a:pt x="42" y="322"/>
                </a:lnTo>
                <a:lnTo>
                  <a:pt x="40" y="299"/>
                </a:lnTo>
                <a:lnTo>
                  <a:pt x="40" y="69"/>
                </a:lnTo>
                <a:lnTo>
                  <a:pt x="38" y="46"/>
                </a:lnTo>
                <a:lnTo>
                  <a:pt x="33" y="29"/>
                </a:lnTo>
                <a:lnTo>
                  <a:pt x="29" y="20"/>
                </a:lnTo>
                <a:lnTo>
                  <a:pt x="25" y="14"/>
                </a:lnTo>
                <a:lnTo>
                  <a:pt x="19" y="8"/>
                </a:lnTo>
                <a:lnTo>
                  <a:pt x="15" y="6"/>
                </a:lnTo>
                <a:lnTo>
                  <a:pt x="10" y="2"/>
                </a:lnTo>
                <a:lnTo>
                  <a:pt x="6" y="2"/>
                </a:lnTo>
                <a:lnTo>
                  <a:pt x="0" y="0"/>
                </a:lnTo>
                <a:close/>
              </a:path>
            </a:pathLst>
          </a:custGeom>
          <a:solidFill>
            <a:srgbClr val="000000"/>
          </a:solidFill>
          <a:ln w="9525">
            <a:solidFill>
              <a:schemeClr val="tx1"/>
            </a:solidFill>
            <a:round/>
            <a:headEnd/>
            <a:tailEnd/>
          </a:ln>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46" name="Line 51">
            <a:extLst>
              <a:ext uri="{FF2B5EF4-FFF2-40B4-BE49-F238E27FC236}">
                <a16:creationId xmlns:a16="http://schemas.microsoft.com/office/drawing/2014/main" id="{15B3CFDF-E663-9076-F75C-63BCFC890E7D}"/>
              </a:ext>
            </a:extLst>
          </p:cNvPr>
          <p:cNvSpPr>
            <a:spLocks noChangeShapeType="1"/>
          </p:cNvSpPr>
          <p:nvPr/>
        </p:nvSpPr>
        <p:spPr bwMode="auto">
          <a:xfrm>
            <a:off x="2471739" y="428307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47" name="Line 52">
            <a:extLst>
              <a:ext uri="{FF2B5EF4-FFF2-40B4-BE49-F238E27FC236}">
                <a16:creationId xmlns:a16="http://schemas.microsoft.com/office/drawing/2014/main" id="{56BBDC2D-D9E2-F139-4F7B-34704201CEC5}"/>
              </a:ext>
            </a:extLst>
          </p:cNvPr>
          <p:cNvSpPr>
            <a:spLocks noChangeShapeType="1"/>
          </p:cNvSpPr>
          <p:nvPr/>
        </p:nvSpPr>
        <p:spPr bwMode="auto">
          <a:xfrm>
            <a:off x="2479676" y="479583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48" name="Line 53">
            <a:extLst>
              <a:ext uri="{FF2B5EF4-FFF2-40B4-BE49-F238E27FC236}">
                <a16:creationId xmlns:a16="http://schemas.microsoft.com/office/drawing/2014/main" id="{E3EA4992-A99A-B5C6-2CDE-5541BD6EF105}"/>
              </a:ext>
            </a:extLst>
          </p:cNvPr>
          <p:cNvSpPr>
            <a:spLocks noChangeShapeType="1"/>
          </p:cNvSpPr>
          <p:nvPr/>
        </p:nvSpPr>
        <p:spPr bwMode="auto">
          <a:xfrm>
            <a:off x="2447926" y="524192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49" name="Line 54">
            <a:extLst>
              <a:ext uri="{FF2B5EF4-FFF2-40B4-BE49-F238E27FC236}">
                <a16:creationId xmlns:a16="http://schemas.microsoft.com/office/drawing/2014/main" id="{60DBEE71-1848-3AD3-C91A-DE237AA184EB}"/>
              </a:ext>
            </a:extLst>
          </p:cNvPr>
          <p:cNvSpPr>
            <a:spLocks noChangeShapeType="1"/>
          </p:cNvSpPr>
          <p:nvPr/>
        </p:nvSpPr>
        <p:spPr bwMode="auto">
          <a:xfrm flipV="1">
            <a:off x="2471739" y="5719764"/>
            <a:ext cx="771842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5350" name="Line 55">
            <a:extLst>
              <a:ext uri="{FF2B5EF4-FFF2-40B4-BE49-F238E27FC236}">
                <a16:creationId xmlns:a16="http://schemas.microsoft.com/office/drawing/2014/main" id="{BBE9050C-14D3-52FE-216E-19567370E881}"/>
              </a:ext>
            </a:extLst>
          </p:cNvPr>
          <p:cNvSpPr>
            <a:spLocks noChangeShapeType="1"/>
          </p:cNvSpPr>
          <p:nvPr/>
        </p:nvSpPr>
        <p:spPr bwMode="auto">
          <a:xfrm>
            <a:off x="2451100" y="6175376"/>
            <a:ext cx="7759700"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3192" name="Freeform 56">
            <a:extLst>
              <a:ext uri="{FF2B5EF4-FFF2-40B4-BE49-F238E27FC236}">
                <a16:creationId xmlns:a16="http://schemas.microsoft.com/office/drawing/2014/main" id="{905C6533-F468-C6E8-229F-CD8ECB9713E4}"/>
              </a:ext>
            </a:extLst>
          </p:cNvPr>
          <p:cNvSpPr>
            <a:spLocks/>
          </p:cNvSpPr>
          <p:nvPr/>
        </p:nvSpPr>
        <p:spPr bwMode="auto">
          <a:xfrm>
            <a:off x="5230814" y="5033963"/>
            <a:ext cx="1798637" cy="882650"/>
          </a:xfrm>
          <a:custGeom>
            <a:avLst/>
            <a:gdLst>
              <a:gd name="T0" fmla="*/ 0 w 1019"/>
              <a:gd name="T1" fmla="*/ 0 h 519"/>
              <a:gd name="T2" fmla="*/ 2147483646 w 1019"/>
              <a:gd name="T3" fmla="*/ 2147483646 h 519"/>
              <a:gd name="T4" fmla="*/ 2147483646 w 1019"/>
              <a:gd name="T5" fmla="*/ 2147483646 h 519"/>
              <a:gd name="T6" fmla="*/ 2147483646 w 1019"/>
              <a:gd name="T7" fmla="*/ 2147483646 h 5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9" h="519">
                <a:moveTo>
                  <a:pt x="0" y="0"/>
                </a:moveTo>
                <a:cubicBezTo>
                  <a:pt x="153" y="43"/>
                  <a:pt x="823" y="185"/>
                  <a:pt x="921" y="259"/>
                </a:cubicBezTo>
                <a:cubicBezTo>
                  <a:pt x="1019" y="333"/>
                  <a:pt x="578" y="404"/>
                  <a:pt x="590" y="447"/>
                </a:cubicBezTo>
                <a:cubicBezTo>
                  <a:pt x="602" y="490"/>
                  <a:pt x="909" y="504"/>
                  <a:pt x="993" y="519"/>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3193" name="Rectangle 57">
            <a:extLst>
              <a:ext uri="{FF2B5EF4-FFF2-40B4-BE49-F238E27FC236}">
                <a16:creationId xmlns:a16="http://schemas.microsoft.com/office/drawing/2014/main" id="{561F69FF-92AF-2C14-3315-3F9A722A201A}"/>
              </a:ext>
            </a:extLst>
          </p:cNvPr>
          <p:cNvSpPr>
            <a:spLocks noChangeArrowheads="1"/>
          </p:cNvSpPr>
          <p:nvPr/>
        </p:nvSpPr>
        <p:spPr bwMode="auto">
          <a:xfrm>
            <a:off x="7154863" y="5684839"/>
            <a:ext cx="25022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3300"/>
                </a:solidFill>
                <a:latin typeface="Arial Narrow" panose="020B0606020202030204" pitchFamily="34" charset="0"/>
              </a:rPr>
              <a:t>(6+5+3)/3=4.667</a:t>
            </a:r>
            <a:endParaRPr lang="en-US" altLang="en-US" sz="2600">
              <a:solidFill>
                <a:srgbClr val="FF3300"/>
              </a:solidFill>
              <a:latin typeface="Arial Narrow" panose="020B0606020202030204" pitchFamily="34" charset="0"/>
            </a:endParaRPr>
          </a:p>
        </p:txBody>
      </p:sp>
      <p:sp>
        <p:nvSpPr>
          <p:cNvPr id="55353" name="Rectangle 58">
            <a:extLst>
              <a:ext uri="{FF2B5EF4-FFF2-40B4-BE49-F238E27FC236}">
                <a16:creationId xmlns:a16="http://schemas.microsoft.com/office/drawing/2014/main" id="{CE06A4E0-2491-F039-D3D8-0B50DB02F826}"/>
              </a:ext>
            </a:extLst>
          </p:cNvPr>
          <p:cNvSpPr>
            <a:spLocks noChangeArrowheads="1"/>
          </p:cNvSpPr>
          <p:nvPr/>
        </p:nvSpPr>
        <p:spPr bwMode="auto">
          <a:xfrm>
            <a:off x="1676400" y="-304800"/>
            <a:ext cx="7158038"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b="1" dirty="0">
                <a:solidFill>
                  <a:srgbClr val="000000"/>
                </a:solidFill>
              </a:rPr>
              <a:t>2 Simple Moving Average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31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319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03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9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0A1E2F9-9558-5D2E-F539-80BA42F572F5}"/>
              </a:ext>
            </a:extLst>
          </p:cNvPr>
          <p:cNvSpPr>
            <a:spLocks noGrp="1" noChangeArrowheads="1"/>
          </p:cNvSpPr>
          <p:nvPr>
            <p:ph type="title"/>
          </p:nvPr>
        </p:nvSpPr>
        <p:spPr>
          <a:xfrm>
            <a:off x="1752601" y="838201"/>
            <a:ext cx="7159625" cy="1412875"/>
          </a:xfrm>
        </p:spPr>
        <p:txBody>
          <a:bodyPr/>
          <a:lstStyle/>
          <a:p>
            <a:pPr eaLnBrk="1" hangingPunct="1"/>
            <a:r>
              <a:rPr lang="en-US" altLang="en-US"/>
              <a:t>Actual Demand for Month 5 = 7</a:t>
            </a:r>
          </a:p>
        </p:txBody>
      </p:sp>
      <p:sp>
        <p:nvSpPr>
          <p:cNvPr id="56323" name="Rectangle 3">
            <a:extLst>
              <a:ext uri="{FF2B5EF4-FFF2-40B4-BE49-F238E27FC236}">
                <a16:creationId xmlns:a16="http://schemas.microsoft.com/office/drawing/2014/main" id="{8F575219-A23E-0D7A-23F7-06154BA8956E}"/>
              </a:ext>
            </a:extLst>
          </p:cNvPr>
          <p:cNvSpPr>
            <a:spLocks noChangeArrowheads="1"/>
          </p:cNvSpPr>
          <p:nvPr/>
        </p:nvSpPr>
        <p:spPr bwMode="auto">
          <a:xfrm>
            <a:off x="2476500" y="5248276"/>
            <a:ext cx="1474788"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4" name="Rectangle 4">
            <a:extLst>
              <a:ext uri="{FF2B5EF4-FFF2-40B4-BE49-F238E27FC236}">
                <a16:creationId xmlns:a16="http://schemas.microsoft.com/office/drawing/2014/main" id="{1D52DFA6-1242-111E-AF0C-8C639B812E05}"/>
              </a:ext>
            </a:extLst>
          </p:cNvPr>
          <p:cNvSpPr>
            <a:spLocks noChangeArrowheads="1"/>
          </p:cNvSpPr>
          <p:nvPr/>
        </p:nvSpPr>
        <p:spPr bwMode="auto">
          <a:xfrm>
            <a:off x="3960814" y="5248276"/>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5" name="Rectangle 5">
            <a:extLst>
              <a:ext uri="{FF2B5EF4-FFF2-40B4-BE49-F238E27FC236}">
                <a16:creationId xmlns:a16="http://schemas.microsoft.com/office/drawing/2014/main" id="{EE8B7608-85A3-5D62-23A2-334E72B62642}"/>
              </a:ext>
            </a:extLst>
          </p:cNvPr>
          <p:cNvSpPr>
            <a:spLocks noChangeArrowheads="1"/>
          </p:cNvSpPr>
          <p:nvPr/>
        </p:nvSpPr>
        <p:spPr bwMode="auto">
          <a:xfrm>
            <a:off x="6119814" y="5248276"/>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6" name="Rectangle 6">
            <a:extLst>
              <a:ext uri="{FF2B5EF4-FFF2-40B4-BE49-F238E27FC236}">
                <a16:creationId xmlns:a16="http://schemas.microsoft.com/office/drawing/2014/main" id="{F5E20253-2960-4B71-B2EA-33848C915944}"/>
              </a:ext>
            </a:extLst>
          </p:cNvPr>
          <p:cNvSpPr>
            <a:spLocks noChangeArrowheads="1"/>
          </p:cNvSpPr>
          <p:nvPr/>
        </p:nvSpPr>
        <p:spPr bwMode="auto">
          <a:xfrm>
            <a:off x="7956550" y="5248276"/>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7" name="Rectangle 8">
            <a:extLst>
              <a:ext uri="{FF2B5EF4-FFF2-40B4-BE49-F238E27FC236}">
                <a16:creationId xmlns:a16="http://schemas.microsoft.com/office/drawing/2014/main" id="{F60B9A64-3A40-2151-F584-C400D753F954}"/>
              </a:ext>
            </a:extLst>
          </p:cNvPr>
          <p:cNvSpPr>
            <a:spLocks noChangeArrowheads="1"/>
          </p:cNvSpPr>
          <p:nvPr/>
        </p:nvSpPr>
        <p:spPr bwMode="auto">
          <a:xfrm>
            <a:off x="2446338" y="478948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8" name="Rectangle 9">
            <a:extLst>
              <a:ext uri="{FF2B5EF4-FFF2-40B4-BE49-F238E27FC236}">
                <a16:creationId xmlns:a16="http://schemas.microsoft.com/office/drawing/2014/main" id="{ED0C4B20-BD97-996C-C5FD-C15728E6B4B5}"/>
              </a:ext>
            </a:extLst>
          </p:cNvPr>
          <p:cNvSpPr>
            <a:spLocks noChangeArrowheads="1"/>
          </p:cNvSpPr>
          <p:nvPr/>
        </p:nvSpPr>
        <p:spPr bwMode="auto">
          <a:xfrm>
            <a:off x="2476500" y="4789489"/>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29" name="Rectangle 10">
            <a:extLst>
              <a:ext uri="{FF2B5EF4-FFF2-40B4-BE49-F238E27FC236}">
                <a16:creationId xmlns:a16="http://schemas.microsoft.com/office/drawing/2014/main" id="{EE60F94C-3C13-9087-1232-8FDF03DDF47D}"/>
              </a:ext>
            </a:extLst>
          </p:cNvPr>
          <p:cNvSpPr>
            <a:spLocks noChangeArrowheads="1"/>
          </p:cNvSpPr>
          <p:nvPr/>
        </p:nvSpPr>
        <p:spPr bwMode="auto">
          <a:xfrm>
            <a:off x="3951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0" name="Rectangle 11">
            <a:extLst>
              <a:ext uri="{FF2B5EF4-FFF2-40B4-BE49-F238E27FC236}">
                <a16:creationId xmlns:a16="http://schemas.microsoft.com/office/drawing/2014/main" id="{118707D0-6DA8-4B84-D405-A4F81269991F}"/>
              </a:ext>
            </a:extLst>
          </p:cNvPr>
          <p:cNvSpPr>
            <a:spLocks noChangeArrowheads="1"/>
          </p:cNvSpPr>
          <p:nvPr/>
        </p:nvSpPr>
        <p:spPr bwMode="auto">
          <a:xfrm>
            <a:off x="3960814" y="478948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1" name="Rectangle 12">
            <a:extLst>
              <a:ext uri="{FF2B5EF4-FFF2-40B4-BE49-F238E27FC236}">
                <a16:creationId xmlns:a16="http://schemas.microsoft.com/office/drawing/2014/main" id="{1595EF7C-8610-01FD-5D4E-88C70D026D98}"/>
              </a:ext>
            </a:extLst>
          </p:cNvPr>
          <p:cNvSpPr>
            <a:spLocks noChangeArrowheads="1"/>
          </p:cNvSpPr>
          <p:nvPr/>
        </p:nvSpPr>
        <p:spPr bwMode="auto">
          <a:xfrm>
            <a:off x="6110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2" name="Rectangle 13">
            <a:extLst>
              <a:ext uri="{FF2B5EF4-FFF2-40B4-BE49-F238E27FC236}">
                <a16:creationId xmlns:a16="http://schemas.microsoft.com/office/drawing/2014/main" id="{6572AB30-934F-EBCD-3D6A-A7825416A932}"/>
              </a:ext>
            </a:extLst>
          </p:cNvPr>
          <p:cNvSpPr>
            <a:spLocks noChangeArrowheads="1"/>
          </p:cNvSpPr>
          <p:nvPr/>
        </p:nvSpPr>
        <p:spPr bwMode="auto">
          <a:xfrm>
            <a:off x="6119814" y="478948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3" name="Rectangle 14">
            <a:extLst>
              <a:ext uri="{FF2B5EF4-FFF2-40B4-BE49-F238E27FC236}">
                <a16:creationId xmlns:a16="http://schemas.microsoft.com/office/drawing/2014/main" id="{39B59481-0B10-5868-5B29-C4356F479976}"/>
              </a:ext>
            </a:extLst>
          </p:cNvPr>
          <p:cNvSpPr>
            <a:spLocks noChangeArrowheads="1"/>
          </p:cNvSpPr>
          <p:nvPr/>
        </p:nvSpPr>
        <p:spPr bwMode="auto">
          <a:xfrm>
            <a:off x="7945438" y="4789489"/>
            <a:ext cx="111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4" name="Rectangle 15">
            <a:extLst>
              <a:ext uri="{FF2B5EF4-FFF2-40B4-BE49-F238E27FC236}">
                <a16:creationId xmlns:a16="http://schemas.microsoft.com/office/drawing/2014/main" id="{C3D374B3-AF65-D16F-BC9D-44926CF11647}"/>
              </a:ext>
            </a:extLst>
          </p:cNvPr>
          <p:cNvSpPr>
            <a:spLocks noChangeArrowheads="1"/>
          </p:cNvSpPr>
          <p:nvPr/>
        </p:nvSpPr>
        <p:spPr bwMode="auto">
          <a:xfrm>
            <a:off x="7956550" y="4789489"/>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5" name="Rectangle 16">
            <a:extLst>
              <a:ext uri="{FF2B5EF4-FFF2-40B4-BE49-F238E27FC236}">
                <a16:creationId xmlns:a16="http://schemas.microsoft.com/office/drawing/2014/main" id="{64355444-9FD9-8D18-C4FF-23D907E74323}"/>
              </a:ext>
            </a:extLst>
          </p:cNvPr>
          <p:cNvSpPr>
            <a:spLocks noChangeArrowheads="1"/>
          </p:cNvSpPr>
          <p:nvPr/>
        </p:nvSpPr>
        <p:spPr bwMode="auto">
          <a:xfrm>
            <a:off x="10160001" y="4789489"/>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6" name="Rectangle 17">
            <a:extLst>
              <a:ext uri="{FF2B5EF4-FFF2-40B4-BE49-F238E27FC236}">
                <a16:creationId xmlns:a16="http://schemas.microsoft.com/office/drawing/2014/main" id="{712A4E4A-1F26-2653-DA3F-C0A01430E246}"/>
              </a:ext>
            </a:extLst>
          </p:cNvPr>
          <p:cNvSpPr>
            <a:spLocks noChangeArrowheads="1"/>
          </p:cNvSpPr>
          <p:nvPr/>
        </p:nvSpPr>
        <p:spPr bwMode="auto">
          <a:xfrm>
            <a:off x="2446338" y="5716588"/>
            <a:ext cx="3016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7" name="Rectangle 18">
            <a:extLst>
              <a:ext uri="{FF2B5EF4-FFF2-40B4-BE49-F238E27FC236}">
                <a16:creationId xmlns:a16="http://schemas.microsoft.com/office/drawing/2014/main" id="{D4580C19-4825-E7F0-F263-B73B38F850F6}"/>
              </a:ext>
            </a:extLst>
          </p:cNvPr>
          <p:cNvSpPr>
            <a:spLocks noChangeArrowheads="1"/>
          </p:cNvSpPr>
          <p:nvPr/>
        </p:nvSpPr>
        <p:spPr bwMode="auto">
          <a:xfrm>
            <a:off x="2476500" y="5716588"/>
            <a:ext cx="1474788"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8" name="Rectangle 19">
            <a:extLst>
              <a:ext uri="{FF2B5EF4-FFF2-40B4-BE49-F238E27FC236}">
                <a16:creationId xmlns:a16="http://schemas.microsoft.com/office/drawing/2014/main" id="{E7D14D29-B2D8-CB2E-810B-F923DE503436}"/>
              </a:ext>
            </a:extLst>
          </p:cNvPr>
          <p:cNvSpPr>
            <a:spLocks noChangeArrowheads="1"/>
          </p:cNvSpPr>
          <p:nvPr/>
        </p:nvSpPr>
        <p:spPr bwMode="auto">
          <a:xfrm>
            <a:off x="3951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39" name="Rectangle 20">
            <a:extLst>
              <a:ext uri="{FF2B5EF4-FFF2-40B4-BE49-F238E27FC236}">
                <a16:creationId xmlns:a16="http://schemas.microsoft.com/office/drawing/2014/main" id="{4504CE10-093D-04FD-7FE1-D99066FF04DE}"/>
              </a:ext>
            </a:extLst>
          </p:cNvPr>
          <p:cNvSpPr>
            <a:spLocks noChangeArrowheads="1"/>
          </p:cNvSpPr>
          <p:nvPr/>
        </p:nvSpPr>
        <p:spPr bwMode="auto">
          <a:xfrm>
            <a:off x="3960814" y="5716588"/>
            <a:ext cx="214947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0" name="Rectangle 21">
            <a:extLst>
              <a:ext uri="{FF2B5EF4-FFF2-40B4-BE49-F238E27FC236}">
                <a16:creationId xmlns:a16="http://schemas.microsoft.com/office/drawing/2014/main" id="{552F1965-9073-81DD-0599-1527BDF77F25}"/>
              </a:ext>
            </a:extLst>
          </p:cNvPr>
          <p:cNvSpPr>
            <a:spLocks noChangeArrowheads="1"/>
          </p:cNvSpPr>
          <p:nvPr/>
        </p:nvSpPr>
        <p:spPr bwMode="auto">
          <a:xfrm>
            <a:off x="6110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1" name="Rectangle 22">
            <a:extLst>
              <a:ext uri="{FF2B5EF4-FFF2-40B4-BE49-F238E27FC236}">
                <a16:creationId xmlns:a16="http://schemas.microsoft.com/office/drawing/2014/main" id="{DE285C7D-BDDC-94AB-D4D0-813424785B41}"/>
              </a:ext>
            </a:extLst>
          </p:cNvPr>
          <p:cNvSpPr>
            <a:spLocks noChangeArrowheads="1"/>
          </p:cNvSpPr>
          <p:nvPr/>
        </p:nvSpPr>
        <p:spPr bwMode="auto">
          <a:xfrm>
            <a:off x="6119814" y="5716588"/>
            <a:ext cx="18256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2" name="Rectangle 23">
            <a:extLst>
              <a:ext uri="{FF2B5EF4-FFF2-40B4-BE49-F238E27FC236}">
                <a16:creationId xmlns:a16="http://schemas.microsoft.com/office/drawing/2014/main" id="{D1E31160-6E8F-3898-A601-1A6C8879685D}"/>
              </a:ext>
            </a:extLst>
          </p:cNvPr>
          <p:cNvSpPr>
            <a:spLocks noChangeArrowheads="1"/>
          </p:cNvSpPr>
          <p:nvPr/>
        </p:nvSpPr>
        <p:spPr bwMode="auto">
          <a:xfrm>
            <a:off x="7945438" y="5716588"/>
            <a:ext cx="111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3" name="Rectangle 24">
            <a:extLst>
              <a:ext uri="{FF2B5EF4-FFF2-40B4-BE49-F238E27FC236}">
                <a16:creationId xmlns:a16="http://schemas.microsoft.com/office/drawing/2014/main" id="{46D08687-E080-C3C7-28D5-1AABA218830A}"/>
              </a:ext>
            </a:extLst>
          </p:cNvPr>
          <p:cNvSpPr>
            <a:spLocks noChangeArrowheads="1"/>
          </p:cNvSpPr>
          <p:nvPr/>
        </p:nvSpPr>
        <p:spPr bwMode="auto">
          <a:xfrm>
            <a:off x="7956550" y="5716588"/>
            <a:ext cx="220345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4" name="Rectangle 25">
            <a:extLst>
              <a:ext uri="{FF2B5EF4-FFF2-40B4-BE49-F238E27FC236}">
                <a16:creationId xmlns:a16="http://schemas.microsoft.com/office/drawing/2014/main" id="{A93FD67D-F6CB-B159-4C6B-2D345DEE66BE}"/>
              </a:ext>
            </a:extLst>
          </p:cNvPr>
          <p:cNvSpPr>
            <a:spLocks noChangeArrowheads="1"/>
          </p:cNvSpPr>
          <p:nvPr/>
        </p:nvSpPr>
        <p:spPr bwMode="auto">
          <a:xfrm>
            <a:off x="10160001" y="5716588"/>
            <a:ext cx="3016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5" name="Rectangle 26">
            <a:extLst>
              <a:ext uri="{FF2B5EF4-FFF2-40B4-BE49-F238E27FC236}">
                <a16:creationId xmlns:a16="http://schemas.microsoft.com/office/drawing/2014/main" id="{D9B37A37-B17E-B929-F50C-08936E31FD8A}"/>
              </a:ext>
            </a:extLst>
          </p:cNvPr>
          <p:cNvSpPr>
            <a:spLocks noChangeArrowheads="1"/>
          </p:cNvSpPr>
          <p:nvPr/>
        </p:nvSpPr>
        <p:spPr bwMode="auto">
          <a:xfrm>
            <a:off x="2462214" y="2819401"/>
            <a:ext cx="7731125" cy="38576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6346" name="Rectangle 27">
            <a:extLst>
              <a:ext uri="{FF2B5EF4-FFF2-40B4-BE49-F238E27FC236}">
                <a16:creationId xmlns:a16="http://schemas.microsoft.com/office/drawing/2014/main" id="{1C61D3D6-CB58-B69B-EDC0-0EA53CFB7587}"/>
              </a:ext>
            </a:extLst>
          </p:cNvPr>
          <p:cNvSpPr>
            <a:spLocks noChangeArrowheads="1"/>
          </p:cNvSpPr>
          <p:nvPr/>
        </p:nvSpPr>
        <p:spPr bwMode="auto">
          <a:xfrm>
            <a:off x="2619375" y="3278189"/>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56347" name="Rectangle 28">
            <a:extLst>
              <a:ext uri="{FF2B5EF4-FFF2-40B4-BE49-F238E27FC236}">
                <a16:creationId xmlns:a16="http://schemas.microsoft.com/office/drawing/2014/main" id="{64BE38E8-2E1C-0ECD-862E-3CF56FF12BDD}"/>
              </a:ext>
            </a:extLst>
          </p:cNvPr>
          <p:cNvSpPr>
            <a:spLocks noChangeArrowheads="1"/>
          </p:cNvSpPr>
          <p:nvPr/>
        </p:nvSpPr>
        <p:spPr bwMode="auto">
          <a:xfrm>
            <a:off x="4383773" y="281305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56348" name="Rectangle 29">
            <a:extLst>
              <a:ext uri="{FF2B5EF4-FFF2-40B4-BE49-F238E27FC236}">
                <a16:creationId xmlns:a16="http://schemas.microsoft.com/office/drawing/2014/main" id="{DB53CEC7-4EE1-876E-CFC8-28A68408AFBF}"/>
              </a:ext>
            </a:extLst>
          </p:cNvPr>
          <p:cNvSpPr>
            <a:spLocks noChangeArrowheads="1"/>
          </p:cNvSpPr>
          <p:nvPr/>
        </p:nvSpPr>
        <p:spPr bwMode="auto">
          <a:xfrm>
            <a:off x="6781800" y="2913064"/>
            <a:ext cx="24106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56349" name="Rectangle 30">
            <a:extLst>
              <a:ext uri="{FF2B5EF4-FFF2-40B4-BE49-F238E27FC236}">
                <a16:creationId xmlns:a16="http://schemas.microsoft.com/office/drawing/2014/main" id="{C0ADE9DC-9C67-72B9-A251-4BE68FD27D0C}"/>
              </a:ext>
            </a:extLst>
          </p:cNvPr>
          <p:cNvSpPr>
            <a:spLocks noChangeArrowheads="1"/>
          </p:cNvSpPr>
          <p:nvPr/>
        </p:nvSpPr>
        <p:spPr bwMode="auto">
          <a:xfrm>
            <a:off x="7639051" y="3360739"/>
            <a:ext cx="7966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(n=3)</a:t>
            </a:r>
            <a:endParaRPr lang="en-US" altLang="en-US" sz="2600">
              <a:solidFill>
                <a:srgbClr val="292929"/>
              </a:solidFill>
              <a:latin typeface="Arial Narrow" panose="020B0606020202030204" pitchFamily="34" charset="0"/>
            </a:endParaRPr>
          </a:p>
        </p:txBody>
      </p:sp>
      <p:sp>
        <p:nvSpPr>
          <p:cNvPr id="56350" name="Line 31">
            <a:extLst>
              <a:ext uri="{FF2B5EF4-FFF2-40B4-BE49-F238E27FC236}">
                <a16:creationId xmlns:a16="http://schemas.microsoft.com/office/drawing/2014/main" id="{9110551D-9764-FEEF-55A8-692FA7DBD8E7}"/>
              </a:ext>
            </a:extLst>
          </p:cNvPr>
          <p:cNvSpPr>
            <a:spLocks noChangeShapeType="1"/>
          </p:cNvSpPr>
          <p:nvPr/>
        </p:nvSpPr>
        <p:spPr bwMode="auto">
          <a:xfrm>
            <a:off x="3951289" y="2835275"/>
            <a:ext cx="1587"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51" name="Line 32">
            <a:extLst>
              <a:ext uri="{FF2B5EF4-FFF2-40B4-BE49-F238E27FC236}">
                <a16:creationId xmlns:a16="http://schemas.microsoft.com/office/drawing/2014/main" id="{2F0CAE9D-D507-646E-5A7E-D16133E3E702}"/>
              </a:ext>
            </a:extLst>
          </p:cNvPr>
          <p:cNvSpPr>
            <a:spLocks noChangeShapeType="1"/>
          </p:cNvSpPr>
          <p:nvPr/>
        </p:nvSpPr>
        <p:spPr bwMode="auto">
          <a:xfrm>
            <a:off x="6096001" y="2835275"/>
            <a:ext cx="4763"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52" name="Rectangle 33">
            <a:extLst>
              <a:ext uri="{FF2B5EF4-FFF2-40B4-BE49-F238E27FC236}">
                <a16:creationId xmlns:a16="http://schemas.microsoft.com/office/drawing/2014/main" id="{48F1C68C-AC78-4CD3-5CC9-E4F8ED0FBBE2}"/>
              </a:ext>
            </a:extLst>
          </p:cNvPr>
          <p:cNvSpPr>
            <a:spLocks noChangeArrowheads="1"/>
          </p:cNvSpPr>
          <p:nvPr/>
        </p:nvSpPr>
        <p:spPr bwMode="auto">
          <a:xfrm>
            <a:off x="2833688"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56353" name="Rectangle 34">
            <a:extLst>
              <a:ext uri="{FF2B5EF4-FFF2-40B4-BE49-F238E27FC236}">
                <a16:creationId xmlns:a16="http://schemas.microsoft.com/office/drawing/2014/main" id="{75360AA7-FCFF-82AF-4BF6-661DFD226766}"/>
              </a:ext>
            </a:extLst>
          </p:cNvPr>
          <p:cNvSpPr>
            <a:spLocks noChangeArrowheads="1"/>
          </p:cNvSpPr>
          <p:nvPr/>
        </p:nvSpPr>
        <p:spPr bwMode="auto">
          <a:xfrm>
            <a:off x="4543425"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6354" name="Rectangle 35">
            <a:extLst>
              <a:ext uri="{FF2B5EF4-FFF2-40B4-BE49-F238E27FC236}">
                <a16:creationId xmlns:a16="http://schemas.microsoft.com/office/drawing/2014/main" id="{47990AB6-222B-CD81-A40A-8E7DCF0A4373}"/>
              </a:ext>
            </a:extLst>
          </p:cNvPr>
          <p:cNvSpPr>
            <a:spLocks noChangeArrowheads="1"/>
          </p:cNvSpPr>
          <p:nvPr/>
        </p:nvSpPr>
        <p:spPr bwMode="auto">
          <a:xfrm>
            <a:off x="7813676" y="37973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6355" name="Line 36">
            <a:extLst>
              <a:ext uri="{FF2B5EF4-FFF2-40B4-BE49-F238E27FC236}">
                <a16:creationId xmlns:a16="http://schemas.microsoft.com/office/drawing/2014/main" id="{F476545B-9FFD-F2E6-859E-E037B5EBE650}"/>
              </a:ext>
            </a:extLst>
          </p:cNvPr>
          <p:cNvSpPr>
            <a:spLocks noChangeShapeType="1"/>
          </p:cNvSpPr>
          <p:nvPr/>
        </p:nvSpPr>
        <p:spPr bwMode="auto">
          <a:xfrm>
            <a:off x="2476501" y="379730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56" name="Rectangle 37">
            <a:extLst>
              <a:ext uri="{FF2B5EF4-FFF2-40B4-BE49-F238E27FC236}">
                <a16:creationId xmlns:a16="http://schemas.microsoft.com/office/drawing/2014/main" id="{23C98B4D-3916-AFE4-B7DF-93DECBE8901C}"/>
              </a:ext>
            </a:extLst>
          </p:cNvPr>
          <p:cNvSpPr>
            <a:spLocks noChangeArrowheads="1"/>
          </p:cNvSpPr>
          <p:nvPr/>
        </p:nvSpPr>
        <p:spPr bwMode="auto">
          <a:xfrm>
            <a:off x="2833688"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56357" name="Rectangle 38">
            <a:extLst>
              <a:ext uri="{FF2B5EF4-FFF2-40B4-BE49-F238E27FC236}">
                <a16:creationId xmlns:a16="http://schemas.microsoft.com/office/drawing/2014/main" id="{8945D309-8FE6-6DEB-09B4-65E968F1543F}"/>
              </a:ext>
            </a:extLst>
          </p:cNvPr>
          <p:cNvSpPr>
            <a:spLocks noChangeArrowheads="1"/>
          </p:cNvSpPr>
          <p:nvPr/>
        </p:nvSpPr>
        <p:spPr bwMode="auto">
          <a:xfrm>
            <a:off x="4543425"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6358" name="Rectangle 39">
            <a:extLst>
              <a:ext uri="{FF2B5EF4-FFF2-40B4-BE49-F238E27FC236}">
                <a16:creationId xmlns:a16="http://schemas.microsoft.com/office/drawing/2014/main" id="{311B972A-CFA2-E014-3898-073F77D8F202}"/>
              </a:ext>
            </a:extLst>
          </p:cNvPr>
          <p:cNvSpPr>
            <a:spLocks noChangeArrowheads="1"/>
          </p:cNvSpPr>
          <p:nvPr/>
        </p:nvSpPr>
        <p:spPr bwMode="auto">
          <a:xfrm>
            <a:off x="7813676" y="42894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6359" name="Rectangle 40">
            <a:extLst>
              <a:ext uri="{FF2B5EF4-FFF2-40B4-BE49-F238E27FC236}">
                <a16:creationId xmlns:a16="http://schemas.microsoft.com/office/drawing/2014/main" id="{4F6BB0FA-1709-A9EA-1B38-6652757FC208}"/>
              </a:ext>
            </a:extLst>
          </p:cNvPr>
          <p:cNvSpPr>
            <a:spLocks noChangeArrowheads="1"/>
          </p:cNvSpPr>
          <p:nvPr/>
        </p:nvSpPr>
        <p:spPr bwMode="auto">
          <a:xfrm>
            <a:off x="2833688"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6360" name="Rectangle 41">
            <a:extLst>
              <a:ext uri="{FF2B5EF4-FFF2-40B4-BE49-F238E27FC236}">
                <a16:creationId xmlns:a16="http://schemas.microsoft.com/office/drawing/2014/main" id="{89F58048-E2DC-C75F-4C7D-759A59343F7B}"/>
              </a:ext>
            </a:extLst>
          </p:cNvPr>
          <p:cNvSpPr>
            <a:spLocks noChangeArrowheads="1"/>
          </p:cNvSpPr>
          <p:nvPr/>
        </p:nvSpPr>
        <p:spPr bwMode="auto">
          <a:xfrm>
            <a:off x="4543425"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6361" name="Rectangle 42">
            <a:extLst>
              <a:ext uri="{FF2B5EF4-FFF2-40B4-BE49-F238E27FC236}">
                <a16:creationId xmlns:a16="http://schemas.microsoft.com/office/drawing/2014/main" id="{5021F22C-7B3F-E7A4-E289-D43FDB2D6071}"/>
              </a:ext>
            </a:extLst>
          </p:cNvPr>
          <p:cNvSpPr>
            <a:spLocks noChangeArrowheads="1"/>
          </p:cNvSpPr>
          <p:nvPr/>
        </p:nvSpPr>
        <p:spPr bwMode="auto">
          <a:xfrm>
            <a:off x="7813676" y="478631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6362" name="Rectangle 43">
            <a:extLst>
              <a:ext uri="{FF2B5EF4-FFF2-40B4-BE49-F238E27FC236}">
                <a16:creationId xmlns:a16="http://schemas.microsoft.com/office/drawing/2014/main" id="{0EB206EE-B5DD-071F-4DDB-F74212783D3B}"/>
              </a:ext>
            </a:extLst>
          </p:cNvPr>
          <p:cNvSpPr>
            <a:spLocks noChangeArrowheads="1"/>
          </p:cNvSpPr>
          <p:nvPr/>
        </p:nvSpPr>
        <p:spPr bwMode="auto">
          <a:xfrm>
            <a:off x="2833688"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6363" name="Rectangle 44">
            <a:extLst>
              <a:ext uri="{FF2B5EF4-FFF2-40B4-BE49-F238E27FC236}">
                <a16:creationId xmlns:a16="http://schemas.microsoft.com/office/drawing/2014/main" id="{71528CE8-FBC2-055B-1DB3-65A956B1F649}"/>
              </a:ext>
            </a:extLst>
          </p:cNvPr>
          <p:cNvSpPr>
            <a:spLocks noChangeArrowheads="1"/>
          </p:cNvSpPr>
          <p:nvPr/>
        </p:nvSpPr>
        <p:spPr bwMode="auto">
          <a:xfrm>
            <a:off x="4543425"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6364" name="Rectangle 45">
            <a:extLst>
              <a:ext uri="{FF2B5EF4-FFF2-40B4-BE49-F238E27FC236}">
                <a16:creationId xmlns:a16="http://schemas.microsoft.com/office/drawing/2014/main" id="{A3C74006-8073-ADF7-0E8F-226DEAD0B0AF}"/>
              </a:ext>
            </a:extLst>
          </p:cNvPr>
          <p:cNvSpPr>
            <a:spLocks noChangeArrowheads="1"/>
          </p:cNvSpPr>
          <p:nvPr/>
        </p:nvSpPr>
        <p:spPr bwMode="auto">
          <a:xfrm>
            <a:off x="2833688"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06254" name="Rectangle 46">
            <a:extLst>
              <a:ext uri="{FF2B5EF4-FFF2-40B4-BE49-F238E27FC236}">
                <a16:creationId xmlns:a16="http://schemas.microsoft.com/office/drawing/2014/main" id="{DE950B26-76F5-991C-D3EA-017A5D559987}"/>
              </a:ext>
            </a:extLst>
          </p:cNvPr>
          <p:cNvSpPr>
            <a:spLocks noChangeArrowheads="1"/>
          </p:cNvSpPr>
          <p:nvPr/>
        </p:nvSpPr>
        <p:spPr bwMode="auto">
          <a:xfrm>
            <a:off x="4543425"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b="1">
                <a:solidFill>
                  <a:srgbClr val="FF3300"/>
                </a:solidFill>
                <a:latin typeface="Arial Narrow" panose="020B0606020202030204" pitchFamily="34" charset="0"/>
              </a:rPr>
              <a:t>7</a:t>
            </a:r>
            <a:endParaRPr lang="en-US" altLang="en-US" sz="2600" b="1">
              <a:solidFill>
                <a:srgbClr val="FF3300"/>
              </a:solidFill>
              <a:latin typeface="Arial Narrow" panose="020B0606020202030204" pitchFamily="34" charset="0"/>
            </a:endParaRPr>
          </a:p>
        </p:txBody>
      </p:sp>
      <p:sp>
        <p:nvSpPr>
          <p:cNvPr id="56366" name="Rectangle 47">
            <a:extLst>
              <a:ext uri="{FF2B5EF4-FFF2-40B4-BE49-F238E27FC236}">
                <a16:creationId xmlns:a16="http://schemas.microsoft.com/office/drawing/2014/main" id="{B8AFA171-4BD8-01D3-B584-3227CB5A9938}"/>
              </a:ext>
            </a:extLst>
          </p:cNvPr>
          <p:cNvSpPr>
            <a:spLocks noChangeArrowheads="1"/>
          </p:cNvSpPr>
          <p:nvPr/>
        </p:nvSpPr>
        <p:spPr bwMode="auto">
          <a:xfrm>
            <a:off x="7204076" y="5227639"/>
            <a:ext cx="9313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        5</a:t>
            </a:r>
            <a:endParaRPr lang="en-US" altLang="en-US" sz="2600">
              <a:solidFill>
                <a:srgbClr val="292929"/>
              </a:solidFill>
              <a:latin typeface="Arial Narrow" panose="020B0606020202030204" pitchFamily="34" charset="0"/>
            </a:endParaRPr>
          </a:p>
        </p:txBody>
      </p:sp>
      <p:sp>
        <p:nvSpPr>
          <p:cNvPr id="56367" name="Rectangle 48">
            <a:extLst>
              <a:ext uri="{FF2B5EF4-FFF2-40B4-BE49-F238E27FC236}">
                <a16:creationId xmlns:a16="http://schemas.microsoft.com/office/drawing/2014/main" id="{867CA034-9541-2A92-F658-7D1474229FDE}"/>
              </a:ext>
            </a:extLst>
          </p:cNvPr>
          <p:cNvSpPr>
            <a:spLocks noChangeArrowheads="1"/>
          </p:cNvSpPr>
          <p:nvPr/>
        </p:nvSpPr>
        <p:spPr bwMode="auto">
          <a:xfrm>
            <a:off x="2833688" y="61912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6368" name="Rectangle 49">
            <a:extLst>
              <a:ext uri="{FF2B5EF4-FFF2-40B4-BE49-F238E27FC236}">
                <a16:creationId xmlns:a16="http://schemas.microsoft.com/office/drawing/2014/main" id="{5A4288DA-924C-910D-E10D-72A09194EFFE}"/>
              </a:ext>
            </a:extLst>
          </p:cNvPr>
          <p:cNvSpPr>
            <a:spLocks noChangeArrowheads="1"/>
          </p:cNvSpPr>
          <p:nvPr/>
        </p:nvSpPr>
        <p:spPr bwMode="auto">
          <a:xfrm>
            <a:off x="4506913" y="62182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56369" name="Line 50">
            <a:extLst>
              <a:ext uri="{FF2B5EF4-FFF2-40B4-BE49-F238E27FC236}">
                <a16:creationId xmlns:a16="http://schemas.microsoft.com/office/drawing/2014/main" id="{D5B40525-A193-0A8E-6830-AE5617DF8F89}"/>
              </a:ext>
            </a:extLst>
          </p:cNvPr>
          <p:cNvSpPr>
            <a:spLocks noChangeShapeType="1"/>
          </p:cNvSpPr>
          <p:nvPr/>
        </p:nvSpPr>
        <p:spPr bwMode="auto">
          <a:xfrm>
            <a:off x="2471739" y="428307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70" name="Line 51">
            <a:extLst>
              <a:ext uri="{FF2B5EF4-FFF2-40B4-BE49-F238E27FC236}">
                <a16:creationId xmlns:a16="http://schemas.microsoft.com/office/drawing/2014/main" id="{01F39E6C-D3A6-AAA9-8A16-A8F42747BDA4}"/>
              </a:ext>
            </a:extLst>
          </p:cNvPr>
          <p:cNvSpPr>
            <a:spLocks noChangeShapeType="1"/>
          </p:cNvSpPr>
          <p:nvPr/>
        </p:nvSpPr>
        <p:spPr bwMode="auto">
          <a:xfrm>
            <a:off x="2479676" y="479583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71" name="Line 52">
            <a:extLst>
              <a:ext uri="{FF2B5EF4-FFF2-40B4-BE49-F238E27FC236}">
                <a16:creationId xmlns:a16="http://schemas.microsoft.com/office/drawing/2014/main" id="{3FEE5C82-7FA8-398D-229F-238FB6DF260E}"/>
              </a:ext>
            </a:extLst>
          </p:cNvPr>
          <p:cNvSpPr>
            <a:spLocks noChangeShapeType="1"/>
          </p:cNvSpPr>
          <p:nvPr/>
        </p:nvSpPr>
        <p:spPr bwMode="auto">
          <a:xfrm>
            <a:off x="2447926" y="524192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72" name="Line 53">
            <a:extLst>
              <a:ext uri="{FF2B5EF4-FFF2-40B4-BE49-F238E27FC236}">
                <a16:creationId xmlns:a16="http://schemas.microsoft.com/office/drawing/2014/main" id="{A4D2CFF1-6E4A-3C58-EE0F-82D22F8D6702}"/>
              </a:ext>
            </a:extLst>
          </p:cNvPr>
          <p:cNvSpPr>
            <a:spLocks noChangeShapeType="1"/>
          </p:cNvSpPr>
          <p:nvPr/>
        </p:nvSpPr>
        <p:spPr bwMode="auto">
          <a:xfrm flipV="1">
            <a:off x="2471739" y="5719764"/>
            <a:ext cx="771842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73" name="Line 54">
            <a:extLst>
              <a:ext uri="{FF2B5EF4-FFF2-40B4-BE49-F238E27FC236}">
                <a16:creationId xmlns:a16="http://schemas.microsoft.com/office/drawing/2014/main" id="{64A59138-0D38-E63F-E070-FA30376B6D2A}"/>
              </a:ext>
            </a:extLst>
          </p:cNvPr>
          <p:cNvSpPr>
            <a:spLocks noChangeShapeType="1"/>
          </p:cNvSpPr>
          <p:nvPr/>
        </p:nvSpPr>
        <p:spPr bwMode="auto">
          <a:xfrm>
            <a:off x="2451100" y="6175376"/>
            <a:ext cx="7759700"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6374" name="Rectangle 55">
            <a:extLst>
              <a:ext uri="{FF2B5EF4-FFF2-40B4-BE49-F238E27FC236}">
                <a16:creationId xmlns:a16="http://schemas.microsoft.com/office/drawing/2014/main" id="{7BC6484A-75E0-E3FE-DEA2-ACFA627424CE}"/>
              </a:ext>
            </a:extLst>
          </p:cNvPr>
          <p:cNvSpPr>
            <a:spLocks noChangeArrowheads="1"/>
          </p:cNvSpPr>
          <p:nvPr/>
        </p:nvSpPr>
        <p:spPr bwMode="auto">
          <a:xfrm>
            <a:off x="7154864" y="5684839"/>
            <a:ext cx="15869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3300"/>
                </a:solidFill>
                <a:latin typeface="Arial Narrow" panose="020B0606020202030204" pitchFamily="34" charset="0"/>
              </a:rPr>
              <a:t>        </a:t>
            </a:r>
            <a:r>
              <a:rPr lang="en-US" altLang="en-US">
                <a:solidFill>
                  <a:srgbClr val="292929"/>
                </a:solidFill>
                <a:latin typeface="Arial Narrow" panose="020B0606020202030204" pitchFamily="34" charset="0"/>
              </a:rPr>
              <a:t>4.667</a:t>
            </a:r>
            <a:endParaRPr lang="en-US" altLang="en-US" sz="2600">
              <a:solidFill>
                <a:srgbClr val="292929"/>
              </a:solidFill>
              <a:latin typeface="Arial Narrow" panose="020B0606020202030204" pitchFamily="34" charset="0"/>
            </a:endParaRPr>
          </a:p>
        </p:txBody>
      </p:sp>
      <p:sp>
        <p:nvSpPr>
          <p:cNvPr id="56375" name="Rectangle 56">
            <a:extLst>
              <a:ext uri="{FF2B5EF4-FFF2-40B4-BE49-F238E27FC236}">
                <a16:creationId xmlns:a16="http://schemas.microsoft.com/office/drawing/2014/main" id="{5573944E-CD24-56EF-6589-D89D22ACB7B5}"/>
              </a:ext>
            </a:extLst>
          </p:cNvPr>
          <p:cNvSpPr>
            <a:spLocks noChangeArrowheads="1"/>
          </p:cNvSpPr>
          <p:nvPr/>
        </p:nvSpPr>
        <p:spPr bwMode="auto">
          <a:xfrm>
            <a:off x="1676400" y="-304800"/>
            <a:ext cx="7158038"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b="1" dirty="0">
                <a:solidFill>
                  <a:srgbClr val="000000"/>
                </a:solidFill>
              </a:rPr>
              <a:t> Simple Moving Average</a:t>
            </a:r>
          </a:p>
        </p:txBody>
      </p:sp>
      <p:sp>
        <p:nvSpPr>
          <p:cNvPr id="606265" name="Rectangle 57">
            <a:extLst>
              <a:ext uri="{FF2B5EF4-FFF2-40B4-BE49-F238E27FC236}">
                <a16:creationId xmlns:a16="http://schemas.microsoft.com/office/drawing/2014/main" id="{631B6BA1-3A92-3728-8EE9-B3BB14CD5E6A}"/>
              </a:ext>
            </a:extLst>
          </p:cNvPr>
          <p:cNvSpPr>
            <a:spLocks noChangeArrowheads="1"/>
          </p:cNvSpPr>
          <p:nvPr/>
        </p:nvSpPr>
        <p:spPr bwMode="auto">
          <a:xfrm>
            <a:off x="4495800" y="5715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606265"/>
                                        </p:tgtEl>
                                        <p:attrNameLst>
                                          <p:attrName>style.visibility</p:attrName>
                                        </p:attrNameLst>
                                      </p:cBhvr>
                                      <p:to>
                                        <p:strVal val="hidden"/>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606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54" grpId="0"/>
      <p:bldP spid="60626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5AD10B3-3D57-2A25-4EBB-FF7F3687542C}"/>
              </a:ext>
            </a:extLst>
          </p:cNvPr>
          <p:cNvSpPr>
            <a:spLocks noGrp="1" noChangeArrowheads="1"/>
          </p:cNvSpPr>
          <p:nvPr>
            <p:ph type="title"/>
          </p:nvPr>
        </p:nvSpPr>
        <p:spPr>
          <a:xfrm>
            <a:off x="1752601" y="796926"/>
            <a:ext cx="7159625" cy="1412875"/>
          </a:xfrm>
        </p:spPr>
        <p:txBody>
          <a:bodyPr/>
          <a:lstStyle/>
          <a:p>
            <a:pPr eaLnBrk="1" hangingPunct="1"/>
            <a:r>
              <a:rPr lang="en-US" altLang="en-US"/>
              <a:t>Forecast for Month 6?</a:t>
            </a:r>
          </a:p>
        </p:txBody>
      </p:sp>
      <p:sp>
        <p:nvSpPr>
          <p:cNvPr id="57347" name="Rectangle 3">
            <a:extLst>
              <a:ext uri="{FF2B5EF4-FFF2-40B4-BE49-F238E27FC236}">
                <a16:creationId xmlns:a16="http://schemas.microsoft.com/office/drawing/2014/main" id="{E4D3FB18-0310-7668-6888-D66AC7FC876F}"/>
              </a:ext>
            </a:extLst>
          </p:cNvPr>
          <p:cNvSpPr>
            <a:spLocks noChangeArrowheads="1"/>
          </p:cNvSpPr>
          <p:nvPr/>
        </p:nvSpPr>
        <p:spPr bwMode="auto">
          <a:xfrm>
            <a:off x="2476500" y="5248276"/>
            <a:ext cx="1474788"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48" name="Rectangle 4">
            <a:extLst>
              <a:ext uri="{FF2B5EF4-FFF2-40B4-BE49-F238E27FC236}">
                <a16:creationId xmlns:a16="http://schemas.microsoft.com/office/drawing/2014/main" id="{1BB9C8C9-3DC0-D7B6-376D-851DA3E179C5}"/>
              </a:ext>
            </a:extLst>
          </p:cNvPr>
          <p:cNvSpPr>
            <a:spLocks noChangeArrowheads="1"/>
          </p:cNvSpPr>
          <p:nvPr/>
        </p:nvSpPr>
        <p:spPr bwMode="auto">
          <a:xfrm>
            <a:off x="3960814" y="5248276"/>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49" name="Rectangle 5">
            <a:extLst>
              <a:ext uri="{FF2B5EF4-FFF2-40B4-BE49-F238E27FC236}">
                <a16:creationId xmlns:a16="http://schemas.microsoft.com/office/drawing/2014/main" id="{24754271-7BB7-51E6-A3D2-474D545736F6}"/>
              </a:ext>
            </a:extLst>
          </p:cNvPr>
          <p:cNvSpPr>
            <a:spLocks noChangeArrowheads="1"/>
          </p:cNvSpPr>
          <p:nvPr/>
        </p:nvSpPr>
        <p:spPr bwMode="auto">
          <a:xfrm>
            <a:off x="6119814" y="5248276"/>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0" name="Rectangle 6">
            <a:extLst>
              <a:ext uri="{FF2B5EF4-FFF2-40B4-BE49-F238E27FC236}">
                <a16:creationId xmlns:a16="http://schemas.microsoft.com/office/drawing/2014/main" id="{21E13D1D-BA28-EF60-03DD-1CD3F30915C7}"/>
              </a:ext>
            </a:extLst>
          </p:cNvPr>
          <p:cNvSpPr>
            <a:spLocks noChangeArrowheads="1"/>
          </p:cNvSpPr>
          <p:nvPr/>
        </p:nvSpPr>
        <p:spPr bwMode="auto">
          <a:xfrm>
            <a:off x="7956550" y="5248276"/>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1" name="Rectangle 8">
            <a:extLst>
              <a:ext uri="{FF2B5EF4-FFF2-40B4-BE49-F238E27FC236}">
                <a16:creationId xmlns:a16="http://schemas.microsoft.com/office/drawing/2014/main" id="{09879059-4682-77C6-9049-A2A23889808E}"/>
              </a:ext>
            </a:extLst>
          </p:cNvPr>
          <p:cNvSpPr>
            <a:spLocks noChangeArrowheads="1"/>
          </p:cNvSpPr>
          <p:nvPr/>
        </p:nvSpPr>
        <p:spPr bwMode="auto">
          <a:xfrm>
            <a:off x="2446338" y="4789489"/>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2" name="Rectangle 9">
            <a:extLst>
              <a:ext uri="{FF2B5EF4-FFF2-40B4-BE49-F238E27FC236}">
                <a16:creationId xmlns:a16="http://schemas.microsoft.com/office/drawing/2014/main" id="{9A60E389-0CFE-38DE-28E2-D4C49AFBB645}"/>
              </a:ext>
            </a:extLst>
          </p:cNvPr>
          <p:cNvSpPr>
            <a:spLocks noChangeArrowheads="1"/>
          </p:cNvSpPr>
          <p:nvPr/>
        </p:nvSpPr>
        <p:spPr bwMode="auto">
          <a:xfrm>
            <a:off x="2476500" y="4789489"/>
            <a:ext cx="14747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3" name="Rectangle 10">
            <a:extLst>
              <a:ext uri="{FF2B5EF4-FFF2-40B4-BE49-F238E27FC236}">
                <a16:creationId xmlns:a16="http://schemas.microsoft.com/office/drawing/2014/main" id="{C21AC224-E837-09C9-FEE9-5D4B68B18666}"/>
              </a:ext>
            </a:extLst>
          </p:cNvPr>
          <p:cNvSpPr>
            <a:spLocks noChangeArrowheads="1"/>
          </p:cNvSpPr>
          <p:nvPr/>
        </p:nvSpPr>
        <p:spPr bwMode="auto">
          <a:xfrm>
            <a:off x="3951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4" name="Rectangle 11">
            <a:extLst>
              <a:ext uri="{FF2B5EF4-FFF2-40B4-BE49-F238E27FC236}">
                <a16:creationId xmlns:a16="http://schemas.microsoft.com/office/drawing/2014/main" id="{A32F0A1F-719F-C1E6-F9C7-FA73DB718B93}"/>
              </a:ext>
            </a:extLst>
          </p:cNvPr>
          <p:cNvSpPr>
            <a:spLocks noChangeArrowheads="1"/>
          </p:cNvSpPr>
          <p:nvPr/>
        </p:nvSpPr>
        <p:spPr bwMode="auto">
          <a:xfrm>
            <a:off x="3960814" y="4789489"/>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5" name="Rectangle 12">
            <a:extLst>
              <a:ext uri="{FF2B5EF4-FFF2-40B4-BE49-F238E27FC236}">
                <a16:creationId xmlns:a16="http://schemas.microsoft.com/office/drawing/2014/main" id="{B3198F6A-D913-CE98-56BE-4DA15F3E9B35}"/>
              </a:ext>
            </a:extLst>
          </p:cNvPr>
          <p:cNvSpPr>
            <a:spLocks noChangeArrowheads="1"/>
          </p:cNvSpPr>
          <p:nvPr/>
        </p:nvSpPr>
        <p:spPr bwMode="auto">
          <a:xfrm>
            <a:off x="6110289" y="4789489"/>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6" name="Rectangle 13">
            <a:extLst>
              <a:ext uri="{FF2B5EF4-FFF2-40B4-BE49-F238E27FC236}">
                <a16:creationId xmlns:a16="http://schemas.microsoft.com/office/drawing/2014/main" id="{FFFE86F6-8F50-1B44-E61F-4AD3E17C9DAF}"/>
              </a:ext>
            </a:extLst>
          </p:cNvPr>
          <p:cNvSpPr>
            <a:spLocks noChangeArrowheads="1"/>
          </p:cNvSpPr>
          <p:nvPr/>
        </p:nvSpPr>
        <p:spPr bwMode="auto">
          <a:xfrm>
            <a:off x="6119814" y="4789489"/>
            <a:ext cx="18256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7" name="Rectangle 14">
            <a:extLst>
              <a:ext uri="{FF2B5EF4-FFF2-40B4-BE49-F238E27FC236}">
                <a16:creationId xmlns:a16="http://schemas.microsoft.com/office/drawing/2014/main" id="{AE359E38-3821-69A3-9E1A-ACEFDD01B4A3}"/>
              </a:ext>
            </a:extLst>
          </p:cNvPr>
          <p:cNvSpPr>
            <a:spLocks noChangeArrowheads="1"/>
          </p:cNvSpPr>
          <p:nvPr/>
        </p:nvSpPr>
        <p:spPr bwMode="auto">
          <a:xfrm>
            <a:off x="7945438" y="4789489"/>
            <a:ext cx="1111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8" name="Rectangle 15">
            <a:extLst>
              <a:ext uri="{FF2B5EF4-FFF2-40B4-BE49-F238E27FC236}">
                <a16:creationId xmlns:a16="http://schemas.microsoft.com/office/drawing/2014/main" id="{54002DA2-76AF-58A2-8532-D639782F5EA8}"/>
              </a:ext>
            </a:extLst>
          </p:cNvPr>
          <p:cNvSpPr>
            <a:spLocks noChangeArrowheads="1"/>
          </p:cNvSpPr>
          <p:nvPr/>
        </p:nvSpPr>
        <p:spPr bwMode="auto">
          <a:xfrm>
            <a:off x="7956550" y="4789489"/>
            <a:ext cx="22034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59" name="Rectangle 16">
            <a:extLst>
              <a:ext uri="{FF2B5EF4-FFF2-40B4-BE49-F238E27FC236}">
                <a16:creationId xmlns:a16="http://schemas.microsoft.com/office/drawing/2014/main" id="{0D7534DE-85DA-CCD7-4645-90FA805DF5D7}"/>
              </a:ext>
            </a:extLst>
          </p:cNvPr>
          <p:cNvSpPr>
            <a:spLocks noChangeArrowheads="1"/>
          </p:cNvSpPr>
          <p:nvPr/>
        </p:nvSpPr>
        <p:spPr bwMode="auto">
          <a:xfrm>
            <a:off x="10160001" y="4789489"/>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0" name="Rectangle 17">
            <a:extLst>
              <a:ext uri="{FF2B5EF4-FFF2-40B4-BE49-F238E27FC236}">
                <a16:creationId xmlns:a16="http://schemas.microsoft.com/office/drawing/2014/main" id="{5679B131-18C5-BEFC-CDF7-B48666008321}"/>
              </a:ext>
            </a:extLst>
          </p:cNvPr>
          <p:cNvSpPr>
            <a:spLocks noChangeArrowheads="1"/>
          </p:cNvSpPr>
          <p:nvPr/>
        </p:nvSpPr>
        <p:spPr bwMode="auto">
          <a:xfrm>
            <a:off x="2446338" y="5716588"/>
            <a:ext cx="3016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1" name="Rectangle 18">
            <a:extLst>
              <a:ext uri="{FF2B5EF4-FFF2-40B4-BE49-F238E27FC236}">
                <a16:creationId xmlns:a16="http://schemas.microsoft.com/office/drawing/2014/main" id="{3D420680-3D62-31C2-2460-33809BCC988E}"/>
              </a:ext>
            </a:extLst>
          </p:cNvPr>
          <p:cNvSpPr>
            <a:spLocks noChangeArrowheads="1"/>
          </p:cNvSpPr>
          <p:nvPr/>
        </p:nvSpPr>
        <p:spPr bwMode="auto">
          <a:xfrm>
            <a:off x="2476500" y="5716588"/>
            <a:ext cx="1474788"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2" name="Rectangle 19">
            <a:extLst>
              <a:ext uri="{FF2B5EF4-FFF2-40B4-BE49-F238E27FC236}">
                <a16:creationId xmlns:a16="http://schemas.microsoft.com/office/drawing/2014/main" id="{370FF671-66BF-B473-3B63-BF735626D487}"/>
              </a:ext>
            </a:extLst>
          </p:cNvPr>
          <p:cNvSpPr>
            <a:spLocks noChangeArrowheads="1"/>
          </p:cNvSpPr>
          <p:nvPr/>
        </p:nvSpPr>
        <p:spPr bwMode="auto">
          <a:xfrm>
            <a:off x="3951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3" name="Rectangle 20">
            <a:extLst>
              <a:ext uri="{FF2B5EF4-FFF2-40B4-BE49-F238E27FC236}">
                <a16:creationId xmlns:a16="http://schemas.microsoft.com/office/drawing/2014/main" id="{C6A35811-F04F-6122-BE6B-ACC4E5C69E44}"/>
              </a:ext>
            </a:extLst>
          </p:cNvPr>
          <p:cNvSpPr>
            <a:spLocks noChangeArrowheads="1"/>
          </p:cNvSpPr>
          <p:nvPr/>
        </p:nvSpPr>
        <p:spPr bwMode="auto">
          <a:xfrm>
            <a:off x="3960814" y="5716588"/>
            <a:ext cx="214947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4" name="Rectangle 21">
            <a:extLst>
              <a:ext uri="{FF2B5EF4-FFF2-40B4-BE49-F238E27FC236}">
                <a16:creationId xmlns:a16="http://schemas.microsoft.com/office/drawing/2014/main" id="{E8C23DBD-F582-8315-2308-B6ECF2A19212}"/>
              </a:ext>
            </a:extLst>
          </p:cNvPr>
          <p:cNvSpPr>
            <a:spLocks noChangeArrowheads="1"/>
          </p:cNvSpPr>
          <p:nvPr/>
        </p:nvSpPr>
        <p:spPr bwMode="auto">
          <a:xfrm>
            <a:off x="6110289" y="5716588"/>
            <a:ext cx="95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5" name="Rectangle 22">
            <a:extLst>
              <a:ext uri="{FF2B5EF4-FFF2-40B4-BE49-F238E27FC236}">
                <a16:creationId xmlns:a16="http://schemas.microsoft.com/office/drawing/2014/main" id="{A7407F6D-A53B-68FB-9533-DB685816A5CE}"/>
              </a:ext>
            </a:extLst>
          </p:cNvPr>
          <p:cNvSpPr>
            <a:spLocks noChangeArrowheads="1"/>
          </p:cNvSpPr>
          <p:nvPr/>
        </p:nvSpPr>
        <p:spPr bwMode="auto">
          <a:xfrm>
            <a:off x="6119814" y="5716588"/>
            <a:ext cx="18256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6" name="Rectangle 23">
            <a:extLst>
              <a:ext uri="{FF2B5EF4-FFF2-40B4-BE49-F238E27FC236}">
                <a16:creationId xmlns:a16="http://schemas.microsoft.com/office/drawing/2014/main" id="{ABE53A2B-4A72-5224-C43E-38E895E5B8EF}"/>
              </a:ext>
            </a:extLst>
          </p:cNvPr>
          <p:cNvSpPr>
            <a:spLocks noChangeArrowheads="1"/>
          </p:cNvSpPr>
          <p:nvPr/>
        </p:nvSpPr>
        <p:spPr bwMode="auto">
          <a:xfrm>
            <a:off x="7945438" y="5716588"/>
            <a:ext cx="111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7" name="Rectangle 24">
            <a:extLst>
              <a:ext uri="{FF2B5EF4-FFF2-40B4-BE49-F238E27FC236}">
                <a16:creationId xmlns:a16="http://schemas.microsoft.com/office/drawing/2014/main" id="{89A3655F-CAB3-DFB4-259F-3CF79A9D1CCC}"/>
              </a:ext>
            </a:extLst>
          </p:cNvPr>
          <p:cNvSpPr>
            <a:spLocks noChangeArrowheads="1"/>
          </p:cNvSpPr>
          <p:nvPr/>
        </p:nvSpPr>
        <p:spPr bwMode="auto">
          <a:xfrm>
            <a:off x="7956550" y="5716588"/>
            <a:ext cx="220345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8" name="Rectangle 25">
            <a:extLst>
              <a:ext uri="{FF2B5EF4-FFF2-40B4-BE49-F238E27FC236}">
                <a16:creationId xmlns:a16="http://schemas.microsoft.com/office/drawing/2014/main" id="{3DBCEF88-592A-7E30-D9F0-388D8BAF0809}"/>
              </a:ext>
            </a:extLst>
          </p:cNvPr>
          <p:cNvSpPr>
            <a:spLocks noChangeArrowheads="1"/>
          </p:cNvSpPr>
          <p:nvPr/>
        </p:nvSpPr>
        <p:spPr bwMode="auto">
          <a:xfrm>
            <a:off x="10160001" y="5716588"/>
            <a:ext cx="3016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69" name="Rectangle 26">
            <a:extLst>
              <a:ext uri="{FF2B5EF4-FFF2-40B4-BE49-F238E27FC236}">
                <a16:creationId xmlns:a16="http://schemas.microsoft.com/office/drawing/2014/main" id="{67D72D6F-8DA9-B4C9-50AE-7A8EB4DBF8DB}"/>
              </a:ext>
            </a:extLst>
          </p:cNvPr>
          <p:cNvSpPr>
            <a:spLocks noChangeArrowheads="1"/>
          </p:cNvSpPr>
          <p:nvPr/>
        </p:nvSpPr>
        <p:spPr bwMode="auto">
          <a:xfrm>
            <a:off x="2462214" y="2819401"/>
            <a:ext cx="7731125" cy="385762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7370" name="Rectangle 27">
            <a:extLst>
              <a:ext uri="{FF2B5EF4-FFF2-40B4-BE49-F238E27FC236}">
                <a16:creationId xmlns:a16="http://schemas.microsoft.com/office/drawing/2014/main" id="{64BFACAB-9FD2-BA84-A981-4339BDC70BFF}"/>
              </a:ext>
            </a:extLst>
          </p:cNvPr>
          <p:cNvSpPr>
            <a:spLocks noChangeArrowheads="1"/>
          </p:cNvSpPr>
          <p:nvPr/>
        </p:nvSpPr>
        <p:spPr bwMode="auto">
          <a:xfrm>
            <a:off x="2619375" y="3278189"/>
            <a:ext cx="93615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57371" name="Rectangle 28">
            <a:extLst>
              <a:ext uri="{FF2B5EF4-FFF2-40B4-BE49-F238E27FC236}">
                <a16:creationId xmlns:a16="http://schemas.microsoft.com/office/drawing/2014/main" id="{FFFE974F-8CC6-4E46-F6C5-85CA754DACC9}"/>
              </a:ext>
            </a:extLst>
          </p:cNvPr>
          <p:cNvSpPr>
            <a:spLocks noChangeArrowheads="1"/>
          </p:cNvSpPr>
          <p:nvPr/>
        </p:nvSpPr>
        <p:spPr bwMode="auto">
          <a:xfrm>
            <a:off x="4383773" y="2813051"/>
            <a:ext cx="84318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p>
          <a:p>
            <a:pPr algn="ct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57372" name="Rectangle 29">
            <a:extLst>
              <a:ext uri="{FF2B5EF4-FFF2-40B4-BE49-F238E27FC236}">
                <a16:creationId xmlns:a16="http://schemas.microsoft.com/office/drawing/2014/main" id="{83F078D7-203C-188E-2021-511D290F8AF3}"/>
              </a:ext>
            </a:extLst>
          </p:cNvPr>
          <p:cNvSpPr>
            <a:spLocks noChangeArrowheads="1"/>
          </p:cNvSpPr>
          <p:nvPr/>
        </p:nvSpPr>
        <p:spPr bwMode="auto">
          <a:xfrm>
            <a:off x="6781800" y="2913064"/>
            <a:ext cx="24106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57373" name="Rectangle 30">
            <a:extLst>
              <a:ext uri="{FF2B5EF4-FFF2-40B4-BE49-F238E27FC236}">
                <a16:creationId xmlns:a16="http://schemas.microsoft.com/office/drawing/2014/main" id="{2B4C0625-1189-E78D-10D1-6DBBE05E3357}"/>
              </a:ext>
            </a:extLst>
          </p:cNvPr>
          <p:cNvSpPr>
            <a:spLocks noChangeArrowheads="1"/>
          </p:cNvSpPr>
          <p:nvPr/>
        </p:nvSpPr>
        <p:spPr bwMode="auto">
          <a:xfrm>
            <a:off x="7639051" y="3360739"/>
            <a:ext cx="7966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(n=3)</a:t>
            </a:r>
            <a:endParaRPr lang="en-US" altLang="en-US" sz="2600">
              <a:solidFill>
                <a:srgbClr val="292929"/>
              </a:solidFill>
              <a:latin typeface="Arial Narrow" panose="020B0606020202030204" pitchFamily="34" charset="0"/>
            </a:endParaRPr>
          </a:p>
        </p:txBody>
      </p:sp>
      <p:sp>
        <p:nvSpPr>
          <p:cNvPr id="57374" name="Line 31">
            <a:extLst>
              <a:ext uri="{FF2B5EF4-FFF2-40B4-BE49-F238E27FC236}">
                <a16:creationId xmlns:a16="http://schemas.microsoft.com/office/drawing/2014/main" id="{0192EF8C-09DF-9FD5-15AA-7B3CD0C24058}"/>
              </a:ext>
            </a:extLst>
          </p:cNvPr>
          <p:cNvSpPr>
            <a:spLocks noChangeShapeType="1"/>
          </p:cNvSpPr>
          <p:nvPr/>
        </p:nvSpPr>
        <p:spPr bwMode="auto">
          <a:xfrm>
            <a:off x="3951289" y="2835275"/>
            <a:ext cx="1587"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75" name="Line 32">
            <a:extLst>
              <a:ext uri="{FF2B5EF4-FFF2-40B4-BE49-F238E27FC236}">
                <a16:creationId xmlns:a16="http://schemas.microsoft.com/office/drawing/2014/main" id="{E748BC90-3EA9-E189-193C-79A1F2068653}"/>
              </a:ext>
            </a:extLst>
          </p:cNvPr>
          <p:cNvSpPr>
            <a:spLocks noChangeShapeType="1"/>
          </p:cNvSpPr>
          <p:nvPr/>
        </p:nvSpPr>
        <p:spPr bwMode="auto">
          <a:xfrm>
            <a:off x="6096001" y="2835275"/>
            <a:ext cx="4763" cy="382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76" name="Rectangle 33">
            <a:extLst>
              <a:ext uri="{FF2B5EF4-FFF2-40B4-BE49-F238E27FC236}">
                <a16:creationId xmlns:a16="http://schemas.microsoft.com/office/drawing/2014/main" id="{6F6252F7-6397-C8ED-94A4-20C949F56B8F}"/>
              </a:ext>
            </a:extLst>
          </p:cNvPr>
          <p:cNvSpPr>
            <a:spLocks noChangeArrowheads="1"/>
          </p:cNvSpPr>
          <p:nvPr/>
        </p:nvSpPr>
        <p:spPr bwMode="auto">
          <a:xfrm>
            <a:off x="2833688"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57377" name="Rectangle 34">
            <a:extLst>
              <a:ext uri="{FF2B5EF4-FFF2-40B4-BE49-F238E27FC236}">
                <a16:creationId xmlns:a16="http://schemas.microsoft.com/office/drawing/2014/main" id="{C0C50398-73AD-2C49-3FC0-AF2470D348B1}"/>
              </a:ext>
            </a:extLst>
          </p:cNvPr>
          <p:cNvSpPr>
            <a:spLocks noChangeArrowheads="1"/>
          </p:cNvSpPr>
          <p:nvPr/>
        </p:nvSpPr>
        <p:spPr bwMode="auto">
          <a:xfrm>
            <a:off x="4543425" y="381000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7378" name="Rectangle 35">
            <a:extLst>
              <a:ext uri="{FF2B5EF4-FFF2-40B4-BE49-F238E27FC236}">
                <a16:creationId xmlns:a16="http://schemas.microsoft.com/office/drawing/2014/main" id="{1EA78C7B-001C-B3D4-62F4-6BD3E794F4BC}"/>
              </a:ext>
            </a:extLst>
          </p:cNvPr>
          <p:cNvSpPr>
            <a:spLocks noChangeArrowheads="1"/>
          </p:cNvSpPr>
          <p:nvPr/>
        </p:nvSpPr>
        <p:spPr bwMode="auto">
          <a:xfrm>
            <a:off x="7813676" y="3797301"/>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7379" name="Line 36">
            <a:extLst>
              <a:ext uri="{FF2B5EF4-FFF2-40B4-BE49-F238E27FC236}">
                <a16:creationId xmlns:a16="http://schemas.microsoft.com/office/drawing/2014/main" id="{7895B2CF-F545-1747-46CF-CD045DFAAD4A}"/>
              </a:ext>
            </a:extLst>
          </p:cNvPr>
          <p:cNvSpPr>
            <a:spLocks noChangeShapeType="1"/>
          </p:cNvSpPr>
          <p:nvPr/>
        </p:nvSpPr>
        <p:spPr bwMode="auto">
          <a:xfrm>
            <a:off x="2476501" y="3797301"/>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80" name="Rectangle 37">
            <a:extLst>
              <a:ext uri="{FF2B5EF4-FFF2-40B4-BE49-F238E27FC236}">
                <a16:creationId xmlns:a16="http://schemas.microsoft.com/office/drawing/2014/main" id="{84C74D03-DEFC-3884-3516-7B1B274AD5AD}"/>
              </a:ext>
            </a:extLst>
          </p:cNvPr>
          <p:cNvSpPr>
            <a:spLocks noChangeArrowheads="1"/>
          </p:cNvSpPr>
          <p:nvPr/>
        </p:nvSpPr>
        <p:spPr bwMode="auto">
          <a:xfrm>
            <a:off x="2833688"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57381" name="Rectangle 38">
            <a:extLst>
              <a:ext uri="{FF2B5EF4-FFF2-40B4-BE49-F238E27FC236}">
                <a16:creationId xmlns:a16="http://schemas.microsoft.com/office/drawing/2014/main" id="{7F65254A-653D-9FCB-7B2E-F64B97722CFD}"/>
              </a:ext>
            </a:extLst>
          </p:cNvPr>
          <p:cNvSpPr>
            <a:spLocks noChangeArrowheads="1"/>
          </p:cNvSpPr>
          <p:nvPr/>
        </p:nvSpPr>
        <p:spPr bwMode="auto">
          <a:xfrm>
            <a:off x="4543425" y="43005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7382" name="Rectangle 39">
            <a:extLst>
              <a:ext uri="{FF2B5EF4-FFF2-40B4-BE49-F238E27FC236}">
                <a16:creationId xmlns:a16="http://schemas.microsoft.com/office/drawing/2014/main" id="{3ECF5F0A-3377-57DD-D2A3-835397F0FE37}"/>
              </a:ext>
            </a:extLst>
          </p:cNvPr>
          <p:cNvSpPr>
            <a:spLocks noChangeArrowheads="1"/>
          </p:cNvSpPr>
          <p:nvPr/>
        </p:nvSpPr>
        <p:spPr bwMode="auto">
          <a:xfrm>
            <a:off x="7813676" y="42894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7383" name="Rectangle 40">
            <a:extLst>
              <a:ext uri="{FF2B5EF4-FFF2-40B4-BE49-F238E27FC236}">
                <a16:creationId xmlns:a16="http://schemas.microsoft.com/office/drawing/2014/main" id="{E27CFFA1-4894-4951-23D3-244B03D97CF7}"/>
              </a:ext>
            </a:extLst>
          </p:cNvPr>
          <p:cNvSpPr>
            <a:spLocks noChangeArrowheads="1"/>
          </p:cNvSpPr>
          <p:nvPr/>
        </p:nvSpPr>
        <p:spPr bwMode="auto">
          <a:xfrm>
            <a:off x="2833688"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7384" name="Rectangle 41">
            <a:extLst>
              <a:ext uri="{FF2B5EF4-FFF2-40B4-BE49-F238E27FC236}">
                <a16:creationId xmlns:a16="http://schemas.microsoft.com/office/drawing/2014/main" id="{05668FD1-9D3C-C619-AEF1-CE5F44B228AE}"/>
              </a:ext>
            </a:extLst>
          </p:cNvPr>
          <p:cNvSpPr>
            <a:spLocks noChangeArrowheads="1"/>
          </p:cNvSpPr>
          <p:nvPr/>
        </p:nvSpPr>
        <p:spPr bwMode="auto">
          <a:xfrm>
            <a:off x="4543425" y="479901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7385" name="Rectangle 42">
            <a:extLst>
              <a:ext uri="{FF2B5EF4-FFF2-40B4-BE49-F238E27FC236}">
                <a16:creationId xmlns:a16="http://schemas.microsoft.com/office/drawing/2014/main" id="{812ACDEE-08C7-CE28-641A-4DAE20F27406}"/>
              </a:ext>
            </a:extLst>
          </p:cNvPr>
          <p:cNvSpPr>
            <a:spLocks noChangeArrowheads="1"/>
          </p:cNvSpPr>
          <p:nvPr/>
        </p:nvSpPr>
        <p:spPr bwMode="auto">
          <a:xfrm>
            <a:off x="7813676" y="478631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57386" name="Rectangle 43">
            <a:extLst>
              <a:ext uri="{FF2B5EF4-FFF2-40B4-BE49-F238E27FC236}">
                <a16:creationId xmlns:a16="http://schemas.microsoft.com/office/drawing/2014/main" id="{D9B8E0B0-762B-D792-2AAA-F2D370D1A27E}"/>
              </a:ext>
            </a:extLst>
          </p:cNvPr>
          <p:cNvSpPr>
            <a:spLocks noChangeArrowheads="1"/>
          </p:cNvSpPr>
          <p:nvPr/>
        </p:nvSpPr>
        <p:spPr bwMode="auto">
          <a:xfrm>
            <a:off x="2833688"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57387" name="Rectangle 44">
            <a:extLst>
              <a:ext uri="{FF2B5EF4-FFF2-40B4-BE49-F238E27FC236}">
                <a16:creationId xmlns:a16="http://schemas.microsoft.com/office/drawing/2014/main" id="{0CE0E331-9F6D-3892-E40D-65692ABA5D60}"/>
              </a:ext>
            </a:extLst>
          </p:cNvPr>
          <p:cNvSpPr>
            <a:spLocks noChangeArrowheads="1"/>
          </p:cNvSpPr>
          <p:nvPr/>
        </p:nvSpPr>
        <p:spPr bwMode="auto">
          <a:xfrm>
            <a:off x="4543425" y="52609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57388" name="Rectangle 45">
            <a:extLst>
              <a:ext uri="{FF2B5EF4-FFF2-40B4-BE49-F238E27FC236}">
                <a16:creationId xmlns:a16="http://schemas.microsoft.com/office/drawing/2014/main" id="{14117BED-7323-0E95-C9A1-0C211595F846}"/>
              </a:ext>
            </a:extLst>
          </p:cNvPr>
          <p:cNvSpPr>
            <a:spLocks noChangeArrowheads="1"/>
          </p:cNvSpPr>
          <p:nvPr/>
        </p:nvSpPr>
        <p:spPr bwMode="auto">
          <a:xfrm>
            <a:off x="2833688"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57389" name="Rectangle 46">
            <a:extLst>
              <a:ext uri="{FF2B5EF4-FFF2-40B4-BE49-F238E27FC236}">
                <a16:creationId xmlns:a16="http://schemas.microsoft.com/office/drawing/2014/main" id="{517B7B4C-EBB1-6F6C-1A48-F9DFDF96E303}"/>
              </a:ext>
            </a:extLst>
          </p:cNvPr>
          <p:cNvSpPr>
            <a:spLocks noChangeArrowheads="1"/>
          </p:cNvSpPr>
          <p:nvPr/>
        </p:nvSpPr>
        <p:spPr bwMode="auto">
          <a:xfrm>
            <a:off x="4543425" y="573087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7</a:t>
            </a:r>
            <a:endParaRPr lang="en-US" altLang="en-US" sz="2600">
              <a:solidFill>
                <a:srgbClr val="292929"/>
              </a:solidFill>
              <a:latin typeface="Arial Narrow" panose="020B0606020202030204" pitchFamily="34" charset="0"/>
            </a:endParaRPr>
          </a:p>
        </p:txBody>
      </p:sp>
      <p:sp>
        <p:nvSpPr>
          <p:cNvPr id="57390" name="Rectangle 47">
            <a:extLst>
              <a:ext uri="{FF2B5EF4-FFF2-40B4-BE49-F238E27FC236}">
                <a16:creationId xmlns:a16="http://schemas.microsoft.com/office/drawing/2014/main" id="{9CF1076E-79DD-9808-3F66-C06416DBE1DE}"/>
              </a:ext>
            </a:extLst>
          </p:cNvPr>
          <p:cNvSpPr>
            <a:spLocks noChangeArrowheads="1"/>
          </p:cNvSpPr>
          <p:nvPr/>
        </p:nvSpPr>
        <p:spPr bwMode="auto">
          <a:xfrm>
            <a:off x="7204076" y="5227639"/>
            <a:ext cx="9313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292929"/>
                </a:solidFill>
                <a:latin typeface="Arial Narrow" panose="020B0606020202030204" pitchFamily="34" charset="0"/>
              </a:rPr>
              <a:t>        5</a:t>
            </a:r>
            <a:endParaRPr lang="en-US" altLang="en-US" sz="2600">
              <a:solidFill>
                <a:srgbClr val="292929"/>
              </a:solidFill>
              <a:latin typeface="Arial Narrow" panose="020B0606020202030204" pitchFamily="34" charset="0"/>
            </a:endParaRPr>
          </a:p>
        </p:txBody>
      </p:sp>
      <p:sp>
        <p:nvSpPr>
          <p:cNvPr id="57391" name="Rectangle 48">
            <a:extLst>
              <a:ext uri="{FF2B5EF4-FFF2-40B4-BE49-F238E27FC236}">
                <a16:creationId xmlns:a16="http://schemas.microsoft.com/office/drawing/2014/main" id="{C0C6F61E-B33B-E826-2488-D1C5B803AEF4}"/>
              </a:ext>
            </a:extLst>
          </p:cNvPr>
          <p:cNvSpPr>
            <a:spLocks noChangeArrowheads="1"/>
          </p:cNvSpPr>
          <p:nvPr/>
        </p:nvSpPr>
        <p:spPr bwMode="auto">
          <a:xfrm>
            <a:off x="2833688" y="61912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57392" name="Rectangle 49">
            <a:extLst>
              <a:ext uri="{FF2B5EF4-FFF2-40B4-BE49-F238E27FC236}">
                <a16:creationId xmlns:a16="http://schemas.microsoft.com/office/drawing/2014/main" id="{335AE13D-E11A-EDFD-29BE-1FD586DD6972}"/>
              </a:ext>
            </a:extLst>
          </p:cNvPr>
          <p:cNvSpPr>
            <a:spLocks noChangeArrowheads="1"/>
          </p:cNvSpPr>
          <p:nvPr/>
        </p:nvSpPr>
        <p:spPr bwMode="auto">
          <a:xfrm>
            <a:off x="4506913" y="62182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09330" name="Freeform 50">
            <a:extLst>
              <a:ext uri="{FF2B5EF4-FFF2-40B4-BE49-F238E27FC236}">
                <a16:creationId xmlns:a16="http://schemas.microsoft.com/office/drawing/2014/main" id="{726D0F53-879D-A91D-E1F1-2631D71CBF5B}"/>
              </a:ext>
            </a:extLst>
          </p:cNvPr>
          <p:cNvSpPr>
            <a:spLocks/>
          </p:cNvSpPr>
          <p:nvPr/>
        </p:nvSpPr>
        <p:spPr bwMode="auto">
          <a:xfrm>
            <a:off x="4983163" y="4884738"/>
            <a:ext cx="95250" cy="1211262"/>
          </a:xfrm>
          <a:custGeom>
            <a:avLst/>
            <a:gdLst>
              <a:gd name="T0" fmla="*/ 0 w 69"/>
              <a:gd name="T1" fmla="*/ 2147483646 h 713"/>
              <a:gd name="T2" fmla="*/ 2147483646 w 69"/>
              <a:gd name="T3" fmla="*/ 2147483646 h 713"/>
              <a:gd name="T4" fmla="*/ 2147483646 w 69"/>
              <a:gd name="T5" fmla="*/ 2147483646 h 713"/>
              <a:gd name="T6" fmla="*/ 2147483646 w 69"/>
              <a:gd name="T7" fmla="*/ 2147483646 h 713"/>
              <a:gd name="T8" fmla="*/ 2147483646 w 69"/>
              <a:gd name="T9" fmla="*/ 2147483646 h 713"/>
              <a:gd name="T10" fmla="*/ 2147483646 w 69"/>
              <a:gd name="T11" fmla="*/ 2147483646 h 713"/>
              <a:gd name="T12" fmla="*/ 2147483646 w 69"/>
              <a:gd name="T13" fmla="*/ 2147483646 h 713"/>
              <a:gd name="T14" fmla="*/ 2147483646 w 69"/>
              <a:gd name="T15" fmla="*/ 2147483646 h 713"/>
              <a:gd name="T16" fmla="*/ 2147483646 w 69"/>
              <a:gd name="T17" fmla="*/ 2147483646 h 713"/>
              <a:gd name="T18" fmla="*/ 2147483646 w 69"/>
              <a:gd name="T19" fmla="*/ 2147483646 h 713"/>
              <a:gd name="T20" fmla="*/ 2147483646 w 69"/>
              <a:gd name="T21" fmla="*/ 2147483646 h 713"/>
              <a:gd name="T22" fmla="*/ 2147483646 w 69"/>
              <a:gd name="T23" fmla="*/ 2147483646 h 713"/>
              <a:gd name="T24" fmla="*/ 2147483646 w 69"/>
              <a:gd name="T25" fmla="*/ 2147483646 h 713"/>
              <a:gd name="T26" fmla="*/ 2147483646 w 69"/>
              <a:gd name="T27" fmla="*/ 2147483646 h 713"/>
              <a:gd name="T28" fmla="*/ 2147483646 w 69"/>
              <a:gd name="T29" fmla="*/ 2147483646 h 713"/>
              <a:gd name="T30" fmla="*/ 2147483646 w 69"/>
              <a:gd name="T31" fmla="*/ 2147483646 h 713"/>
              <a:gd name="T32" fmla="*/ 2147483646 w 69"/>
              <a:gd name="T33" fmla="*/ 2147483646 h 713"/>
              <a:gd name="T34" fmla="*/ 2147483646 w 69"/>
              <a:gd name="T35" fmla="*/ 2147483646 h 713"/>
              <a:gd name="T36" fmla="*/ 2147483646 w 69"/>
              <a:gd name="T37" fmla="*/ 2147483646 h 713"/>
              <a:gd name="T38" fmla="*/ 2147483646 w 69"/>
              <a:gd name="T39" fmla="*/ 2147483646 h 713"/>
              <a:gd name="T40" fmla="*/ 2147483646 w 69"/>
              <a:gd name="T41" fmla="*/ 2147483646 h 713"/>
              <a:gd name="T42" fmla="*/ 2147483646 w 69"/>
              <a:gd name="T43" fmla="*/ 2147483646 h 713"/>
              <a:gd name="T44" fmla="*/ 2147483646 w 69"/>
              <a:gd name="T45" fmla="*/ 2147483646 h 713"/>
              <a:gd name="T46" fmla="*/ 2147483646 w 69"/>
              <a:gd name="T47" fmla="*/ 2147483646 h 713"/>
              <a:gd name="T48" fmla="*/ 2147483646 w 69"/>
              <a:gd name="T49" fmla="*/ 2147483646 h 713"/>
              <a:gd name="T50" fmla="*/ 2147483646 w 69"/>
              <a:gd name="T51" fmla="*/ 2147483646 h 713"/>
              <a:gd name="T52" fmla="*/ 0 w 69"/>
              <a:gd name="T53" fmla="*/ 2147483646 h 713"/>
              <a:gd name="T54" fmla="*/ 2147483646 w 69"/>
              <a:gd name="T55" fmla="*/ 2147483646 h 713"/>
              <a:gd name="T56" fmla="*/ 2147483646 w 69"/>
              <a:gd name="T57" fmla="*/ 2147483646 h 713"/>
              <a:gd name="T58" fmla="*/ 2147483646 w 69"/>
              <a:gd name="T59" fmla="*/ 2147483646 h 713"/>
              <a:gd name="T60" fmla="*/ 2147483646 w 69"/>
              <a:gd name="T61" fmla="*/ 2147483646 h 713"/>
              <a:gd name="T62" fmla="*/ 2147483646 w 69"/>
              <a:gd name="T63" fmla="*/ 2147483646 h 713"/>
              <a:gd name="T64" fmla="*/ 2147483646 w 69"/>
              <a:gd name="T65" fmla="*/ 2147483646 h 713"/>
              <a:gd name="T66" fmla="*/ 2147483646 w 69"/>
              <a:gd name="T67" fmla="*/ 2147483646 h 713"/>
              <a:gd name="T68" fmla="*/ 2147483646 w 69"/>
              <a:gd name="T69" fmla="*/ 2147483646 h 713"/>
              <a:gd name="T70" fmla="*/ 2147483646 w 69"/>
              <a:gd name="T71" fmla="*/ 2147483646 h 713"/>
              <a:gd name="T72" fmla="*/ 2147483646 w 69"/>
              <a:gd name="T73" fmla="*/ 2147483646 h 713"/>
              <a:gd name="T74" fmla="*/ 2147483646 w 69"/>
              <a:gd name="T75" fmla="*/ 2147483646 h 713"/>
              <a:gd name="T76" fmla="*/ 2147483646 w 69"/>
              <a:gd name="T77" fmla="*/ 2147483646 h 713"/>
              <a:gd name="T78" fmla="*/ 2147483646 w 69"/>
              <a:gd name="T79" fmla="*/ 2147483646 h 713"/>
              <a:gd name="T80" fmla="*/ 2147483646 w 69"/>
              <a:gd name="T81" fmla="*/ 2147483646 h 713"/>
              <a:gd name="T82" fmla="*/ 2147483646 w 69"/>
              <a:gd name="T83" fmla="*/ 2147483646 h 713"/>
              <a:gd name="T84" fmla="*/ 2147483646 w 69"/>
              <a:gd name="T85" fmla="*/ 2147483646 h 713"/>
              <a:gd name="T86" fmla="*/ 2147483646 w 69"/>
              <a:gd name="T87" fmla="*/ 2147483646 h 713"/>
              <a:gd name="T88" fmla="*/ 2147483646 w 69"/>
              <a:gd name="T89" fmla="*/ 2147483646 h 713"/>
              <a:gd name="T90" fmla="*/ 2147483646 w 69"/>
              <a:gd name="T91" fmla="*/ 2147483646 h 713"/>
              <a:gd name="T92" fmla="*/ 2147483646 w 69"/>
              <a:gd name="T93" fmla="*/ 2147483646 h 713"/>
              <a:gd name="T94" fmla="*/ 2147483646 w 69"/>
              <a:gd name="T95" fmla="*/ 2147483646 h 713"/>
              <a:gd name="T96" fmla="*/ 2147483646 w 69"/>
              <a:gd name="T97" fmla="*/ 2147483646 h 713"/>
              <a:gd name="T98" fmla="*/ 2147483646 w 69"/>
              <a:gd name="T99" fmla="*/ 2147483646 h 713"/>
              <a:gd name="T100" fmla="*/ 2147483646 w 69"/>
              <a:gd name="T101" fmla="*/ 2147483646 h 713"/>
              <a:gd name="T102" fmla="*/ 2147483646 w 69"/>
              <a:gd name="T103" fmla="*/ 2147483646 h 713"/>
              <a:gd name="T104" fmla="*/ 2147483646 w 69"/>
              <a:gd name="T105" fmla="*/ 2147483646 h 71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9" h="713">
                <a:moveTo>
                  <a:pt x="0" y="0"/>
                </a:moveTo>
                <a:lnTo>
                  <a:pt x="0" y="23"/>
                </a:lnTo>
                <a:lnTo>
                  <a:pt x="6" y="25"/>
                </a:lnTo>
                <a:lnTo>
                  <a:pt x="6" y="14"/>
                </a:lnTo>
                <a:lnTo>
                  <a:pt x="0" y="23"/>
                </a:lnTo>
                <a:lnTo>
                  <a:pt x="6" y="27"/>
                </a:lnTo>
                <a:lnTo>
                  <a:pt x="12" y="16"/>
                </a:lnTo>
                <a:lnTo>
                  <a:pt x="2" y="25"/>
                </a:lnTo>
                <a:lnTo>
                  <a:pt x="8" y="31"/>
                </a:lnTo>
                <a:lnTo>
                  <a:pt x="12" y="37"/>
                </a:lnTo>
                <a:lnTo>
                  <a:pt x="21" y="29"/>
                </a:lnTo>
                <a:lnTo>
                  <a:pt x="10" y="29"/>
                </a:lnTo>
                <a:lnTo>
                  <a:pt x="15" y="46"/>
                </a:lnTo>
                <a:lnTo>
                  <a:pt x="17" y="69"/>
                </a:lnTo>
                <a:lnTo>
                  <a:pt x="17" y="299"/>
                </a:lnTo>
                <a:lnTo>
                  <a:pt x="19" y="322"/>
                </a:lnTo>
                <a:lnTo>
                  <a:pt x="27" y="339"/>
                </a:lnTo>
                <a:lnTo>
                  <a:pt x="29" y="349"/>
                </a:lnTo>
                <a:lnTo>
                  <a:pt x="33" y="356"/>
                </a:lnTo>
                <a:lnTo>
                  <a:pt x="38" y="360"/>
                </a:lnTo>
                <a:lnTo>
                  <a:pt x="42" y="362"/>
                </a:lnTo>
                <a:lnTo>
                  <a:pt x="48" y="366"/>
                </a:lnTo>
                <a:lnTo>
                  <a:pt x="52" y="366"/>
                </a:lnTo>
                <a:lnTo>
                  <a:pt x="58" y="368"/>
                </a:lnTo>
                <a:lnTo>
                  <a:pt x="58" y="356"/>
                </a:lnTo>
                <a:lnTo>
                  <a:pt x="58" y="345"/>
                </a:lnTo>
                <a:lnTo>
                  <a:pt x="54" y="347"/>
                </a:lnTo>
                <a:lnTo>
                  <a:pt x="50" y="349"/>
                </a:lnTo>
                <a:lnTo>
                  <a:pt x="46" y="356"/>
                </a:lnTo>
                <a:lnTo>
                  <a:pt x="50" y="364"/>
                </a:lnTo>
                <a:lnTo>
                  <a:pt x="54" y="366"/>
                </a:lnTo>
                <a:lnTo>
                  <a:pt x="58" y="345"/>
                </a:lnTo>
                <a:lnTo>
                  <a:pt x="52" y="347"/>
                </a:lnTo>
                <a:lnTo>
                  <a:pt x="48" y="347"/>
                </a:lnTo>
                <a:lnTo>
                  <a:pt x="42" y="351"/>
                </a:lnTo>
                <a:lnTo>
                  <a:pt x="38" y="353"/>
                </a:lnTo>
                <a:lnTo>
                  <a:pt x="33" y="358"/>
                </a:lnTo>
                <a:lnTo>
                  <a:pt x="29" y="364"/>
                </a:lnTo>
                <a:lnTo>
                  <a:pt x="27" y="374"/>
                </a:lnTo>
                <a:lnTo>
                  <a:pt x="19" y="391"/>
                </a:lnTo>
                <a:lnTo>
                  <a:pt x="17" y="414"/>
                </a:lnTo>
                <a:lnTo>
                  <a:pt x="17" y="644"/>
                </a:lnTo>
                <a:lnTo>
                  <a:pt x="15" y="667"/>
                </a:lnTo>
                <a:lnTo>
                  <a:pt x="10" y="684"/>
                </a:lnTo>
                <a:lnTo>
                  <a:pt x="21" y="684"/>
                </a:lnTo>
                <a:lnTo>
                  <a:pt x="12" y="676"/>
                </a:lnTo>
                <a:lnTo>
                  <a:pt x="8" y="684"/>
                </a:lnTo>
                <a:lnTo>
                  <a:pt x="2" y="688"/>
                </a:lnTo>
                <a:lnTo>
                  <a:pt x="12" y="697"/>
                </a:lnTo>
                <a:lnTo>
                  <a:pt x="6" y="686"/>
                </a:lnTo>
                <a:lnTo>
                  <a:pt x="0" y="690"/>
                </a:lnTo>
                <a:lnTo>
                  <a:pt x="6" y="699"/>
                </a:lnTo>
                <a:lnTo>
                  <a:pt x="6" y="688"/>
                </a:lnTo>
                <a:lnTo>
                  <a:pt x="0" y="690"/>
                </a:lnTo>
                <a:lnTo>
                  <a:pt x="0" y="713"/>
                </a:lnTo>
                <a:lnTo>
                  <a:pt x="6" y="711"/>
                </a:lnTo>
                <a:lnTo>
                  <a:pt x="10" y="711"/>
                </a:lnTo>
                <a:lnTo>
                  <a:pt x="15" y="707"/>
                </a:lnTo>
                <a:lnTo>
                  <a:pt x="19" y="705"/>
                </a:lnTo>
                <a:lnTo>
                  <a:pt x="25" y="701"/>
                </a:lnTo>
                <a:lnTo>
                  <a:pt x="29" y="693"/>
                </a:lnTo>
                <a:lnTo>
                  <a:pt x="33" y="684"/>
                </a:lnTo>
                <a:lnTo>
                  <a:pt x="38" y="667"/>
                </a:lnTo>
                <a:lnTo>
                  <a:pt x="40" y="644"/>
                </a:lnTo>
                <a:lnTo>
                  <a:pt x="40" y="414"/>
                </a:lnTo>
                <a:lnTo>
                  <a:pt x="42" y="391"/>
                </a:lnTo>
                <a:lnTo>
                  <a:pt x="50" y="374"/>
                </a:lnTo>
                <a:lnTo>
                  <a:pt x="38" y="374"/>
                </a:lnTo>
                <a:lnTo>
                  <a:pt x="46" y="381"/>
                </a:lnTo>
                <a:lnTo>
                  <a:pt x="50" y="376"/>
                </a:lnTo>
                <a:lnTo>
                  <a:pt x="56" y="370"/>
                </a:lnTo>
                <a:lnTo>
                  <a:pt x="46" y="360"/>
                </a:lnTo>
                <a:lnTo>
                  <a:pt x="52" y="372"/>
                </a:lnTo>
                <a:lnTo>
                  <a:pt x="58" y="368"/>
                </a:lnTo>
                <a:lnTo>
                  <a:pt x="52" y="358"/>
                </a:lnTo>
                <a:lnTo>
                  <a:pt x="52" y="370"/>
                </a:lnTo>
                <a:lnTo>
                  <a:pt x="58" y="368"/>
                </a:lnTo>
                <a:lnTo>
                  <a:pt x="61" y="366"/>
                </a:lnTo>
                <a:lnTo>
                  <a:pt x="65" y="364"/>
                </a:lnTo>
                <a:lnTo>
                  <a:pt x="69" y="356"/>
                </a:lnTo>
                <a:lnTo>
                  <a:pt x="65" y="349"/>
                </a:lnTo>
                <a:lnTo>
                  <a:pt x="61" y="347"/>
                </a:lnTo>
                <a:lnTo>
                  <a:pt x="58" y="345"/>
                </a:lnTo>
                <a:lnTo>
                  <a:pt x="52" y="343"/>
                </a:lnTo>
                <a:lnTo>
                  <a:pt x="52" y="355"/>
                </a:lnTo>
                <a:lnTo>
                  <a:pt x="58" y="345"/>
                </a:lnTo>
                <a:lnTo>
                  <a:pt x="52" y="341"/>
                </a:lnTo>
                <a:lnTo>
                  <a:pt x="46" y="353"/>
                </a:lnTo>
                <a:lnTo>
                  <a:pt x="56" y="343"/>
                </a:lnTo>
                <a:lnTo>
                  <a:pt x="50" y="339"/>
                </a:lnTo>
                <a:lnTo>
                  <a:pt x="46" y="332"/>
                </a:lnTo>
                <a:lnTo>
                  <a:pt x="38" y="339"/>
                </a:lnTo>
                <a:lnTo>
                  <a:pt x="50" y="339"/>
                </a:lnTo>
                <a:lnTo>
                  <a:pt x="42" y="322"/>
                </a:lnTo>
                <a:lnTo>
                  <a:pt x="40" y="299"/>
                </a:lnTo>
                <a:lnTo>
                  <a:pt x="40" y="69"/>
                </a:lnTo>
                <a:lnTo>
                  <a:pt x="38" y="46"/>
                </a:lnTo>
                <a:lnTo>
                  <a:pt x="33" y="29"/>
                </a:lnTo>
                <a:lnTo>
                  <a:pt x="29" y="20"/>
                </a:lnTo>
                <a:lnTo>
                  <a:pt x="25" y="14"/>
                </a:lnTo>
                <a:lnTo>
                  <a:pt x="19" y="8"/>
                </a:lnTo>
                <a:lnTo>
                  <a:pt x="15" y="6"/>
                </a:lnTo>
                <a:lnTo>
                  <a:pt x="10" y="2"/>
                </a:lnTo>
                <a:lnTo>
                  <a:pt x="6" y="2"/>
                </a:lnTo>
                <a:lnTo>
                  <a:pt x="0" y="0"/>
                </a:lnTo>
                <a:close/>
              </a:path>
            </a:pathLst>
          </a:custGeom>
          <a:solidFill>
            <a:srgbClr val="000000"/>
          </a:solidFill>
          <a:ln w="9525">
            <a:solidFill>
              <a:schemeClr val="tx1"/>
            </a:solidFill>
            <a:round/>
            <a:headEnd/>
            <a:tailEnd/>
          </a:ln>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94" name="Line 51">
            <a:extLst>
              <a:ext uri="{FF2B5EF4-FFF2-40B4-BE49-F238E27FC236}">
                <a16:creationId xmlns:a16="http://schemas.microsoft.com/office/drawing/2014/main" id="{1D3F8872-C04D-CB19-3B35-EAD503563F9F}"/>
              </a:ext>
            </a:extLst>
          </p:cNvPr>
          <p:cNvSpPr>
            <a:spLocks noChangeShapeType="1"/>
          </p:cNvSpPr>
          <p:nvPr/>
        </p:nvSpPr>
        <p:spPr bwMode="auto">
          <a:xfrm>
            <a:off x="2471739" y="428307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95" name="Line 52">
            <a:extLst>
              <a:ext uri="{FF2B5EF4-FFF2-40B4-BE49-F238E27FC236}">
                <a16:creationId xmlns:a16="http://schemas.microsoft.com/office/drawing/2014/main" id="{FD83B2D4-AD72-C7AC-06ED-E6EC44AAB26C}"/>
              </a:ext>
            </a:extLst>
          </p:cNvPr>
          <p:cNvSpPr>
            <a:spLocks noChangeShapeType="1"/>
          </p:cNvSpPr>
          <p:nvPr/>
        </p:nvSpPr>
        <p:spPr bwMode="auto">
          <a:xfrm>
            <a:off x="2479676" y="4795839"/>
            <a:ext cx="7718425"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96" name="Line 53">
            <a:extLst>
              <a:ext uri="{FF2B5EF4-FFF2-40B4-BE49-F238E27FC236}">
                <a16:creationId xmlns:a16="http://schemas.microsoft.com/office/drawing/2014/main" id="{A32F2A6F-54FB-E78C-14A3-893D9F9D15CB}"/>
              </a:ext>
            </a:extLst>
          </p:cNvPr>
          <p:cNvSpPr>
            <a:spLocks noChangeShapeType="1"/>
          </p:cNvSpPr>
          <p:nvPr/>
        </p:nvSpPr>
        <p:spPr bwMode="auto">
          <a:xfrm>
            <a:off x="2447926" y="5241926"/>
            <a:ext cx="7718425"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97" name="Line 54">
            <a:extLst>
              <a:ext uri="{FF2B5EF4-FFF2-40B4-BE49-F238E27FC236}">
                <a16:creationId xmlns:a16="http://schemas.microsoft.com/office/drawing/2014/main" id="{53EC1B67-D4CC-B962-E77E-06D3576E99DD}"/>
              </a:ext>
            </a:extLst>
          </p:cNvPr>
          <p:cNvSpPr>
            <a:spLocks noChangeShapeType="1"/>
          </p:cNvSpPr>
          <p:nvPr/>
        </p:nvSpPr>
        <p:spPr bwMode="auto">
          <a:xfrm flipV="1">
            <a:off x="2471739" y="5719764"/>
            <a:ext cx="7718425"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398" name="Line 55">
            <a:extLst>
              <a:ext uri="{FF2B5EF4-FFF2-40B4-BE49-F238E27FC236}">
                <a16:creationId xmlns:a16="http://schemas.microsoft.com/office/drawing/2014/main" id="{DCA6E1FF-45E8-1FC3-7E78-CE5A5934A2AB}"/>
              </a:ext>
            </a:extLst>
          </p:cNvPr>
          <p:cNvSpPr>
            <a:spLocks noChangeShapeType="1"/>
          </p:cNvSpPr>
          <p:nvPr/>
        </p:nvSpPr>
        <p:spPr bwMode="auto">
          <a:xfrm>
            <a:off x="2451100" y="6175376"/>
            <a:ext cx="7759700" cy="47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9336" name="Freeform 56">
            <a:extLst>
              <a:ext uri="{FF2B5EF4-FFF2-40B4-BE49-F238E27FC236}">
                <a16:creationId xmlns:a16="http://schemas.microsoft.com/office/drawing/2014/main" id="{43053860-5A6A-999A-A88E-497C8EB40710}"/>
              </a:ext>
            </a:extLst>
          </p:cNvPr>
          <p:cNvSpPr>
            <a:spLocks/>
          </p:cNvSpPr>
          <p:nvPr/>
        </p:nvSpPr>
        <p:spPr bwMode="auto">
          <a:xfrm>
            <a:off x="5205413" y="5511800"/>
            <a:ext cx="1797050" cy="882650"/>
          </a:xfrm>
          <a:custGeom>
            <a:avLst/>
            <a:gdLst>
              <a:gd name="T0" fmla="*/ 0 w 1019"/>
              <a:gd name="T1" fmla="*/ 0 h 519"/>
              <a:gd name="T2" fmla="*/ 2147483646 w 1019"/>
              <a:gd name="T3" fmla="*/ 2147483646 h 519"/>
              <a:gd name="T4" fmla="*/ 2147483646 w 1019"/>
              <a:gd name="T5" fmla="*/ 2147483646 h 519"/>
              <a:gd name="T6" fmla="*/ 2147483646 w 1019"/>
              <a:gd name="T7" fmla="*/ 2147483646 h 5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9" h="519">
                <a:moveTo>
                  <a:pt x="0" y="0"/>
                </a:moveTo>
                <a:cubicBezTo>
                  <a:pt x="153" y="43"/>
                  <a:pt x="823" y="185"/>
                  <a:pt x="921" y="259"/>
                </a:cubicBezTo>
                <a:cubicBezTo>
                  <a:pt x="1019" y="333"/>
                  <a:pt x="578" y="404"/>
                  <a:pt x="590" y="447"/>
                </a:cubicBezTo>
                <a:cubicBezTo>
                  <a:pt x="602" y="490"/>
                  <a:pt x="909" y="504"/>
                  <a:pt x="993" y="519"/>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7400" name="Rectangle 57">
            <a:extLst>
              <a:ext uri="{FF2B5EF4-FFF2-40B4-BE49-F238E27FC236}">
                <a16:creationId xmlns:a16="http://schemas.microsoft.com/office/drawing/2014/main" id="{424AF6DA-E0A5-5DA1-60A8-10829A9D8B0E}"/>
              </a:ext>
            </a:extLst>
          </p:cNvPr>
          <p:cNvSpPr>
            <a:spLocks noChangeArrowheads="1"/>
          </p:cNvSpPr>
          <p:nvPr/>
        </p:nvSpPr>
        <p:spPr bwMode="auto">
          <a:xfrm>
            <a:off x="7154864" y="5684839"/>
            <a:ext cx="15869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3300"/>
                </a:solidFill>
                <a:latin typeface="Arial Narrow" panose="020B0606020202030204" pitchFamily="34" charset="0"/>
              </a:rPr>
              <a:t>        </a:t>
            </a:r>
            <a:r>
              <a:rPr lang="en-US" altLang="en-US">
                <a:solidFill>
                  <a:srgbClr val="292929"/>
                </a:solidFill>
                <a:latin typeface="Arial Narrow" panose="020B0606020202030204" pitchFamily="34" charset="0"/>
              </a:rPr>
              <a:t>4.667</a:t>
            </a:r>
            <a:endParaRPr lang="en-US" altLang="en-US" sz="2600">
              <a:solidFill>
                <a:srgbClr val="292929"/>
              </a:solidFill>
              <a:latin typeface="Arial Narrow" panose="020B0606020202030204" pitchFamily="34" charset="0"/>
            </a:endParaRPr>
          </a:p>
        </p:txBody>
      </p:sp>
      <p:sp>
        <p:nvSpPr>
          <p:cNvPr id="609338" name="Rectangle 58">
            <a:extLst>
              <a:ext uri="{FF2B5EF4-FFF2-40B4-BE49-F238E27FC236}">
                <a16:creationId xmlns:a16="http://schemas.microsoft.com/office/drawing/2014/main" id="{6CCC4ECD-6F78-C8AB-8A73-C4C79B6D5476}"/>
              </a:ext>
            </a:extLst>
          </p:cNvPr>
          <p:cNvSpPr>
            <a:spLocks noChangeArrowheads="1"/>
          </p:cNvSpPr>
          <p:nvPr/>
        </p:nvSpPr>
        <p:spPr bwMode="auto">
          <a:xfrm>
            <a:off x="7161214" y="6156326"/>
            <a:ext cx="184665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3300"/>
                </a:solidFill>
                <a:latin typeface="Arial Narrow" panose="020B0606020202030204" pitchFamily="34" charset="0"/>
              </a:rPr>
              <a:t>(5+3+7)/3=5</a:t>
            </a:r>
            <a:endParaRPr lang="en-US" altLang="en-US" sz="2600">
              <a:solidFill>
                <a:srgbClr val="FF3300"/>
              </a:solidFill>
              <a:latin typeface="Arial Narrow" panose="020B0606020202030204" pitchFamily="34" charset="0"/>
            </a:endParaRPr>
          </a:p>
        </p:txBody>
      </p:sp>
      <p:sp>
        <p:nvSpPr>
          <p:cNvPr id="57402" name="Rectangle 59">
            <a:extLst>
              <a:ext uri="{FF2B5EF4-FFF2-40B4-BE49-F238E27FC236}">
                <a16:creationId xmlns:a16="http://schemas.microsoft.com/office/drawing/2014/main" id="{041A3858-563D-60A1-2E91-B46575BDF338}"/>
              </a:ext>
            </a:extLst>
          </p:cNvPr>
          <p:cNvSpPr>
            <a:spLocks noChangeArrowheads="1"/>
          </p:cNvSpPr>
          <p:nvPr/>
        </p:nvSpPr>
        <p:spPr bwMode="auto">
          <a:xfrm>
            <a:off x="1676400" y="-304800"/>
            <a:ext cx="7158038"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b="1" dirty="0">
                <a:solidFill>
                  <a:srgbClr val="000000"/>
                </a:solidFill>
              </a:rPr>
              <a:t> Simple Moving Average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93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33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09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33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a:extLst>
              <a:ext uri="{FF2B5EF4-FFF2-40B4-BE49-F238E27FC236}">
                <a16:creationId xmlns:a16="http://schemas.microsoft.com/office/drawing/2014/main" id="{20D65B9F-3BC9-8AC1-B423-7F5FC1EAA4A0}"/>
              </a:ext>
            </a:extLst>
          </p:cNvPr>
          <p:cNvSpPr>
            <a:spLocks noGrp="1" noChangeArrowheads="1"/>
          </p:cNvSpPr>
          <p:nvPr>
            <p:ph type="body" idx="1"/>
          </p:nvPr>
        </p:nvSpPr>
        <p:spPr>
          <a:xfrm>
            <a:off x="2168525" y="1238251"/>
            <a:ext cx="8096250" cy="3433763"/>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75" tIns="44444" rIns="90475" bIns="44444" numCol="1" anchor="t" anchorCtr="0" compatLnSpc="1">
            <a:prstTxWarp prst="textNoShape">
              <a:avLst/>
            </a:prstTxWarp>
          </a:bodyPr>
          <a:lstStyle/>
          <a:p>
            <a:pPr marL="312738" indent="-312738" defTabSz="836613" eaLnBrk="1" hangingPunct="1">
              <a:spcBef>
                <a:spcPct val="30000"/>
              </a:spcBef>
            </a:pPr>
            <a:r>
              <a:rPr lang="en-US" altLang="en-US" sz="3100" dirty="0"/>
              <a:t>Gives more emphasis to recent data</a:t>
            </a:r>
          </a:p>
          <a:p>
            <a:pPr marL="312738" indent="-312738" defTabSz="836613" eaLnBrk="1" hangingPunct="1">
              <a:spcBef>
                <a:spcPct val="30000"/>
              </a:spcBef>
            </a:pPr>
            <a:endParaRPr lang="en-US" altLang="en-US" sz="3100" dirty="0"/>
          </a:p>
          <a:p>
            <a:pPr marL="312738" indent="-312738" defTabSz="836613" eaLnBrk="1" hangingPunct="1">
              <a:spcBef>
                <a:spcPct val="30000"/>
              </a:spcBef>
            </a:pPr>
            <a:endParaRPr lang="en-US" altLang="en-US" sz="3100" dirty="0"/>
          </a:p>
          <a:p>
            <a:pPr marL="312738" indent="-312738" defTabSz="836613" eaLnBrk="1" hangingPunct="1">
              <a:spcBef>
                <a:spcPct val="30000"/>
              </a:spcBef>
            </a:pPr>
            <a:r>
              <a:rPr lang="en-US" altLang="en-US" sz="3100" dirty="0"/>
              <a:t>Weights </a:t>
            </a:r>
          </a:p>
          <a:p>
            <a:pPr marL="688975" lvl="1" indent="-261938" defTabSz="836613" eaLnBrk="1" hangingPunct="1">
              <a:spcBef>
                <a:spcPct val="30000"/>
              </a:spcBef>
            </a:pPr>
            <a:r>
              <a:rPr lang="en-US" altLang="en-US" sz="2700" dirty="0">
                <a:solidFill>
                  <a:srgbClr val="000099"/>
                </a:solidFill>
              </a:rPr>
              <a:t>decrease for older data</a:t>
            </a:r>
            <a:endParaRPr lang="en-US" altLang="en-US" dirty="0">
              <a:solidFill>
                <a:srgbClr val="000099"/>
              </a:solidFill>
            </a:endParaRPr>
          </a:p>
          <a:p>
            <a:pPr marL="688975" lvl="1" indent="-261938" defTabSz="836613" eaLnBrk="1" hangingPunct="1">
              <a:spcBef>
                <a:spcPct val="30000"/>
              </a:spcBef>
            </a:pPr>
            <a:r>
              <a:rPr lang="en-US" altLang="en-US" sz="2700" dirty="0">
                <a:solidFill>
                  <a:srgbClr val="000099"/>
                </a:solidFill>
              </a:rPr>
              <a:t>sum to 1.0</a:t>
            </a:r>
            <a:endParaRPr lang="en-US" altLang="en-US" dirty="0">
              <a:solidFill>
                <a:srgbClr val="000099"/>
              </a:solidFill>
            </a:endParaRPr>
          </a:p>
        </p:txBody>
      </p:sp>
      <p:sp>
        <p:nvSpPr>
          <p:cNvPr id="58371" name="Rectangle 8">
            <a:extLst>
              <a:ext uri="{FF2B5EF4-FFF2-40B4-BE49-F238E27FC236}">
                <a16:creationId xmlns:a16="http://schemas.microsoft.com/office/drawing/2014/main" id="{4106C27F-5989-40F9-E4BD-B2DA18474CBD}"/>
              </a:ext>
            </a:extLst>
          </p:cNvPr>
          <p:cNvSpPr>
            <a:spLocks noGrp="1" noChangeArrowheads="1"/>
          </p:cNvSpPr>
          <p:nvPr>
            <p:ph type="title"/>
          </p:nvPr>
        </p:nvSpPr>
        <p:spPr>
          <a:xfrm>
            <a:off x="1676401" y="-304800"/>
            <a:ext cx="7159625" cy="1412875"/>
          </a:xfrm>
        </p:spPr>
        <p:txBody>
          <a:bodyPr/>
          <a:lstStyle/>
          <a:p>
            <a:pPr eaLnBrk="1" hangingPunct="1">
              <a:lnSpc>
                <a:spcPct val="80000"/>
              </a:lnSpc>
            </a:pPr>
            <a:r>
              <a:rPr lang="en-US" altLang="en-US" dirty="0"/>
              <a:t> Weighted Moving Average</a:t>
            </a:r>
          </a:p>
        </p:txBody>
      </p:sp>
      <p:sp>
        <p:nvSpPr>
          <p:cNvPr id="58372" name="Rectangle 9">
            <a:extLst>
              <a:ext uri="{FF2B5EF4-FFF2-40B4-BE49-F238E27FC236}">
                <a16:creationId xmlns:a16="http://schemas.microsoft.com/office/drawing/2014/main" id="{68BACF5D-DB47-7436-E00D-7DEFEE1B53D7}"/>
              </a:ext>
            </a:extLst>
          </p:cNvPr>
          <p:cNvSpPr>
            <a:spLocks noChangeArrowheads="1"/>
          </p:cNvSpPr>
          <p:nvPr/>
        </p:nvSpPr>
        <p:spPr bwMode="auto">
          <a:xfrm>
            <a:off x="2362200" y="4648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8373" name="Rectangle 10">
            <a:extLst>
              <a:ext uri="{FF2B5EF4-FFF2-40B4-BE49-F238E27FC236}">
                <a16:creationId xmlns:a16="http://schemas.microsoft.com/office/drawing/2014/main" id="{A9DEC2BE-EA2C-7CC8-1EEF-665869EDF2B4}"/>
              </a:ext>
            </a:extLst>
          </p:cNvPr>
          <p:cNvSpPr>
            <a:spLocks noChangeArrowheads="1"/>
          </p:cNvSpPr>
          <p:nvPr/>
        </p:nvSpPr>
        <p:spPr bwMode="auto">
          <a:xfrm>
            <a:off x="4800600" y="4648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graphicFrame>
        <p:nvGraphicFramePr>
          <p:cNvPr id="612363" name="Object 11">
            <a:extLst>
              <a:ext uri="{FF2B5EF4-FFF2-40B4-BE49-F238E27FC236}">
                <a16:creationId xmlns:a16="http://schemas.microsoft.com/office/drawing/2014/main" id="{60F58708-8B6F-B40C-40DB-33BA02237CF0}"/>
              </a:ext>
            </a:extLst>
          </p:cNvPr>
          <p:cNvGraphicFramePr>
            <a:graphicFrameLocks/>
          </p:cNvGraphicFramePr>
          <p:nvPr/>
        </p:nvGraphicFramePr>
        <p:xfrm>
          <a:off x="2438400" y="1981200"/>
          <a:ext cx="7924800" cy="685800"/>
        </p:xfrm>
        <a:graphic>
          <a:graphicData uri="http://schemas.openxmlformats.org/presentationml/2006/ole">
            <mc:AlternateContent xmlns:mc="http://schemas.openxmlformats.org/markup-compatibility/2006">
              <mc:Choice xmlns:v="urn:schemas-microsoft-com:vml" Requires="v">
                <p:oleObj name="Equation" r:id="rId3" imgW="46958250" imgH="3952875" progId="Equation.3">
                  <p:embed/>
                </p:oleObj>
              </mc:Choice>
              <mc:Fallback>
                <p:oleObj name="Equation" r:id="rId3" imgW="46958250" imgH="3952875" progId="Equation.3">
                  <p:embed/>
                  <p:pic>
                    <p:nvPicPr>
                      <p:cNvPr id="612363" name="Object 11">
                        <a:extLst>
                          <a:ext uri="{FF2B5EF4-FFF2-40B4-BE49-F238E27FC236}">
                            <a16:creationId xmlns:a16="http://schemas.microsoft.com/office/drawing/2014/main" id="{60F58708-8B6F-B40C-40DB-33BA02237CF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981200"/>
                        <a:ext cx="7924800" cy="6858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612367" name="Oval 15">
            <a:extLst>
              <a:ext uri="{FF2B5EF4-FFF2-40B4-BE49-F238E27FC236}">
                <a16:creationId xmlns:a16="http://schemas.microsoft.com/office/drawing/2014/main" id="{5B0F17AB-3954-E76F-F805-344FD6E34612}"/>
              </a:ext>
            </a:extLst>
          </p:cNvPr>
          <p:cNvSpPr>
            <a:spLocks noChangeArrowheads="1"/>
          </p:cNvSpPr>
          <p:nvPr/>
        </p:nvSpPr>
        <p:spPr bwMode="auto">
          <a:xfrm>
            <a:off x="5897384" y="4031326"/>
            <a:ext cx="4483459" cy="2376750"/>
          </a:xfrm>
          <a:prstGeom prst="ellipse">
            <a:avLst/>
          </a:prstGeom>
          <a:solidFill>
            <a:srgbClr val="FFCC99"/>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round/>
                <a:headEnd/>
                <a:tailEnd/>
              </a14:hiddenLine>
            </a:ext>
          </a:extLst>
        </p:spPr>
        <p:txBody>
          <a:bodyPr wrap="none" lIns="90488" tIns="44450" rIns="90488" bIns="44450" anchor="ctr">
            <a:spAutoFit/>
          </a:bodyPr>
          <a:lstStyle>
            <a:lvl1pPr marL="447675" indent="-44767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None/>
            </a:pPr>
            <a:r>
              <a:rPr lang="en-US" altLang="en-US" sz="2600" b="1">
                <a:solidFill>
                  <a:srgbClr val="292929"/>
                </a:solidFill>
              </a:rPr>
              <a:t>Simple moving</a:t>
            </a:r>
          </a:p>
          <a:p>
            <a:pPr algn="ctr" eaLnBrk="0" fontAlgn="base" hangingPunct="0">
              <a:spcBef>
                <a:spcPct val="0"/>
              </a:spcBef>
              <a:spcAft>
                <a:spcPct val="0"/>
              </a:spcAft>
              <a:buNone/>
            </a:pPr>
            <a:r>
              <a:rPr lang="en-US" altLang="en-US" sz="2600" b="1">
                <a:solidFill>
                  <a:srgbClr val="292929"/>
                </a:solidFill>
              </a:rPr>
              <a:t>average models</a:t>
            </a:r>
          </a:p>
          <a:p>
            <a:pPr algn="ctr" eaLnBrk="0" fontAlgn="base" hangingPunct="0">
              <a:spcBef>
                <a:spcPct val="0"/>
              </a:spcBef>
              <a:spcAft>
                <a:spcPct val="0"/>
              </a:spcAft>
              <a:buNone/>
            </a:pPr>
            <a:r>
              <a:rPr lang="en-US" altLang="en-US" sz="2600" b="1">
                <a:solidFill>
                  <a:srgbClr val="292929"/>
                </a:solidFill>
              </a:rPr>
              <a:t>weight all previous</a:t>
            </a:r>
          </a:p>
          <a:p>
            <a:pPr algn="ctr" eaLnBrk="0" fontAlgn="base" hangingPunct="0">
              <a:spcBef>
                <a:spcPct val="0"/>
              </a:spcBef>
              <a:spcAft>
                <a:spcPct val="0"/>
              </a:spcAft>
              <a:buNone/>
            </a:pPr>
            <a:r>
              <a:rPr lang="en-US" altLang="en-US" sz="2600" b="1">
                <a:solidFill>
                  <a:srgbClr val="292929"/>
                </a:solidFill>
              </a:rPr>
              <a:t>periods equally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23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2354">
                                            <p:txEl>
                                              <p:pRg st="0" end="0"/>
                                            </p:txEl>
                                          </p:spTgt>
                                        </p:tgtEl>
                                        <p:attrNameLst>
                                          <p:attrName>style.visibility</p:attrName>
                                        </p:attrNameLst>
                                      </p:cBhvr>
                                      <p:to>
                                        <p:strVal val="visible"/>
                                      </p:to>
                                    </p:set>
                                  </p:childTnLst>
                                </p:cTn>
                              </p:par>
                              <p:par>
                                <p:cTn id="11" presetID="2" presetClass="entr" presetSubtype="8" fill="hold" nodeType="withEffect">
                                  <p:stCondLst>
                                    <p:cond delay="0"/>
                                  </p:stCondLst>
                                  <p:childTnLst>
                                    <p:set>
                                      <p:cBhvr>
                                        <p:cTn id="12" dur="1" fill="hold">
                                          <p:stCondLst>
                                            <p:cond delay="0"/>
                                          </p:stCondLst>
                                        </p:cTn>
                                        <p:tgtEl>
                                          <p:spTgt spid="612363"/>
                                        </p:tgtEl>
                                        <p:attrNameLst>
                                          <p:attrName>style.visibility</p:attrName>
                                        </p:attrNameLst>
                                      </p:cBhvr>
                                      <p:to>
                                        <p:strVal val="visible"/>
                                      </p:to>
                                    </p:set>
                                    <p:anim calcmode="lin" valueType="num">
                                      <p:cBhvr additive="base">
                                        <p:cTn id="13" dur="500" fill="hold"/>
                                        <p:tgtEl>
                                          <p:spTgt spid="612363"/>
                                        </p:tgtEl>
                                        <p:attrNameLst>
                                          <p:attrName>ppt_x</p:attrName>
                                        </p:attrNameLst>
                                      </p:cBhvr>
                                      <p:tavLst>
                                        <p:tav tm="0">
                                          <p:val>
                                            <p:strVal val="0-#ppt_w/2"/>
                                          </p:val>
                                        </p:tav>
                                        <p:tav tm="100000">
                                          <p:val>
                                            <p:strVal val="#ppt_x"/>
                                          </p:val>
                                        </p:tav>
                                      </p:tavLst>
                                    </p:anim>
                                    <p:anim calcmode="lin" valueType="num">
                                      <p:cBhvr additive="base">
                                        <p:cTn id="14" dur="500" fill="hold"/>
                                        <p:tgtEl>
                                          <p:spTgt spid="6123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612367"/>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12354">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12354">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123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67" grpId="0" animBg="1"/>
      <p:bldP spid="612367"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D1F4315-E0A6-52D2-F270-08DC974C7A4E}"/>
              </a:ext>
            </a:extLst>
          </p:cNvPr>
          <p:cNvSpPr>
            <a:spLocks noGrp="1" noChangeArrowheads="1"/>
          </p:cNvSpPr>
          <p:nvPr>
            <p:ph type="title"/>
          </p:nvPr>
        </p:nvSpPr>
        <p:spPr>
          <a:xfrm>
            <a:off x="1676400" y="-304800"/>
            <a:ext cx="8991600" cy="1412875"/>
          </a:xfrm>
        </p:spPr>
        <p:txBody>
          <a:bodyPr/>
          <a:lstStyle/>
          <a:p>
            <a:pPr eaLnBrk="1" hangingPunct="1"/>
            <a:r>
              <a:rPr lang="en-US" altLang="en-US" dirty="0"/>
              <a:t> Weighted Moving Average: 3/6, 2/6, 1/6</a:t>
            </a:r>
          </a:p>
        </p:txBody>
      </p:sp>
      <p:sp>
        <p:nvSpPr>
          <p:cNvPr id="60419" name="Rectangle 3">
            <a:extLst>
              <a:ext uri="{FF2B5EF4-FFF2-40B4-BE49-F238E27FC236}">
                <a16:creationId xmlns:a16="http://schemas.microsoft.com/office/drawing/2014/main" id="{7A865235-169B-11C7-4CB2-05CD4FFA17F9}"/>
              </a:ext>
            </a:extLst>
          </p:cNvPr>
          <p:cNvSpPr>
            <a:spLocks noChangeArrowheads="1"/>
          </p:cNvSpPr>
          <p:nvPr/>
        </p:nvSpPr>
        <p:spPr bwMode="auto">
          <a:xfrm>
            <a:off x="3733801" y="4305301"/>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0" name="Rectangle 4">
            <a:extLst>
              <a:ext uri="{FF2B5EF4-FFF2-40B4-BE49-F238E27FC236}">
                <a16:creationId xmlns:a16="http://schemas.microsoft.com/office/drawing/2014/main" id="{D40A255F-18BA-40E6-E423-D2AC39F66A92}"/>
              </a:ext>
            </a:extLst>
          </p:cNvPr>
          <p:cNvSpPr>
            <a:spLocks noChangeArrowheads="1"/>
          </p:cNvSpPr>
          <p:nvPr/>
        </p:nvSpPr>
        <p:spPr bwMode="auto">
          <a:xfrm>
            <a:off x="5892801" y="4305301"/>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1" name="Rectangle 5">
            <a:extLst>
              <a:ext uri="{FF2B5EF4-FFF2-40B4-BE49-F238E27FC236}">
                <a16:creationId xmlns:a16="http://schemas.microsoft.com/office/drawing/2014/main" id="{86FFAB8A-D295-6946-4C30-F5BB8E163311}"/>
              </a:ext>
            </a:extLst>
          </p:cNvPr>
          <p:cNvSpPr>
            <a:spLocks noChangeArrowheads="1"/>
          </p:cNvSpPr>
          <p:nvPr/>
        </p:nvSpPr>
        <p:spPr bwMode="auto">
          <a:xfrm>
            <a:off x="7729538" y="4305301"/>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2" name="Rectangle 6">
            <a:extLst>
              <a:ext uri="{FF2B5EF4-FFF2-40B4-BE49-F238E27FC236}">
                <a16:creationId xmlns:a16="http://schemas.microsoft.com/office/drawing/2014/main" id="{C67069F9-678E-9AC1-F846-B4B89F3C36B6}"/>
              </a:ext>
            </a:extLst>
          </p:cNvPr>
          <p:cNvSpPr>
            <a:spLocks noChangeArrowheads="1"/>
          </p:cNvSpPr>
          <p:nvPr/>
        </p:nvSpPr>
        <p:spPr bwMode="auto">
          <a:xfrm>
            <a:off x="9932988" y="3846514"/>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3" name="Rectangle 7">
            <a:extLst>
              <a:ext uri="{FF2B5EF4-FFF2-40B4-BE49-F238E27FC236}">
                <a16:creationId xmlns:a16="http://schemas.microsoft.com/office/drawing/2014/main" id="{CDE49FBE-F99D-9DCD-91A5-AFF8300FC4C6}"/>
              </a:ext>
            </a:extLst>
          </p:cNvPr>
          <p:cNvSpPr>
            <a:spLocks noChangeArrowheads="1"/>
          </p:cNvSpPr>
          <p:nvPr/>
        </p:nvSpPr>
        <p:spPr bwMode="auto">
          <a:xfrm>
            <a:off x="3724276" y="4775201"/>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4" name="Rectangle 8">
            <a:extLst>
              <a:ext uri="{FF2B5EF4-FFF2-40B4-BE49-F238E27FC236}">
                <a16:creationId xmlns:a16="http://schemas.microsoft.com/office/drawing/2014/main" id="{DAAB2678-4810-CFAF-6ED2-527BD6E7BE40}"/>
              </a:ext>
            </a:extLst>
          </p:cNvPr>
          <p:cNvSpPr>
            <a:spLocks noChangeArrowheads="1"/>
          </p:cNvSpPr>
          <p:nvPr/>
        </p:nvSpPr>
        <p:spPr bwMode="auto">
          <a:xfrm>
            <a:off x="3733801" y="4775201"/>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5" name="Rectangle 9">
            <a:extLst>
              <a:ext uri="{FF2B5EF4-FFF2-40B4-BE49-F238E27FC236}">
                <a16:creationId xmlns:a16="http://schemas.microsoft.com/office/drawing/2014/main" id="{77E37260-A286-7BEE-5251-017300D50783}"/>
              </a:ext>
            </a:extLst>
          </p:cNvPr>
          <p:cNvSpPr>
            <a:spLocks noChangeArrowheads="1"/>
          </p:cNvSpPr>
          <p:nvPr/>
        </p:nvSpPr>
        <p:spPr bwMode="auto">
          <a:xfrm>
            <a:off x="9932988" y="4775201"/>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6" name="Rectangle 11">
            <a:extLst>
              <a:ext uri="{FF2B5EF4-FFF2-40B4-BE49-F238E27FC236}">
                <a16:creationId xmlns:a16="http://schemas.microsoft.com/office/drawing/2014/main" id="{F5DE5A2B-32C0-504C-9047-18961F078C4B}"/>
              </a:ext>
            </a:extLst>
          </p:cNvPr>
          <p:cNvSpPr>
            <a:spLocks noChangeArrowheads="1"/>
          </p:cNvSpPr>
          <p:nvPr/>
        </p:nvSpPr>
        <p:spPr bwMode="auto">
          <a:xfrm>
            <a:off x="2890838" y="1612900"/>
            <a:ext cx="6178550" cy="42497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0427" name="Rectangle 13">
            <a:extLst>
              <a:ext uri="{FF2B5EF4-FFF2-40B4-BE49-F238E27FC236}">
                <a16:creationId xmlns:a16="http://schemas.microsoft.com/office/drawing/2014/main" id="{76CDE250-444F-0066-2DDF-C5B01F555ABD}"/>
              </a:ext>
            </a:extLst>
          </p:cNvPr>
          <p:cNvSpPr>
            <a:spLocks noChangeArrowheads="1"/>
          </p:cNvSpPr>
          <p:nvPr/>
        </p:nvSpPr>
        <p:spPr bwMode="auto">
          <a:xfrm>
            <a:off x="3262313" y="1643063"/>
            <a:ext cx="927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60428" name="Rectangle 17">
            <a:extLst>
              <a:ext uri="{FF2B5EF4-FFF2-40B4-BE49-F238E27FC236}">
                <a16:creationId xmlns:a16="http://schemas.microsoft.com/office/drawing/2014/main" id="{4591AB90-A7B0-BE22-8999-F3EAF032FC9C}"/>
              </a:ext>
            </a:extLst>
          </p:cNvPr>
          <p:cNvSpPr>
            <a:spLocks noChangeArrowheads="1"/>
          </p:cNvSpPr>
          <p:nvPr/>
        </p:nvSpPr>
        <p:spPr bwMode="auto">
          <a:xfrm>
            <a:off x="6954839" y="1619251"/>
            <a:ext cx="1709737"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3100">
                <a:solidFill>
                  <a:srgbClr val="010000"/>
                </a:solidFill>
                <a:latin typeface="Arial Narrow" panose="020B0606020202030204" pitchFamily="34" charset="0"/>
              </a:rPr>
              <a:t>Weighted</a:t>
            </a:r>
          </a:p>
          <a:p>
            <a:pPr algn="ctr" eaLnBrk="0" fontAlgn="base" hangingPunct="0">
              <a:spcBef>
                <a:spcPct val="0"/>
              </a:spcBef>
              <a:spcAft>
                <a:spcPct val="0"/>
              </a:spcAft>
              <a:buClrTx/>
              <a:buNone/>
            </a:pPr>
            <a:r>
              <a:rPr lang="en-US" altLang="en-US" sz="3100">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60429" name="Line 18">
            <a:extLst>
              <a:ext uri="{FF2B5EF4-FFF2-40B4-BE49-F238E27FC236}">
                <a16:creationId xmlns:a16="http://schemas.microsoft.com/office/drawing/2014/main" id="{DD1C048E-860C-1913-CFA6-BB08F21EB268}"/>
              </a:ext>
            </a:extLst>
          </p:cNvPr>
          <p:cNvSpPr>
            <a:spLocks noChangeShapeType="1"/>
          </p:cNvSpPr>
          <p:nvPr/>
        </p:nvSpPr>
        <p:spPr bwMode="auto">
          <a:xfrm>
            <a:off x="4379914" y="1639888"/>
            <a:ext cx="1587" cy="4222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30" name="Line 19">
            <a:extLst>
              <a:ext uri="{FF2B5EF4-FFF2-40B4-BE49-F238E27FC236}">
                <a16:creationId xmlns:a16="http://schemas.microsoft.com/office/drawing/2014/main" id="{41703F48-4010-84B6-5A88-B28FB79E23F3}"/>
              </a:ext>
            </a:extLst>
          </p:cNvPr>
          <p:cNvSpPr>
            <a:spLocks noChangeShapeType="1"/>
          </p:cNvSpPr>
          <p:nvPr/>
        </p:nvSpPr>
        <p:spPr bwMode="auto">
          <a:xfrm flipH="1">
            <a:off x="6529389" y="1639888"/>
            <a:ext cx="9525" cy="4222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31" name="Rectangle 20">
            <a:extLst>
              <a:ext uri="{FF2B5EF4-FFF2-40B4-BE49-F238E27FC236}">
                <a16:creationId xmlns:a16="http://schemas.microsoft.com/office/drawing/2014/main" id="{B85580D6-F55F-DCF6-926B-F5157E98759D}"/>
              </a:ext>
            </a:extLst>
          </p:cNvPr>
          <p:cNvSpPr>
            <a:spLocks noChangeArrowheads="1"/>
          </p:cNvSpPr>
          <p:nvPr/>
        </p:nvSpPr>
        <p:spPr bwMode="auto">
          <a:xfrm>
            <a:off x="3530600" y="30067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60432" name="Rectangle 21">
            <a:extLst>
              <a:ext uri="{FF2B5EF4-FFF2-40B4-BE49-F238E27FC236}">
                <a16:creationId xmlns:a16="http://schemas.microsoft.com/office/drawing/2014/main" id="{18541A3E-DB90-C4F7-5369-5EEBBF8072C6}"/>
              </a:ext>
            </a:extLst>
          </p:cNvPr>
          <p:cNvSpPr>
            <a:spLocks noChangeArrowheads="1"/>
          </p:cNvSpPr>
          <p:nvPr/>
        </p:nvSpPr>
        <p:spPr bwMode="auto">
          <a:xfrm>
            <a:off x="4972050" y="30067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14422" name="Rectangle 22">
            <a:extLst>
              <a:ext uri="{FF2B5EF4-FFF2-40B4-BE49-F238E27FC236}">
                <a16:creationId xmlns:a16="http://schemas.microsoft.com/office/drawing/2014/main" id="{78C22434-3A7B-8386-E669-719CFAC2002B}"/>
              </a:ext>
            </a:extLst>
          </p:cNvPr>
          <p:cNvSpPr>
            <a:spLocks noChangeArrowheads="1"/>
          </p:cNvSpPr>
          <p:nvPr/>
        </p:nvSpPr>
        <p:spPr bwMode="auto">
          <a:xfrm>
            <a:off x="7537451" y="29940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0434" name="Line 23">
            <a:extLst>
              <a:ext uri="{FF2B5EF4-FFF2-40B4-BE49-F238E27FC236}">
                <a16:creationId xmlns:a16="http://schemas.microsoft.com/office/drawing/2014/main" id="{7E7CD907-2983-E4BD-46F5-7D1E6477428B}"/>
              </a:ext>
            </a:extLst>
          </p:cNvPr>
          <p:cNvSpPr>
            <a:spLocks noChangeShapeType="1"/>
          </p:cNvSpPr>
          <p:nvPr/>
        </p:nvSpPr>
        <p:spPr bwMode="auto">
          <a:xfrm>
            <a:off x="2905126" y="2995614"/>
            <a:ext cx="6176963"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35" name="Rectangle 24">
            <a:extLst>
              <a:ext uri="{FF2B5EF4-FFF2-40B4-BE49-F238E27FC236}">
                <a16:creationId xmlns:a16="http://schemas.microsoft.com/office/drawing/2014/main" id="{09C3F2F5-E778-C2CE-ECA4-5B968C217650}"/>
              </a:ext>
            </a:extLst>
          </p:cNvPr>
          <p:cNvSpPr>
            <a:spLocks noChangeArrowheads="1"/>
          </p:cNvSpPr>
          <p:nvPr/>
        </p:nvSpPr>
        <p:spPr bwMode="auto">
          <a:xfrm>
            <a:off x="3530600" y="34988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60436" name="Rectangle 25">
            <a:extLst>
              <a:ext uri="{FF2B5EF4-FFF2-40B4-BE49-F238E27FC236}">
                <a16:creationId xmlns:a16="http://schemas.microsoft.com/office/drawing/2014/main" id="{8A1E05BF-F9D3-B4AA-1F4F-89FC32176F6D}"/>
              </a:ext>
            </a:extLst>
          </p:cNvPr>
          <p:cNvSpPr>
            <a:spLocks noChangeArrowheads="1"/>
          </p:cNvSpPr>
          <p:nvPr/>
        </p:nvSpPr>
        <p:spPr bwMode="auto">
          <a:xfrm>
            <a:off x="4972050" y="34988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14426" name="Rectangle 26">
            <a:extLst>
              <a:ext uri="{FF2B5EF4-FFF2-40B4-BE49-F238E27FC236}">
                <a16:creationId xmlns:a16="http://schemas.microsoft.com/office/drawing/2014/main" id="{A79DE336-13B0-467D-84F8-018FD8A9FDE8}"/>
              </a:ext>
            </a:extLst>
          </p:cNvPr>
          <p:cNvSpPr>
            <a:spLocks noChangeArrowheads="1"/>
          </p:cNvSpPr>
          <p:nvPr/>
        </p:nvSpPr>
        <p:spPr bwMode="auto">
          <a:xfrm>
            <a:off x="7537451" y="348456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0438" name="Rectangle 27">
            <a:extLst>
              <a:ext uri="{FF2B5EF4-FFF2-40B4-BE49-F238E27FC236}">
                <a16:creationId xmlns:a16="http://schemas.microsoft.com/office/drawing/2014/main" id="{E8645AA9-4B47-0E40-85B6-2E1F679242E1}"/>
              </a:ext>
            </a:extLst>
          </p:cNvPr>
          <p:cNvSpPr>
            <a:spLocks noChangeArrowheads="1"/>
          </p:cNvSpPr>
          <p:nvPr/>
        </p:nvSpPr>
        <p:spPr bwMode="auto">
          <a:xfrm>
            <a:off x="3530600" y="39973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60439" name="Rectangle 28">
            <a:extLst>
              <a:ext uri="{FF2B5EF4-FFF2-40B4-BE49-F238E27FC236}">
                <a16:creationId xmlns:a16="http://schemas.microsoft.com/office/drawing/2014/main" id="{A3A69264-83B9-92A8-8F19-D367A8FCF41C}"/>
              </a:ext>
            </a:extLst>
          </p:cNvPr>
          <p:cNvSpPr>
            <a:spLocks noChangeArrowheads="1"/>
          </p:cNvSpPr>
          <p:nvPr/>
        </p:nvSpPr>
        <p:spPr bwMode="auto">
          <a:xfrm>
            <a:off x="4972050" y="39973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14429" name="Rectangle 29">
            <a:extLst>
              <a:ext uri="{FF2B5EF4-FFF2-40B4-BE49-F238E27FC236}">
                <a16:creationId xmlns:a16="http://schemas.microsoft.com/office/drawing/2014/main" id="{3E21427B-07C8-B670-4929-6DA1FD430F6B}"/>
              </a:ext>
            </a:extLst>
          </p:cNvPr>
          <p:cNvSpPr>
            <a:spLocks noChangeArrowheads="1"/>
          </p:cNvSpPr>
          <p:nvPr/>
        </p:nvSpPr>
        <p:spPr bwMode="auto">
          <a:xfrm>
            <a:off x="7537451" y="3983039"/>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0441" name="Rectangle 30">
            <a:extLst>
              <a:ext uri="{FF2B5EF4-FFF2-40B4-BE49-F238E27FC236}">
                <a16:creationId xmlns:a16="http://schemas.microsoft.com/office/drawing/2014/main" id="{ABDB03C8-31D3-7785-F051-8D99B8A3E45A}"/>
              </a:ext>
            </a:extLst>
          </p:cNvPr>
          <p:cNvSpPr>
            <a:spLocks noChangeArrowheads="1"/>
          </p:cNvSpPr>
          <p:nvPr/>
        </p:nvSpPr>
        <p:spPr bwMode="auto">
          <a:xfrm>
            <a:off x="3530600" y="44592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14431" name="Rectangle 31">
            <a:extLst>
              <a:ext uri="{FF2B5EF4-FFF2-40B4-BE49-F238E27FC236}">
                <a16:creationId xmlns:a16="http://schemas.microsoft.com/office/drawing/2014/main" id="{C20AE53F-36CF-8585-729B-46991248C1D7}"/>
              </a:ext>
            </a:extLst>
          </p:cNvPr>
          <p:cNvSpPr>
            <a:spLocks noChangeArrowheads="1"/>
          </p:cNvSpPr>
          <p:nvPr/>
        </p:nvSpPr>
        <p:spPr bwMode="auto">
          <a:xfrm>
            <a:off x="6734176" y="4446589"/>
            <a:ext cx="18819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0000"/>
                </a:solidFill>
                <a:latin typeface="Arial Narrow" panose="020B0606020202030204" pitchFamily="34" charset="0"/>
              </a:rPr>
              <a:t>31/6 = 5.167</a:t>
            </a:r>
            <a:endParaRPr lang="en-US" altLang="en-US" sz="2600">
              <a:solidFill>
                <a:srgbClr val="FF0000"/>
              </a:solidFill>
              <a:latin typeface="Arial Narrow" panose="020B0606020202030204" pitchFamily="34" charset="0"/>
            </a:endParaRPr>
          </a:p>
        </p:txBody>
      </p:sp>
      <p:sp>
        <p:nvSpPr>
          <p:cNvPr id="60443" name="Rectangle 32">
            <a:extLst>
              <a:ext uri="{FF2B5EF4-FFF2-40B4-BE49-F238E27FC236}">
                <a16:creationId xmlns:a16="http://schemas.microsoft.com/office/drawing/2014/main" id="{E277F7B0-1873-714D-0A2A-F49E37774D56}"/>
              </a:ext>
            </a:extLst>
          </p:cNvPr>
          <p:cNvSpPr>
            <a:spLocks noChangeArrowheads="1"/>
          </p:cNvSpPr>
          <p:nvPr/>
        </p:nvSpPr>
        <p:spPr bwMode="auto">
          <a:xfrm>
            <a:off x="3530600" y="49291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0444" name="Rectangle 33">
            <a:extLst>
              <a:ext uri="{FF2B5EF4-FFF2-40B4-BE49-F238E27FC236}">
                <a16:creationId xmlns:a16="http://schemas.microsoft.com/office/drawing/2014/main" id="{21984174-30D2-1EA3-DFC5-29B66EFAC548}"/>
              </a:ext>
            </a:extLst>
          </p:cNvPr>
          <p:cNvSpPr>
            <a:spLocks noChangeArrowheads="1"/>
          </p:cNvSpPr>
          <p:nvPr/>
        </p:nvSpPr>
        <p:spPr bwMode="auto">
          <a:xfrm>
            <a:off x="3530600" y="53895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0445" name="Rectangle 34">
            <a:extLst>
              <a:ext uri="{FF2B5EF4-FFF2-40B4-BE49-F238E27FC236}">
                <a16:creationId xmlns:a16="http://schemas.microsoft.com/office/drawing/2014/main" id="{2A5325AB-B20D-B6C5-B948-02533387D57C}"/>
              </a:ext>
            </a:extLst>
          </p:cNvPr>
          <p:cNvSpPr>
            <a:spLocks noChangeArrowheads="1"/>
          </p:cNvSpPr>
          <p:nvPr/>
        </p:nvSpPr>
        <p:spPr bwMode="auto">
          <a:xfrm>
            <a:off x="4935538" y="54181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14435" name="Freeform 35">
            <a:extLst>
              <a:ext uri="{FF2B5EF4-FFF2-40B4-BE49-F238E27FC236}">
                <a16:creationId xmlns:a16="http://schemas.microsoft.com/office/drawing/2014/main" id="{4D1CCD99-AB9C-DE9E-50CB-B26AA5074EE3}"/>
              </a:ext>
            </a:extLst>
          </p:cNvPr>
          <p:cNvSpPr>
            <a:spLocks/>
          </p:cNvSpPr>
          <p:nvPr/>
        </p:nvSpPr>
        <p:spPr bwMode="auto">
          <a:xfrm>
            <a:off x="5248275" y="3160713"/>
            <a:ext cx="115888" cy="1200150"/>
          </a:xfrm>
          <a:custGeom>
            <a:avLst/>
            <a:gdLst>
              <a:gd name="T0" fmla="*/ 0 w 65"/>
              <a:gd name="T1" fmla="*/ 2147483646 h 706"/>
              <a:gd name="T2" fmla="*/ 2147483646 w 65"/>
              <a:gd name="T3" fmla="*/ 2147483646 h 706"/>
              <a:gd name="T4" fmla="*/ 2147483646 w 65"/>
              <a:gd name="T5" fmla="*/ 2147483646 h 706"/>
              <a:gd name="T6" fmla="*/ 2147483646 w 65"/>
              <a:gd name="T7" fmla="*/ 2147483646 h 706"/>
              <a:gd name="T8" fmla="*/ 2147483646 w 65"/>
              <a:gd name="T9" fmla="*/ 2147483646 h 706"/>
              <a:gd name="T10" fmla="*/ 2147483646 w 65"/>
              <a:gd name="T11" fmla="*/ 2147483646 h 706"/>
              <a:gd name="T12" fmla="*/ 2147483646 w 65"/>
              <a:gd name="T13" fmla="*/ 2147483646 h 706"/>
              <a:gd name="T14" fmla="*/ 2147483646 w 65"/>
              <a:gd name="T15" fmla="*/ 2147483646 h 706"/>
              <a:gd name="T16" fmla="*/ 2147483646 w 65"/>
              <a:gd name="T17" fmla="*/ 2147483646 h 706"/>
              <a:gd name="T18" fmla="*/ 2147483646 w 65"/>
              <a:gd name="T19" fmla="*/ 2147483646 h 706"/>
              <a:gd name="T20" fmla="*/ 2147483646 w 65"/>
              <a:gd name="T21" fmla="*/ 2147483646 h 706"/>
              <a:gd name="T22" fmla="*/ 2147483646 w 65"/>
              <a:gd name="T23" fmla="*/ 2147483646 h 706"/>
              <a:gd name="T24" fmla="*/ 2147483646 w 65"/>
              <a:gd name="T25" fmla="*/ 2147483646 h 706"/>
              <a:gd name="T26" fmla="*/ 2147483646 w 65"/>
              <a:gd name="T27" fmla="*/ 2147483646 h 706"/>
              <a:gd name="T28" fmla="*/ 2147483646 w 65"/>
              <a:gd name="T29" fmla="*/ 2147483646 h 706"/>
              <a:gd name="T30" fmla="*/ 2147483646 w 65"/>
              <a:gd name="T31" fmla="*/ 2147483646 h 706"/>
              <a:gd name="T32" fmla="*/ 2147483646 w 65"/>
              <a:gd name="T33" fmla="*/ 2147483646 h 706"/>
              <a:gd name="T34" fmla="*/ 2147483646 w 65"/>
              <a:gd name="T35" fmla="*/ 2147483646 h 706"/>
              <a:gd name="T36" fmla="*/ 2147483646 w 65"/>
              <a:gd name="T37" fmla="*/ 2147483646 h 706"/>
              <a:gd name="T38" fmla="*/ 2147483646 w 65"/>
              <a:gd name="T39" fmla="*/ 2147483646 h 706"/>
              <a:gd name="T40" fmla="*/ 2147483646 w 65"/>
              <a:gd name="T41" fmla="*/ 2147483646 h 706"/>
              <a:gd name="T42" fmla="*/ 2147483646 w 65"/>
              <a:gd name="T43" fmla="*/ 2147483646 h 706"/>
              <a:gd name="T44" fmla="*/ 0 w 65"/>
              <a:gd name="T45" fmla="*/ 2147483646 h 706"/>
              <a:gd name="T46" fmla="*/ 2147483646 w 65"/>
              <a:gd name="T47" fmla="*/ 2147483646 h 706"/>
              <a:gd name="T48" fmla="*/ 2147483646 w 65"/>
              <a:gd name="T49" fmla="*/ 2147483646 h 706"/>
              <a:gd name="T50" fmla="*/ 2147483646 w 65"/>
              <a:gd name="T51" fmla="*/ 2147483646 h 706"/>
              <a:gd name="T52" fmla="*/ 2147483646 w 65"/>
              <a:gd name="T53" fmla="*/ 2147483646 h 706"/>
              <a:gd name="T54" fmla="*/ 2147483646 w 65"/>
              <a:gd name="T55" fmla="*/ 2147483646 h 706"/>
              <a:gd name="T56" fmla="*/ 2147483646 w 65"/>
              <a:gd name="T57" fmla="*/ 2147483646 h 706"/>
              <a:gd name="T58" fmla="*/ 2147483646 w 65"/>
              <a:gd name="T59" fmla="*/ 2147483646 h 706"/>
              <a:gd name="T60" fmla="*/ 2147483646 w 65"/>
              <a:gd name="T61" fmla="*/ 2147483646 h 706"/>
              <a:gd name="T62" fmla="*/ 2147483646 w 65"/>
              <a:gd name="T63" fmla="*/ 2147483646 h 706"/>
              <a:gd name="T64" fmla="*/ 2147483646 w 65"/>
              <a:gd name="T65" fmla="*/ 2147483646 h 706"/>
              <a:gd name="T66" fmla="*/ 2147483646 w 65"/>
              <a:gd name="T67" fmla="*/ 2147483646 h 706"/>
              <a:gd name="T68" fmla="*/ 2147483646 w 65"/>
              <a:gd name="T69" fmla="*/ 2147483646 h 706"/>
              <a:gd name="T70" fmla="*/ 2147483646 w 65"/>
              <a:gd name="T71" fmla="*/ 2147483646 h 706"/>
              <a:gd name="T72" fmla="*/ 2147483646 w 65"/>
              <a:gd name="T73" fmla="*/ 2147483646 h 706"/>
              <a:gd name="T74" fmla="*/ 2147483646 w 65"/>
              <a:gd name="T75" fmla="*/ 2147483646 h 706"/>
              <a:gd name="T76" fmla="*/ 2147483646 w 65"/>
              <a:gd name="T77" fmla="*/ 2147483646 h 706"/>
              <a:gd name="T78" fmla="*/ 2147483646 w 65"/>
              <a:gd name="T79" fmla="*/ 2147483646 h 706"/>
              <a:gd name="T80" fmla="*/ 2147483646 w 65"/>
              <a:gd name="T81" fmla="*/ 2147483646 h 706"/>
              <a:gd name="T82" fmla="*/ 2147483646 w 65"/>
              <a:gd name="T83" fmla="*/ 2147483646 h 706"/>
              <a:gd name="T84" fmla="*/ 2147483646 w 65"/>
              <a:gd name="T85" fmla="*/ 2147483646 h 706"/>
              <a:gd name="T86" fmla="*/ 2147483646 w 65"/>
              <a:gd name="T87" fmla="*/ 2147483646 h 706"/>
              <a:gd name="T88" fmla="*/ 2147483646 w 65"/>
              <a:gd name="T89" fmla="*/ 0 h 7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5" h="706">
                <a:moveTo>
                  <a:pt x="0" y="0"/>
                </a:moveTo>
                <a:lnTo>
                  <a:pt x="0" y="17"/>
                </a:lnTo>
                <a:lnTo>
                  <a:pt x="6" y="17"/>
                </a:lnTo>
                <a:lnTo>
                  <a:pt x="6" y="10"/>
                </a:lnTo>
                <a:lnTo>
                  <a:pt x="0" y="15"/>
                </a:lnTo>
                <a:lnTo>
                  <a:pt x="6" y="17"/>
                </a:lnTo>
                <a:lnTo>
                  <a:pt x="10" y="23"/>
                </a:lnTo>
                <a:lnTo>
                  <a:pt x="15" y="31"/>
                </a:lnTo>
                <a:lnTo>
                  <a:pt x="21" y="25"/>
                </a:lnTo>
                <a:lnTo>
                  <a:pt x="12" y="25"/>
                </a:lnTo>
                <a:lnTo>
                  <a:pt x="17" y="42"/>
                </a:lnTo>
                <a:lnTo>
                  <a:pt x="21" y="65"/>
                </a:lnTo>
                <a:lnTo>
                  <a:pt x="21" y="295"/>
                </a:lnTo>
                <a:lnTo>
                  <a:pt x="23" y="318"/>
                </a:lnTo>
                <a:lnTo>
                  <a:pt x="29" y="335"/>
                </a:lnTo>
                <a:lnTo>
                  <a:pt x="33" y="341"/>
                </a:lnTo>
                <a:lnTo>
                  <a:pt x="36" y="349"/>
                </a:lnTo>
                <a:lnTo>
                  <a:pt x="40" y="354"/>
                </a:lnTo>
                <a:lnTo>
                  <a:pt x="46" y="356"/>
                </a:lnTo>
                <a:lnTo>
                  <a:pt x="52" y="360"/>
                </a:lnTo>
                <a:lnTo>
                  <a:pt x="58" y="362"/>
                </a:lnTo>
                <a:lnTo>
                  <a:pt x="58" y="352"/>
                </a:lnTo>
                <a:lnTo>
                  <a:pt x="58" y="345"/>
                </a:lnTo>
                <a:lnTo>
                  <a:pt x="52" y="347"/>
                </a:lnTo>
                <a:lnTo>
                  <a:pt x="50" y="352"/>
                </a:lnTo>
                <a:lnTo>
                  <a:pt x="52" y="358"/>
                </a:lnTo>
                <a:lnTo>
                  <a:pt x="58" y="345"/>
                </a:lnTo>
                <a:lnTo>
                  <a:pt x="52" y="345"/>
                </a:lnTo>
                <a:lnTo>
                  <a:pt x="46" y="349"/>
                </a:lnTo>
                <a:lnTo>
                  <a:pt x="40" y="350"/>
                </a:lnTo>
                <a:lnTo>
                  <a:pt x="36" y="356"/>
                </a:lnTo>
                <a:lnTo>
                  <a:pt x="33" y="364"/>
                </a:lnTo>
                <a:lnTo>
                  <a:pt x="29" y="370"/>
                </a:lnTo>
                <a:lnTo>
                  <a:pt x="23" y="387"/>
                </a:lnTo>
                <a:lnTo>
                  <a:pt x="21" y="410"/>
                </a:lnTo>
                <a:lnTo>
                  <a:pt x="21" y="639"/>
                </a:lnTo>
                <a:lnTo>
                  <a:pt x="17" y="662"/>
                </a:lnTo>
                <a:lnTo>
                  <a:pt x="12" y="680"/>
                </a:lnTo>
                <a:lnTo>
                  <a:pt x="21" y="680"/>
                </a:lnTo>
                <a:lnTo>
                  <a:pt x="15" y="674"/>
                </a:lnTo>
                <a:lnTo>
                  <a:pt x="10" y="682"/>
                </a:lnTo>
                <a:lnTo>
                  <a:pt x="6" y="687"/>
                </a:lnTo>
                <a:lnTo>
                  <a:pt x="0" y="689"/>
                </a:lnTo>
                <a:lnTo>
                  <a:pt x="6" y="695"/>
                </a:lnTo>
                <a:lnTo>
                  <a:pt x="6" y="687"/>
                </a:lnTo>
                <a:lnTo>
                  <a:pt x="0" y="689"/>
                </a:lnTo>
                <a:lnTo>
                  <a:pt x="0" y="706"/>
                </a:lnTo>
                <a:lnTo>
                  <a:pt x="6" y="705"/>
                </a:lnTo>
                <a:lnTo>
                  <a:pt x="12" y="701"/>
                </a:lnTo>
                <a:lnTo>
                  <a:pt x="17" y="699"/>
                </a:lnTo>
                <a:lnTo>
                  <a:pt x="21" y="693"/>
                </a:lnTo>
                <a:lnTo>
                  <a:pt x="27" y="685"/>
                </a:lnTo>
                <a:lnTo>
                  <a:pt x="29" y="680"/>
                </a:lnTo>
                <a:lnTo>
                  <a:pt x="35" y="662"/>
                </a:lnTo>
                <a:lnTo>
                  <a:pt x="38" y="639"/>
                </a:lnTo>
                <a:lnTo>
                  <a:pt x="38" y="410"/>
                </a:lnTo>
                <a:lnTo>
                  <a:pt x="40" y="387"/>
                </a:lnTo>
                <a:lnTo>
                  <a:pt x="46" y="370"/>
                </a:lnTo>
                <a:lnTo>
                  <a:pt x="38" y="370"/>
                </a:lnTo>
                <a:lnTo>
                  <a:pt x="44" y="375"/>
                </a:lnTo>
                <a:lnTo>
                  <a:pt x="48" y="368"/>
                </a:lnTo>
                <a:lnTo>
                  <a:pt x="52" y="362"/>
                </a:lnTo>
                <a:lnTo>
                  <a:pt x="58" y="360"/>
                </a:lnTo>
                <a:lnTo>
                  <a:pt x="52" y="354"/>
                </a:lnTo>
                <a:lnTo>
                  <a:pt x="52" y="362"/>
                </a:lnTo>
                <a:lnTo>
                  <a:pt x="58" y="362"/>
                </a:lnTo>
                <a:lnTo>
                  <a:pt x="58" y="360"/>
                </a:lnTo>
                <a:lnTo>
                  <a:pt x="63" y="358"/>
                </a:lnTo>
                <a:lnTo>
                  <a:pt x="65" y="352"/>
                </a:lnTo>
                <a:lnTo>
                  <a:pt x="63" y="347"/>
                </a:lnTo>
                <a:lnTo>
                  <a:pt x="58" y="345"/>
                </a:lnTo>
                <a:lnTo>
                  <a:pt x="52" y="343"/>
                </a:lnTo>
                <a:lnTo>
                  <a:pt x="52" y="350"/>
                </a:lnTo>
                <a:lnTo>
                  <a:pt x="58" y="345"/>
                </a:lnTo>
                <a:lnTo>
                  <a:pt x="52" y="343"/>
                </a:lnTo>
                <a:lnTo>
                  <a:pt x="48" y="337"/>
                </a:lnTo>
                <a:lnTo>
                  <a:pt x="44" y="329"/>
                </a:lnTo>
                <a:lnTo>
                  <a:pt x="38" y="335"/>
                </a:lnTo>
                <a:lnTo>
                  <a:pt x="46" y="335"/>
                </a:lnTo>
                <a:lnTo>
                  <a:pt x="40" y="318"/>
                </a:lnTo>
                <a:lnTo>
                  <a:pt x="38" y="295"/>
                </a:lnTo>
                <a:lnTo>
                  <a:pt x="38" y="65"/>
                </a:lnTo>
                <a:lnTo>
                  <a:pt x="35" y="42"/>
                </a:lnTo>
                <a:lnTo>
                  <a:pt x="29" y="25"/>
                </a:lnTo>
                <a:lnTo>
                  <a:pt x="27" y="19"/>
                </a:lnTo>
                <a:lnTo>
                  <a:pt x="21" y="12"/>
                </a:lnTo>
                <a:lnTo>
                  <a:pt x="17" y="6"/>
                </a:lnTo>
                <a:lnTo>
                  <a:pt x="12" y="4"/>
                </a:lnTo>
                <a:lnTo>
                  <a:pt x="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436" name="Freeform 36">
            <a:extLst>
              <a:ext uri="{FF2B5EF4-FFF2-40B4-BE49-F238E27FC236}">
                <a16:creationId xmlns:a16="http://schemas.microsoft.com/office/drawing/2014/main" id="{F16DD1FF-8425-D532-0C54-FDBE4530F3F7}"/>
              </a:ext>
            </a:extLst>
          </p:cNvPr>
          <p:cNvSpPr>
            <a:spLocks/>
          </p:cNvSpPr>
          <p:nvPr/>
        </p:nvSpPr>
        <p:spPr bwMode="auto">
          <a:xfrm>
            <a:off x="5476875" y="3759201"/>
            <a:ext cx="1125538" cy="917575"/>
          </a:xfrm>
          <a:custGeom>
            <a:avLst/>
            <a:gdLst>
              <a:gd name="T0" fmla="*/ 0 w 638"/>
              <a:gd name="T1" fmla="*/ 0 h 540"/>
              <a:gd name="T2" fmla="*/ 2147483646 w 638"/>
              <a:gd name="T3" fmla="*/ 2147483646 h 540"/>
              <a:gd name="T4" fmla="*/ 2147483646 w 638"/>
              <a:gd name="T5" fmla="*/ 2147483646 h 540"/>
              <a:gd name="T6" fmla="*/ 2147483646 w 638"/>
              <a:gd name="T7" fmla="*/ 2147483646 h 5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8" h="540">
                <a:moveTo>
                  <a:pt x="0" y="0"/>
                </a:moveTo>
                <a:cubicBezTo>
                  <a:pt x="58" y="20"/>
                  <a:pt x="310" y="51"/>
                  <a:pt x="349" y="122"/>
                </a:cubicBezTo>
                <a:cubicBezTo>
                  <a:pt x="388" y="193"/>
                  <a:pt x="187" y="356"/>
                  <a:pt x="235" y="426"/>
                </a:cubicBezTo>
                <a:cubicBezTo>
                  <a:pt x="283" y="496"/>
                  <a:pt x="554" y="516"/>
                  <a:pt x="638" y="540"/>
                </a:cubicBezTo>
              </a:path>
            </a:pathLst>
          </a:custGeom>
          <a:noFill/>
          <a:ln w="317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48" name="Line 37">
            <a:extLst>
              <a:ext uri="{FF2B5EF4-FFF2-40B4-BE49-F238E27FC236}">
                <a16:creationId xmlns:a16="http://schemas.microsoft.com/office/drawing/2014/main" id="{BD518A5A-2218-4E12-0684-D3C8235FFE7F}"/>
              </a:ext>
            </a:extLst>
          </p:cNvPr>
          <p:cNvSpPr>
            <a:spLocks noChangeShapeType="1"/>
          </p:cNvSpPr>
          <p:nvPr/>
        </p:nvSpPr>
        <p:spPr bwMode="auto">
          <a:xfrm>
            <a:off x="2898775" y="3481389"/>
            <a:ext cx="61658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49" name="Line 38">
            <a:extLst>
              <a:ext uri="{FF2B5EF4-FFF2-40B4-BE49-F238E27FC236}">
                <a16:creationId xmlns:a16="http://schemas.microsoft.com/office/drawing/2014/main" id="{90C71958-3757-6704-2845-DB76DB5D22B4}"/>
              </a:ext>
            </a:extLst>
          </p:cNvPr>
          <p:cNvSpPr>
            <a:spLocks noChangeShapeType="1"/>
          </p:cNvSpPr>
          <p:nvPr/>
        </p:nvSpPr>
        <p:spPr bwMode="auto">
          <a:xfrm>
            <a:off x="2908301" y="3994151"/>
            <a:ext cx="6151563"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50" name="Line 39">
            <a:extLst>
              <a:ext uri="{FF2B5EF4-FFF2-40B4-BE49-F238E27FC236}">
                <a16:creationId xmlns:a16="http://schemas.microsoft.com/office/drawing/2014/main" id="{9C7F0936-EFFD-C75B-B614-D027CD1B9EEE}"/>
              </a:ext>
            </a:extLst>
          </p:cNvPr>
          <p:cNvSpPr>
            <a:spLocks noChangeShapeType="1"/>
          </p:cNvSpPr>
          <p:nvPr/>
        </p:nvSpPr>
        <p:spPr bwMode="auto">
          <a:xfrm>
            <a:off x="2876550" y="4441826"/>
            <a:ext cx="61912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51" name="Line 40">
            <a:extLst>
              <a:ext uri="{FF2B5EF4-FFF2-40B4-BE49-F238E27FC236}">
                <a16:creationId xmlns:a16="http://schemas.microsoft.com/office/drawing/2014/main" id="{DBAB21AC-EEBF-8419-88B1-5672708730BD}"/>
              </a:ext>
            </a:extLst>
          </p:cNvPr>
          <p:cNvSpPr>
            <a:spLocks noChangeShapeType="1"/>
          </p:cNvSpPr>
          <p:nvPr/>
        </p:nvSpPr>
        <p:spPr bwMode="auto">
          <a:xfrm flipV="1">
            <a:off x="2898775" y="4905376"/>
            <a:ext cx="6178550" cy="222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52" name="Line 41">
            <a:extLst>
              <a:ext uri="{FF2B5EF4-FFF2-40B4-BE49-F238E27FC236}">
                <a16:creationId xmlns:a16="http://schemas.microsoft.com/office/drawing/2014/main" id="{43ED8BEF-233F-AA02-760B-A62ED7F917EF}"/>
              </a:ext>
            </a:extLst>
          </p:cNvPr>
          <p:cNvSpPr>
            <a:spLocks noChangeShapeType="1"/>
          </p:cNvSpPr>
          <p:nvPr/>
        </p:nvSpPr>
        <p:spPr bwMode="auto">
          <a:xfrm>
            <a:off x="2879725" y="5375276"/>
            <a:ext cx="618013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0453" name="Rectangle 42">
            <a:extLst>
              <a:ext uri="{FF2B5EF4-FFF2-40B4-BE49-F238E27FC236}">
                <a16:creationId xmlns:a16="http://schemas.microsoft.com/office/drawing/2014/main" id="{346CF585-656F-696B-A51F-46C83860BC67}"/>
              </a:ext>
            </a:extLst>
          </p:cNvPr>
          <p:cNvSpPr>
            <a:spLocks noChangeArrowheads="1"/>
          </p:cNvSpPr>
          <p:nvPr/>
        </p:nvSpPr>
        <p:spPr bwMode="auto">
          <a:xfrm>
            <a:off x="4943475" y="49482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sp>
        <p:nvSpPr>
          <p:cNvPr id="60454" name="Rectangle 43">
            <a:extLst>
              <a:ext uri="{FF2B5EF4-FFF2-40B4-BE49-F238E27FC236}">
                <a16:creationId xmlns:a16="http://schemas.microsoft.com/office/drawing/2014/main" id="{C1067D11-7D85-99B3-F222-E4A460C14864}"/>
              </a:ext>
            </a:extLst>
          </p:cNvPr>
          <p:cNvSpPr>
            <a:spLocks noChangeArrowheads="1"/>
          </p:cNvSpPr>
          <p:nvPr/>
        </p:nvSpPr>
        <p:spPr bwMode="auto">
          <a:xfrm>
            <a:off x="4951413" y="447833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CC9900"/>
                </a:solidFill>
                <a:latin typeface="Arial Narrow" panose="020B0606020202030204" pitchFamily="34" charset="0"/>
              </a:rPr>
              <a:t>?</a:t>
            </a:r>
            <a:endParaRPr lang="en-US" altLang="en-US" sz="2600">
              <a:solidFill>
                <a:srgbClr val="CC9900"/>
              </a:solidFill>
              <a:latin typeface="Arial Narrow" panose="020B0606020202030204" pitchFamily="34" charset="0"/>
            </a:endParaRPr>
          </a:p>
        </p:txBody>
      </p:sp>
      <p:graphicFrame>
        <p:nvGraphicFramePr>
          <p:cNvPr id="60455" name="Object 44">
            <a:extLst>
              <a:ext uri="{FF2B5EF4-FFF2-40B4-BE49-F238E27FC236}">
                <a16:creationId xmlns:a16="http://schemas.microsoft.com/office/drawing/2014/main" id="{E2C8A46C-E81C-6E32-7086-37097AE9F2C8}"/>
              </a:ext>
            </a:extLst>
          </p:cNvPr>
          <p:cNvGraphicFramePr>
            <a:graphicFrameLocks noGrp="1"/>
          </p:cNvGraphicFramePr>
          <p:nvPr>
            <p:ph idx="1"/>
          </p:nvPr>
        </p:nvGraphicFramePr>
        <p:xfrm>
          <a:off x="4945064" y="0"/>
          <a:ext cx="5722937" cy="495300"/>
        </p:xfrm>
        <a:graphic>
          <a:graphicData uri="http://schemas.openxmlformats.org/presentationml/2006/ole">
            <mc:AlternateContent xmlns:mc="http://schemas.openxmlformats.org/markup-compatibility/2006">
              <mc:Choice xmlns:v="urn:schemas-microsoft-com:vml" Requires="v">
                <p:oleObj name="Equation" r:id="rId2" imgW="46958250" imgH="3952875" progId="Equation.3">
                  <p:embed/>
                </p:oleObj>
              </mc:Choice>
              <mc:Fallback>
                <p:oleObj name="Equation" r:id="rId2" imgW="46958250" imgH="3952875" progId="Equation.3">
                  <p:embed/>
                  <p:pic>
                    <p:nvPicPr>
                      <p:cNvPr id="60455" name="Object 44">
                        <a:extLst>
                          <a:ext uri="{FF2B5EF4-FFF2-40B4-BE49-F238E27FC236}">
                            <a16:creationId xmlns:a16="http://schemas.microsoft.com/office/drawing/2014/main" id="{E2C8A46C-E81C-6E32-7086-37097AE9F2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064" y="0"/>
                        <a:ext cx="5722937" cy="4953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60456" name="Rectangle 46">
            <a:extLst>
              <a:ext uri="{FF2B5EF4-FFF2-40B4-BE49-F238E27FC236}">
                <a16:creationId xmlns:a16="http://schemas.microsoft.com/office/drawing/2014/main" id="{5748E1B2-51DE-B8BC-B640-2DA740104387}"/>
              </a:ext>
            </a:extLst>
          </p:cNvPr>
          <p:cNvSpPr>
            <a:spLocks noChangeArrowheads="1"/>
          </p:cNvSpPr>
          <p:nvPr/>
        </p:nvSpPr>
        <p:spPr bwMode="auto">
          <a:xfrm>
            <a:off x="4956175" y="1643064"/>
            <a:ext cx="84318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endParaRPr lang="en-US" altLang="en-US" sz="2600">
              <a:solidFill>
                <a:srgbClr val="292929"/>
              </a:solidFill>
              <a:latin typeface="Arial Narrow" panose="020B0606020202030204" pitchFamily="34" charset="0"/>
            </a:endParaRPr>
          </a:p>
        </p:txBody>
      </p:sp>
      <p:sp>
        <p:nvSpPr>
          <p:cNvPr id="60457" name="Rectangle 47">
            <a:extLst>
              <a:ext uri="{FF2B5EF4-FFF2-40B4-BE49-F238E27FC236}">
                <a16:creationId xmlns:a16="http://schemas.microsoft.com/office/drawing/2014/main" id="{EED31FC0-AD1D-27A0-AEBB-BF7D4E42FB0E}"/>
              </a:ext>
            </a:extLst>
          </p:cNvPr>
          <p:cNvSpPr>
            <a:spLocks noChangeArrowheads="1"/>
          </p:cNvSpPr>
          <p:nvPr/>
        </p:nvSpPr>
        <p:spPr bwMode="auto">
          <a:xfrm>
            <a:off x="5029201" y="2092326"/>
            <a:ext cx="7870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4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144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4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144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2" grpId="0"/>
      <p:bldP spid="614426" grpId="0"/>
      <p:bldP spid="614429" grpId="0"/>
      <p:bldP spid="61443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FF0E661-8BAC-9FE1-C52E-0F50839D504A}"/>
              </a:ext>
            </a:extLst>
          </p:cNvPr>
          <p:cNvSpPr>
            <a:spLocks noGrp="1" noChangeArrowheads="1"/>
          </p:cNvSpPr>
          <p:nvPr>
            <p:ph type="title"/>
          </p:nvPr>
        </p:nvSpPr>
        <p:spPr>
          <a:xfrm>
            <a:off x="1676400" y="-304800"/>
            <a:ext cx="8991600" cy="1412875"/>
          </a:xfrm>
        </p:spPr>
        <p:txBody>
          <a:bodyPr/>
          <a:lstStyle/>
          <a:p>
            <a:pPr eaLnBrk="1" hangingPunct="1"/>
            <a:r>
              <a:rPr lang="en-US" altLang="en-US" dirty="0"/>
              <a:t> Weighted Moving Average: 3/6, 2/6, 1/6</a:t>
            </a:r>
          </a:p>
        </p:txBody>
      </p:sp>
      <p:sp>
        <p:nvSpPr>
          <p:cNvPr id="61443" name="Rectangle 3">
            <a:extLst>
              <a:ext uri="{FF2B5EF4-FFF2-40B4-BE49-F238E27FC236}">
                <a16:creationId xmlns:a16="http://schemas.microsoft.com/office/drawing/2014/main" id="{9ABD0B13-5F5B-3EFE-77EC-04A4C154F8D1}"/>
              </a:ext>
            </a:extLst>
          </p:cNvPr>
          <p:cNvSpPr>
            <a:spLocks noChangeArrowheads="1"/>
          </p:cNvSpPr>
          <p:nvPr/>
        </p:nvSpPr>
        <p:spPr bwMode="auto">
          <a:xfrm>
            <a:off x="3733801" y="4305301"/>
            <a:ext cx="214947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4" name="Rectangle 4">
            <a:extLst>
              <a:ext uri="{FF2B5EF4-FFF2-40B4-BE49-F238E27FC236}">
                <a16:creationId xmlns:a16="http://schemas.microsoft.com/office/drawing/2014/main" id="{9F59A4EC-0A3C-DB6F-728E-F8DF5086EA00}"/>
              </a:ext>
            </a:extLst>
          </p:cNvPr>
          <p:cNvSpPr>
            <a:spLocks noChangeArrowheads="1"/>
          </p:cNvSpPr>
          <p:nvPr/>
        </p:nvSpPr>
        <p:spPr bwMode="auto">
          <a:xfrm>
            <a:off x="5892801" y="4305301"/>
            <a:ext cx="1825625"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5" name="Rectangle 5">
            <a:extLst>
              <a:ext uri="{FF2B5EF4-FFF2-40B4-BE49-F238E27FC236}">
                <a16:creationId xmlns:a16="http://schemas.microsoft.com/office/drawing/2014/main" id="{E56CBFA9-94D9-DAE6-8D01-1C1E8EDFD3DD}"/>
              </a:ext>
            </a:extLst>
          </p:cNvPr>
          <p:cNvSpPr>
            <a:spLocks noChangeArrowheads="1"/>
          </p:cNvSpPr>
          <p:nvPr/>
        </p:nvSpPr>
        <p:spPr bwMode="auto">
          <a:xfrm>
            <a:off x="7729538" y="4305301"/>
            <a:ext cx="220345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6" name="Rectangle 6">
            <a:extLst>
              <a:ext uri="{FF2B5EF4-FFF2-40B4-BE49-F238E27FC236}">
                <a16:creationId xmlns:a16="http://schemas.microsoft.com/office/drawing/2014/main" id="{CC2BABB4-EC11-1633-18D6-6FC087CCE861}"/>
              </a:ext>
            </a:extLst>
          </p:cNvPr>
          <p:cNvSpPr>
            <a:spLocks noChangeArrowheads="1"/>
          </p:cNvSpPr>
          <p:nvPr/>
        </p:nvSpPr>
        <p:spPr bwMode="auto">
          <a:xfrm>
            <a:off x="9932988" y="3846514"/>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7" name="Rectangle 7">
            <a:extLst>
              <a:ext uri="{FF2B5EF4-FFF2-40B4-BE49-F238E27FC236}">
                <a16:creationId xmlns:a16="http://schemas.microsoft.com/office/drawing/2014/main" id="{33C31A60-E88F-252D-4BD6-16EE46AF75F5}"/>
              </a:ext>
            </a:extLst>
          </p:cNvPr>
          <p:cNvSpPr>
            <a:spLocks noChangeArrowheads="1"/>
          </p:cNvSpPr>
          <p:nvPr/>
        </p:nvSpPr>
        <p:spPr bwMode="auto">
          <a:xfrm>
            <a:off x="3724276" y="4775201"/>
            <a:ext cx="95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8" name="Rectangle 8">
            <a:extLst>
              <a:ext uri="{FF2B5EF4-FFF2-40B4-BE49-F238E27FC236}">
                <a16:creationId xmlns:a16="http://schemas.microsoft.com/office/drawing/2014/main" id="{9A884F97-EFF4-EC33-0202-5CD87C75575F}"/>
              </a:ext>
            </a:extLst>
          </p:cNvPr>
          <p:cNvSpPr>
            <a:spLocks noChangeArrowheads="1"/>
          </p:cNvSpPr>
          <p:nvPr/>
        </p:nvSpPr>
        <p:spPr bwMode="auto">
          <a:xfrm>
            <a:off x="3733801" y="4775201"/>
            <a:ext cx="21494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49" name="Rectangle 9">
            <a:extLst>
              <a:ext uri="{FF2B5EF4-FFF2-40B4-BE49-F238E27FC236}">
                <a16:creationId xmlns:a16="http://schemas.microsoft.com/office/drawing/2014/main" id="{9B1F0D0C-DCA1-8481-04E6-FE993CFBAD95}"/>
              </a:ext>
            </a:extLst>
          </p:cNvPr>
          <p:cNvSpPr>
            <a:spLocks noChangeArrowheads="1"/>
          </p:cNvSpPr>
          <p:nvPr/>
        </p:nvSpPr>
        <p:spPr bwMode="auto">
          <a:xfrm>
            <a:off x="9932988" y="4775201"/>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50" name="Rectangle 12">
            <a:extLst>
              <a:ext uri="{FF2B5EF4-FFF2-40B4-BE49-F238E27FC236}">
                <a16:creationId xmlns:a16="http://schemas.microsoft.com/office/drawing/2014/main" id="{2062D7EE-631D-1513-0BBC-0AD9A120752D}"/>
              </a:ext>
            </a:extLst>
          </p:cNvPr>
          <p:cNvSpPr>
            <a:spLocks noChangeArrowheads="1"/>
          </p:cNvSpPr>
          <p:nvPr/>
        </p:nvSpPr>
        <p:spPr bwMode="auto">
          <a:xfrm>
            <a:off x="2905125" y="1597025"/>
            <a:ext cx="6178550" cy="424973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1451" name="Rectangle 14">
            <a:extLst>
              <a:ext uri="{FF2B5EF4-FFF2-40B4-BE49-F238E27FC236}">
                <a16:creationId xmlns:a16="http://schemas.microsoft.com/office/drawing/2014/main" id="{562650E8-249C-B089-A47B-7701056EE00D}"/>
              </a:ext>
            </a:extLst>
          </p:cNvPr>
          <p:cNvSpPr>
            <a:spLocks noChangeArrowheads="1"/>
          </p:cNvSpPr>
          <p:nvPr/>
        </p:nvSpPr>
        <p:spPr bwMode="auto">
          <a:xfrm>
            <a:off x="3262313" y="1643063"/>
            <a:ext cx="927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00000"/>
                </a:solidFill>
                <a:latin typeface="Arial Narrow" panose="020B0606020202030204" pitchFamily="34" charset="0"/>
              </a:rPr>
              <a:t>Month</a:t>
            </a:r>
            <a:endParaRPr lang="en-US" altLang="en-US" sz="2600">
              <a:solidFill>
                <a:srgbClr val="292929"/>
              </a:solidFill>
              <a:latin typeface="Arial Narrow" panose="020B0606020202030204" pitchFamily="34" charset="0"/>
            </a:endParaRPr>
          </a:p>
        </p:txBody>
      </p:sp>
      <p:sp>
        <p:nvSpPr>
          <p:cNvPr id="61452" name="Rectangle 15">
            <a:extLst>
              <a:ext uri="{FF2B5EF4-FFF2-40B4-BE49-F238E27FC236}">
                <a16:creationId xmlns:a16="http://schemas.microsoft.com/office/drawing/2014/main" id="{CC0791D5-A1E5-7C64-EADA-58213DD03C05}"/>
              </a:ext>
            </a:extLst>
          </p:cNvPr>
          <p:cNvSpPr>
            <a:spLocks noChangeArrowheads="1"/>
          </p:cNvSpPr>
          <p:nvPr/>
        </p:nvSpPr>
        <p:spPr bwMode="auto">
          <a:xfrm>
            <a:off x="4956175" y="1643064"/>
            <a:ext cx="84318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Sales</a:t>
            </a:r>
            <a:endParaRPr lang="en-US" altLang="en-US" sz="2600">
              <a:solidFill>
                <a:srgbClr val="292929"/>
              </a:solidFill>
              <a:latin typeface="Arial Narrow" panose="020B0606020202030204" pitchFamily="34" charset="0"/>
            </a:endParaRPr>
          </a:p>
        </p:txBody>
      </p:sp>
      <p:sp>
        <p:nvSpPr>
          <p:cNvPr id="61453" name="Rectangle 16">
            <a:extLst>
              <a:ext uri="{FF2B5EF4-FFF2-40B4-BE49-F238E27FC236}">
                <a16:creationId xmlns:a16="http://schemas.microsoft.com/office/drawing/2014/main" id="{714D9EB1-73DA-A930-9ABC-34B0EDD9F215}"/>
              </a:ext>
            </a:extLst>
          </p:cNvPr>
          <p:cNvSpPr>
            <a:spLocks noChangeArrowheads="1"/>
          </p:cNvSpPr>
          <p:nvPr/>
        </p:nvSpPr>
        <p:spPr bwMode="auto">
          <a:xfrm>
            <a:off x="5029201" y="2092326"/>
            <a:ext cx="7870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(000)</a:t>
            </a:r>
            <a:endParaRPr lang="en-US" altLang="en-US" sz="2600">
              <a:solidFill>
                <a:srgbClr val="292929"/>
              </a:solidFill>
              <a:latin typeface="Arial Narrow" panose="020B0606020202030204" pitchFamily="34" charset="0"/>
            </a:endParaRPr>
          </a:p>
        </p:txBody>
      </p:sp>
      <p:sp>
        <p:nvSpPr>
          <p:cNvPr id="61454" name="Rectangle 18">
            <a:extLst>
              <a:ext uri="{FF2B5EF4-FFF2-40B4-BE49-F238E27FC236}">
                <a16:creationId xmlns:a16="http://schemas.microsoft.com/office/drawing/2014/main" id="{8F50A6DA-2269-D1A2-3F5F-D7F50671B0E8}"/>
              </a:ext>
            </a:extLst>
          </p:cNvPr>
          <p:cNvSpPr>
            <a:spLocks noChangeArrowheads="1"/>
          </p:cNvSpPr>
          <p:nvPr/>
        </p:nvSpPr>
        <p:spPr bwMode="auto">
          <a:xfrm>
            <a:off x="6954839" y="1619251"/>
            <a:ext cx="1709737"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3100">
                <a:solidFill>
                  <a:srgbClr val="010000"/>
                </a:solidFill>
                <a:latin typeface="Arial Narrow" panose="020B0606020202030204" pitchFamily="34" charset="0"/>
              </a:rPr>
              <a:t>Weighted</a:t>
            </a:r>
          </a:p>
          <a:p>
            <a:pPr algn="ctr" eaLnBrk="0" fontAlgn="base" hangingPunct="0">
              <a:spcBef>
                <a:spcPct val="0"/>
              </a:spcBef>
              <a:spcAft>
                <a:spcPct val="0"/>
              </a:spcAft>
              <a:buClrTx/>
              <a:buNone/>
            </a:pPr>
            <a:r>
              <a:rPr lang="en-US" altLang="en-US" sz="3100">
                <a:solidFill>
                  <a:srgbClr val="010000"/>
                </a:solidFill>
                <a:latin typeface="Arial Narrow" panose="020B0606020202030204" pitchFamily="34" charset="0"/>
              </a:rPr>
              <a:t>Moving Average</a:t>
            </a:r>
            <a:endParaRPr lang="en-US" altLang="en-US" sz="2600">
              <a:solidFill>
                <a:srgbClr val="292929"/>
              </a:solidFill>
              <a:latin typeface="Arial Narrow" panose="020B0606020202030204" pitchFamily="34" charset="0"/>
            </a:endParaRPr>
          </a:p>
        </p:txBody>
      </p:sp>
      <p:sp>
        <p:nvSpPr>
          <p:cNvPr id="61455" name="Line 19">
            <a:extLst>
              <a:ext uri="{FF2B5EF4-FFF2-40B4-BE49-F238E27FC236}">
                <a16:creationId xmlns:a16="http://schemas.microsoft.com/office/drawing/2014/main" id="{CC6F3D9E-5EF1-9D83-DF1D-EA4207CE45D0}"/>
              </a:ext>
            </a:extLst>
          </p:cNvPr>
          <p:cNvSpPr>
            <a:spLocks noChangeShapeType="1"/>
          </p:cNvSpPr>
          <p:nvPr/>
        </p:nvSpPr>
        <p:spPr bwMode="auto">
          <a:xfrm>
            <a:off x="4379914" y="1639888"/>
            <a:ext cx="1587" cy="4222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56" name="Line 20">
            <a:extLst>
              <a:ext uri="{FF2B5EF4-FFF2-40B4-BE49-F238E27FC236}">
                <a16:creationId xmlns:a16="http://schemas.microsoft.com/office/drawing/2014/main" id="{E0DD0D54-F6CB-8200-A947-E30715A55E48}"/>
              </a:ext>
            </a:extLst>
          </p:cNvPr>
          <p:cNvSpPr>
            <a:spLocks noChangeShapeType="1"/>
          </p:cNvSpPr>
          <p:nvPr/>
        </p:nvSpPr>
        <p:spPr bwMode="auto">
          <a:xfrm flipH="1">
            <a:off x="6529389" y="1639888"/>
            <a:ext cx="9525" cy="4222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57" name="Rectangle 21">
            <a:extLst>
              <a:ext uri="{FF2B5EF4-FFF2-40B4-BE49-F238E27FC236}">
                <a16:creationId xmlns:a16="http://schemas.microsoft.com/office/drawing/2014/main" id="{63EEE566-5E8C-C9D9-196F-5BC84117942B}"/>
              </a:ext>
            </a:extLst>
          </p:cNvPr>
          <p:cNvSpPr>
            <a:spLocks noChangeArrowheads="1"/>
          </p:cNvSpPr>
          <p:nvPr/>
        </p:nvSpPr>
        <p:spPr bwMode="auto">
          <a:xfrm>
            <a:off x="3530600" y="30067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1</a:t>
            </a:r>
            <a:endParaRPr lang="en-US" altLang="en-US" sz="2600">
              <a:solidFill>
                <a:srgbClr val="292929"/>
              </a:solidFill>
              <a:latin typeface="Arial Narrow" panose="020B0606020202030204" pitchFamily="34" charset="0"/>
            </a:endParaRPr>
          </a:p>
        </p:txBody>
      </p:sp>
      <p:sp>
        <p:nvSpPr>
          <p:cNvPr id="61458" name="Rectangle 22">
            <a:extLst>
              <a:ext uri="{FF2B5EF4-FFF2-40B4-BE49-F238E27FC236}">
                <a16:creationId xmlns:a16="http://schemas.microsoft.com/office/drawing/2014/main" id="{D788988E-1BBF-A6D8-200D-EF47F68B9E38}"/>
              </a:ext>
            </a:extLst>
          </p:cNvPr>
          <p:cNvSpPr>
            <a:spLocks noChangeArrowheads="1"/>
          </p:cNvSpPr>
          <p:nvPr/>
        </p:nvSpPr>
        <p:spPr bwMode="auto">
          <a:xfrm>
            <a:off x="4972050" y="30067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1459" name="Rectangle 23">
            <a:extLst>
              <a:ext uri="{FF2B5EF4-FFF2-40B4-BE49-F238E27FC236}">
                <a16:creationId xmlns:a16="http://schemas.microsoft.com/office/drawing/2014/main" id="{CFA53225-4989-9BBD-EBD1-6C1ED8F59C72}"/>
              </a:ext>
            </a:extLst>
          </p:cNvPr>
          <p:cNvSpPr>
            <a:spLocks noChangeArrowheads="1"/>
          </p:cNvSpPr>
          <p:nvPr/>
        </p:nvSpPr>
        <p:spPr bwMode="auto">
          <a:xfrm>
            <a:off x="7537451" y="2994026"/>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1460" name="Line 24">
            <a:extLst>
              <a:ext uri="{FF2B5EF4-FFF2-40B4-BE49-F238E27FC236}">
                <a16:creationId xmlns:a16="http://schemas.microsoft.com/office/drawing/2014/main" id="{66FBB2E3-F847-3F04-E606-38B9CA8EC840}"/>
              </a:ext>
            </a:extLst>
          </p:cNvPr>
          <p:cNvSpPr>
            <a:spLocks noChangeShapeType="1"/>
          </p:cNvSpPr>
          <p:nvPr/>
        </p:nvSpPr>
        <p:spPr bwMode="auto">
          <a:xfrm>
            <a:off x="2905126" y="2995614"/>
            <a:ext cx="6176963"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61" name="Rectangle 25">
            <a:extLst>
              <a:ext uri="{FF2B5EF4-FFF2-40B4-BE49-F238E27FC236}">
                <a16:creationId xmlns:a16="http://schemas.microsoft.com/office/drawing/2014/main" id="{A4B85F9A-E339-7CDB-5B15-B0E900C03D33}"/>
              </a:ext>
            </a:extLst>
          </p:cNvPr>
          <p:cNvSpPr>
            <a:spLocks noChangeArrowheads="1"/>
          </p:cNvSpPr>
          <p:nvPr/>
        </p:nvSpPr>
        <p:spPr bwMode="auto">
          <a:xfrm>
            <a:off x="3530600" y="34988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2</a:t>
            </a:r>
            <a:endParaRPr lang="en-US" altLang="en-US" sz="2600">
              <a:solidFill>
                <a:srgbClr val="292929"/>
              </a:solidFill>
              <a:latin typeface="Arial Narrow" panose="020B0606020202030204" pitchFamily="34" charset="0"/>
            </a:endParaRPr>
          </a:p>
        </p:txBody>
      </p:sp>
      <p:sp>
        <p:nvSpPr>
          <p:cNvPr id="61462" name="Rectangle 26">
            <a:extLst>
              <a:ext uri="{FF2B5EF4-FFF2-40B4-BE49-F238E27FC236}">
                <a16:creationId xmlns:a16="http://schemas.microsoft.com/office/drawing/2014/main" id="{EAE9DE9E-B740-B216-1DA7-934D06DD221A}"/>
              </a:ext>
            </a:extLst>
          </p:cNvPr>
          <p:cNvSpPr>
            <a:spLocks noChangeArrowheads="1"/>
          </p:cNvSpPr>
          <p:nvPr/>
        </p:nvSpPr>
        <p:spPr bwMode="auto">
          <a:xfrm>
            <a:off x="4972050" y="3498851"/>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1463" name="Rectangle 27">
            <a:extLst>
              <a:ext uri="{FF2B5EF4-FFF2-40B4-BE49-F238E27FC236}">
                <a16:creationId xmlns:a16="http://schemas.microsoft.com/office/drawing/2014/main" id="{C44C89C6-F052-79EA-A45C-7FD3C1F4FD36}"/>
              </a:ext>
            </a:extLst>
          </p:cNvPr>
          <p:cNvSpPr>
            <a:spLocks noChangeArrowheads="1"/>
          </p:cNvSpPr>
          <p:nvPr/>
        </p:nvSpPr>
        <p:spPr bwMode="auto">
          <a:xfrm>
            <a:off x="7537451" y="3484564"/>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1464" name="Rectangle 28">
            <a:extLst>
              <a:ext uri="{FF2B5EF4-FFF2-40B4-BE49-F238E27FC236}">
                <a16:creationId xmlns:a16="http://schemas.microsoft.com/office/drawing/2014/main" id="{16EC598A-7427-3EFB-E525-EFC9BA98E779}"/>
              </a:ext>
            </a:extLst>
          </p:cNvPr>
          <p:cNvSpPr>
            <a:spLocks noChangeArrowheads="1"/>
          </p:cNvSpPr>
          <p:nvPr/>
        </p:nvSpPr>
        <p:spPr bwMode="auto">
          <a:xfrm>
            <a:off x="3530600" y="39973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a:t>
            </a:r>
            <a:endParaRPr lang="en-US" altLang="en-US" sz="2600">
              <a:solidFill>
                <a:srgbClr val="292929"/>
              </a:solidFill>
              <a:latin typeface="Arial Narrow" panose="020B0606020202030204" pitchFamily="34" charset="0"/>
            </a:endParaRPr>
          </a:p>
        </p:txBody>
      </p:sp>
      <p:sp>
        <p:nvSpPr>
          <p:cNvPr id="61465" name="Rectangle 29">
            <a:extLst>
              <a:ext uri="{FF2B5EF4-FFF2-40B4-BE49-F238E27FC236}">
                <a16:creationId xmlns:a16="http://schemas.microsoft.com/office/drawing/2014/main" id="{465A0EAA-86CF-4870-C95C-91B9FCB1A5D6}"/>
              </a:ext>
            </a:extLst>
          </p:cNvPr>
          <p:cNvSpPr>
            <a:spLocks noChangeArrowheads="1"/>
          </p:cNvSpPr>
          <p:nvPr/>
        </p:nvSpPr>
        <p:spPr bwMode="auto">
          <a:xfrm>
            <a:off x="4972050" y="3997326"/>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1466" name="Rectangle 30">
            <a:extLst>
              <a:ext uri="{FF2B5EF4-FFF2-40B4-BE49-F238E27FC236}">
                <a16:creationId xmlns:a16="http://schemas.microsoft.com/office/drawing/2014/main" id="{20BF1F16-3237-B2A3-521C-690F50005176}"/>
              </a:ext>
            </a:extLst>
          </p:cNvPr>
          <p:cNvSpPr>
            <a:spLocks noChangeArrowheads="1"/>
          </p:cNvSpPr>
          <p:nvPr/>
        </p:nvSpPr>
        <p:spPr bwMode="auto">
          <a:xfrm>
            <a:off x="7537451" y="3983039"/>
            <a:ext cx="4680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NA</a:t>
            </a:r>
            <a:endParaRPr lang="en-US" altLang="en-US" sz="2600">
              <a:solidFill>
                <a:srgbClr val="292929"/>
              </a:solidFill>
              <a:latin typeface="Arial Narrow" panose="020B0606020202030204" pitchFamily="34" charset="0"/>
            </a:endParaRPr>
          </a:p>
        </p:txBody>
      </p:sp>
      <p:sp>
        <p:nvSpPr>
          <p:cNvPr id="61467" name="Rectangle 31">
            <a:extLst>
              <a:ext uri="{FF2B5EF4-FFF2-40B4-BE49-F238E27FC236}">
                <a16:creationId xmlns:a16="http://schemas.microsoft.com/office/drawing/2014/main" id="{EED70D78-4EB2-4D57-F138-FE410E4D3521}"/>
              </a:ext>
            </a:extLst>
          </p:cNvPr>
          <p:cNvSpPr>
            <a:spLocks noChangeArrowheads="1"/>
          </p:cNvSpPr>
          <p:nvPr/>
        </p:nvSpPr>
        <p:spPr bwMode="auto">
          <a:xfrm>
            <a:off x="3530600" y="44592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4</a:t>
            </a:r>
            <a:endParaRPr lang="en-US" altLang="en-US" sz="2600">
              <a:solidFill>
                <a:srgbClr val="292929"/>
              </a:solidFill>
              <a:latin typeface="Arial Narrow" panose="020B0606020202030204" pitchFamily="34" charset="0"/>
            </a:endParaRPr>
          </a:p>
        </p:txBody>
      </p:sp>
      <p:sp>
        <p:nvSpPr>
          <p:cNvPr id="615456" name="Rectangle 32">
            <a:extLst>
              <a:ext uri="{FF2B5EF4-FFF2-40B4-BE49-F238E27FC236}">
                <a16:creationId xmlns:a16="http://schemas.microsoft.com/office/drawing/2014/main" id="{1C727CC1-39B4-0D81-9CB8-35EB4DF3C8BD}"/>
              </a:ext>
            </a:extLst>
          </p:cNvPr>
          <p:cNvSpPr>
            <a:spLocks noChangeArrowheads="1"/>
          </p:cNvSpPr>
          <p:nvPr/>
        </p:nvSpPr>
        <p:spPr bwMode="auto">
          <a:xfrm>
            <a:off x="4972050" y="44592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b="1">
                <a:solidFill>
                  <a:srgbClr val="010000"/>
                </a:solidFill>
                <a:latin typeface="Arial Narrow" panose="020B0606020202030204" pitchFamily="34" charset="0"/>
              </a:rPr>
              <a:t>3</a:t>
            </a:r>
            <a:endParaRPr lang="en-US" altLang="en-US" sz="2600" b="1">
              <a:solidFill>
                <a:srgbClr val="292929"/>
              </a:solidFill>
              <a:latin typeface="Arial Narrow" panose="020B0606020202030204" pitchFamily="34" charset="0"/>
            </a:endParaRPr>
          </a:p>
        </p:txBody>
      </p:sp>
      <p:sp>
        <p:nvSpPr>
          <p:cNvPr id="61469" name="Rectangle 33">
            <a:extLst>
              <a:ext uri="{FF2B5EF4-FFF2-40B4-BE49-F238E27FC236}">
                <a16:creationId xmlns:a16="http://schemas.microsoft.com/office/drawing/2014/main" id="{4B62D2C7-0AFE-C15A-8993-B24D17DD5AC2}"/>
              </a:ext>
            </a:extLst>
          </p:cNvPr>
          <p:cNvSpPr>
            <a:spLocks noChangeArrowheads="1"/>
          </p:cNvSpPr>
          <p:nvPr/>
        </p:nvSpPr>
        <p:spPr bwMode="auto">
          <a:xfrm>
            <a:off x="6734176" y="4446589"/>
            <a:ext cx="18819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31/6 = 5.167</a:t>
            </a:r>
            <a:endParaRPr lang="en-US" altLang="en-US" sz="2600">
              <a:solidFill>
                <a:srgbClr val="292929"/>
              </a:solidFill>
              <a:latin typeface="Arial Narrow" panose="020B0606020202030204" pitchFamily="34" charset="0"/>
            </a:endParaRPr>
          </a:p>
        </p:txBody>
      </p:sp>
      <p:sp>
        <p:nvSpPr>
          <p:cNvPr id="61470" name="Rectangle 34">
            <a:extLst>
              <a:ext uri="{FF2B5EF4-FFF2-40B4-BE49-F238E27FC236}">
                <a16:creationId xmlns:a16="http://schemas.microsoft.com/office/drawing/2014/main" id="{F10C896F-AB97-A833-5FED-4FD377D70834}"/>
              </a:ext>
            </a:extLst>
          </p:cNvPr>
          <p:cNvSpPr>
            <a:spLocks noChangeArrowheads="1"/>
          </p:cNvSpPr>
          <p:nvPr/>
        </p:nvSpPr>
        <p:spPr bwMode="auto">
          <a:xfrm>
            <a:off x="3530600" y="49291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5</a:t>
            </a:r>
            <a:endParaRPr lang="en-US" altLang="en-US" sz="2600">
              <a:solidFill>
                <a:srgbClr val="292929"/>
              </a:solidFill>
              <a:latin typeface="Arial Narrow" panose="020B0606020202030204" pitchFamily="34" charset="0"/>
            </a:endParaRPr>
          </a:p>
        </p:txBody>
      </p:sp>
      <p:sp>
        <p:nvSpPr>
          <p:cNvPr id="615459" name="Rectangle 35">
            <a:extLst>
              <a:ext uri="{FF2B5EF4-FFF2-40B4-BE49-F238E27FC236}">
                <a16:creationId xmlns:a16="http://schemas.microsoft.com/office/drawing/2014/main" id="{BDA0DF3D-DF89-67F7-C68E-43ADFF3B686E}"/>
              </a:ext>
            </a:extLst>
          </p:cNvPr>
          <p:cNvSpPr>
            <a:spLocks noChangeArrowheads="1"/>
          </p:cNvSpPr>
          <p:nvPr/>
        </p:nvSpPr>
        <p:spPr bwMode="auto">
          <a:xfrm>
            <a:off x="4972050" y="4929189"/>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b="1">
                <a:solidFill>
                  <a:srgbClr val="010000"/>
                </a:solidFill>
                <a:latin typeface="Arial Narrow" panose="020B0606020202030204" pitchFamily="34" charset="0"/>
              </a:rPr>
              <a:t>7</a:t>
            </a:r>
            <a:endParaRPr lang="en-US" altLang="en-US" sz="2600" b="1">
              <a:solidFill>
                <a:srgbClr val="292929"/>
              </a:solidFill>
              <a:latin typeface="Arial Narrow" panose="020B0606020202030204" pitchFamily="34" charset="0"/>
            </a:endParaRPr>
          </a:p>
        </p:txBody>
      </p:sp>
      <p:sp>
        <p:nvSpPr>
          <p:cNvPr id="61472" name="Rectangle 36">
            <a:extLst>
              <a:ext uri="{FF2B5EF4-FFF2-40B4-BE49-F238E27FC236}">
                <a16:creationId xmlns:a16="http://schemas.microsoft.com/office/drawing/2014/main" id="{6A673E15-FB15-891B-057F-1F6EEA517348}"/>
              </a:ext>
            </a:extLst>
          </p:cNvPr>
          <p:cNvSpPr>
            <a:spLocks noChangeArrowheads="1"/>
          </p:cNvSpPr>
          <p:nvPr/>
        </p:nvSpPr>
        <p:spPr bwMode="auto">
          <a:xfrm>
            <a:off x="3530600" y="5389564"/>
            <a:ext cx="1875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010000"/>
                </a:solidFill>
                <a:latin typeface="Arial Narrow" panose="020B0606020202030204" pitchFamily="34" charset="0"/>
              </a:rPr>
              <a:t>6</a:t>
            </a:r>
            <a:endParaRPr lang="en-US" altLang="en-US" sz="2600">
              <a:solidFill>
                <a:srgbClr val="292929"/>
              </a:solidFill>
              <a:latin typeface="Arial Narrow" panose="020B0606020202030204" pitchFamily="34" charset="0"/>
            </a:endParaRPr>
          </a:p>
        </p:txBody>
      </p:sp>
      <p:sp>
        <p:nvSpPr>
          <p:cNvPr id="615462" name="Freeform 38">
            <a:extLst>
              <a:ext uri="{FF2B5EF4-FFF2-40B4-BE49-F238E27FC236}">
                <a16:creationId xmlns:a16="http://schemas.microsoft.com/office/drawing/2014/main" id="{3B6E6D86-F738-ED64-88BE-66DDC739B146}"/>
              </a:ext>
            </a:extLst>
          </p:cNvPr>
          <p:cNvSpPr>
            <a:spLocks/>
          </p:cNvSpPr>
          <p:nvPr/>
        </p:nvSpPr>
        <p:spPr bwMode="auto">
          <a:xfrm>
            <a:off x="5559425" y="3641725"/>
            <a:ext cx="122238" cy="1212850"/>
          </a:xfrm>
          <a:custGeom>
            <a:avLst/>
            <a:gdLst>
              <a:gd name="T0" fmla="*/ 0 w 69"/>
              <a:gd name="T1" fmla="*/ 2147483646 h 713"/>
              <a:gd name="T2" fmla="*/ 2147483646 w 69"/>
              <a:gd name="T3" fmla="*/ 2147483646 h 713"/>
              <a:gd name="T4" fmla="*/ 2147483646 w 69"/>
              <a:gd name="T5" fmla="*/ 2147483646 h 713"/>
              <a:gd name="T6" fmla="*/ 2147483646 w 69"/>
              <a:gd name="T7" fmla="*/ 2147483646 h 713"/>
              <a:gd name="T8" fmla="*/ 2147483646 w 69"/>
              <a:gd name="T9" fmla="*/ 2147483646 h 713"/>
              <a:gd name="T10" fmla="*/ 2147483646 w 69"/>
              <a:gd name="T11" fmla="*/ 2147483646 h 713"/>
              <a:gd name="T12" fmla="*/ 2147483646 w 69"/>
              <a:gd name="T13" fmla="*/ 2147483646 h 713"/>
              <a:gd name="T14" fmla="*/ 2147483646 w 69"/>
              <a:gd name="T15" fmla="*/ 2147483646 h 713"/>
              <a:gd name="T16" fmla="*/ 2147483646 w 69"/>
              <a:gd name="T17" fmla="*/ 2147483646 h 713"/>
              <a:gd name="T18" fmla="*/ 2147483646 w 69"/>
              <a:gd name="T19" fmla="*/ 2147483646 h 713"/>
              <a:gd name="T20" fmla="*/ 2147483646 w 69"/>
              <a:gd name="T21" fmla="*/ 2147483646 h 713"/>
              <a:gd name="T22" fmla="*/ 2147483646 w 69"/>
              <a:gd name="T23" fmla="*/ 2147483646 h 713"/>
              <a:gd name="T24" fmla="*/ 2147483646 w 69"/>
              <a:gd name="T25" fmla="*/ 2147483646 h 713"/>
              <a:gd name="T26" fmla="*/ 2147483646 w 69"/>
              <a:gd name="T27" fmla="*/ 2147483646 h 713"/>
              <a:gd name="T28" fmla="*/ 2147483646 w 69"/>
              <a:gd name="T29" fmla="*/ 2147483646 h 713"/>
              <a:gd name="T30" fmla="*/ 2147483646 w 69"/>
              <a:gd name="T31" fmla="*/ 2147483646 h 713"/>
              <a:gd name="T32" fmla="*/ 2147483646 w 69"/>
              <a:gd name="T33" fmla="*/ 2147483646 h 713"/>
              <a:gd name="T34" fmla="*/ 2147483646 w 69"/>
              <a:gd name="T35" fmla="*/ 2147483646 h 713"/>
              <a:gd name="T36" fmla="*/ 2147483646 w 69"/>
              <a:gd name="T37" fmla="*/ 2147483646 h 713"/>
              <a:gd name="T38" fmla="*/ 2147483646 w 69"/>
              <a:gd name="T39" fmla="*/ 2147483646 h 713"/>
              <a:gd name="T40" fmla="*/ 2147483646 w 69"/>
              <a:gd name="T41" fmla="*/ 2147483646 h 713"/>
              <a:gd name="T42" fmla="*/ 2147483646 w 69"/>
              <a:gd name="T43" fmla="*/ 2147483646 h 713"/>
              <a:gd name="T44" fmla="*/ 2147483646 w 69"/>
              <a:gd name="T45" fmla="*/ 2147483646 h 713"/>
              <a:gd name="T46" fmla="*/ 2147483646 w 69"/>
              <a:gd name="T47" fmla="*/ 2147483646 h 713"/>
              <a:gd name="T48" fmla="*/ 2147483646 w 69"/>
              <a:gd name="T49" fmla="*/ 2147483646 h 713"/>
              <a:gd name="T50" fmla="*/ 2147483646 w 69"/>
              <a:gd name="T51" fmla="*/ 2147483646 h 713"/>
              <a:gd name="T52" fmla="*/ 0 w 69"/>
              <a:gd name="T53" fmla="*/ 2147483646 h 713"/>
              <a:gd name="T54" fmla="*/ 2147483646 w 69"/>
              <a:gd name="T55" fmla="*/ 2147483646 h 713"/>
              <a:gd name="T56" fmla="*/ 2147483646 w 69"/>
              <a:gd name="T57" fmla="*/ 2147483646 h 713"/>
              <a:gd name="T58" fmla="*/ 2147483646 w 69"/>
              <a:gd name="T59" fmla="*/ 2147483646 h 713"/>
              <a:gd name="T60" fmla="*/ 2147483646 w 69"/>
              <a:gd name="T61" fmla="*/ 2147483646 h 713"/>
              <a:gd name="T62" fmla="*/ 2147483646 w 69"/>
              <a:gd name="T63" fmla="*/ 2147483646 h 713"/>
              <a:gd name="T64" fmla="*/ 2147483646 w 69"/>
              <a:gd name="T65" fmla="*/ 2147483646 h 713"/>
              <a:gd name="T66" fmla="*/ 2147483646 w 69"/>
              <a:gd name="T67" fmla="*/ 2147483646 h 713"/>
              <a:gd name="T68" fmla="*/ 2147483646 w 69"/>
              <a:gd name="T69" fmla="*/ 2147483646 h 713"/>
              <a:gd name="T70" fmla="*/ 2147483646 w 69"/>
              <a:gd name="T71" fmla="*/ 2147483646 h 713"/>
              <a:gd name="T72" fmla="*/ 2147483646 w 69"/>
              <a:gd name="T73" fmla="*/ 2147483646 h 713"/>
              <a:gd name="T74" fmla="*/ 2147483646 w 69"/>
              <a:gd name="T75" fmla="*/ 2147483646 h 713"/>
              <a:gd name="T76" fmla="*/ 2147483646 w 69"/>
              <a:gd name="T77" fmla="*/ 2147483646 h 713"/>
              <a:gd name="T78" fmla="*/ 2147483646 w 69"/>
              <a:gd name="T79" fmla="*/ 2147483646 h 713"/>
              <a:gd name="T80" fmla="*/ 2147483646 w 69"/>
              <a:gd name="T81" fmla="*/ 2147483646 h 713"/>
              <a:gd name="T82" fmla="*/ 2147483646 w 69"/>
              <a:gd name="T83" fmla="*/ 2147483646 h 713"/>
              <a:gd name="T84" fmla="*/ 2147483646 w 69"/>
              <a:gd name="T85" fmla="*/ 2147483646 h 713"/>
              <a:gd name="T86" fmla="*/ 2147483646 w 69"/>
              <a:gd name="T87" fmla="*/ 2147483646 h 713"/>
              <a:gd name="T88" fmla="*/ 2147483646 w 69"/>
              <a:gd name="T89" fmla="*/ 2147483646 h 713"/>
              <a:gd name="T90" fmla="*/ 2147483646 w 69"/>
              <a:gd name="T91" fmla="*/ 2147483646 h 713"/>
              <a:gd name="T92" fmla="*/ 2147483646 w 69"/>
              <a:gd name="T93" fmla="*/ 2147483646 h 713"/>
              <a:gd name="T94" fmla="*/ 2147483646 w 69"/>
              <a:gd name="T95" fmla="*/ 2147483646 h 713"/>
              <a:gd name="T96" fmla="*/ 2147483646 w 69"/>
              <a:gd name="T97" fmla="*/ 2147483646 h 713"/>
              <a:gd name="T98" fmla="*/ 2147483646 w 69"/>
              <a:gd name="T99" fmla="*/ 2147483646 h 713"/>
              <a:gd name="T100" fmla="*/ 2147483646 w 69"/>
              <a:gd name="T101" fmla="*/ 2147483646 h 713"/>
              <a:gd name="T102" fmla="*/ 2147483646 w 69"/>
              <a:gd name="T103" fmla="*/ 2147483646 h 713"/>
              <a:gd name="T104" fmla="*/ 2147483646 w 69"/>
              <a:gd name="T105" fmla="*/ 2147483646 h 71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9" h="713">
                <a:moveTo>
                  <a:pt x="0" y="0"/>
                </a:moveTo>
                <a:lnTo>
                  <a:pt x="0" y="23"/>
                </a:lnTo>
                <a:lnTo>
                  <a:pt x="6" y="25"/>
                </a:lnTo>
                <a:lnTo>
                  <a:pt x="6" y="14"/>
                </a:lnTo>
                <a:lnTo>
                  <a:pt x="0" y="23"/>
                </a:lnTo>
                <a:lnTo>
                  <a:pt x="6" y="27"/>
                </a:lnTo>
                <a:lnTo>
                  <a:pt x="12" y="16"/>
                </a:lnTo>
                <a:lnTo>
                  <a:pt x="2" y="25"/>
                </a:lnTo>
                <a:lnTo>
                  <a:pt x="8" y="31"/>
                </a:lnTo>
                <a:lnTo>
                  <a:pt x="12" y="37"/>
                </a:lnTo>
                <a:lnTo>
                  <a:pt x="21" y="29"/>
                </a:lnTo>
                <a:lnTo>
                  <a:pt x="10" y="29"/>
                </a:lnTo>
                <a:lnTo>
                  <a:pt x="15" y="46"/>
                </a:lnTo>
                <a:lnTo>
                  <a:pt x="17" y="69"/>
                </a:lnTo>
                <a:lnTo>
                  <a:pt x="17" y="299"/>
                </a:lnTo>
                <a:lnTo>
                  <a:pt x="19" y="322"/>
                </a:lnTo>
                <a:lnTo>
                  <a:pt x="27" y="339"/>
                </a:lnTo>
                <a:lnTo>
                  <a:pt x="29" y="349"/>
                </a:lnTo>
                <a:lnTo>
                  <a:pt x="33" y="356"/>
                </a:lnTo>
                <a:lnTo>
                  <a:pt x="38" y="360"/>
                </a:lnTo>
                <a:lnTo>
                  <a:pt x="42" y="362"/>
                </a:lnTo>
                <a:lnTo>
                  <a:pt x="48" y="366"/>
                </a:lnTo>
                <a:lnTo>
                  <a:pt x="52" y="366"/>
                </a:lnTo>
                <a:lnTo>
                  <a:pt x="58" y="368"/>
                </a:lnTo>
                <a:lnTo>
                  <a:pt x="58" y="356"/>
                </a:lnTo>
                <a:lnTo>
                  <a:pt x="58" y="345"/>
                </a:lnTo>
                <a:lnTo>
                  <a:pt x="54" y="347"/>
                </a:lnTo>
                <a:lnTo>
                  <a:pt x="50" y="349"/>
                </a:lnTo>
                <a:lnTo>
                  <a:pt x="46" y="356"/>
                </a:lnTo>
                <a:lnTo>
                  <a:pt x="50" y="364"/>
                </a:lnTo>
                <a:lnTo>
                  <a:pt x="54" y="366"/>
                </a:lnTo>
                <a:lnTo>
                  <a:pt x="58" y="345"/>
                </a:lnTo>
                <a:lnTo>
                  <a:pt x="52" y="347"/>
                </a:lnTo>
                <a:lnTo>
                  <a:pt x="48" y="347"/>
                </a:lnTo>
                <a:lnTo>
                  <a:pt x="42" y="351"/>
                </a:lnTo>
                <a:lnTo>
                  <a:pt x="38" y="353"/>
                </a:lnTo>
                <a:lnTo>
                  <a:pt x="33" y="358"/>
                </a:lnTo>
                <a:lnTo>
                  <a:pt x="29" y="364"/>
                </a:lnTo>
                <a:lnTo>
                  <a:pt x="27" y="374"/>
                </a:lnTo>
                <a:lnTo>
                  <a:pt x="19" y="391"/>
                </a:lnTo>
                <a:lnTo>
                  <a:pt x="17" y="414"/>
                </a:lnTo>
                <a:lnTo>
                  <a:pt x="17" y="644"/>
                </a:lnTo>
                <a:lnTo>
                  <a:pt x="15" y="667"/>
                </a:lnTo>
                <a:lnTo>
                  <a:pt x="10" y="684"/>
                </a:lnTo>
                <a:lnTo>
                  <a:pt x="21" y="684"/>
                </a:lnTo>
                <a:lnTo>
                  <a:pt x="12" y="676"/>
                </a:lnTo>
                <a:lnTo>
                  <a:pt x="8" y="684"/>
                </a:lnTo>
                <a:lnTo>
                  <a:pt x="2" y="688"/>
                </a:lnTo>
                <a:lnTo>
                  <a:pt x="12" y="697"/>
                </a:lnTo>
                <a:lnTo>
                  <a:pt x="6" y="686"/>
                </a:lnTo>
                <a:lnTo>
                  <a:pt x="0" y="690"/>
                </a:lnTo>
                <a:lnTo>
                  <a:pt x="6" y="699"/>
                </a:lnTo>
                <a:lnTo>
                  <a:pt x="6" y="688"/>
                </a:lnTo>
                <a:lnTo>
                  <a:pt x="0" y="690"/>
                </a:lnTo>
                <a:lnTo>
                  <a:pt x="0" y="713"/>
                </a:lnTo>
                <a:lnTo>
                  <a:pt x="6" y="711"/>
                </a:lnTo>
                <a:lnTo>
                  <a:pt x="10" y="711"/>
                </a:lnTo>
                <a:lnTo>
                  <a:pt x="15" y="707"/>
                </a:lnTo>
                <a:lnTo>
                  <a:pt x="19" y="705"/>
                </a:lnTo>
                <a:lnTo>
                  <a:pt x="25" y="701"/>
                </a:lnTo>
                <a:lnTo>
                  <a:pt x="29" y="693"/>
                </a:lnTo>
                <a:lnTo>
                  <a:pt x="33" y="684"/>
                </a:lnTo>
                <a:lnTo>
                  <a:pt x="38" y="667"/>
                </a:lnTo>
                <a:lnTo>
                  <a:pt x="40" y="644"/>
                </a:lnTo>
                <a:lnTo>
                  <a:pt x="40" y="414"/>
                </a:lnTo>
                <a:lnTo>
                  <a:pt x="42" y="391"/>
                </a:lnTo>
                <a:lnTo>
                  <a:pt x="50" y="374"/>
                </a:lnTo>
                <a:lnTo>
                  <a:pt x="38" y="374"/>
                </a:lnTo>
                <a:lnTo>
                  <a:pt x="46" y="381"/>
                </a:lnTo>
                <a:lnTo>
                  <a:pt x="50" y="376"/>
                </a:lnTo>
                <a:lnTo>
                  <a:pt x="56" y="370"/>
                </a:lnTo>
                <a:lnTo>
                  <a:pt x="46" y="360"/>
                </a:lnTo>
                <a:lnTo>
                  <a:pt x="52" y="372"/>
                </a:lnTo>
                <a:lnTo>
                  <a:pt x="58" y="368"/>
                </a:lnTo>
                <a:lnTo>
                  <a:pt x="52" y="358"/>
                </a:lnTo>
                <a:lnTo>
                  <a:pt x="52" y="370"/>
                </a:lnTo>
                <a:lnTo>
                  <a:pt x="58" y="368"/>
                </a:lnTo>
                <a:lnTo>
                  <a:pt x="61" y="366"/>
                </a:lnTo>
                <a:lnTo>
                  <a:pt x="65" y="364"/>
                </a:lnTo>
                <a:lnTo>
                  <a:pt x="69" y="356"/>
                </a:lnTo>
                <a:lnTo>
                  <a:pt x="65" y="349"/>
                </a:lnTo>
                <a:lnTo>
                  <a:pt x="61" y="347"/>
                </a:lnTo>
                <a:lnTo>
                  <a:pt x="58" y="345"/>
                </a:lnTo>
                <a:lnTo>
                  <a:pt x="52" y="343"/>
                </a:lnTo>
                <a:lnTo>
                  <a:pt x="52" y="355"/>
                </a:lnTo>
                <a:lnTo>
                  <a:pt x="58" y="345"/>
                </a:lnTo>
                <a:lnTo>
                  <a:pt x="52" y="341"/>
                </a:lnTo>
                <a:lnTo>
                  <a:pt x="46" y="353"/>
                </a:lnTo>
                <a:lnTo>
                  <a:pt x="56" y="343"/>
                </a:lnTo>
                <a:lnTo>
                  <a:pt x="50" y="339"/>
                </a:lnTo>
                <a:lnTo>
                  <a:pt x="46" y="332"/>
                </a:lnTo>
                <a:lnTo>
                  <a:pt x="38" y="339"/>
                </a:lnTo>
                <a:lnTo>
                  <a:pt x="50" y="339"/>
                </a:lnTo>
                <a:lnTo>
                  <a:pt x="42" y="322"/>
                </a:lnTo>
                <a:lnTo>
                  <a:pt x="40" y="299"/>
                </a:lnTo>
                <a:lnTo>
                  <a:pt x="40" y="69"/>
                </a:lnTo>
                <a:lnTo>
                  <a:pt x="38" y="46"/>
                </a:lnTo>
                <a:lnTo>
                  <a:pt x="33" y="29"/>
                </a:lnTo>
                <a:lnTo>
                  <a:pt x="29" y="20"/>
                </a:lnTo>
                <a:lnTo>
                  <a:pt x="25" y="14"/>
                </a:lnTo>
                <a:lnTo>
                  <a:pt x="19" y="8"/>
                </a:lnTo>
                <a:lnTo>
                  <a:pt x="15" y="6"/>
                </a:lnTo>
                <a:lnTo>
                  <a:pt x="10" y="2"/>
                </a:lnTo>
                <a:lnTo>
                  <a:pt x="6" y="2"/>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5463" name="Freeform 39">
            <a:extLst>
              <a:ext uri="{FF2B5EF4-FFF2-40B4-BE49-F238E27FC236}">
                <a16:creationId xmlns:a16="http://schemas.microsoft.com/office/drawing/2014/main" id="{6A91C29B-733D-CB12-AD3A-024AF755CA41}"/>
              </a:ext>
            </a:extLst>
          </p:cNvPr>
          <p:cNvSpPr>
            <a:spLocks/>
          </p:cNvSpPr>
          <p:nvPr/>
        </p:nvSpPr>
        <p:spPr bwMode="auto">
          <a:xfrm>
            <a:off x="5254625" y="4135438"/>
            <a:ext cx="128588" cy="1231900"/>
          </a:xfrm>
          <a:custGeom>
            <a:avLst/>
            <a:gdLst>
              <a:gd name="T0" fmla="*/ 2147483646 w 113"/>
              <a:gd name="T1" fmla="*/ 2147483646 h 725"/>
              <a:gd name="T2" fmla="*/ 2147483646 w 113"/>
              <a:gd name="T3" fmla="*/ 2147483646 h 725"/>
              <a:gd name="T4" fmla="*/ 2147483646 w 113"/>
              <a:gd name="T5" fmla="*/ 2147483646 h 725"/>
              <a:gd name="T6" fmla="*/ 2147483646 w 113"/>
              <a:gd name="T7" fmla="*/ 2147483646 h 725"/>
              <a:gd name="T8" fmla="*/ 2147483646 w 113"/>
              <a:gd name="T9" fmla="*/ 2147483646 h 725"/>
              <a:gd name="T10" fmla="*/ 2147483646 w 113"/>
              <a:gd name="T11" fmla="*/ 2147483646 h 725"/>
              <a:gd name="T12" fmla="*/ 2147483646 w 113"/>
              <a:gd name="T13" fmla="*/ 2147483646 h 725"/>
              <a:gd name="T14" fmla="*/ 2147483646 w 113"/>
              <a:gd name="T15" fmla="*/ 2147483646 h 725"/>
              <a:gd name="T16" fmla="*/ 2147483646 w 113"/>
              <a:gd name="T17" fmla="*/ 2147483646 h 725"/>
              <a:gd name="T18" fmla="*/ 2147483646 w 113"/>
              <a:gd name="T19" fmla="*/ 2147483646 h 725"/>
              <a:gd name="T20" fmla="*/ 2147483646 w 113"/>
              <a:gd name="T21" fmla="*/ 2147483646 h 725"/>
              <a:gd name="T22" fmla="*/ 2147483646 w 113"/>
              <a:gd name="T23" fmla="*/ 2147483646 h 725"/>
              <a:gd name="T24" fmla="*/ 2147483646 w 113"/>
              <a:gd name="T25" fmla="*/ 2147483646 h 725"/>
              <a:gd name="T26" fmla="*/ 2147483646 w 113"/>
              <a:gd name="T27" fmla="*/ 2147483646 h 725"/>
              <a:gd name="T28" fmla="*/ 2147483646 w 113"/>
              <a:gd name="T29" fmla="*/ 2147483646 h 725"/>
              <a:gd name="T30" fmla="*/ 2147483646 w 113"/>
              <a:gd name="T31" fmla="*/ 2147483646 h 725"/>
              <a:gd name="T32" fmla="*/ 2147483646 w 113"/>
              <a:gd name="T33" fmla="*/ 2147483646 h 725"/>
              <a:gd name="T34" fmla="*/ 2147483646 w 113"/>
              <a:gd name="T35" fmla="*/ 2147483646 h 725"/>
              <a:gd name="T36" fmla="*/ 2147483646 w 113"/>
              <a:gd name="T37" fmla="*/ 2147483646 h 725"/>
              <a:gd name="T38" fmla="*/ 2147483646 w 113"/>
              <a:gd name="T39" fmla="*/ 2147483646 h 725"/>
              <a:gd name="T40" fmla="*/ 2147483646 w 113"/>
              <a:gd name="T41" fmla="*/ 2147483646 h 725"/>
              <a:gd name="T42" fmla="*/ 0 w 113"/>
              <a:gd name="T43" fmla="*/ 2147483646 h 725"/>
              <a:gd name="T44" fmla="*/ 2147483646 w 113"/>
              <a:gd name="T45" fmla="*/ 2147483646 h 725"/>
              <a:gd name="T46" fmla="*/ 2147483646 w 113"/>
              <a:gd name="T47" fmla="*/ 2147483646 h 725"/>
              <a:gd name="T48" fmla="*/ 2147483646 w 113"/>
              <a:gd name="T49" fmla="*/ 2147483646 h 725"/>
              <a:gd name="T50" fmla="*/ 2147483646 w 113"/>
              <a:gd name="T51" fmla="*/ 2147483646 h 725"/>
              <a:gd name="T52" fmla="*/ 2147483646 w 113"/>
              <a:gd name="T53" fmla="*/ 2147483646 h 725"/>
              <a:gd name="T54" fmla="*/ 2147483646 w 113"/>
              <a:gd name="T55" fmla="*/ 2147483646 h 725"/>
              <a:gd name="T56" fmla="*/ 2147483646 w 113"/>
              <a:gd name="T57" fmla="*/ 2147483646 h 725"/>
              <a:gd name="T58" fmla="*/ 2147483646 w 113"/>
              <a:gd name="T59" fmla="*/ 2147483646 h 725"/>
              <a:gd name="T60" fmla="*/ 2147483646 w 113"/>
              <a:gd name="T61" fmla="*/ 2147483646 h 725"/>
              <a:gd name="T62" fmla="*/ 2147483646 w 113"/>
              <a:gd name="T63" fmla="*/ 2147483646 h 725"/>
              <a:gd name="T64" fmla="*/ 2147483646 w 113"/>
              <a:gd name="T65" fmla="*/ 2147483646 h 725"/>
              <a:gd name="T66" fmla="*/ 2147483646 w 113"/>
              <a:gd name="T67" fmla="*/ 2147483646 h 725"/>
              <a:gd name="T68" fmla="*/ 2147483646 w 113"/>
              <a:gd name="T69" fmla="*/ 2147483646 h 725"/>
              <a:gd name="T70" fmla="*/ 2147483646 w 113"/>
              <a:gd name="T71" fmla="*/ 2147483646 h 725"/>
              <a:gd name="T72" fmla="*/ 2147483646 w 113"/>
              <a:gd name="T73" fmla="*/ 2147483646 h 725"/>
              <a:gd name="T74" fmla="*/ 2147483646 w 113"/>
              <a:gd name="T75" fmla="*/ 2147483646 h 725"/>
              <a:gd name="T76" fmla="*/ 2147483646 w 113"/>
              <a:gd name="T77" fmla="*/ 2147483646 h 725"/>
              <a:gd name="T78" fmla="*/ 2147483646 w 113"/>
              <a:gd name="T79" fmla="*/ 2147483646 h 725"/>
              <a:gd name="T80" fmla="*/ 2147483646 w 113"/>
              <a:gd name="T81" fmla="*/ 2147483646 h 725"/>
              <a:gd name="T82" fmla="*/ 2147483646 w 113"/>
              <a:gd name="T83" fmla="*/ 2147483646 h 725"/>
              <a:gd name="T84" fmla="*/ 2147483646 w 113"/>
              <a:gd name="T85" fmla="*/ 2147483646 h 7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3" h="725">
                <a:moveTo>
                  <a:pt x="0" y="0"/>
                </a:moveTo>
                <a:lnTo>
                  <a:pt x="0" y="36"/>
                </a:lnTo>
                <a:lnTo>
                  <a:pt x="10" y="36"/>
                </a:lnTo>
                <a:lnTo>
                  <a:pt x="10" y="19"/>
                </a:lnTo>
                <a:lnTo>
                  <a:pt x="4" y="36"/>
                </a:lnTo>
                <a:lnTo>
                  <a:pt x="12" y="38"/>
                </a:lnTo>
                <a:lnTo>
                  <a:pt x="21" y="44"/>
                </a:lnTo>
                <a:lnTo>
                  <a:pt x="27" y="27"/>
                </a:lnTo>
                <a:lnTo>
                  <a:pt x="14" y="40"/>
                </a:lnTo>
                <a:lnTo>
                  <a:pt x="21" y="46"/>
                </a:lnTo>
                <a:lnTo>
                  <a:pt x="35" y="34"/>
                </a:lnTo>
                <a:lnTo>
                  <a:pt x="17" y="40"/>
                </a:lnTo>
                <a:lnTo>
                  <a:pt x="27" y="59"/>
                </a:lnTo>
                <a:lnTo>
                  <a:pt x="31" y="69"/>
                </a:lnTo>
                <a:lnTo>
                  <a:pt x="48" y="63"/>
                </a:lnTo>
                <a:lnTo>
                  <a:pt x="29" y="63"/>
                </a:lnTo>
                <a:lnTo>
                  <a:pt x="31" y="74"/>
                </a:lnTo>
                <a:lnTo>
                  <a:pt x="31" y="304"/>
                </a:lnTo>
                <a:lnTo>
                  <a:pt x="31" y="316"/>
                </a:lnTo>
                <a:lnTo>
                  <a:pt x="33" y="323"/>
                </a:lnTo>
                <a:lnTo>
                  <a:pt x="35" y="333"/>
                </a:lnTo>
                <a:lnTo>
                  <a:pt x="44" y="352"/>
                </a:lnTo>
                <a:lnTo>
                  <a:pt x="48" y="358"/>
                </a:lnTo>
                <a:lnTo>
                  <a:pt x="56" y="365"/>
                </a:lnTo>
                <a:lnTo>
                  <a:pt x="62" y="369"/>
                </a:lnTo>
                <a:lnTo>
                  <a:pt x="71" y="375"/>
                </a:lnTo>
                <a:lnTo>
                  <a:pt x="79" y="377"/>
                </a:lnTo>
                <a:lnTo>
                  <a:pt x="87" y="379"/>
                </a:lnTo>
                <a:lnTo>
                  <a:pt x="96" y="381"/>
                </a:lnTo>
                <a:lnTo>
                  <a:pt x="96" y="362"/>
                </a:lnTo>
                <a:lnTo>
                  <a:pt x="96" y="344"/>
                </a:lnTo>
                <a:lnTo>
                  <a:pt x="88" y="344"/>
                </a:lnTo>
                <a:lnTo>
                  <a:pt x="83" y="348"/>
                </a:lnTo>
                <a:lnTo>
                  <a:pt x="79" y="354"/>
                </a:lnTo>
                <a:lnTo>
                  <a:pt x="79" y="362"/>
                </a:lnTo>
                <a:lnTo>
                  <a:pt x="79" y="369"/>
                </a:lnTo>
                <a:lnTo>
                  <a:pt x="83" y="375"/>
                </a:lnTo>
                <a:lnTo>
                  <a:pt x="88" y="379"/>
                </a:lnTo>
                <a:lnTo>
                  <a:pt x="96" y="344"/>
                </a:lnTo>
                <a:lnTo>
                  <a:pt x="87" y="344"/>
                </a:lnTo>
                <a:lnTo>
                  <a:pt x="79" y="346"/>
                </a:lnTo>
                <a:lnTo>
                  <a:pt x="71" y="348"/>
                </a:lnTo>
                <a:lnTo>
                  <a:pt x="62" y="354"/>
                </a:lnTo>
                <a:lnTo>
                  <a:pt x="56" y="360"/>
                </a:lnTo>
                <a:lnTo>
                  <a:pt x="50" y="365"/>
                </a:lnTo>
                <a:lnTo>
                  <a:pt x="44" y="371"/>
                </a:lnTo>
                <a:lnTo>
                  <a:pt x="35" y="390"/>
                </a:lnTo>
                <a:lnTo>
                  <a:pt x="33" y="400"/>
                </a:lnTo>
                <a:lnTo>
                  <a:pt x="31" y="408"/>
                </a:lnTo>
                <a:lnTo>
                  <a:pt x="31" y="419"/>
                </a:lnTo>
                <a:lnTo>
                  <a:pt x="31" y="649"/>
                </a:lnTo>
                <a:lnTo>
                  <a:pt x="29" y="660"/>
                </a:lnTo>
                <a:lnTo>
                  <a:pt x="48" y="660"/>
                </a:lnTo>
                <a:lnTo>
                  <a:pt x="31" y="654"/>
                </a:lnTo>
                <a:lnTo>
                  <a:pt x="27" y="664"/>
                </a:lnTo>
                <a:lnTo>
                  <a:pt x="17" y="683"/>
                </a:lnTo>
                <a:lnTo>
                  <a:pt x="35" y="689"/>
                </a:lnTo>
                <a:lnTo>
                  <a:pt x="21" y="677"/>
                </a:lnTo>
                <a:lnTo>
                  <a:pt x="16" y="685"/>
                </a:lnTo>
                <a:lnTo>
                  <a:pt x="27" y="697"/>
                </a:lnTo>
                <a:lnTo>
                  <a:pt x="21" y="679"/>
                </a:lnTo>
                <a:lnTo>
                  <a:pt x="12" y="685"/>
                </a:lnTo>
                <a:lnTo>
                  <a:pt x="4" y="687"/>
                </a:lnTo>
                <a:lnTo>
                  <a:pt x="10" y="704"/>
                </a:lnTo>
                <a:lnTo>
                  <a:pt x="10" y="687"/>
                </a:lnTo>
                <a:lnTo>
                  <a:pt x="0" y="689"/>
                </a:lnTo>
                <a:lnTo>
                  <a:pt x="0" y="725"/>
                </a:lnTo>
                <a:lnTo>
                  <a:pt x="10" y="723"/>
                </a:lnTo>
                <a:lnTo>
                  <a:pt x="17" y="721"/>
                </a:lnTo>
                <a:lnTo>
                  <a:pt x="25" y="720"/>
                </a:lnTo>
                <a:lnTo>
                  <a:pt x="35" y="714"/>
                </a:lnTo>
                <a:lnTo>
                  <a:pt x="40" y="710"/>
                </a:lnTo>
                <a:lnTo>
                  <a:pt x="46" y="702"/>
                </a:lnTo>
                <a:lnTo>
                  <a:pt x="52" y="697"/>
                </a:lnTo>
                <a:lnTo>
                  <a:pt x="62" y="677"/>
                </a:lnTo>
                <a:lnTo>
                  <a:pt x="65" y="668"/>
                </a:lnTo>
                <a:lnTo>
                  <a:pt x="65" y="660"/>
                </a:lnTo>
                <a:lnTo>
                  <a:pt x="67" y="649"/>
                </a:lnTo>
                <a:lnTo>
                  <a:pt x="67" y="419"/>
                </a:lnTo>
                <a:lnTo>
                  <a:pt x="67" y="408"/>
                </a:lnTo>
                <a:lnTo>
                  <a:pt x="50" y="408"/>
                </a:lnTo>
                <a:lnTo>
                  <a:pt x="67" y="413"/>
                </a:lnTo>
                <a:lnTo>
                  <a:pt x="69" y="404"/>
                </a:lnTo>
                <a:lnTo>
                  <a:pt x="79" y="385"/>
                </a:lnTo>
                <a:lnTo>
                  <a:pt x="62" y="379"/>
                </a:lnTo>
                <a:lnTo>
                  <a:pt x="75" y="390"/>
                </a:lnTo>
                <a:lnTo>
                  <a:pt x="81" y="385"/>
                </a:lnTo>
                <a:lnTo>
                  <a:pt x="69" y="371"/>
                </a:lnTo>
                <a:lnTo>
                  <a:pt x="75" y="388"/>
                </a:lnTo>
                <a:lnTo>
                  <a:pt x="85" y="383"/>
                </a:lnTo>
                <a:lnTo>
                  <a:pt x="92" y="381"/>
                </a:lnTo>
                <a:lnTo>
                  <a:pt x="87" y="364"/>
                </a:lnTo>
                <a:lnTo>
                  <a:pt x="87" y="381"/>
                </a:lnTo>
                <a:lnTo>
                  <a:pt x="96" y="381"/>
                </a:lnTo>
                <a:lnTo>
                  <a:pt x="96" y="379"/>
                </a:lnTo>
                <a:lnTo>
                  <a:pt x="104" y="379"/>
                </a:lnTo>
                <a:lnTo>
                  <a:pt x="110" y="375"/>
                </a:lnTo>
                <a:lnTo>
                  <a:pt x="113" y="369"/>
                </a:lnTo>
                <a:lnTo>
                  <a:pt x="113" y="362"/>
                </a:lnTo>
                <a:lnTo>
                  <a:pt x="113" y="354"/>
                </a:lnTo>
                <a:lnTo>
                  <a:pt x="110" y="348"/>
                </a:lnTo>
                <a:lnTo>
                  <a:pt x="104" y="344"/>
                </a:lnTo>
                <a:lnTo>
                  <a:pt x="96" y="344"/>
                </a:lnTo>
                <a:lnTo>
                  <a:pt x="87" y="342"/>
                </a:lnTo>
                <a:lnTo>
                  <a:pt x="87" y="360"/>
                </a:lnTo>
                <a:lnTo>
                  <a:pt x="92" y="342"/>
                </a:lnTo>
                <a:lnTo>
                  <a:pt x="85" y="341"/>
                </a:lnTo>
                <a:lnTo>
                  <a:pt x="75" y="335"/>
                </a:lnTo>
                <a:lnTo>
                  <a:pt x="69" y="352"/>
                </a:lnTo>
                <a:lnTo>
                  <a:pt x="83" y="341"/>
                </a:lnTo>
                <a:lnTo>
                  <a:pt x="75" y="333"/>
                </a:lnTo>
                <a:lnTo>
                  <a:pt x="62" y="344"/>
                </a:lnTo>
                <a:lnTo>
                  <a:pt x="79" y="339"/>
                </a:lnTo>
                <a:lnTo>
                  <a:pt x="69" y="320"/>
                </a:lnTo>
                <a:lnTo>
                  <a:pt x="67" y="310"/>
                </a:lnTo>
                <a:lnTo>
                  <a:pt x="50" y="316"/>
                </a:lnTo>
                <a:lnTo>
                  <a:pt x="67" y="316"/>
                </a:lnTo>
                <a:lnTo>
                  <a:pt x="67" y="304"/>
                </a:lnTo>
                <a:lnTo>
                  <a:pt x="67" y="74"/>
                </a:lnTo>
                <a:lnTo>
                  <a:pt x="65" y="63"/>
                </a:lnTo>
                <a:lnTo>
                  <a:pt x="65" y="55"/>
                </a:lnTo>
                <a:lnTo>
                  <a:pt x="62" y="46"/>
                </a:lnTo>
                <a:lnTo>
                  <a:pt x="52" y="27"/>
                </a:lnTo>
                <a:lnTo>
                  <a:pt x="48" y="21"/>
                </a:lnTo>
                <a:lnTo>
                  <a:pt x="40" y="15"/>
                </a:lnTo>
                <a:lnTo>
                  <a:pt x="35" y="9"/>
                </a:lnTo>
                <a:lnTo>
                  <a:pt x="25" y="4"/>
                </a:lnTo>
                <a:lnTo>
                  <a:pt x="17" y="2"/>
                </a:lnTo>
                <a:lnTo>
                  <a:pt x="10" y="0"/>
                </a:lnTo>
                <a:lnTo>
                  <a:pt x="0" y="0"/>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5464" name="Freeform 40">
            <a:extLst>
              <a:ext uri="{FF2B5EF4-FFF2-40B4-BE49-F238E27FC236}">
                <a16:creationId xmlns:a16="http://schemas.microsoft.com/office/drawing/2014/main" id="{DF472A64-3491-9A56-AD34-4142369269B6}"/>
              </a:ext>
            </a:extLst>
          </p:cNvPr>
          <p:cNvSpPr>
            <a:spLocks/>
          </p:cNvSpPr>
          <p:nvPr/>
        </p:nvSpPr>
        <p:spPr bwMode="auto">
          <a:xfrm>
            <a:off x="5449888" y="4699001"/>
            <a:ext cx="1047750" cy="917575"/>
          </a:xfrm>
          <a:custGeom>
            <a:avLst/>
            <a:gdLst>
              <a:gd name="T0" fmla="*/ 0 w 594"/>
              <a:gd name="T1" fmla="*/ 2147483646 h 539"/>
              <a:gd name="T2" fmla="*/ 2147483646 w 594"/>
              <a:gd name="T3" fmla="*/ 2147483646 h 539"/>
              <a:gd name="T4" fmla="*/ 2147483646 w 594"/>
              <a:gd name="T5" fmla="*/ 2147483646 h 539"/>
              <a:gd name="T6" fmla="*/ 2147483646 w 594"/>
              <a:gd name="T7" fmla="*/ 2147483646 h 539"/>
              <a:gd name="T8" fmla="*/ 2147483646 w 594"/>
              <a:gd name="T9" fmla="*/ 2147483646 h 5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4" h="539">
                <a:moveTo>
                  <a:pt x="0" y="32"/>
                </a:moveTo>
                <a:cubicBezTo>
                  <a:pt x="28" y="37"/>
                  <a:pt x="124" y="0"/>
                  <a:pt x="167" y="63"/>
                </a:cubicBezTo>
                <a:cubicBezTo>
                  <a:pt x="210" y="126"/>
                  <a:pt x="224" y="336"/>
                  <a:pt x="258" y="412"/>
                </a:cubicBezTo>
                <a:cubicBezTo>
                  <a:pt x="292" y="488"/>
                  <a:pt x="316" y="497"/>
                  <a:pt x="372" y="518"/>
                </a:cubicBezTo>
                <a:cubicBezTo>
                  <a:pt x="428" y="539"/>
                  <a:pt x="548" y="532"/>
                  <a:pt x="594" y="536"/>
                </a:cubicBezTo>
              </a:path>
            </a:pathLst>
          </a:custGeom>
          <a:noFill/>
          <a:ln w="31750" cmpd="sng">
            <a:solidFill>
              <a:srgbClr val="FF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76" name="Line 41">
            <a:extLst>
              <a:ext uri="{FF2B5EF4-FFF2-40B4-BE49-F238E27FC236}">
                <a16:creationId xmlns:a16="http://schemas.microsoft.com/office/drawing/2014/main" id="{F4598C00-43CA-AB9C-BB2E-9495B97D6586}"/>
              </a:ext>
            </a:extLst>
          </p:cNvPr>
          <p:cNvSpPr>
            <a:spLocks noChangeShapeType="1"/>
          </p:cNvSpPr>
          <p:nvPr/>
        </p:nvSpPr>
        <p:spPr bwMode="auto">
          <a:xfrm>
            <a:off x="2898775" y="3481389"/>
            <a:ext cx="61658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77" name="Line 42">
            <a:extLst>
              <a:ext uri="{FF2B5EF4-FFF2-40B4-BE49-F238E27FC236}">
                <a16:creationId xmlns:a16="http://schemas.microsoft.com/office/drawing/2014/main" id="{9D1510CF-D6BD-A341-F2E9-A27E04F55FE0}"/>
              </a:ext>
            </a:extLst>
          </p:cNvPr>
          <p:cNvSpPr>
            <a:spLocks noChangeShapeType="1"/>
          </p:cNvSpPr>
          <p:nvPr/>
        </p:nvSpPr>
        <p:spPr bwMode="auto">
          <a:xfrm>
            <a:off x="2908301" y="3994151"/>
            <a:ext cx="6151563"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78" name="Line 43">
            <a:extLst>
              <a:ext uri="{FF2B5EF4-FFF2-40B4-BE49-F238E27FC236}">
                <a16:creationId xmlns:a16="http://schemas.microsoft.com/office/drawing/2014/main" id="{3994E054-B7E5-4793-9197-8E01C9D14DB9}"/>
              </a:ext>
            </a:extLst>
          </p:cNvPr>
          <p:cNvSpPr>
            <a:spLocks noChangeShapeType="1"/>
          </p:cNvSpPr>
          <p:nvPr/>
        </p:nvSpPr>
        <p:spPr bwMode="auto">
          <a:xfrm>
            <a:off x="2876550" y="4441826"/>
            <a:ext cx="61912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79" name="Line 44">
            <a:extLst>
              <a:ext uri="{FF2B5EF4-FFF2-40B4-BE49-F238E27FC236}">
                <a16:creationId xmlns:a16="http://schemas.microsoft.com/office/drawing/2014/main" id="{D1372DBE-39F8-E661-0A89-21A757694B0B}"/>
              </a:ext>
            </a:extLst>
          </p:cNvPr>
          <p:cNvSpPr>
            <a:spLocks noChangeShapeType="1"/>
          </p:cNvSpPr>
          <p:nvPr/>
        </p:nvSpPr>
        <p:spPr bwMode="auto">
          <a:xfrm flipV="1">
            <a:off x="2898775" y="4905376"/>
            <a:ext cx="6178550" cy="222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480" name="Line 45">
            <a:extLst>
              <a:ext uri="{FF2B5EF4-FFF2-40B4-BE49-F238E27FC236}">
                <a16:creationId xmlns:a16="http://schemas.microsoft.com/office/drawing/2014/main" id="{769F56C5-B84B-7EBD-9F8E-0CEF5457A91E}"/>
              </a:ext>
            </a:extLst>
          </p:cNvPr>
          <p:cNvSpPr>
            <a:spLocks noChangeShapeType="1"/>
          </p:cNvSpPr>
          <p:nvPr/>
        </p:nvSpPr>
        <p:spPr bwMode="auto">
          <a:xfrm>
            <a:off x="2879725" y="5375276"/>
            <a:ext cx="618013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615470" name="Rectangle 46">
            <a:extLst>
              <a:ext uri="{FF2B5EF4-FFF2-40B4-BE49-F238E27FC236}">
                <a16:creationId xmlns:a16="http://schemas.microsoft.com/office/drawing/2014/main" id="{0A2F2785-BD5D-338A-6AF9-126B6C60F6D4}"/>
              </a:ext>
            </a:extLst>
          </p:cNvPr>
          <p:cNvSpPr>
            <a:spLocks noChangeArrowheads="1"/>
          </p:cNvSpPr>
          <p:nvPr/>
        </p:nvSpPr>
        <p:spPr bwMode="auto">
          <a:xfrm>
            <a:off x="6757989" y="4919664"/>
            <a:ext cx="18819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0000"/>
                </a:solidFill>
                <a:latin typeface="Arial Narrow" panose="020B0606020202030204" pitchFamily="34" charset="0"/>
              </a:rPr>
              <a:t>25/6 = 4.167</a:t>
            </a:r>
            <a:endParaRPr lang="en-US" altLang="en-US" sz="2600">
              <a:solidFill>
                <a:srgbClr val="FF0000"/>
              </a:solidFill>
              <a:latin typeface="Arial Narrow" panose="020B0606020202030204" pitchFamily="34" charset="0"/>
            </a:endParaRPr>
          </a:p>
        </p:txBody>
      </p:sp>
      <p:sp>
        <p:nvSpPr>
          <p:cNvPr id="615471" name="Rectangle 47">
            <a:extLst>
              <a:ext uri="{FF2B5EF4-FFF2-40B4-BE49-F238E27FC236}">
                <a16:creationId xmlns:a16="http://schemas.microsoft.com/office/drawing/2014/main" id="{4DF51BBD-1776-A6C5-D89C-E624DCF9A99B}"/>
              </a:ext>
            </a:extLst>
          </p:cNvPr>
          <p:cNvSpPr>
            <a:spLocks noChangeArrowheads="1"/>
          </p:cNvSpPr>
          <p:nvPr/>
        </p:nvSpPr>
        <p:spPr bwMode="auto">
          <a:xfrm>
            <a:off x="6765926" y="5391151"/>
            <a:ext cx="18819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a:solidFill>
                  <a:srgbClr val="FF0000"/>
                </a:solidFill>
                <a:latin typeface="Arial Narrow" panose="020B0606020202030204" pitchFamily="34" charset="0"/>
              </a:rPr>
              <a:t>32/6 = 5.333</a:t>
            </a:r>
            <a:endParaRPr lang="en-US" altLang="en-US" sz="2600">
              <a:solidFill>
                <a:srgbClr val="FF0000"/>
              </a:solidFill>
              <a:latin typeface="Arial Narrow" panose="020B0606020202030204" pitchFamily="34" charset="0"/>
            </a:endParaRPr>
          </a:p>
        </p:txBody>
      </p:sp>
      <p:sp>
        <p:nvSpPr>
          <p:cNvPr id="615472" name="Freeform 48">
            <a:extLst>
              <a:ext uri="{FF2B5EF4-FFF2-40B4-BE49-F238E27FC236}">
                <a16:creationId xmlns:a16="http://schemas.microsoft.com/office/drawing/2014/main" id="{0B3A09D8-54D9-ADA9-2B48-83B4D0200A08}"/>
              </a:ext>
            </a:extLst>
          </p:cNvPr>
          <p:cNvSpPr>
            <a:spLocks/>
          </p:cNvSpPr>
          <p:nvPr/>
        </p:nvSpPr>
        <p:spPr bwMode="auto">
          <a:xfrm>
            <a:off x="5756276" y="4267200"/>
            <a:ext cx="950913" cy="909638"/>
          </a:xfrm>
          <a:custGeom>
            <a:avLst/>
            <a:gdLst>
              <a:gd name="T0" fmla="*/ 0 w 539"/>
              <a:gd name="T1" fmla="*/ 2147483646 h 535"/>
              <a:gd name="T2" fmla="*/ 2147483646 w 539"/>
              <a:gd name="T3" fmla="*/ 2147483646 h 535"/>
              <a:gd name="T4" fmla="*/ 2147483646 w 539"/>
              <a:gd name="T5" fmla="*/ 2147483646 h 535"/>
              <a:gd name="T6" fmla="*/ 2147483646 w 539"/>
              <a:gd name="T7" fmla="*/ 2147483646 h 535"/>
              <a:gd name="T8" fmla="*/ 2147483646 w 539"/>
              <a:gd name="T9" fmla="*/ 2147483646 h 5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9" h="535">
                <a:moveTo>
                  <a:pt x="0" y="5"/>
                </a:moveTo>
                <a:cubicBezTo>
                  <a:pt x="24" y="6"/>
                  <a:pt x="86" y="0"/>
                  <a:pt x="137" y="13"/>
                </a:cubicBezTo>
                <a:cubicBezTo>
                  <a:pt x="188" y="26"/>
                  <a:pt x="270" y="7"/>
                  <a:pt x="304" y="81"/>
                </a:cubicBezTo>
                <a:cubicBezTo>
                  <a:pt x="338" y="155"/>
                  <a:pt x="303" y="387"/>
                  <a:pt x="342" y="461"/>
                </a:cubicBezTo>
                <a:cubicBezTo>
                  <a:pt x="381" y="535"/>
                  <a:pt x="498" y="509"/>
                  <a:pt x="539" y="522"/>
                </a:cubicBezTo>
              </a:path>
            </a:pathLst>
          </a:custGeom>
          <a:noFill/>
          <a:ln w="31750" cmpd="sng">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aphicFrame>
        <p:nvGraphicFramePr>
          <p:cNvPr id="61484" name="Object 49">
            <a:extLst>
              <a:ext uri="{FF2B5EF4-FFF2-40B4-BE49-F238E27FC236}">
                <a16:creationId xmlns:a16="http://schemas.microsoft.com/office/drawing/2014/main" id="{BB2DB07B-EB43-82CA-66AA-69BF7715F209}"/>
              </a:ext>
            </a:extLst>
          </p:cNvPr>
          <p:cNvGraphicFramePr>
            <a:graphicFrameLocks noGrp="1"/>
          </p:cNvGraphicFramePr>
          <p:nvPr>
            <p:ph idx="1"/>
          </p:nvPr>
        </p:nvGraphicFramePr>
        <p:xfrm>
          <a:off x="4953000" y="0"/>
          <a:ext cx="5715000" cy="495300"/>
        </p:xfrm>
        <a:graphic>
          <a:graphicData uri="http://schemas.openxmlformats.org/presentationml/2006/ole">
            <mc:AlternateContent xmlns:mc="http://schemas.openxmlformats.org/markup-compatibility/2006">
              <mc:Choice xmlns:v="urn:schemas-microsoft-com:vml" Requires="v">
                <p:oleObj name="Equation" r:id="rId2" imgW="46958250" imgH="3952875" progId="Equation.3">
                  <p:embed/>
                </p:oleObj>
              </mc:Choice>
              <mc:Fallback>
                <p:oleObj name="Equation" r:id="rId2" imgW="46958250" imgH="3952875" progId="Equation.3">
                  <p:embed/>
                  <p:pic>
                    <p:nvPicPr>
                      <p:cNvPr id="61484" name="Object 49">
                        <a:extLst>
                          <a:ext uri="{FF2B5EF4-FFF2-40B4-BE49-F238E27FC236}">
                            <a16:creationId xmlns:a16="http://schemas.microsoft.com/office/drawing/2014/main" id="{BB2DB07B-EB43-82CA-66AA-69BF7715F20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0"/>
                        <a:ext cx="5715000" cy="4953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54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54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547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1547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1545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1546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546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15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56" grpId="0"/>
      <p:bldP spid="615459" grpId="0"/>
      <p:bldP spid="615470" grpId="0"/>
      <p:bldP spid="615471"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7A8CB5D-2520-7387-EC12-5990A1A80CB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2467" name="Rectangle 3">
            <a:extLst>
              <a:ext uri="{FF2B5EF4-FFF2-40B4-BE49-F238E27FC236}">
                <a16:creationId xmlns:a16="http://schemas.microsoft.com/office/drawing/2014/main" id="{09CF6FB2-C461-2CF5-C2BE-8D1FDE92E9D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2468" name="Rectangle 4">
            <a:extLst>
              <a:ext uri="{FF2B5EF4-FFF2-40B4-BE49-F238E27FC236}">
                <a16:creationId xmlns:a16="http://schemas.microsoft.com/office/drawing/2014/main" id="{E232B4D0-E23E-F92A-9E5E-E41B280DAC90}"/>
              </a:ext>
            </a:extLst>
          </p:cNvPr>
          <p:cNvSpPr>
            <a:spLocks noGrp="1" noChangeArrowheads="1"/>
          </p:cNvSpPr>
          <p:nvPr>
            <p:ph type="title"/>
          </p:nvPr>
        </p:nvSpPr>
        <p:spPr>
          <a:xfrm>
            <a:off x="1828800" y="457200"/>
            <a:ext cx="7772400" cy="609600"/>
          </a:xfrm>
          <a:noFill/>
        </p:spPr>
        <p:txBody>
          <a:bodyPr vert="horz" wrap="square" lIns="90488" tIns="44450" rIns="90488" bIns="44450" numCol="1" anchor="b" anchorCtr="0" compatLnSpc="1">
            <a:prstTxWarp prst="textNoShape">
              <a:avLst/>
            </a:prstTxWarp>
          </a:bodyPr>
          <a:lstStyle/>
          <a:p>
            <a:r>
              <a:rPr lang="en-US" altLang="en-US" dirty="0"/>
              <a:t> Exponential Smoothing</a:t>
            </a:r>
          </a:p>
        </p:txBody>
      </p:sp>
      <p:sp>
        <p:nvSpPr>
          <p:cNvPr id="535557" name="Rectangle 5">
            <a:extLst>
              <a:ext uri="{FF2B5EF4-FFF2-40B4-BE49-F238E27FC236}">
                <a16:creationId xmlns:a16="http://schemas.microsoft.com/office/drawing/2014/main" id="{F6F51772-4500-1F71-3400-EF1B58664DB1}"/>
              </a:ext>
            </a:extLst>
          </p:cNvPr>
          <p:cNvSpPr>
            <a:spLocks noGrp="1" noChangeArrowheads="1"/>
          </p:cNvSpPr>
          <p:nvPr>
            <p:ph type="body" idx="1"/>
          </p:nvPr>
        </p:nvSpPr>
        <p:spPr>
          <a:xfrm>
            <a:off x="1828800" y="1447800"/>
            <a:ext cx="8191500" cy="1524000"/>
          </a:xfrm>
          <a:noFill/>
        </p:spPr>
        <p:txBody>
          <a:bodyPr vert="horz" wrap="square" lIns="90488" tIns="44450" rIns="90488" bIns="44450" numCol="1" anchor="t" anchorCtr="0" compatLnSpc="1">
            <a:prstTxWarp prst="textNoShape">
              <a:avLst/>
            </a:prstTxWarp>
          </a:bodyPr>
          <a:lstStyle/>
          <a:p>
            <a:r>
              <a:rPr lang="en-US" altLang="en-US" sz="2800" b="1"/>
              <a:t>Assumes the most recent observations have the highest predictive value</a:t>
            </a:r>
          </a:p>
          <a:p>
            <a:pPr lvl="1"/>
            <a:r>
              <a:rPr lang="en-US" altLang="en-US" sz="2400" b="1">
                <a:solidFill>
                  <a:srgbClr val="0000CC"/>
                </a:solidFill>
              </a:rPr>
              <a:t>gives more weight to recent time periods</a:t>
            </a:r>
          </a:p>
        </p:txBody>
      </p:sp>
      <p:sp>
        <p:nvSpPr>
          <p:cNvPr id="535558" name="Rectangle 6">
            <a:extLst>
              <a:ext uri="{FF2B5EF4-FFF2-40B4-BE49-F238E27FC236}">
                <a16:creationId xmlns:a16="http://schemas.microsoft.com/office/drawing/2014/main" id="{C8E2BC5C-7530-771E-422B-67CCA11B7573}"/>
              </a:ext>
            </a:extLst>
          </p:cNvPr>
          <p:cNvSpPr>
            <a:spLocks noChangeArrowheads="1"/>
          </p:cNvSpPr>
          <p:nvPr/>
        </p:nvSpPr>
        <p:spPr bwMode="auto">
          <a:xfrm>
            <a:off x="2846388" y="2903538"/>
            <a:ext cx="5027612" cy="830262"/>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4800">
                <a:solidFill>
                  <a:srgbClr val="292929"/>
                </a:solidFill>
                <a:latin typeface="Times New Roman" panose="02020603050405020304" pitchFamily="18" charset="0"/>
              </a:rPr>
              <a:t>F</a:t>
            </a:r>
            <a:r>
              <a:rPr lang="en-US" altLang="en-US" sz="4800" baseline="-25000">
                <a:solidFill>
                  <a:srgbClr val="292929"/>
                </a:solidFill>
                <a:latin typeface="Times New Roman" panose="02020603050405020304" pitchFamily="18" charset="0"/>
              </a:rPr>
              <a:t>t+1</a:t>
            </a:r>
            <a:r>
              <a:rPr lang="en-US" altLang="en-US" sz="4800">
                <a:solidFill>
                  <a:srgbClr val="292929"/>
                </a:solidFill>
                <a:latin typeface="Times New Roman" panose="02020603050405020304" pitchFamily="18" charset="0"/>
              </a:rPr>
              <a:t> = F</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a:t>
            </a:r>
            <a:r>
              <a:rPr lang="en-US" altLang="en-US" sz="4800">
                <a:solidFill>
                  <a:srgbClr val="292929"/>
                </a:solidFill>
                <a:latin typeface="Symbol" panose="05050102010706020507" pitchFamily="18" charset="2"/>
              </a:rPr>
              <a:t>a</a:t>
            </a:r>
            <a:r>
              <a:rPr lang="en-US" altLang="en-US" sz="4800">
                <a:solidFill>
                  <a:srgbClr val="292929"/>
                </a:solidFill>
                <a:latin typeface="Times New Roman" panose="02020603050405020304" pitchFamily="18" charset="0"/>
              </a:rPr>
              <a:t>(A</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F</a:t>
            </a:r>
            <a:r>
              <a:rPr lang="en-US" altLang="en-US" sz="4800" baseline="-25000">
                <a:solidFill>
                  <a:srgbClr val="292929"/>
                </a:solidFill>
                <a:latin typeface="Times New Roman" panose="02020603050405020304" pitchFamily="18" charset="0"/>
              </a:rPr>
              <a:t>t</a:t>
            </a:r>
            <a:r>
              <a:rPr lang="en-US" altLang="en-US" sz="4800">
                <a:solidFill>
                  <a:srgbClr val="292929"/>
                </a:solidFill>
                <a:latin typeface="Times New Roman" panose="02020603050405020304" pitchFamily="18" charset="0"/>
              </a:rPr>
              <a:t>)</a:t>
            </a:r>
          </a:p>
        </p:txBody>
      </p:sp>
      <p:sp>
        <p:nvSpPr>
          <p:cNvPr id="535560" name="AutoShape 8">
            <a:extLst>
              <a:ext uri="{FF2B5EF4-FFF2-40B4-BE49-F238E27FC236}">
                <a16:creationId xmlns:a16="http://schemas.microsoft.com/office/drawing/2014/main" id="{9D9CE281-DDEC-80A5-7D31-8A1B148FECA1}"/>
              </a:ext>
            </a:extLst>
          </p:cNvPr>
          <p:cNvSpPr>
            <a:spLocks/>
          </p:cNvSpPr>
          <p:nvPr/>
        </p:nvSpPr>
        <p:spPr bwMode="auto">
          <a:xfrm rot="16200000">
            <a:off x="6743700" y="3009900"/>
            <a:ext cx="304800" cy="1752600"/>
          </a:xfrm>
          <a:prstGeom prst="leftBrace">
            <a:avLst>
              <a:gd name="adj1" fmla="val 47917"/>
              <a:gd name="adj2" fmla="val 50000"/>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fontAlgn="base">
              <a:spcBef>
                <a:spcPct val="0"/>
              </a:spcBef>
              <a:spcAft>
                <a:spcPct val="0"/>
              </a:spcAft>
              <a:buClrTx/>
              <a:buNone/>
            </a:pPr>
            <a:endParaRPr lang="en-US" altLang="en-US" sz="2400">
              <a:solidFill>
                <a:srgbClr val="292929"/>
              </a:solidFill>
              <a:latin typeface="Times New Roman" panose="02020603050405020304" pitchFamily="18" charset="0"/>
            </a:endParaRPr>
          </a:p>
        </p:txBody>
      </p:sp>
      <p:sp>
        <p:nvSpPr>
          <p:cNvPr id="535561" name="Text Box 9">
            <a:extLst>
              <a:ext uri="{FF2B5EF4-FFF2-40B4-BE49-F238E27FC236}">
                <a16:creationId xmlns:a16="http://schemas.microsoft.com/office/drawing/2014/main" id="{750FE2A3-8442-14C2-5BE4-C82089ED1FD4}"/>
              </a:ext>
            </a:extLst>
          </p:cNvPr>
          <p:cNvSpPr txBox="1">
            <a:spLocks noChangeArrowheads="1"/>
          </p:cNvSpPr>
          <p:nvPr/>
        </p:nvSpPr>
        <p:spPr bwMode="auto">
          <a:xfrm>
            <a:off x="6705600" y="3962400"/>
            <a:ext cx="376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sz="2400">
                <a:solidFill>
                  <a:srgbClr val="292929"/>
                </a:solidFill>
                <a:latin typeface="Times New Roman" panose="02020603050405020304" pitchFamily="18" charset="0"/>
              </a:rPr>
              <a:t>e</a:t>
            </a:r>
            <a:r>
              <a:rPr lang="en-US" altLang="en-US" sz="2400" baseline="-25000">
                <a:solidFill>
                  <a:srgbClr val="292929"/>
                </a:solidFill>
                <a:latin typeface="Times New Roman" panose="02020603050405020304" pitchFamily="18" charset="0"/>
              </a:rPr>
              <a:t>t</a:t>
            </a:r>
          </a:p>
        </p:txBody>
      </p:sp>
      <p:sp>
        <p:nvSpPr>
          <p:cNvPr id="535562" name="Rectangle 10">
            <a:extLst>
              <a:ext uri="{FF2B5EF4-FFF2-40B4-BE49-F238E27FC236}">
                <a16:creationId xmlns:a16="http://schemas.microsoft.com/office/drawing/2014/main" id="{597E1D5A-8039-1BB7-7326-1BE4383F83CE}"/>
              </a:ext>
            </a:extLst>
          </p:cNvPr>
          <p:cNvSpPr>
            <a:spLocks noChangeArrowheads="1"/>
          </p:cNvSpPr>
          <p:nvPr/>
        </p:nvSpPr>
        <p:spPr bwMode="auto">
          <a:xfrm>
            <a:off x="2438401" y="4648200"/>
            <a:ext cx="7256463"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724" tIns="40636" rIns="82724" bIns="40636"/>
          <a:lstStyle>
            <a:lvl1pPr marL="571500" indent="-571500">
              <a:spcBef>
                <a:spcPct val="20000"/>
              </a:spcBef>
              <a:buClr>
                <a:srgbClr val="B82629"/>
              </a:buClr>
              <a:buFont typeface="Wingdings" panose="05000000000000000000" pitchFamily="2" charset="2"/>
              <a:buChar char="n"/>
              <a:tabLst>
                <a:tab pos="1019175" algn="l"/>
                <a:tab pos="1439863" algn="l"/>
              </a:tabLst>
              <a:defRPr sz="3200">
                <a:solidFill>
                  <a:schemeClr val="tx1"/>
                </a:solidFill>
                <a:latin typeface="Arial" panose="020B0604020202020204" pitchFamily="34" charset="0"/>
              </a:defRPr>
            </a:lvl1pPr>
            <a:lvl2pPr marL="971550" indent="-285750">
              <a:spcBef>
                <a:spcPct val="20000"/>
              </a:spcBef>
              <a:buClr>
                <a:srgbClr val="B82629"/>
              </a:buClr>
              <a:buFont typeface="Wingdings" panose="05000000000000000000" pitchFamily="2" charset="2"/>
              <a:buChar char="ü"/>
              <a:tabLst>
                <a:tab pos="1019175" algn="l"/>
                <a:tab pos="1439863" algn="l"/>
              </a:tabLst>
              <a:defRPr sz="2800">
                <a:solidFill>
                  <a:schemeClr val="tx1"/>
                </a:solidFill>
                <a:latin typeface="Arial" panose="020B0604020202020204" pitchFamily="34" charset="0"/>
              </a:defRPr>
            </a:lvl2pPr>
            <a:lvl3pPr marL="1314450" indent="-228600">
              <a:spcBef>
                <a:spcPct val="20000"/>
              </a:spcBef>
              <a:buClr>
                <a:srgbClr val="B82629"/>
              </a:buClr>
              <a:buFont typeface="Wingdings" panose="05000000000000000000" pitchFamily="2" charset="2"/>
              <a:buChar char="n"/>
              <a:tabLst>
                <a:tab pos="1019175" algn="l"/>
                <a:tab pos="1439863" algn="l"/>
              </a:tabLst>
              <a:defRPr sz="2400">
                <a:solidFill>
                  <a:schemeClr val="tx1"/>
                </a:solidFill>
                <a:latin typeface="Arial" panose="020B0604020202020204" pitchFamily="34" charset="0"/>
              </a:defRPr>
            </a:lvl3pPr>
            <a:lvl4pPr marL="1657350" indent="-228600">
              <a:spcBef>
                <a:spcPct val="20000"/>
              </a:spcBef>
              <a:buClr>
                <a:srgbClr val="B82629"/>
              </a:buClr>
              <a:buFont typeface="Wingdings" panose="05000000000000000000" pitchFamily="2" charset="2"/>
              <a:buChar char="ü"/>
              <a:tabLst>
                <a:tab pos="1019175" algn="l"/>
                <a:tab pos="1439863" algn="l"/>
              </a:tabLst>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tabLst>
                <a:tab pos="1019175" algn="l"/>
                <a:tab pos="14398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tabLst>
                <a:tab pos="1019175" algn="l"/>
                <a:tab pos="14398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tabLst>
                <a:tab pos="1019175" algn="l"/>
                <a:tab pos="14398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tabLst>
                <a:tab pos="1019175" algn="l"/>
                <a:tab pos="14398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tabLst>
                <a:tab pos="1019175" algn="l"/>
                <a:tab pos="1439863" algn="l"/>
              </a:tabLst>
              <a:defRPr sz="2000">
                <a:solidFill>
                  <a:schemeClr val="tx1"/>
                </a:solidFill>
                <a:latin typeface="Arial" panose="020B0604020202020204" pitchFamily="34" charset="0"/>
              </a:defRPr>
            </a:lvl9pPr>
          </a:lstStyle>
          <a:p>
            <a:pPr lvl="1" fontAlgn="base">
              <a:spcBef>
                <a:spcPct val="47000"/>
              </a:spcBef>
              <a:spcAft>
                <a:spcPct val="0"/>
              </a:spcAft>
              <a:buNone/>
            </a:pPr>
            <a:r>
              <a:rPr lang="en-US" altLang="en-US" sz="2400" i="1">
                <a:solidFill>
                  <a:srgbClr val="292929"/>
                </a:solidFill>
              </a:rPr>
              <a:t>F</a:t>
            </a:r>
            <a:r>
              <a:rPr lang="en-US" altLang="en-US" sz="2400" i="1" baseline="-25000">
                <a:solidFill>
                  <a:srgbClr val="292929"/>
                </a:solidFill>
              </a:rPr>
              <a:t>t+1</a:t>
            </a:r>
            <a:r>
              <a:rPr lang="en-US" altLang="en-US" sz="2400">
                <a:solidFill>
                  <a:srgbClr val="292929"/>
                </a:solidFill>
              </a:rPr>
              <a:t>	 = Forecast  value for time </a:t>
            </a:r>
            <a:r>
              <a:rPr lang="en-US" altLang="en-US" sz="2400" i="1">
                <a:solidFill>
                  <a:srgbClr val="292929"/>
                </a:solidFill>
              </a:rPr>
              <a:t>t+1</a:t>
            </a:r>
            <a:endParaRPr lang="en-US" altLang="en-US" sz="2400">
              <a:solidFill>
                <a:srgbClr val="292929"/>
              </a:solidFill>
            </a:endParaRPr>
          </a:p>
          <a:p>
            <a:pPr lvl="1" fontAlgn="base">
              <a:spcAft>
                <a:spcPct val="0"/>
              </a:spcAft>
              <a:buNone/>
            </a:pPr>
            <a:r>
              <a:rPr lang="en-US" altLang="en-US" sz="2400" i="1">
                <a:solidFill>
                  <a:srgbClr val="292929"/>
                </a:solidFill>
              </a:rPr>
              <a:t>A</a:t>
            </a:r>
            <a:r>
              <a:rPr lang="en-US" altLang="en-US" sz="2400" i="1" baseline="-25000">
                <a:solidFill>
                  <a:srgbClr val="292929"/>
                </a:solidFill>
              </a:rPr>
              <a:t>t	</a:t>
            </a:r>
            <a:r>
              <a:rPr lang="en-US" altLang="en-US" sz="2400">
                <a:solidFill>
                  <a:srgbClr val="292929"/>
                </a:solidFill>
              </a:rPr>
              <a:t>		= Actual value at time </a:t>
            </a:r>
            <a:r>
              <a:rPr lang="en-US" altLang="en-US" sz="2400" i="1">
                <a:solidFill>
                  <a:srgbClr val="292929"/>
                </a:solidFill>
              </a:rPr>
              <a:t>t</a:t>
            </a:r>
            <a:r>
              <a:rPr lang="en-US" altLang="en-US" sz="2400">
                <a:solidFill>
                  <a:srgbClr val="292929"/>
                </a:solidFill>
              </a:rPr>
              <a:t> </a:t>
            </a:r>
          </a:p>
          <a:p>
            <a:pPr lvl="1" fontAlgn="base">
              <a:spcAft>
                <a:spcPct val="0"/>
              </a:spcAft>
              <a:buNone/>
            </a:pPr>
            <a:r>
              <a:rPr lang="en-US" altLang="en-US" sz="2400">
                <a:solidFill>
                  <a:srgbClr val="292929"/>
                </a:solidFill>
                <a:latin typeface="Symbol" panose="05050102010706020507" pitchFamily="18" charset="2"/>
              </a:rPr>
              <a:t></a:t>
            </a:r>
            <a:r>
              <a:rPr lang="en-US" altLang="en-US" sz="2400">
                <a:solidFill>
                  <a:srgbClr val="292929"/>
                </a:solidFill>
              </a:rPr>
              <a:t>   	= Smoothing constant</a:t>
            </a:r>
          </a:p>
        </p:txBody>
      </p:sp>
      <p:sp>
        <p:nvSpPr>
          <p:cNvPr id="535564" name="Oval 12">
            <a:extLst>
              <a:ext uri="{FF2B5EF4-FFF2-40B4-BE49-F238E27FC236}">
                <a16:creationId xmlns:a16="http://schemas.microsoft.com/office/drawing/2014/main" id="{4CB8C6F2-0944-B68F-CC4E-FDA4BDF9D72D}"/>
              </a:ext>
            </a:extLst>
          </p:cNvPr>
          <p:cNvSpPr>
            <a:spLocks noChangeArrowheads="1"/>
          </p:cNvSpPr>
          <p:nvPr/>
        </p:nvSpPr>
        <p:spPr bwMode="auto">
          <a:xfrm>
            <a:off x="8559667" y="4180248"/>
            <a:ext cx="2078307" cy="2307504"/>
          </a:xfrm>
          <a:prstGeom prst="ellipse">
            <a:avLst/>
          </a:prstGeom>
          <a:solidFill>
            <a:srgbClr val="FFCC99"/>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round/>
                <a:headEnd/>
                <a:tailEnd/>
              </a14:hiddenLine>
            </a:ext>
          </a:extLst>
        </p:spPr>
        <p:txBody>
          <a:bodyPr wrap="none" lIns="90488" tIns="44450" rIns="90488" bIns="44450" anchor="ctr">
            <a:spAutoFit/>
          </a:bodyPr>
          <a:lstStyle>
            <a:lvl1pPr marL="447675" indent="-44767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Aft>
                <a:spcPct val="0"/>
              </a:spcAft>
              <a:buClr>
                <a:srgbClr val="FF9933"/>
              </a:buClr>
              <a:buNone/>
            </a:pPr>
            <a:endParaRPr lang="en-US" altLang="en-US" sz="1800" b="1">
              <a:solidFill>
                <a:srgbClr val="292929"/>
              </a:solidFill>
            </a:endParaRPr>
          </a:p>
          <a:p>
            <a:pPr algn="ctr" eaLnBrk="0" fontAlgn="base" hangingPunct="0">
              <a:spcAft>
                <a:spcPct val="0"/>
              </a:spcAft>
              <a:buClr>
                <a:srgbClr val="FF9933"/>
              </a:buClr>
              <a:buNone/>
            </a:pPr>
            <a:r>
              <a:rPr lang="en-US" altLang="en-US" sz="1800" b="1">
                <a:solidFill>
                  <a:srgbClr val="292929"/>
                </a:solidFill>
              </a:rPr>
              <a:t>Need initial </a:t>
            </a:r>
          </a:p>
          <a:p>
            <a:pPr algn="ctr" eaLnBrk="0" fontAlgn="base" hangingPunct="0">
              <a:spcAft>
                <a:spcPct val="0"/>
              </a:spcAft>
              <a:buClr>
                <a:srgbClr val="FF9933"/>
              </a:buClr>
              <a:buNone/>
            </a:pPr>
            <a:r>
              <a:rPr lang="en-US" altLang="en-US" sz="1800" b="1">
                <a:solidFill>
                  <a:srgbClr val="292929"/>
                </a:solidFill>
              </a:rPr>
              <a:t>forecast </a:t>
            </a:r>
            <a:r>
              <a:rPr lang="en-US" altLang="en-US" sz="1800" b="1" i="1">
                <a:solidFill>
                  <a:srgbClr val="292929"/>
                </a:solidFill>
              </a:rPr>
              <a:t>F</a:t>
            </a:r>
            <a:r>
              <a:rPr lang="en-US" altLang="en-US" sz="1800" b="1" i="1" baseline="-25000">
                <a:solidFill>
                  <a:srgbClr val="292929"/>
                </a:solidFill>
              </a:rPr>
              <a:t>t</a:t>
            </a:r>
            <a:r>
              <a:rPr lang="en-US" altLang="en-US" sz="1800" b="1">
                <a:solidFill>
                  <a:srgbClr val="292929"/>
                </a:solidFill>
              </a:rPr>
              <a:t> </a:t>
            </a:r>
          </a:p>
          <a:p>
            <a:pPr algn="ctr" eaLnBrk="0" fontAlgn="base" hangingPunct="0">
              <a:spcAft>
                <a:spcPct val="0"/>
              </a:spcAft>
              <a:buClr>
                <a:srgbClr val="FF9933"/>
              </a:buClr>
              <a:buNone/>
            </a:pPr>
            <a:r>
              <a:rPr lang="en-US" altLang="en-US" sz="1800" b="1">
                <a:solidFill>
                  <a:srgbClr val="292929"/>
                </a:solidFill>
              </a:rPr>
              <a:t>to start.</a:t>
            </a:r>
          </a:p>
          <a:p>
            <a:pPr algn="ctr" eaLnBrk="0" fontAlgn="base" hangingPunct="0">
              <a:spcBef>
                <a:spcPct val="0"/>
              </a:spcBef>
              <a:spcAft>
                <a:spcPct val="0"/>
              </a:spcAft>
              <a:buNone/>
            </a:pPr>
            <a:endParaRPr lang="en-US" altLang="en-US" sz="1800" b="1">
              <a:solidFill>
                <a:srgbClr val="292929"/>
              </a:solidFill>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5557">
                                            <p:txEl>
                                              <p:pRg st="0" end="0"/>
                                            </p:txEl>
                                          </p:spTgt>
                                        </p:tgtEl>
                                        <p:attrNameLst>
                                          <p:attrName>style.visibility</p:attrName>
                                        </p:attrNameLst>
                                      </p:cBhvr>
                                      <p:to>
                                        <p:strVal val="visible"/>
                                      </p:to>
                                    </p:set>
                                    <p:animEffect transition="in" filter="wipe(left)">
                                      <p:cBhvr>
                                        <p:cTn id="7" dur="500"/>
                                        <p:tgtEl>
                                          <p:spTgt spid="535557">
                                            <p:txEl>
                                              <p:pRg st="0" end="0"/>
                                            </p:txEl>
                                          </p:spTgt>
                                        </p:tgtEl>
                                      </p:cBhvr>
                                    </p:animEffect>
                                  </p:childTnLst>
                                  <p:subTnLst>
                                    <p:animClr clrSpc="rgb" dir="cw">
                                      <p:cBhvr override="childStyle">
                                        <p:cTn dur="1" fill="hold" display="0" masterRel="nextClick" afterEffect="1"/>
                                        <p:tgtEl>
                                          <p:spTgt spid="535557">
                                            <p:txEl>
                                              <p:pRg st="0" end="0"/>
                                            </p:txEl>
                                          </p:spTgt>
                                        </p:tgtEl>
                                        <p:attrNameLst>
                                          <p:attrName>ppt_c</p:attrName>
                                        </p:attrNameLst>
                                      </p:cBhvr>
                                      <p:to>
                                        <a:schemeClr val="accent2"/>
                                      </p:to>
                                    </p:animClr>
                                  </p:subTnLst>
                                </p:cTn>
                              </p:par>
                              <p:par>
                                <p:cTn id="8" presetID="22" presetClass="entr" presetSubtype="8" fill="hold" nodeType="withEffect">
                                  <p:stCondLst>
                                    <p:cond delay="0"/>
                                  </p:stCondLst>
                                  <p:childTnLst>
                                    <p:set>
                                      <p:cBhvr>
                                        <p:cTn id="9" dur="1" fill="hold">
                                          <p:stCondLst>
                                            <p:cond delay="0"/>
                                          </p:stCondLst>
                                        </p:cTn>
                                        <p:tgtEl>
                                          <p:spTgt spid="535557">
                                            <p:txEl>
                                              <p:pRg st="1" end="1"/>
                                            </p:txEl>
                                          </p:spTgt>
                                        </p:tgtEl>
                                        <p:attrNameLst>
                                          <p:attrName>style.visibility</p:attrName>
                                        </p:attrNameLst>
                                      </p:cBhvr>
                                      <p:to>
                                        <p:strVal val="visible"/>
                                      </p:to>
                                    </p:set>
                                    <p:animEffect transition="in" filter="wipe(left)">
                                      <p:cBhvr>
                                        <p:cTn id="10" dur="500"/>
                                        <p:tgtEl>
                                          <p:spTgt spid="535557">
                                            <p:txEl>
                                              <p:pRg st="1" end="1"/>
                                            </p:txEl>
                                          </p:spTgt>
                                        </p:tgtEl>
                                      </p:cBhvr>
                                    </p:animEffect>
                                  </p:childTnLst>
                                  <p:subTnLst>
                                    <p:animClr clrSpc="rgb" dir="cw">
                                      <p:cBhvr override="childStyle">
                                        <p:cTn dur="1" fill="hold" display="0" masterRel="nextClick" afterEffect="1"/>
                                        <p:tgtEl>
                                          <p:spTgt spid="535557">
                                            <p:txEl>
                                              <p:pRg st="1" end="1"/>
                                            </p:txEl>
                                          </p:spTgt>
                                        </p:tgtEl>
                                        <p:attrNameLst>
                                          <p:attrName>ppt_c</p:attrName>
                                        </p:attrNameLst>
                                      </p:cBhvr>
                                      <p:to>
                                        <a:schemeClr val="accent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3555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355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355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556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35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7" grpId="0" uiExpand="1" build="p" autoUpdateAnimBg="0"/>
      <p:bldP spid="535558" grpId="0" animBg="1"/>
      <p:bldP spid="535560" grpId="0" animBg="1"/>
      <p:bldP spid="535561" grpId="0"/>
      <p:bldP spid="535562" grpId="0"/>
      <p:bldP spid="53556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3B4C806-A73B-A762-9A89-7175C263604A}"/>
              </a:ext>
            </a:extLst>
          </p:cNvPr>
          <p:cNvSpPr>
            <a:spLocks noChangeArrowheads="1"/>
          </p:cNvSpPr>
          <p:nvPr/>
        </p:nvSpPr>
        <p:spPr bwMode="auto">
          <a:xfrm>
            <a:off x="9744075" y="6397625"/>
            <a:ext cx="20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graphicFrame>
        <p:nvGraphicFramePr>
          <p:cNvPr id="66563" name="Object 3">
            <a:extLst>
              <a:ext uri="{FF2B5EF4-FFF2-40B4-BE49-F238E27FC236}">
                <a16:creationId xmlns:a16="http://schemas.microsoft.com/office/drawing/2014/main" id="{820DBC7E-E7E6-F293-46B1-B9C26BD4AF83}"/>
              </a:ext>
            </a:extLst>
          </p:cNvPr>
          <p:cNvGraphicFramePr>
            <a:graphicFrameLocks/>
          </p:cNvGraphicFramePr>
          <p:nvPr/>
        </p:nvGraphicFramePr>
        <p:xfrm>
          <a:off x="2057400" y="2286000"/>
          <a:ext cx="5943600" cy="4343400"/>
        </p:xfrm>
        <a:graphic>
          <a:graphicData uri="http://schemas.openxmlformats.org/presentationml/2006/ole">
            <mc:AlternateContent xmlns:mc="http://schemas.openxmlformats.org/markup-compatibility/2006">
              <mc:Choice xmlns:v="urn:schemas-microsoft-com:vml" Requires="v">
                <p:oleObj name="Worksheet" r:id="rId3" imgW="0" imgH="0" progId="Excel.Sheet.8">
                  <p:embed/>
                </p:oleObj>
              </mc:Choice>
              <mc:Fallback>
                <p:oleObj name="Worksheet" r:id="rId3" imgW="0" imgH="0" progId="Excel.Sheet.8">
                  <p:embed/>
                  <p:pic>
                    <p:nvPicPr>
                      <p:cNvPr id="66563" name="Object 3">
                        <a:extLst>
                          <a:ext uri="{FF2B5EF4-FFF2-40B4-BE49-F238E27FC236}">
                            <a16:creationId xmlns:a16="http://schemas.microsoft.com/office/drawing/2014/main" id="{820DBC7E-E7E6-F293-46B1-B9C26BD4AF8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286000"/>
                        <a:ext cx="5943600" cy="43434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64" name="Rectangle 5">
            <a:extLst>
              <a:ext uri="{FF2B5EF4-FFF2-40B4-BE49-F238E27FC236}">
                <a16:creationId xmlns:a16="http://schemas.microsoft.com/office/drawing/2014/main" id="{A72E26D9-4BFE-0223-CD95-5A8536D0BC59}"/>
              </a:ext>
            </a:extLst>
          </p:cNvPr>
          <p:cNvSpPr>
            <a:spLocks noChangeArrowheads="1"/>
          </p:cNvSpPr>
          <p:nvPr/>
        </p:nvSpPr>
        <p:spPr bwMode="auto">
          <a:xfrm>
            <a:off x="2743201" y="1066801"/>
            <a:ext cx="5027613" cy="830263"/>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4800">
                <a:solidFill>
                  <a:srgbClr val="292929"/>
                </a:solidFill>
                <a:latin typeface="Times New Roman" panose="02020603050405020304" pitchFamily="18" charset="0"/>
              </a:rPr>
              <a:t>F</a:t>
            </a:r>
            <a:r>
              <a:rPr lang="en-US" altLang="en-US" sz="4800" baseline="-25000">
                <a:solidFill>
                  <a:srgbClr val="292929"/>
                </a:solidFill>
                <a:latin typeface="Times New Roman" panose="02020603050405020304" pitchFamily="18" charset="0"/>
              </a:rPr>
              <a:t>t+1</a:t>
            </a:r>
            <a:r>
              <a:rPr lang="en-US" altLang="en-US" sz="4800">
                <a:solidFill>
                  <a:srgbClr val="292929"/>
                </a:solidFill>
                <a:latin typeface="Times New Roman" panose="02020603050405020304" pitchFamily="18" charset="0"/>
              </a:rPr>
              <a:t> = F</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a:t>
            </a:r>
            <a:r>
              <a:rPr lang="en-US" altLang="en-US" sz="4800">
                <a:solidFill>
                  <a:srgbClr val="292929"/>
                </a:solidFill>
                <a:latin typeface="Symbol" panose="05050102010706020507" pitchFamily="18" charset="2"/>
              </a:rPr>
              <a:t>a</a:t>
            </a:r>
            <a:r>
              <a:rPr lang="en-US" altLang="en-US" sz="4800">
                <a:solidFill>
                  <a:srgbClr val="292929"/>
                </a:solidFill>
                <a:latin typeface="Times New Roman" panose="02020603050405020304" pitchFamily="18" charset="0"/>
              </a:rPr>
              <a:t>(A</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F</a:t>
            </a:r>
            <a:r>
              <a:rPr lang="en-US" altLang="en-US" sz="4800" baseline="-25000">
                <a:solidFill>
                  <a:srgbClr val="292929"/>
                </a:solidFill>
                <a:latin typeface="Times New Roman" panose="02020603050405020304" pitchFamily="18" charset="0"/>
              </a:rPr>
              <a:t>t</a:t>
            </a:r>
            <a:r>
              <a:rPr lang="en-US" altLang="en-US" sz="4800">
                <a:solidFill>
                  <a:srgbClr val="292929"/>
                </a:solidFill>
                <a:latin typeface="Times New Roman" panose="02020603050405020304" pitchFamily="18" charset="0"/>
              </a:rPr>
              <a:t>)</a:t>
            </a:r>
          </a:p>
        </p:txBody>
      </p:sp>
      <p:sp>
        <p:nvSpPr>
          <p:cNvPr id="66565" name="Rectangle 6">
            <a:extLst>
              <a:ext uri="{FF2B5EF4-FFF2-40B4-BE49-F238E27FC236}">
                <a16:creationId xmlns:a16="http://schemas.microsoft.com/office/drawing/2014/main" id="{01751E7C-F142-F5E0-DC96-E26B44A3BB5B}"/>
              </a:ext>
            </a:extLst>
          </p:cNvPr>
          <p:cNvSpPr>
            <a:spLocks noChangeArrowheads="1"/>
          </p:cNvSpPr>
          <p:nvPr/>
        </p:nvSpPr>
        <p:spPr bwMode="auto">
          <a:xfrm>
            <a:off x="6477001" y="4249580"/>
            <a:ext cx="1847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6568" name="Rectangle 12">
            <a:extLst>
              <a:ext uri="{FF2B5EF4-FFF2-40B4-BE49-F238E27FC236}">
                <a16:creationId xmlns:a16="http://schemas.microsoft.com/office/drawing/2014/main" id="{C62EBE31-E6D7-5026-1CB7-4D23C29C563A}"/>
              </a:ext>
            </a:extLst>
          </p:cNvPr>
          <p:cNvSpPr>
            <a:spLocks noGrp="1" noChangeArrowheads="1"/>
          </p:cNvSpPr>
          <p:nvPr>
            <p:ph type="title"/>
          </p:nvPr>
        </p:nvSpPr>
        <p:spPr>
          <a:xfrm>
            <a:off x="1714501" y="381000"/>
            <a:ext cx="8785225" cy="685800"/>
          </a:xfrm>
          <a:noFill/>
        </p:spPr>
        <p:txBody>
          <a:bodyPr vert="horz" wrap="square" lIns="90488" tIns="44450" rIns="90488" bIns="44450" numCol="1" anchor="b" anchorCtr="0" compatLnSpc="1">
            <a:prstTxWarp prst="textNoShape">
              <a:avLst/>
            </a:prstTxWarp>
          </a:bodyPr>
          <a:lstStyle/>
          <a:p>
            <a:r>
              <a:rPr lang="en-US" altLang="en-US" dirty="0"/>
              <a:t> Exponential Smoothing – Example 1</a:t>
            </a:r>
          </a:p>
        </p:txBody>
      </p:sp>
      <p:sp>
        <p:nvSpPr>
          <p:cNvPr id="66569" name="Rectangle 13">
            <a:extLst>
              <a:ext uri="{FF2B5EF4-FFF2-40B4-BE49-F238E27FC236}">
                <a16:creationId xmlns:a16="http://schemas.microsoft.com/office/drawing/2014/main" id="{A3D485E5-8C38-72E8-5BEB-435648D458E3}"/>
              </a:ext>
            </a:extLst>
          </p:cNvPr>
          <p:cNvSpPr>
            <a:spLocks noChangeArrowheads="1"/>
          </p:cNvSpPr>
          <p:nvPr/>
        </p:nvSpPr>
        <p:spPr bwMode="auto">
          <a:xfrm>
            <a:off x="5562601" y="2286000"/>
            <a:ext cx="339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000" b="1">
                <a:solidFill>
                  <a:srgbClr val="292929"/>
                </a:solidFill>
                <a:latin typeface="Symbol" panose="05050102010706020507" pitchFamily="18" charset="2"/>
              </a:rPr>
              <a:t>a</a:t>
            </a:r>
            <a:r>
              <a:rPr lang="en-US" altLang="en-US" sz="2000" b="1">
                <a:solidFill>
                  <a:srgbClr val="FF0000"/>
                </a:solidFill>
                <a:latin typeface="Arial Narrow" panose="020B0606020202030204" pitchFamily="34" charset="0"/>
              </a:rPr>
              <a:t> </a:t>
            </a:r>
            <a:r>
              <a:rPr lang="en-US" altLang="en-US" sz="2000" b="1">
                <a:solidFill>
                  <a:srgbClr val="292929"/>
                </a:solidFill>
                <a:latin typeface="Arial Narrow" panose="020B0606020202030204" pitchFamily="34" charset="0"/>
              </a:rPr>
              <a:t>=</a:t>
            </a:r>
          </a:p>
        </p:txBody>
      </p:sp>
      <p:sp>
        <p:nvSpPr>
          <p:cNvPr id="539662" name="Rectangle 14">
            <a:extLst>
              <a:ext uri="{FF2B5EF4-FFF2-40B4-BE49-F238E27FC236}">
                <a16:creationId xmlns:a16="http://schemas.microsoft.com/office/drawing/2014/main" id="{740BF725-1E9D-DF8D-A393-F9F1CF313BEF}"/>
              </a:ext>
            </a:extLst>
          </p:cNvPr>
          <p:cNvSpPr>
            <a:spLocks noChangeArrowheads="1"/>
          </p:cNvSpPr>
          <p:nvPr/>
        </p:nvSpPr>
        <p:spPr bwMode="auto">
          <a:xfrm>
            <a:off x="8742362" y="2707986"/>
            <a:ext cx="2611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600" dirty="0">
                <a:solidFill>
                  <a:srgbClr val="292929"/>
                </a:solidFill>
              </a:rPr>
              <a:t>F</a:t>
            </a:r>
            <a:r>
              <a:rPr lang="en-US" altLang="en-US" sz="2600" baseline="-25000" dirty="0">
                <a:solidFill>
                  <a:srgbClr val="292929"/>
                </a:solidFill>
              </a:rPr>
              <a:t>2</a:t>
            </a:r>
            <a:r>
              <a:rPr lang="en-US" altLang="en-US" sz="2600" dirty="0">
                <a:solidFill>
                  <a:srgbClr val="292929"/>
                </a:solidFill>
              </a:rPr>
              <a:t> = F</a:t>
            </a:r>
            <a:r>
              <a:rPr lang="en-US" altLang="en-US" sz="2600" baseline="-25000" dirty="0">
                <a:solidFill>
                  <a:srgbClr val="292929"/>
                </a:solidFill>
              </a:rPr>
              <a:t>1</a:t>
            </a:r>
            <a:r>
              <a:rPr lang="en-US" altLang="en-US" sz="2600" dirty="0">
                <a:solidFill>
                  <a:srgbClr val="292929"/>
                </a:solidFill>
              </a:rPr>
              <a:t>+ </a:t>
            </a:r>
            <a:r>
              <a:rPr lang="en-US" altLang="en-US" sz="2600" dirty="0">
                <a:solidFill>
                  <a:srgbClr val="292929"/>
                </a:solidFill>
                <a:latin typeface="Symbol" panose="05050102010706020507" pitchFamily="18" charset="2"/>
              </a:rPr>
              <a:t>a</a:t>
            </a:r>
            <a:r>
              <a:rPr lang="en-US" altLang="en-US" sz="2600" dirty="0">
                <a:solidFill>
                  <a:srgbClr val="292929"/>
                </a:solidFill>
              </a:rPr>
              <a:t>(A</a:t>
            </a:r>
            <a:r>
              <a:rPr lang="en-US" altLang="en-US" sz="2600" baseline="-25000" dirty="0">
                <a:solidFill>
                  <a:srgbClr val="292929"/>
                </a:solidFill>
              </a:rPr>
              <a:t>1</a:t>
            </a:r>
            <a:r>
              <a:rPr lang="en-US" altLang="en-US" sz="2600" dirty="0">
                <a:solidFill>
                  <a:srgbClr val="292929"/>
                </a:solidFill>
              </a:rPr>
              <a:t>–F</a:t>
            </a:r>
            <a:r>
              <a:rPr lang="en-US" altLang="en-US" sz="2600" baseline="-25000" dirty="0">
                <a:solidFill>
                  <a:srgbClr val="292929"/>
                </a:solidFill>
              </a:rPr>
              <a:t>1</a:t>
            </a:r>
            <a:r>
              <a:rPr lang="en-US" altLang="en-US" sz="2600" dirty="0">
                <a:solidFill>
                  <a:srgbClr val="292929"/>
                </a:solidFill>
              </a:rPr>
              <a:t>)</a:t>
            </a:r>
          </a:p>
        </p:txBody>
      </p:sp>
      <p:sp>
        <p:nvSpPr>
          <p:cNvPr id="539663" name="Rectangle 15">
            <a:extLst>
              <a:ext uri="{FF2B5EF4-FFF2-40B4-BE49-F238E27FC236}">
                <a16:creationId xmlns:a16="http://schemas.microsoft.com/office/drawing/2014/main" id="{00B858CB-2343-B20D-C461-419FDEAF6EE2}"/>
              </a:ext>
            </a:extLst>
          </p:cNvPr>
          <p:cNvSpPr>
            <a:spLocks noChangeArrowheads="1"/>
          </p:cNvSpPr>
          <p:nvPr/>
        </p:nvSpPr>
        <p:spPr bwMode="auto">
          <a:xfrm>
            <a:off x="8742362" y="3230562"/>
            <a:ext cx="278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600" dirty="0">
                <a:solidFill>
                  <a:srgbClr val="292929"/>
                </a:solidFill>
              </a:rPr>
              <a:t> </a:t>
            </a:r>
            <a:r>
              <a:rPr lang="en-US" altLang="en-US" sz="2600" dirty="0">
                <a:solidFill>
                  <a:srgbClr val="0000FF"/>
                </a:solidFill>
              </a:rPr>
              <a:t>=820+</a:t>
            </a:r>
            <a:r>
              <a:rPr lang="en-US" altLang="en-US" sz="2600" dirty="0">
                <a:solidFill>
                  <a:srgbClr val="0000FF"/>
                </a:solidFill>
                <a:latin typeface="Symbol" panose="05050102010706020507" pitchFamily="18" charset="2"/>
              </a:rPr>
              <a:t>.1</a:t>
            </a:r>
            <a:r>
              <a:rPr lang="en-US" altLang="en-US" sz="2600" dirty="0">
                <a:solidFill>
                  <a:srgbClr val="0000FF"/>
                </a:solidFill>
              </a:rPr>
              <a:t>(820–820)</a:t>
            </a:r>
          </a:p>
        </p:txBody>
      </p:sp>
      <p:sp>
        <p:nvSpPr>
          <p:cNvPr id="539664" name="Rectangle 16">
            <a:extLst>
              <a:ext uri="{FF2B5EF4-FFF2-40B4-BE49-F238E27FC236}">
                <a16:creationId xmlns:a16="http://schemas.microsoft.com/office/drawing/2014/main" id="{3D5EF3E9-EAD8-8B3C-D7CF-B149CAE88043}"/>
              </a:ext>
            </a:extLst>
          </p:cNvPr>
          <p:cNvSpPr>
            <a:spLocks noChangeArrowheads="1"/>
          </p:cNvSpPr>
          <p:nvPr/>
        </p:nvSpPr>
        <p:spPr bwMode="auto">
          <a:xfrm>
            <a:off x="9297986" y="3749903"/>
            <a:ext cx="836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600" dirty="0">
                <a:solidFill>
                  <a:srgbClr val="292929"/>
                </a:solidFill>
              </a:rPr>
              <a:t> </a:t>
            </a:r>
            <a:r>
              <a:rPr lang="en-US" altLang="en-US" sz="2600" b="1" dirty="0">
                <a:solidFill>
                  <a:srgbClr val="000066"/>
                </a:solidFill>
              </a:rPr>
              <a:t>=820</a:t>
            </a:r>
          </a:p>
        </p:txBody>
      </p:sp>
      <p:sp>
        <p:nvSpPr>
          <p:cNvPr id="66573" name="Rectangle 17">
            <a:extLst>
              <a:ext uri="{FF2B5EF4-FFF2-40B4-BE49-F238E27FC236}">
                <a16:creationId xmlns:a16="http://schemas.microsoft.com/office/drawing/2014/main" id="{CE2C2CA8-012D-0D3E-73A7-7D05D44B5AB1}"/>
              </a:ext>
            </a:extLst>
          </p:cNvPr>
          <p:cNvSpPr>
            <a:spLocks noChangeArrowheads="1"/>
          </p:cNvSpPr>
          <p:nvPr/>
        </p:nvSpPr>
        <p:spPr bwMode="auto">
          <a:xfrm>
            <a:off x="2895600" y="2057400"/>
            <a:ext cx="496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i</a:t>
            </a:r>
            <a:endParaRPr lang="en-US" altLang="en-US" sz="1400" b="1">
              <a:solidFill>
                <a:srgbClr val="292929"/>
              </a:solidFill>
            </a:endParaRPr>
          </a:p>
        </p:txBody>
      </p:sp>
      <p:sp>
        <p:nvSpPr>
          <p:cNvPr id="66574" name="Rectangle 18">
            <a:extLst>
              <a:ext uri="{FF2B5EF4-FFF2-40B4-BE49-F238E27FC236}">
                <a16:creationId xmlns:a16="http://schemas.microsoft.com/office/drawing/2014/main" id="{01C426B1-4A0D-71C6-D2EB-EE797B2D8486}"/>
              </a:ext>
            </a:extLst>
          </p:cNvPr>
          <p:cNvSpPr>
            <a:spLocks noChangeArrowheads="1"/>
          </p:cNvSpPr>
          <p:nvPr/>
        </p:nvSpPr>
        <p:spPr bwMode="auto">
          <a:xfrm>
            <a:off x="4114800" y="2057400"/>
            <a:ext cx="1795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Ai</a:t>
            </a:r>
            <a:endParaRPr lang="en-US" altLang="en-US" sz="1400" b="1">
              <a:solidFill>
                <a:srgbClr val="292929"/>
              </a:solidFill>
            </a:endParaRPr>
          </a:p>
        </p:txBody>
      </p:sp>
      <p:sp>
        <p:nvSpPr>
          <p:cNvPr id="66575" name="Rectangle 19">
            <a:extLst>
              <a:ext uri="{FF2B5EF4-FFF2-40B4-BE49-F238E27FC236}">
                <a16:creationId xmlns:a16="http://schemas.microsoft.com/office/drawing/2014/main" id="{FC944449-D817-BA3E-C043-3093A98C7534}"/>
              </a:ext>
            </a:extLst>
          </p:cNvPr>
          <p:cNvSpPr>
            <a:spLocks noChangeArrowheads="1"/>
          </p:cNvSpPr>
          <p:nvPr/>
        </p:nvSpPr>
        <p:spPr bwMode="auto">
          <a:xfrm>
            <a:off x="5689600" y="2057400"/>
            <a:ext cx="1586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Fi</a:t>
            </a:r>
            <a:endParaRPr lang="en-US" altLang="en-US" sz="1400" b="1">
              <a:solidFill>
                <a:srgbClr val="29292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96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96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39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62" grpId="0"/>
      <p:bldP spid="539663" grpId="0"/>
      <p:bldP spid="53966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F8BFF45-1321-BABA-5CFA-F79F74E3101B}"/>
              </a:ext>
            </a:extLst>
          </p:cNvPr>
          <p:cNvSpPr>
            <a:spLocks noChangeArrowheads="1"/>
          </p:cNvSpPr>
          <p:nvPr/>
        </p:nvSpPr>
        <p:spPr bwMode="auto">
          <a:xfrm>
            <a:off x="9744075" y="6397625"/>
            <a:ext cx="20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graphicFrame>
        <p:nvGraphicFramePr>
          <p:cNvPr id="70659" name="Object 3">
            <a:extLst>
              <a:ext uri="{FF2B5EF4-FFF2-40B4-BE49-F238E27FC236}">
                <a16:creationId xmlns:a16="http://schemas.microsoft.com/office/drawing/2014/main" id="{6FFCC0F8-5710-19E4-5C5C-B275FA16B758}"/>
              </a:ext>
            </a:extLst>
          </p:cNvPr>
          <p:cNvGraphicFramePr>
            <a:graphicFrameLocks/>
          </p:cNvGraphicFramePr>
          <p:nvPr/>
        </p:nvGraphicFramePr>
        <p:xfrm>
          <a:off x="2057400" y="2286000"/>
          <a:ext cx="5943600" cy="4343400"/>
        </p:xfrm>
        <a:graphic>
          <a:graphicData uri="http://schemas.openxmlformats.org/presentationml/2006/ole">
            <mc:AlternateContent xmlns:mc="http://schemas.openxmlformats.org/markup-compatibility/2006">
              <mc:Choice xmlns:v="urn:schemas-microsoft-com:vml" Requires="v">
                <p:oleObj name="Worksheet" r:id="rId3" imgW="0" imgH="0" progId="Excel.Sheet.8">
                  <p:embed/>
                </p:oleObj>
              </mc:Choice>
              <mc:Fallback>
                <p:oleObj name="Worksheet" r:id="rId3" imgW="0" imgH="0" progId="Excel.Sheet.8">
                  <p:embed/>
                  <p:pic>
                    <p:nvPicPr>
                      <p:cNvPr id="70659" name="Object 3">
                        <a:extLst>
                          <a:ext uri="{FF2B5EF4-FFF2-40B4-BE49-F238E27FC236}">
                            <a16:creationId xmlns:a16="http://schemas.microsoft.com/office/drawing/2014/main" id="{6FFCC0F8-5710-19E4-5C5C-B275FA16B75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286000"/>
                        <a:ext cx="5943600" cy="43434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60" name="Rectangle 4">
            <a:extLst>
              <a:ext uri="{FF2B5EF4-FFF2-40B4-BE49-F238E27FC236}">
                <a16:creationId xmlns:a16="http://schemas.microsoft.com/office/drawing/2014/main" id="{11A7A425-4611-8236-591B-F2074AA12FA3}"/>
              </a:ext>
            </a:extLst>
          </p:cNvPr>
          <p:cNvSpPr>
            <a:spLocks noChangeArrowheads="1"/>
          </p:cNvSpPr>
          <p:nvPr/>
        </p:nvSpPr>
        <p:spPr bwMode="auto">
          <a:xfrm>
            <a:off x="2743201" y="1066801"/>
            <a:ext cx="5027613" cy="830263"/>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4800">
                <a:solidFill>
                  <a:srgbClr val="292929"/>
                </a:solidFill>
                <a:latin typeface="Times New Roman" panose="02020603050405020304" pitchFamily="18" charset="0"/>
              </a:rPr>
              <a:t>F</a:t>
            </a:r>
            <a:r>
              <a:rPr lang="en-US" altLang="en-US" sz="4800" baseline="-25000">
                <a:solidFill>
                  <a:srgbClr val="292929"/>
                </a:solidFill>
                <a:latin typeface="Times New Roman" panose="02020603050405020304" pitchFamily="18" charset="0"/>
              </a:rPr>
              <a:t>t+1</a:t>
            </a:r>
            <a:r>
              <a:rPr lang="en-US" altLang="en-US" sz="4800">
                <a:solidFill>
                  <a:srgbClr val="292929"/>
                </a:solidFill>
                <a:latin typeface="Times New Roman" panose="02020603050405020304" pitchFamily="18" charset="0"/>
              </a:rPr>
              <a:t> = F</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a:t>
            </a:r>
            <a:r>
              <a:rPr lang="en-US" altLang="en-US" sz="4800">
                <a:solidFill>
                  <a:srgbClr val="292929"/>
                </a:solidFill>
                <a:latin typeface="Symbol" panose="05050102010706020507" pitchFamily="18" charset="2"/>
              </a:rPr>
              <a:t>a</a:t>
            </a:r>
            <a:r>
              <a:rPr lang="en-US" altLang="en-US" sz="4800">
                <a:solidFill>
                  <a:srgbClr val="292929"/>
                </a:solidFill>
                <a:latin typeface="Times New Roman" panose="02020603050405020304" pitchFamily="18" charset="0"/>
              </a:rPr>
              <a:t>(A</a:t>
            </a:r>
            <a:r>
              <a:rPr lang="en-US" altLang="en-US" sz="4800" baseline="-25000">
                <a:solidFill>
                  <a:srgbClr val="292929"/>
                </a:solidFill>
                <a:latin typeface="Times New Roman" panose="02020603050405020304" pitchFamily="18" charset="0"/>
              </a:rPr>
              <a:t>t </a:t>
            </a:r>
            <a:r>
              <a:rPr lang="en-US" altLang="en-US" sz="4800">
                <a:solidFill>
                  <a:srgbClr val="292929"/>
                </a:solidFill>
                <a:latin typeface="Times New Roman" panose="02020603050405020304" pitchFamily="18" charset="0"/>
              </a:rPr>
              <a:t>- F</a:t>
            </a:r>
            <a:r>
              <a:rPr lang="en-US" altLang="en-US" sz="4800" baseline="-25000">
                <a:solidFill>
                  <a:srgbClr val="292929"/>
                </a:solidFill>
                <a:latin typeface="Times New Roman" panose="02020603050405020304" pitchFamily="18" charset="0"/>
              </a:rPr>
              <a:t>t</a:t>
            </a:r>
            <a:r>
              <a:rPr lang="en-US" altLang="en-US" sz="4800">
                <a:solidFill>
                  <a:srgbClr val="292929"/>
                </a:solidFill>
                <a:latin typeface="Times New Roman" panose="02020603050405020304" pitchFamily="18" charset="0"/>
              </a:rPr>
              <a:t>)</a:t>
            </a:r>
          </a:p>
        </p:txBody>
      </p:sp>
      <p:sp>
        <p:nvSpPr>
          <p:cNvPr id="70661" name="Rectangle 5">
            <a:extLst>
              <a:ext uri="{FF2B5EF4-FFF2-40B4-BE49-F238E27FC236}">
                <a16:creationId xmlns:a16="http://schemas.microsoft.com/office/drawing/2014/main" id="{C1038053-DBA7-0B5C-B9A6-7367A2AB869B}"/>
              </a:ext>
            </a:extLst>
          </p:cNvPr>
          <p:cNvSpPr>
            <a:spLocks noChangeArrowheads="1"/>
          </p:cNvSpPr>
          <p:nvPr/>
        </p:nvSpPr>
        <p:spPr bwMode="auto">
          <a:xfrm>
            <a:off x="6477001" y="4249580"/>
            <a:ext cx="1847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66635" name="Oval 11">
            <a:extLst>
              <a:ext uri="{FF2B5EF4-FFF2-40B4-BE49-F238E27FC236}">
                <a16:creationId xmlns:a16="http://schemas.microsoft.com/office/drawing/2014/main" id="{66A0C27E-7B66-1A3D-63D6-4DF66DFE58DD}"/>
              </a:ext>
            </a:extLst>
          </p:cNvPr>
          <p:cNvSpPr>
            <a:spLocks noChangeArrowheads="1"/>
          </p:cNvSpPr>
          <p:nvPr/>
        </p:nvSpPr>
        <p:spPr bwMode="auto">
          <a:xfrm>
            <a:off x="8534400" y="3730933"/>
            <a:ext cx="3657600" cy="2207240"/>
          </a:xfrm>
          <a:prstGeom prst="ellipse">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fontAlgn="base">
              <a:spcBef>
                <a:spcPct val="0"/>
              </a:spcBef>
              <a:spcAft>
                <a:spcPct val="0"/>
              </a:spcAft>
              <a:buClrTx/>
              <a:buNone/>
            </a:pPr>
            <a:r>
              <a:rPr lang="en-US" altLang="en-US" sz="2400" b="1">
                <a:solidFill>
                  <a:srgbClr val="292929"/>
                </a:solidFill>
              </a:rPr>
              <a:t>This process continues</a:t>
            </a:r>
          </a:p>
          <a:p>
            <a:pPr algn="ctr" fontAlgn="base">
              <a:spcBef>
                <a:spcPct val="0"/>
              </a:spcBef>
              <a:spcAft>
                <a:spcPct val="0"/>
              </a:spcAft>
              <a:buClrTx/>
              <a:buNone/>
            </a:pPr>
            <a:r>
              <a:rPr lang="en-US" altLang="en-US" sz="2400" b="1">
                <a:solidFill>
                  <a:srgbClr val="292929"/>
                </a:solidFill>
              </a:rPr>
              <a:t>through week 10</a:t>
            </a:r>
          </a:p>
        </p:txBody>
      </p:sp>
      <p:sp>
        <p:nvSpPr>
          <p:cNvPr id="70665" name="Rectangle 12">
            <a:extLst>
              <a:ext uri="{FF2B5EF4-FFF2-40B4-BE49-F238E27FC236}">
                <a16:creationId xmlns:a16="http://schemas.microsoft.com/office/drawing/2014/main" id="{85F8C630-FE8C-DF57-77D4-570147859CE5}"/>
              </a:ext>
            </a:extLst>
          </p:cNvPr>
          <p:cNvSpPr>
            <a:spLocks noGrp="1" noChangeArrowheads="1"/>
          </p:cNvSpPr>
          <p:nvPr>
            <p:ph type="title"/>
          </p:nvPr>
        </p:nvSpPr>
        <p:spPr>
          <a:xfrm>
            <a:off x="1714501" y="381000"/>
            <a:ext cx="8785225" cy="685800"/>
          </a:xfrm>
          <a:noFill/>
        </p:spPr>
        <p:txBody>
          <a:bodyPr vert="horz" wrap="square" lIns="90488" tIns="44450" rIns="90488" bIns="44450" numCol="1" anchor="b" anchorCtr="0" compatLnSpc="1">
            <a:prstTxWarp prst="textNoShape">
              <a:avLst/>
            </a:prstTxWarp>
          </a:bodyPr>
          <a:lstStyle/>
          <a:p>
            <a:r>
              <a:rPr lang="en-US" altLang="en-US" dirty="0"/>
              <a:t> Exponential Smoothing – Example 1</a:t>
            </a:r>
          </a:p>
        </p:txBody>
      </p:sp>
      <p:sp>
        <p:nvSpPr>
          <p:cNvPr id="70666" name="Rectangle 13">
            <a:extLst>
              <a:ext uri="{FF2B5EF4-FFF2-40B4-BE49-F238E27FC236}">
                <a16:creationId xmlns:a16="http://schemas.microsoft.com/office/drawing/2014/main" id="{954EAF48-1207-0BAF-DF96-E2D1336F026C}"/>
              </a:ext>
            </a:extLst>
          </p:cNvPr>
          <p:cNvSpPr>
            <a:spLocks noChangeArrowheads="1"/>
          </p:cNvSpPr>
          <p:nvPr/>
        </p:nvSpPr>
        <p:spPr bwMode="auto">
          <a:xfrm>
            <a:off x="5562601" y="2286000"/>
            <a:ext cx="339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000" b="1">
                <a:solidFill>
                  <a:srgbClr val="292929"/>
                </a:solidFill>
                <a:latin typeface="Symbol" panose="05050102010706020507" pitchFamily="18" charset="2"/>
              </a:rPr>
              <a:t>a</a:t>
            </a:r>
            <a:r>
              <a:rPr lang="en-US" altLang="en-US" sz="2000" b="1">
                <a:solidFill>
                  <a:srgbClr val="FF0000"/>
                </a:solidFill>
                <a:latin typeface="Arial Narrow" panose="020B0606020202030204" pitchFamily="34" charset="0"/>
              </a:rPr>
              <a:t> </a:t>
            </a:r>
            <a:r>
              <a:rPr lang="en-US" altLang="en-US" sz="2000" b="1">
                <a:solidFill>
                  <a:srgbClr val="292929"/>
                </a:solidFill>
                <a:latin typeface="Arial Narrow" panose="020B0606020202030204" pitchFamily="34" charset="0"/>
              </a:rPr>
              <a:t>=</a:t>
            </a:r>
          </a:p>
        </p:txBody>
      </p:sp>
      <p:sp>
        <p:nvSpPr>
          <p:cNvPr id="666638" name="Oval 14">
            <a:extLst>
              <a:ext uri="{FF2B5EF4-FFF2-40B4-BE49-F238E27FC236}">
                <a16:creationId xmlns:a16="http://schemas.microsoft.com/office/drawing/2014/main" id="{1388D16A-4171-E667-D205-B058EF97A954}"/>
              </a:ext>
            </a:extLst>
          </p:cNvPr>
          <p:cNvSpPr>
            <a:spLocks noChangeArrowheads="1"/>
          </p:cNvSpPr>
          <p:nvPr/>
        </p:nvSpPr>
        <p:spPr bwMode="auto">
          <a:xfrm>
            <a:off x="5105401" y="6018271"/>
            <a:ext cx="257063" cy="688861"/>
          </a:xfrm>
          <a:prstGeom prst="ellipse">
            <a:avLst/>
          </a:prstGeom>
          <a:noFill/>
          <a:ln w="9525" algn="ctr">
            <a:solidFill>
              <a:srgbClr val="FF0000"/>
            </a:solidFill>
            <a:round/>
            <a:headEnd/>
            <a:tailEnd/>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Lst>
        </p:spPr>
        <p:txBody>
          <a:bodyPr wrap="none" lIns="90488" tIns="44450" rIns="90488" bIns="44450" anchor="ct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70668" name="Rectangle 15">
            <a:extLst>
              <a:ext uri="{FF2B5EF4-FFF2-40B4-BE49-F238E27FC236}">
                <a16:creationId xmlns:a16="http://schemas.microsoft.com/office/drawing/2014/main" id="{6C9543C1-7627-139B-4A1A-766569CB4965}"/>
              </a:ext>
            </a:extLst>
          </p:cNvPr>
          <p:cNvSpPr>
            <a:spLocks noChangeArrowheads="1"/>
          </p:cNvSpPr>
          <p:nvPr/>
        </p:nvSpPr>
        <p:spPr bwMode="auto">
          <a:xfrm>
            <a:off x="2895600" y="2057400"/>
            <a:ext cx="496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i</a:t>
            </a:r>
            <a:endParaRPr lang="en-US" altLang="en-US" sz="1400" b="1">
              <a:solidFill>
                <a:srgbClr val="292929"/>
              </a:solidFill>
            </a:endParaRPr>
          </a:p>
        </p:txBody>
      </p:sp>
      <p:sp>
        <p:nvSpPr>
          <p:cNvPr id="70669" name="Rectangle 16">
            <a:extLst>
              <a:ext uri="{FF2B5EF4-FFF2-40B4-BE49-F238E27FC236}">
                <a16:creationId xmlns:a16="http://schemas.microsoft.com/office/drawing/2014/main" id="{A6CEF5D1-D1B4-E0D9-4521-F8A2F85B1FB2}"/>
              </a:ext>
            </a:extLst>
          </p:cNvPr>
          <p:cNvSpPr>
            <a:spLocks noChangeArrowheads="1"/>
          </p:cNvSpPr>
          <p:nvPr/>
        </p:nvSpPr>
        <p:spPr bwMode="auto">
          <a:xfrm>
            <a:off x="4114800" y="2057400"/>
            <a:ext cx="1795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Ai</a:t>
            </a:r>
            <a:endParaRPr lang="en-US" altLang="en-US" sz="1400" b="1">
              <a:solidFill>
                <a:srgbClr val="292929"/>
              </a:solidFill>
            </a:endParaRPr>
          </a:p>
        </p:txBody>
      </p:sp>
      <p:sp>
        <p:nvSpPr>
          <p:cNvPr id="70670" name="Rectangle 17">
            <a:extLst>
              <a:ext uri="{FF2B5EF4-FFF2-40B4-BE49-F238E27FC236}">
                <a16:creationId xmlns:a16="http://schemas.microsoft.com/office/drawing/2014/main" id="{F2D08EEE-A61D-F18B-9C8C-3408EF7AA25F}"/>
              </a:ext>
            </a:extLst>
          </p:cNvPr>
          <p:cNvSpPr>
            <a:spLocks noChangeArrowheads="1"/>
          </p:cNvSpPr>
          <p:nvPr/>
        </p:nvSpPr>
        <p:spPr bwMode="auto">
          <a:xfrm>
            <a:off x="5689600" y="2057400"/>
            <a:ext cx="1586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1400" b="1">
                <a:solidFill>
                  <a:srgbClr val="010000"/>
                </a:solidFill>
              </a:rPr>
              <a:t>Fi</a:t>
            </a:r>
            <a:endParaRPr lang="en-US" altLang="en-US" sz="1400" b="1">
              <a:solidFill>
                <a:srgbClr val="29292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66635"/>
                                        </p:tgtEl>
                                        <p:attrNameLst>
                                          <p:attrName>style.visibility</p:attrName>
                                        </p:attrNameLst>
                                      </p:cBhvr>
                                      <p:to>
                                        <p:strVal val="visible"/>
                                      </p:to>
                                    </p:set>
                                    <p:animEffect transition="in" filter="checkerboard(across)">
                                      <p:cBhvr>
                                        <p:cTn id="7" dur="500"/>
                                        <p:tgtEl>
                                          <p:spTgt spid="666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66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3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9226" name="Rectangle 64922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228" name="Rectangle 64922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230" name="Rectangle 64922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232" name="Rectangle 64923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234" name="Rectangle 64923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95" name="Rectangle 3">
            <a:extLst>
              <a:ext uri="{FF2B5EF4-FFF2-40B4-BE49-F238E27FC236}">
                <a16:creationId xmlns:a16="http://schemas.microsoft.com/office/drawing/2014/main" id="{F0E184E3-18EA-441F-A341-23A16A5C36E5}"/>
              </a:ext>
            </a:extLst>
          </p:cNvPr>
          <p:cNvSpPr>
            <a:spLocks noGrp="1" noChangeArrowheads="1"/>
          </p:cNvSpPr>
          <p:nvPr>
            <p:ph type="title"/>
          </p:nvPr>
        </p:nvSpPr>
        <p:spPr>
          <a:xfrm>
            <a:off x="1371599" y="294538"/>
            <a:ext cx="9895951" cy="1033669"/>
          </a:xfrm>
        </p:spPr>
        <p:txBody>
          <a:bodyPr>
            <a:normAutofit/>
          </a:bodyPr>
          <a:lstStyle/>
          <a:p>
            <a:pPr eaLnBrk="1" hangingPunct="1"/>
            <a:r>
              <a:rPr lang="en-US" altLang="en-US" sz="4000">
                <a:solidFill>
                  <a:srgbClr val="FFFFFF"/>
                </a:solidFill>
              </a:rPr>
              <a:t>To Use a Forecasting Method</a:t>
            </a:r>
          </a:p>
        </p:txBody>
      </p:sp>
      <p:sp>
        <p:nvSpPr>
          <p:cNvPr id="649218" name="Rectangle 2">
            <a:extLst>
              <a:ext uri="{FF2B5EF4-FFF2-40B4-BE49-F238E27FC236}">
                <a16:creationId xmlns:a16="http://schemas.microsoft.com/office/drawing/2014/main" id="{6FAD19EE-B8D4-C82B-68D5-3784E7119EB7}"/>
              </a:ext>
            </a:extLst>
          </p:cNvPr>
          <p:cNvSpPr>
            <a:spLocks noGrp="1" noChangeArrowheads="1"/>
          </p:cNvSpPr>
          <p:nvPr>
            <p:ph type="body" idx="1"/>
          </p:nvPr>
        </p:nvSpPr>
        <p:spPr>
          <a:xfrm>
            <a:off x="1371599" y="2318197"/>
            <a:ext cx="9724031" cy="3683358"/>
          </a:xfrm>
          <a:extLst>
            <a:ext uri="{91240B29-F687-4F45-9708-019B960494DF}">
              <a14:hiddenLine xmlns:a14="http://schemas.microsoft.com/office/drawing/2010/main" w="12700">
                <a:solidFill>
                  <a:schemeClr val="tx1"/>
                </a:solidFill>
                <a:miter lim="800000"/>
                <a:headEnd/>
                <a:tailEnd/>
              </a14:hiddenLine>
            </a:ext>
          </a:extLst>
        </p:spPr>
        <p:txBody>
          <a:bodyPr vert="horz" lIns="90475" tIns="44444" rIns="90475" bIns="44444" numCol="1" anchor="ctr" anchorCtr="0" compatLnSpc="1">
            <a:prstTxWarp prst="textNoShape">
              <a:avLst/>
            </a:prstTxWarp>
            <a:normAutofit/>
          </a:bodyPr>
          <a:lstStyle/>
          <a:p>
            <a:pPr eaLnBrk="1" hangingPunct="1">
              <a:spcBef>
                <a:spcPct val="40000"/>
              </a:spcBef>
            </a:pPr>
            <a:r>
              <a:rPr lang="en-US" altLang="en-US" sz="2000"/>
              <a:t>Collect historical data</a:t>
            </a:r>
          </a:p>
          <a:p>
            <a:pPr eaLnBrk="1" hangingPunct="1">
              <a:spcBef>
                <a:spcPct val="40000"/>
              </a:spcBef>
            </a:pPr>
            <a:r>
              <a:rPr lang="en-US" altLang="en-US" sz="2000"/>
              <a:t>Select a model</a:t>
            </a:r>
          </a:p>
          <a:p>
            <a:pPr lvl="1" eaLnBrk="1" hangingPunct="1">
              <a:spcBef>
                <a:spcPct val="40000"/>
              </a:spcBef>
            </a:pPr>
            <a:r>
              <a:rPr lang="en-US" altLang="en-US" sz="2000"/>
              <a:t>Moving average methods</a:t>
            </a:r>
          </a:p>
          <a:p>
            <a:pPr lvl="2" eaLnBrk="1" hangingPunct="1">
              <a:spcBef>
                <a:spcPct val="25000"/>
              </a:spcBef>
            </a:pPr>
            <a:r>
              <a:rPr lang="en-US" altLang="en-US" sz="2000"/>
              <a:t>Select </a:t>
            </a:r>
            <a:r>
              <a:rPr lang="en-US" altLang="en-US" sz="2000" i="1"/>
              <a:t>n </a:t>
            </a:r>
            <a:r>
              <a:rPr lang="en-US" altLang="en-US" sz="2000"/>
              <a:t>(number of periods)</a:t>
            </a:r>
          </a:p>
          <a:p>
            <a:pPr lvl="2" eaLnBrk="1" hangingPunct="1">
              <a:spcBef>
                <a:spcPct val="25000"/>
              </a:spcBef>
            </a:pPr>
            <a:r>
              <a:rPr lang="en-US" altLang="en-US" sz="2000"/>
              <a:t>For weighted moving average: select weights</a:t>
            </a:r>
          </a:p>
          <a:p>
            <a:pPr lvl="1" eaLnBrk="1" hangingPunct="1">
              <a:spcBef>
                <a:spcPct val="40000"/>
              </a:spcBef>
            </a:pPr>
            <a:r>
              <a:rPr lang="en-US" altLang="en-US" sz="2000"/>
              <a:t>Exponential smoothing</a:t>
            </a:r>
          </a:p>
          <a:p>
            <a:pPr lvl="2" eaLnBrk="1" hangingPunct="1">
              <a:spcBef>
                <a:spcPct val="25000"/>
              </a:spcBef>
            </a:pPr>
            <a:r>
              <a:rPr lang="en-US" altLang="en-US" sz="2000"/>
              <a:t>Select </a:t>
            </a:r>
            <a:r>
              <a:rPr lang="en-US" altLang="en-US" sz="2000">
                <a:sym typeface="Symbol" panose="05050102010706020507" pitchFamily="18" charset="2"/>
              </a:rPr>
              <a:t></a:t>
            </a:r>
          </a:p>
          <a:p>
            <a:pPr lvl="1" eaLnBrk="1" hangingPunct="1">
              <a:spcBef>
                <a:spcPct val="40000"/>
              </a:spcBef>
            </a:pPr>
            <a:endParaRPr lang="en-US" altLang="en-US" sz="2000"/>
          </a:p>
          <a:p>
            <a:pPr eaLnBrk="1" hangingPunct="1">
              <a:spcBef>
                <a:spcPct val="40000"/>
              </a:spcBef>
            </a:pPr>
            <a:r>
              <a:rPr lang="en-US" altLang="en-US" sz="2000"/>
              <a:t>Selections should produce a good forecast</a:t>
            </a:r>
          </a:p>
        </p:txBody>
      </p:sp>
      <p:sp>
        <p:nvSpPr>
          <p:cNvPr id="649221" name="Rectangle 5">
            <a:extLst>
              <a:ext uri="{FF2B5EF4-FFF2-40B4-BE49-F238E27FC236}">
                <a16:creationId xmlns:a16="http://schemas.microsoft.com/office/drawing/2014/main" id="{8322118C-D970-4392-4B07-5D3DD1C7F007}"/>
              </a:ext>
            </a:extLst>
          </p:cNvPr>
          <p:cNvSpPr>
            <a:spLocks noChangeArrowheads="1"/>
          </p:cNvSpPr>
          <p:nvPr/>
        </p:nvSpPr>
        <p:spPr bwMode="auto">
          <a:xfrm>
            <a:off x="3505200" y="6096001"/>
            <a:ext cx="454772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spcAft>
                <a:spcPts val="600"/>
              </a:spcAft>
              <a:buClrTx/>
              <a:buFontTx/>
              <a:buNone/>
            </a:pPr>
            <a:r>
              <a:rPr lang="en-US" altLang="en-US">
                <a:solidFill>
                  <a:srgbClr val="FF0000"/>
                </a:solidFill>
                <a:latin typeface="Arial Narrow" panose="020B0606020202030204" pitchFamily="34" charset="0"/>
              </a:rPr>
              <a:t>…but what is a good forecast?</a:t>
            </a:r>
            <a:endParaRPr lang="en-US" altLang="en-US" sz="2600">
              <a:solidFill>
                <a:srgbClr val="FF0000"/>
              </a:solidFill>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92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92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9218">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4921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9218">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49218">
                                            <p:txEl>
                                              <p:pRg st="8" end="8"/>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49221">
                                            <p:txEl>
                                              <p:pRg st="0" end="0"/>
                                            </p:txEl>
                                          </p:spTgt>
                                        </p:tgtEl>
                                        <p:attrNameLst>
                                          <p:attrName>style.visibility</p:attrName>
                                        </p:attrNameLst>
                                      </p:cBhvr>
                                      <p:to>
                                        <p:strVal val="visible"/>
                                      </p:to>
                                    </p:set>
                                    <p:anim calcmode="lin" valueType="num">
                                      <p:cBhvr additive="base">
                                        <p:cTn id="25" dur="500" fill="hold"/>
                                        <p:tgtEl>
                                          <p:spTgt spid="64922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92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048" name="Rectangle 8704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50" name="Freeform: Shape 8704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42" name="Rectangle 2">
            <a:extLst>
              <a:ext uri="{FF2B5EF4-FFF2-40B4-BE49-F238E27FC236}">
                <a16:creationId xmlns:a16="http://schemas.microsoft.com/office/drawing/2014/main" id="{601C86BE-2667-15E1-E971-F45AC1B2D6F4}"/>
              </a:ext>
            </a:extLst>
          </p:cNvPr>
          <p:cNvSpPr>
            <a:spLocks noGrp="1" noChangeArrowheads="1"/>
          </p:cNvSpPr>
          <p:nvPr>
            <p:ph type="title"/>
          </p:nvPr>
        </p:nvSpPr>
        <p:spPr>
          <a:xfrm>
            <a:off x="686834" y="1153572"/>
            <a:ext cx="3200400" cy="4461163"/>
          </a:xfrm>
        </p:spPr>
        <p:txBody>
          <a:bodyPr vert="horz" lIns="91440" tIns="45720" rIns="91440" bIns="45720" rtlCol="0" anchor="ctr">
            <a:normAutofit/>
          </a:bodyPr>
          <a:lstStyle/>
          <a:p>
            <a:pPr eaLnBrk="1" hangingPunct="1">
              <a:lnSpc>
                <a:spcPct val="90000"/>
              </a:lnSpc>
            </a:pPr>
            <a:r>
              <a:rPr lang="en-US" altLang="en-US" sz="4400" kern="1200">
                <a:solidFill>
                  <a:srgbClr val="FFFFFF"/>
                </a:solidFill>
                <a:latin typeface="+mj-lt"/>
                <a:ea typeface="+mj-ea"/>
                <a:cs typeface="+mj-cs"/>
              </a:rPr>
              <a:t>A Good</a:t>
            </a:r>
            <a:r>
              <a:rPr lang="en-US" altLang="en-US" sz="4400" kern="1200">
                <a:solidFill>
                  <a:srgbClr val="FFFFFF"/>
                </a:solidFill>
                <a:latin typeface="+mj-lt"/>
                <a:ea typeface="+mj-ea"/>
                <a:cs typeface="+mj-cs"/>
                <a:sym typeface="Symbol" panose="05050102010706020507" pitchFamily="18" charset="2"/>
              </a:rPr>
              <a:t> Forecast</a:t>
            </a:r>
            <a:endParaRPr lang="en-US" altLang="en-US" sz="4400" kern="1200">
              <a:solidFill>
                <a:srgbClr val="FFFFFF"/>
              </a:solidFill>
              <a:latin typeface="+mj-lt"/>
              <a:ea typeface="+mj-ea"/>
              <a:cs typeface="+mj-cs"/>
            </a:endParaRPr>
          </a:p>
        </p:txBody>
      </p:sp>
      <p:sp>
        <p:nvSpPr>
          <p:cNvPr id="87052" name="Arc 8705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7043" name="Rectangle 3">
            <a:extLst>
              <a:ext uri="{FF2B5EF4-FFF2-40B4-BE49-F238E27FC236}">
                <a16:creationId xmlns:a16="http://schemas.microsoft.com/office/drawing/2014/main" id="{54DC7C26-5E7D-CAC0-9537-F5EFD9AA9A52}"/>
              </a:ext>
            </a:extLst>
          </p:cNvPr>
          <p:cNvSpPr>
            <a:spLocks noChangeArrowheads="1"/>
          </p:cNvSpPr>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ctr">
            <a:normAutofit/>
          </a:bodyPr>
          <a:lstStyle>
            <a:lvl1pPr marL="342900" indent="-342900" defTabSz="100012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842963" indent="-342900" defTabSz="1000125">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343025" indent="-342900" defTabSz="10001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843088" indent="-342900" defTabSz="1000125">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343150" indent="-342900" defTabSz="1000125">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800350" indent="-3429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3257550" indent="-3429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714750" indent="-3429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4171950" indent="-342900" defTabSz="1000125"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indent="-228600" defTabSz="914400" fontAlgn="base">
              <a:lnSpc>
                <a:spcPct val="90000"/>
              </a:lnSpc>
              <a:spcBef>
                <a:spcPct val="0"/>
              </a:spcBef>
              <a:spcAft>
                <a:spcPts val="600"/>
              </a:spcAft>
              <a:buClr>
                <a:srgbClr val="FF9933"/>
              </a:buClr>
              <a:buFont typeface="Arial" panose="020B0604020202020204" pitchFamily="34" charset="0"/>
              <a:buChar char="•"/>
            </a:pPr>
            <a:r>
              <a:rPr lang="en-US" altLang="en-US" b="1">
                <a:latin typeface="+mn-lt"/>
              </a:rPr>
              <a:t>Has a small error</a:t>
            </a:r>
          </a:p>
          <a:p>
            <a:pPr lvl="1" indent="-228600" defTabSz="914400" fontAlgn="base">
              <a:lnSpc>
                <a:spcPct val="90000"/>
              </a:lnSpc>
              <a:spcBef>
                <a:spcPct val="0"/>
              </a:spcBef>
              <a:spcAft>
                <a:spcPts val="600"/>
              </a:spcAft>
              <a:buClr>
                <a:srgbClr val="FF9933"/>
              </a:buClr>
              <a:buFont typeface="Arial" panose="020B0604020202020204" pitchFamily="34" charset="0"/>
              <a:buChar char="•"/>
            </a:pPr>
            <a:r>
              <a:rPr lang="en-US" altLang="en-US" b="1">
                <a:latin typeface="+mn-lt"/>
              </a:rPr>
              <a:t> Error = Demand - Forecast</a:t>
            </a:r>
            <a:endParaRPr lang="en-US" altLang="en-US">
              <a:latin typeface="+mn-lt"/>
            </a:endParaRPr>
          </a:p>
          <a:p>
            <a:pPr indent="-228600" defTabSz="914400" fontAlgn="base">
              <a:lnSpc>
                <a:spcPct val="90000"/>
              </a:lnSpc>
              <a:spcBef>
                <a:spcPct val="0"/>
              </a:spcBef>
              <a:spcAft>
                <a:spcPts val="600"/>
              </a:spcAft>
              <a:buClr>
                <a:srgbClr val="FF9933"/>
              </a:buClr>
              <a:buFont typeface="Arial" panose="020B0604020202020204" pitchFamily="34" charset="0"/>
              <a:buChar char="•"/>
            </a:pPr>
            <a:endParaRPr lang="en-US" altLang="en-US" b="1">
              <a:latin typeface="+mn-lt"/>
            </a:endParaRPr>
          </a:p>
          <a:p>
            <a:pPr indent="-228600" defTabSz="914400" fontAlgn="base">
              <a:lnSpc>
                <a:spcPct val="90000"/>
              </a:lnSpc>
              <a:spcBef>
                <a:spcPct val="0"/>
              </a:spcBef>
              <a:spcAft>
                <a:spcPts val="600"/>
              </a:spcAft>
              <a:buClr>
                <a:srgbClr val="FF9933"/>
              </a:buClr>
              <a:buFont typeface="Arial" panose="020B0604020202020204" pitchFamily="34" charset="0"/>
              <a:buChar char="•"/>
            </a:pPr>
            <a:endParaRPr lang="en-US" altLang="en-US" b="1">
              <a:latin typeface="+mn-lt"/>
            </a:endParaRPr>
          </a:p>
          <a:p>
            <a:pPr indent="-228600" defTabSz="914400" fontAlgn="base">
              <a:lnSpc>
                <a:spcPct val="90000"/>
              </a:lnSpc>
              <a:spcBef>
                <a:spcPct val="0"/>
              </a:spcBef>
              <a:spcAft>
                <a:spcPts val="600"/>
              </a:spcAft>
              <a:buClr>
                <a:srgbClr val="FF9933"/>
              </a:buClr>
              <a:buFont typeface="Arial" panose="020B0604020202020204" pitchFamily="34" charset="0"/>
              <a:buChar char="•"/>
            </a:pPr>
            <a:endParaRPr lang="en-US" altLang="en-US">
              <a:latin typeface="+mn-lt"/>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04563EB3-D7B2-5CB1-16D8-D81BB98130DC}"/>
              </a:ext>
            </a:extLst>
          </p:cNvPr>
          <p:cNvSpPr>
            <a:spLocks noGrp="1" noChangeArrowheads="1"/>
          </p:cNvSpPr>
          <p:nvPr>
            <p:ph type="title"/>
          </p:nvPr>
        </p:nvSpPr>
        <p:spPr/>
        <p:txBody>
          <a:bodyPr/>
          <a:lstStyle/>
          <a:p>
            <a:pPr eaLnBrk="1" hangingPunct="1"/>
            <a:r>
              <a:rPr lang="en-US" altLang="en-US"/>
              <a:t>Measures of Forecast Error</a:t>
            </a:r>
          </a:p>
        </p:txBody>
      </p:sp>
      <p:sp>
        <p:nvSpPr>
          <p:cNvPr id="89091" name="Rectangle 2">
            <a:extLst>
              <a:ext uri="{FF2B5EF4-FFF2-40B4-BE49-F238E27FC236}">
                <a16:creationId xmlns:a16="http://schemas.microsoft.com/office/drawing/2014/main" id="{8303340A-6848-6A8E-80B0-65DEF47120C5}"/>
              </a:ext>
            </a:extLst>
          </p:cNvPr>
          <p:cNvSpPr>
            <a:spLocks noGrp="1" noChangeArrowheads="1"/>
          </p:cNvSpPr>
          <p:nvPr>
            <p:ph type="body" sz="half" idx="1"/>
          </p:nvPr>
        </p:nvSpPr>
        <p:spPr>
          <a:xfrm>
            <a:off x="1828801" y="3505200"/>
            <a:ext cx="5070475" cy="6096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75" tIns="44444" rIns="90475" bIns="44444" numCol="1" anchor="t" anchorCtr="0" compatLnSpc="1">
            <a:prstTxWarp prst="textNoShape">
              <a:avLst/>
            </a:prstTxWarp>
          </a:bodyPr>
          <a:lstStyle/>
          <a:p>
            <a:pPr marL="533400" indent="-533400" eaLnBrk="1" hangingPunct="1">
              <a:spcBef>
                <a:spcPct val="411000"/>
              </a:spcBef>
              <a:buFont typeface="Wingdings" panose="05000000000000000000" pitchFamily="2" charset="2"/>
              <a:buAutoNum type="alphaLcPeriod" startAt="2"/>
            </a:pPr>
            <a:r>
              <a:rPr lang="en-US" altLang="en-US" sz="3000" b="1">
                <a:latin typeface="Arial Narrow" panose="020B0606020202030204" pitchFamily="34" charset="0"/>
              </a:rPr>
              <a:t>MSE = Mean Squared Error</a:t>
            </a:r>
          </a:p>
        </p:txBody>
      </p:sp>
      <p:graphicFrame>
        <p:nvGraphicFramePr>
          <p:cNvPr id="653325" name="Object 13">
            <a:extLst>
              <a:ext uri="{FF2B5EF4-FFF2-40B4-BE49-F238E27FC236}">
                <a16:creationId xmlns:a16="http://schemas.microsoft.com/office/drawing/2014/main" id="{28B4F447-A6CA-4B1E-9758-6A02732C8516}"/>
              </a:ext>
            </a:extLst>
          </p:cNvPr>
          <p:cNvGraphicFramePr>
            <a:graphicFrameLocks noGrp="1"/>
          </p:cNvGraphicFramePr>
          <p:nvPr>
            <p:ph sz="quarter" idx="2"/>
          </p:nvPr>
        </p:nvGraphicFramePr>
        <p:xfrm>
          <a:off x="7772400" y="3276600"/>
          <a:ext cx="2667000" cy="1219200"/>
        </p:xfrm>
        <a:graphic>
          <a:graphicData uri="http://schemas.openxmlformats.org/presentationml/2006/ole">
            <mc:AlternateContent xmlns:mc="http://schemas.openxmlformats.org/markup-compatibility/2006">
              <mc:Choice xmlns:v="urn:schemas-microsoft-com:vml" Requires="v">
                <p:oleObj name="Equation" r:id="rId3" imgW="21945600" imgH="10534650" progId="Equation.3">
                  <p:embed/>
                </p:oleObj>
              </mc:Choice>
              <mc:Fallback>
                <p:oleObj name="Equation" r:id="rId3" imgW="21945600" imgH="10534650" progId="Equation.3">
                  <p:embed/>
                  <p:pic>
                    <p:nvPicPr>
                      <p:cNvPr id="653325" name="Object 13">
                        <a:extLst>
                          <a:ext uri="{FF2B5EF4-FFF2-40B4-BE49-F238E27FC236}">
                            <a16:creationId xmlns:a16="http://schemas.microsoft.com/office/drawing/2014/main" id="{28B4F447-A6CA-4B1E-9758-6A02732C851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3276600"/>
                        <a:ext cx="2667000" cy="12192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graphicFrame>
        <p:nvGraphicFramePr>
          <p:cNvPr id="653321" name="Object 9">
            <a:extLst>
              <a:ext uri="{FF2B5EF4-FFF2-40B4-BE49-F238E27FC236}">
                <a16:creationId xmlns:a16="http://schemas.microsoft.com/office/drawing/2014/main" id="{4EC39207-0E51-7F91-ADF1-BBB3B36090E3}"/>
              </a:ext>
            </a:extLst>
          </p:cNvPr>
          <p:cNvGraphicFramePr>
            <a:graphicFrameLocks/>
          </p:cNvGraphicFramePr>
          <p:nvPr/>
        </p:nvGraphicFramePr>
        <p:xfrm>
          <a:off x="7772400" y="1600200"/>
          <a:ext cx="2667000" cy="1219200"/>
        </p:xfrm>
        <a:graphic>
          <a:graphicData uri="http://schemas.openxmlformats.org/presentationml/2006/ole">
            <mc:AlternateContent xmlns:mc="http://schemas.openxmlformats.org/markup-compatibility/2006">
              <mc:Choice xmlns:v="urn:schemas-microsoft-com:vml" Requires="v">
                <p:oleObj name="Equation" r:id="rId5" imgW="13373100" imgH="6477000" progId="Equation.3">
                  <p:embed/>
                </p:oleObj>
              </mc:Choice>
              <mc:Fallback>
                <p:oleObj name="Equation" r:id="rId5" imgW="13373100" imgH="6477000" progId="Equation.3">
                  <p:embed/>
                  <p:pic>
                    <p:nvPicPr>
                      <p:cNvPr id="653321" name="Object 9">
                        <a:extLst>
                          <a:ext uri="{FF2B5EF4-FFF2-40B4-BE49-F238E27FC236}">
                            <a16:creationId xmlns:a16="http://schemas.microsoft.com/office/drawing/2014/main" id="{4EC39207-0E51-7F91-ADF1-BBB3B36090E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400" y="1600200"/>
                        <a:ext cx="2667000" cy="12192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653322" name="AutoShape 10">
            <a:extLst>
              <a:ext uri="{FF2B5EF4-FFF2-40B4-BE49-F238E27FC236}">
                <a16:creationId xmlns:a16="http://schemas.microsoft.com/office/drawing/2014/main" id="{533B1F27-B3D2-2FC1-EB43-A777356F4CF9}"/>
              </a:ext>
            </a:extLst>
          </p:cNvPr>
          <p:cNvSpPr>
            <a:spLocks/>
          </p:cNvSpPr>
          <p:nvPr/>
        </p:nvSpPr>
        <p:spPr bwMode="auto">
          <a:xfrm rot="5400000">
            <a:off x="9715500" y="1104900"/>
            <a:ext cx="381000" cy="914400"/>
          </a:xfrm>
          <a:prstGeom prst="leftBrace">
            <a:avLst>
              <a:gd name="adj1" fmla="val 20000"/>
              <a:gd name="adj2" fmla="val 50000"/>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fontAlgn="base">
              <a:spcBef>
                <a:spcPct val="0"/>
              </a:spcBef>
              <a:spcAft>
                <a:spcPct val="0"/>
              </a:spcAft>
              <a:buClrTx/>
              <a:buNone/>
            </a:pPr>
            <a:endParaRPr lang="en-US" altLang="en-US" sz="2400">
              <a:solidFill>
                <a:srgbClr val="292929"/>
              </a:solidFill>
              <a:latin typeface="Times New Roman" panose="02020603050405020304" pitchFamily="18" charset="0"/>
            </a:endParaRPr>
          </a:p>
        </p:txBody>
      </p:sp>
      <p:sp>
        <p:nvSpPr>
          <p:cNvPr id="653323" name="Text Box 11">
            <a:extLst>
              <a:ext uri="{FF2B5EF4-FFF2-40B4-BE49-F238E27FC236}">
                <a16:creationId xmlns:a16="http://schemas.microsoft.com/office/drawing/2014/main" id="{A7AEA4E4-7236-4CE7-7E2F-6EFA3CEFC5A8}"/>
              </a:ext>
            </a:extLst>
          </p:cNvPr>
          <p:cNvSpPr txBox="1">
            <a:spLocks noChangeArrowheads="1"/>
          </p:cNvSpPr>
          <p:nvPr/>
        </p:nvSpPr>
        <p:spPr bwMode="auto">
          <a:xfrm>
            <a:off x="9682164" y="914400"/>
            <a:ext cx="376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0"/>
              </a:spcBef>
              <a:spcAft>
                <a:spcPct val="0"/>
              </a:spcAft>
              <a:buClrTx/>
              <a:buNone/>
            </a:pPr>
            <a:r>
              <a:rPr lang="en-US" altLang="en-US" sz="2400">
                <a:solidFill>
                  <a:srgbClr val="292929"/>
                </a:solidFill>
                <a:latin typeface="Times New Roman" panose="02020603050405020304" pitchFamily="18" charset="0"/>
              </a:rPr>
              <a:t>e</a:t>
            </a:r>
            <a:r>
              <a:rPr lang="en-US" altLang="en-US" sz="2400" baseline="-25000">
                <a:solidFill>
                  <a:srgbClr val="292929"/>
                </a:solidFill>
                <a:latin typeface="Times New Roman" panose="02020603050405020304" pitchFamily="18" charset="0"/>
              </a:rPr>
              <a:t>t</a:t>
            </a:r>
          </a:p>
        </p:txBody>
      </p:sp>
      <p:sp>
        <p:nvSpPr>
          <p:cNvPr id="653324" name="Rectangle 12">
            <a:extLst>
              <a:ext uri="{FF2B5EF4-FFF2-40B4-BE49-F238E27FC236}">
                <a16:creationId xmlns:a16="http://schemas.microsoft.com/office/drawing/2014/main" id="{15037AA2-35E7-80C3-347B-143C767406DB}"/>
              </a:ext>
            </a:extLst>
          </p:cNvPr>
          <p:cNvSpPr>
            <a:spLocks noChangeArrowheads="1"/>
          </p:cNvSpPr>
          <p:nvPr/>
        </p:nvSpPr>
        <p:spPr bwMode="auto">
          <a:xfrm>
            <a:off x="1981200" y="6369050"/>
            <a:ext cx="85344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447675" indent="-447675">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889000" indent="-439738">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293813" indent="-4032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81163" indent="-385763">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70100" indent="-38735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273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845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417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989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lnSpc>
                <a:spcPct val="90000"/>
              </a:lnSpc>
              <a:spcAft>
                <a:spcPct val="0"/>
              </a:spcAft>
            </a:pPr>
            <a:r>
              <a:rPr lang="en-US" altLang="en-US" sz="2400" b="1">
                <a:solidFill>
                  <a:srgbClr val="990000"/>
                </a:solidFill>
              </a:rPr>
              <a:t>Ideal values =0  </a:t>
            </a:r>
            <a:r>
              <a:rPr lang="en-US" altLang="en-US" sz="2400" b="1">
                <a:solidFill>
                  <a:srgbClr val="292929"/>
                </a:solidFill>
              </a:rPr>
              <a:t>(i.e., no forecasting error)</a:t>
            </a:r>
            <a:endParaRPr lang="en-US" altLang="en-US" sz="2400" i="1">
              <a:solidFill>
                <a:srgbClr val="CC9900"/>
              </a:solidFill>
            </a:endParaRPr>
          </a:p>
        </p:txBody>
      </p:sp>
      <p:graphicFrame>
        <p:nvGraphicFramePr>
          <p:cNvPr id="653329" name="Object 17">
            <a:extLst>
              <a:ext uri="{FF2B5EF4-FFF2-40B4-BE49-F238E27FC236}">
                <a16:creationId xmlns:a16="http://schemas.microsoft.com/office/drawing/2014/main" id="{ACCD33FC-07F9-FE17-71C4-84F97F531F9D}"/>
              </a:ext>
            </a:extLst>
          </p:cNvPr>
          <p:cNvGraphicFramePr>
            <a:graphicFrameLocks noGrp="1"/>
          </p:cNvGraphicFramePr>
          <p:nvPr>
            <p:ph sz="quarter" idx="3"/>
          </p:nvPr>
        </p:nvGraphicFramePr>
        <p:xfrm>
          <a:off x="7772400" y="4876800"/>
          <a:ext cx="2667000" cy="495300"/>
        </p:xfrm>
        <a:graphic>
          <a:graphicData uri="http://schemas.openxmlformats.org/presentationml/2006/ole">
            <mc:AlternateContent xmlns:mc="http://schemas.openxmlformats.org/markup-compatibility/2006">
              <mc:Choice xmlns:v="urn:schemas-microsoft-com:vml" Requires="v">
                <p:oleObj name="Equation" r:id="rId7" imgW="18211800" imgH="3952875" progId="Equation.3">
                  <p:embed/>
                </p:oleObj>
              </mc:Choice>
              <mc:Fallback>
                <p:oleObj name="Equation" r:id="rId7" imgW="18211800" imgH="3952875" progId="Equation.3">
                  <p:embed/>
                  <p:pic>
                    <p:nvPicPr>
                      <p:cNvPr id="653329" name="Object 17">
                        <a:extLst>
                          <a:ext uri="{FF2B5EF4-FFF2-40B4-BE49-F238E27FC236}">
                            <a16:creationId xmlns:a16="http://schemas.microsoft.com/office/drawing/2014/main" id="{ACCD33FC-07F9-FE17-71C4-84F97F531F9D}"/>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2400" y="4876800"/>
                        <a:ext cx="2667000" cy="4953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89098" name="Rectangle 19">
            <a:extLst>
              <a:ext uri="{FF2B5EF4-FFF2-40B4-BE49-F238E27FC236}">
                <a16:creationId xmlns:a16="http://schemas.microsoft.com/office/drawing/2014/main" id="{8A7E593E-C57B-E360-E4E5-045A554454D7}"/>
              </a:ext>
            </a:extLst>
          </p:cNvPr>
          <p:cNvSpPr>
            <a:spLocks noChangeArrowheads="1"/>
          </p:cNvSpPr>
          <p:nvPr/>
        </p:nvSpPr>
        <p:spPr bwMode="auto">
          <a:xfrm>
            <a:off x="1828801" y="4876800"/>
            <a:ext cx="64420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5" tIns="44444" rIns="90475" bIns="44444"/>
          <a:lstStyle>
            <a:lvl1pPr marL="533400" indent="-533400">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906463" indent="-45720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293813" indent="-4032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81163" indent="-385763">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70100" indent="-38735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273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845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417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989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lnSpc>
                <a:spcPct val="90000"/>
              </a:lnSpc>
              <a:spcBef>
                <a:spcPct val="411000"/>
              </a:spcBef>
              <a:spcAft>
                <a:spcPct val="0"/>
              </a:spcAft>
              <a:buFont typeface="Wingdings" panose="05000000000000000000" pitchFamily="2" charset="2"/>
              <a:buAutoNum type="alphaLcPeriod" startAt="3"/>
            </a:pPr>
            <a:r>
              <a:rPr lang="en-US" altLang="en-US" sz="3000" b="1">
                <a:solidFill>
                  <a:srgbClr val="292929"/>
                </a:solidFill>
                <a:latin typeface="Arial Narrow" panose="020B0606020202030204" pitchFamily="34" charset="0"/>
              </a:rPr>
              <a:t>RMSE = Root Mean Squared Error</a:t>
            </a:r>
          </a:p>
        </p:txBody>
      </p:sp>
      <p:sp>
        <p:nvSpPr>
          <p:cNvPr id="89099" name="Rectangle 21">
            <a:extLst>
              <a:ext uri="{FF2B5EF4-FFF2-40B4-BE49-F238E27FC236}">
                <a16:creationId xmlns:a16="http://schemas.microsoft.com/office/drawing/2014/main" id="{F94A3186-09FF-C377-0D3C-800254DFD7B7}"/>
              </a:ext>
            </a:extLst>
          </p:cNvPr>
          <p:cNvSpPr>
            <a:spLocks noChangeArrowheads="1"/>
          </p:cNvSpPr>
          <p:nvPr/>
        </p:nvSpPr>
        <p:spPr bwMode="auto">
          <a:xfrm>
            <a:off x="1828801" y="1752600"/>
            <a:ext cx="67468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5" tIns="44444" rIns="90475" bIns="44444"/>
          <a:lstStyle>
            <a:lvl1pPr marL="533400" indent="-533400">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906463" indent="-45720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293813" indent="-403225">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81163" indent="-385763">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70100" indent="-38735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273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845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417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98900" indent="-38735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fontAlgn="base">
              <a:spcBef>
                <a:spcPct val="411000"/>
              </a:spcBef>
              <a:spcAft>
                <a:spcPct val="0"/>
              </a:spcAft>
              <a:buFont typeface="Wingdings" panose="05000000000000000000" pitchFamily="2" charset="2"/>
              <a:buAutoNum type="alphaLcPeriod"/>
            </a:pPr>
            <a:r>
              <a:rPr lang="en-US" altLang="en-US" sz="3000" b="1">
                <a:solidFill>
                  <a:srgbClr val="292929"/>
                </a:solidFill>
                <a:latin typeface="Arial Narrow" panose="020B0606020202030204" pitchFamily="34" charset="0"/>
              </a:rPr>
              <a:t>MAD</a:t>
            </a:r>
            <a:r>
              <a:rPr lang="en-US" altLang="en-US" sz="3000">
                <a:solidFill>
                  <a:srgbClr val="292929"/>
                </a:solidFill>
                <a:latin typeface="Arial Narrow" panose="020B0606020202030204" pitchFamily="34" charset="0"/>
              </a:rPr>
              <a:t> = </a:t>
            </a:r>
            <a:r>
              <a:rPr lang="en-US" altLang="en-US" sz="3000" b="1">
                <a:solidFill>
                  <a:srgbClr val="292929"/>
                </a:solidFill>
                <a:latin typeface="Arial Narrow" panose="020B0606020202030204" pitchFamily="34" charset="0"/>
              </a:rPr>
              <a:t>Mean Absolute Deviation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33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33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332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5332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5332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533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22" grpId="0" animBg="1"/>
      <p:bldP spid="65332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112A8AC-8BC3-EA2B-2F34-77B4C7DFF93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1139" name="Rectangle 3">
            <a:extLst>
              <a:ext uri="{FF2B5EF4-FFF2-40B4-BE49-F238E27FC236}">
                <a16:creationId xmlns:a16="http://schemas.microsoft.com/office/drawing/2014/main" id="{E000E575-B975-0A91-DA5D-FF98252A611B}"/>
              </a:ext>
            </a:extLst>
          </p:cNvPr>
          <p:cNvSpPr>
            <a:spLocks noChangeArrowheads="1"/>
          </p:cNvSpPr>
          <p:nvPr/>
        </p:nvSpPr>
        <p:spPr bwMode="auto">
          <a:xfrm>
            <a:off x="3665538"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1140" name="Rectangle 4">
            <a:extLst>
              <a:ext uri="{FF2B5EF4-FFF2-40B4-BE49-F238E27FC236}">
                <a16:creationId xmlns:a16="http://schemas.microsoft.com/office/drawing/2014/main" id="{748ABEE2-4D53-E095-B82F-E4BD886CC9DA}"/>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MAD Example</a:t>
            </a:r>
          </a:p>
        </p:txBody>
      </p:sp>
      <p:sp>
        <p:nvSpPr>
          <p:cNvPr id="549893" name="Rectangle 5">
            <a:extLst>
              <a:ext uri="{FF2B5EF4-FFF2-40B4-BE49-F238E27FC236}">
                <a16:creationId xmlns:a16="http://schemas.microsoft.com/office/drawing/2014/main" id="{8D5C36A8-8F27-F13C-B510-47550888884C}"/>
              </a:ext>
            </a:extLst>
          </p:cNvPr>
          <p:cNvSpPr>
            <a:spLocks noChangeArrowheads="1"/>
          </p:cNvSpPr>
          <p:nvPr/>
        </p:nvSpPr>
        <p:spPr bwMode="auto">
          <a:xfrm>
            <a:off x="2006600" y="5745164"/>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4" name="Rectangle 6">
            <a:extLst>
              <a:ext uri="{FF2B5EF4-FFF2-40B4-BE49-F238E27FC236}">
                <a16:creationId xmlns:a16="http://schemas.microsoft.com/office/drawing/2014/main" id="{E33B18D9-5BDD-92D7-DB5A-DE34D39447B4}"/>
              </a:ext>
            </a:extLst>
          </p:cNvPr>
          <p:cNvSpPr>
            <a:spLocks noChangeArrowheads="1"/>
          </p:cNvSpPr>
          <p:nvPr/>
        </p:nvSpPr>
        <p:spPr bwMode="auto">
          <a:xfrm>
            <a:off x="2006601" y="6202364"/>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5" name="Rectangle 7">
            <a:extLst>
              <a:ext uri="{FF2B5EF4-FFF2-40B4-BE49-F238E27FC236}">
                <a16:creationId xmlns:a16="http://schemas.microsoft.com/office/drawing/2014/main" id="{04FC760A-E68F-8D5F-D471-D6B4E91BFC1C}"/>
              </a:ext>
            </a:extLst>
          </p:cNvPr>
          <p:cNvSpPr>
            <a:spLocks noChangeArrowheads="1"/>
          </p:cNvSpPr>
          <p:nvPr/>
        </p:nvSpPr>
        <p:spPr bwMode="auto">
          <a:xfrm>
            <a:off x="20066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6" name="Rectangle 8">
            <a:extLst>
              <a:ext uri="{FF2B5EF4-FFF2-40B4-BE49-F238E27FC236}">
                <a16:creationId xmlns:a16="http://schemas.microsoft.com/office/drawing/2014/main" id="{26C36521-14F6-DB59-439F-2190FAB9DBBC}"/>
              </a:ext>
            </a:extLst>
          </p:cNvPr>
          <p:cNvSpPr>
            <a:spLocks noChangeArrowheads="1"/>
          </p:cNvSpPr>
          <p:nvPr/>
        </p:nvSpPr>
        <p:spPr bwMode="auto">
          <a:xfrm>
            <a:off x="38354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7" name="Rectangle 9">
            <a:extLst>
              <a:ext uri="{FF2B5EF4-FFF2-40B4-BE49-F238E27FC236}">
                <a16:creationId xmlns:a16="http://schemas.microsoft.com/office/drawing/2014/main" id="{64666D6E-C03F-F267-F742-9BEDED3A19F9}"/>
              </a:ext>
            </a:extLst>
          </p:cNvPr>
          <p:cNvSpPr>
            <a:spLocks noChangeArrowheads="1"/>
          </p:cNvSpPr>
          <p:nvPr/>
        </p:nvSpPr>
        <p:spPr bwMode="auto">
          <a:xfrm>
            <a:off x="2006600" y="3913189"/>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8" name="Rectangle 10">
            <a:extLst>
              <a:ext uri="{FF2B5EF4-FFF2-40B4-BE49-F238E27FC236}">
                <a16:creationId xmlns:a16="http://schemas.microsoft.com/office/drawing/2014/main" id="{80C7CDDF-9BDD-E4FE-F0B6-3EFDB08A541B}"/>
              </a:ext>
            </a:extLst>
          </p:cNvPr>
          <p:cNvSpPr>
            <a:spLocks noChangeArrowheads="1"/>
          </p:cNvSpPr>
          <p:nvPr/>
        </p:nvSpPr>
        <p:spPr bwMode="auto">
          <a:xfrm>
            <a:off x="2006600" y="4829176"/>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899" name="Rectangle 11">
            <a:extLst>
              <a:ext uri="{FF2B5EF4-FFF2-40B4-BE49-F238E27FC236}">
                <a16:creationId xmlns:a16="http://schemas.microsoft.com/office/drawing/2014/main" id="{C18B2F55-3E7C-E58E-AC51-35A8BFEC609D}"/>
              </a:ext>
            </a:extLst>
          </p:cNvPr>
          <p:cNvSpPr>
            <a:spLocks noChangeArrowheads="1"/>
          </p:cNvSpPr>
          <p:nvPr/>
        </p:nvSpPr>
        <p:spPr bwMode="auto">
          <a:xfrm>
            <a:off x="5630864"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0" name="Rectangle 12">
            <a:extLst>
              <a:ext uri="{FF2B5EF4-FFF2-40B4-BE49-F238E27FC236}">
                <a16:creationId xmlns:a16="http://schemas.microsoft.com/office/drawing/2014/main" id="{8ECA0A3F-DB31-2A0A-1838-9BFDA56EAD22}"/>
              </a:ext>
            </a:extLst>
          </p:cNvPr>
          <p:cNvSpPr>
            <a:spLocks noChangeArrowheads="1"/>
          </p:cNvSpPr>
          <p:nvPr/>
        </p:nvSpPr>
        <p:spPr bwMode="auto">
          <a:xfrm>
            <a:off x="74422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1" name="Rectangle 13">
            <a:extLst>
              <a:ext uri="{FF2B5EF4-FFF2-40B4-BE49-F238E27FC236}">
                <a16:creationId xmlns:a16="http://schemas.microsoft.com/office/drawing/2014/main" id="{53BDCDFB-B54A-02EF-EDC3-E852BC59C1E4}"/>
              </a:ext>
            </a:extLst>
          </p:cNvPr>
          <p:cNvSpPr>
            <a:spLocks noChangeArrowheads="1"/>
          </p:cNvSpPr>
          <p:nvPr/>
        </p:nvSpPr>
        <p:spPr bwMode="auto">
          <a:xfrm>
            <a:off x="1989138" y="3429000"/>
            <a:ext cx="5524500" cy="2781300"/>
          </a:xfrm>
          <a:prstGeom prst="rect">
            <a:avLst/>
          </a:prstGeom>
          <a:solidFill>
            <a:srgbClr val="A6F69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2" name="Line 14">
            <a:extLst>
              <a:ext uri="{FF2B5EF4-FFF2-40B4-BE49-F238E27FC236}">
                <a16:creationId xmlns:a16="http://schemas.microsoft.com/office/drawing/2014/main" id="{FB4E4ADE-A80B-F966-9AB0-C120CD1C394B}"/>
              </a:ext>
            </a:extLst>
          </p:cNvPr>
          <p:cNvSpPr>
            <a:spLocks noChangeShapeType="1"/>
          </p:cNvSpPr>
          <p:nvPr/>
        </p:nvSpPr>
        <p:spPr bwMode="auto">
          <a:xfrm>
            <a:off x="2017713" y="3455988"/>
            <a:ext cx="548005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03" name="Rectangle 15">
            <a:extLst>
              <a:ext uri="{FF2B5EF4-FFF2-40B4-BE49-F238E27FC236}">
                <a16:creationId xmlns:a16="http://schemas.microsoft.com/office/drawing/2014/main" id="{38BC4116-AD2F-E10A-9233-0C1CF10CC02A}"/>
              </a:ext>
            </a:extLst>
          </p:cNvPr>
          <p:cNvSpPr>
            <a:spLocks noChangeArrowheads="1"/>
          </p:cNvSpPr>
          <p:nvPr/>
        </p:nvSpPr>
        <p:spPr bwMode="auto">
          <a:xfrm>
            <a:off x="2006601" y="3455989"/>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4" name="Line 16">
            <a:extLst>
              <a:ext uri="{FF2B5EF4-FFF2-40B4-BE49-F238E27FC236}">
                <a16:creationId xmlns:a16="http://schemas.microsoft.com/office/drawing/2014/main" id="{DA645762-BC78-7493-F20F-5A012607E59B}"/>
              </a:ext>
            </a:extLst>
          </p:cNvPr>
          <p:cNvSpPr>
            <a:spLocks noChangeShapeType="1"/>
          </p:cNvSpPr>
          <p:nvPr/>
        </p:nvSpPr>
        <p:spPr bwMode="auto">
          <a:xfrm>
            <a:off x="2035175" y="3913188"/>
            <a:ext cx="543718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05" name="Rectangle 17">
            <a:extLst>
              <a:ext uri="{FF2B5EF4-FFF2-40B4-BE49-F238E27FC236}">
                <a16:creationId xmlns:a16="http://schemas.microsoft.com/office/drawing/2014/main" id="{7AC08278-417F-9295-447D-E7E3D495ED2D}"/>
              </a:ext>
            </a:extLst>
          </p:cNvPr>
          <p:cNvSpPr>
            <a:spLocks noChangeArrowheads="1"/>
          </p:cNvSpPr>
          <p:nvPr/>
        </p:nvSpPr>
        <p:spPr bwMode="auto">
          <a:xfrm>
            <a:off x="2006601" y="4371976"/>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6" name="Rectangle 18">
            <a:extLst>
              <a:ext uri="{FF2B5EF4-FFF2-40B4-BE49-F238E27FC236}">
                <a16:creationId xmlns:a16="http://schemas.microsoft.com/office/drawing/2014/main" id="{4639AAFC-450F-7B0D-E126-E199A32C5E7C}"/>
              </a:ext>
            </a:extLst>
          </p:cNvPr>
          <p:cNvSpPr>
            <a:spLocks noChangeArrowheads="1"/>
          </p:cNvSpPr>
          <p:nvPr/>
        </p:nvSpPr>
        <p:spPr bwMode="auto">
          <a:xfrm>
            <a:off x="2006601" y="5286376"/>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07" name="Line 19">
            <a:extLst>
              <a:ext uri="{FF2B5EF4-FFF2-40B4-BE49-F238E27FC236}">
                <a16:creationId xmlns:a16="http://schemas.microsoft.com/office/drawing/2014/main" id="{F21DE299-85FE-74EB-70DC-FBAF37ED2DFD}"/>
              </a:ext>
            </a:extLst>
          </p:cNvPr>
          <p:cNvSpPr>
            <a:spLocks noChangeShapeType="1"/>
          </p:cNvSpPr>
          <p:nvPr/>
        </p:nvSpPr>
        <p:spPr bwMode="auto">
          <a:xfrm>
            <a:off x="2035175" y="5745163"/>
            <a:ext cx="543718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08" name="Line 20">
            <a:extLst>
              <a:ext uri="{FF2B5EF4-FFF2-40B4-BE49-F238E27FC236}">
                <a16:creationId xmlns:a16="http://schemas.microsoft.com/office/drawing/2014/main" id="{18B60CA3-FA56-B442-6A63-3D6D4BED3A4E}"/>
              </a:ext>
            </a:extLst>
          </p:cNvPr>
          <p:cNvSpPr>
            <a:spLocks noChangeShapeType="1"/>
          </p:cNvSpPr>
          <p:nvPr/>
        </p:nvSpPr>
        <p:spPr bwMode="auto">
          <a:xfrm>
            <a:off x="2017713" y="6202363"/>
            <a:ext cx="548005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09" name="Rectangle 21">
            <a:extLst>
              <a:ext uri="{FF2B5EF4-FFF2-40B4-BE49-F238E27FC236}">
                <a16:creationId xmlns:a16="http://schemas.microsoft.com/office/drawing/2014/main" id="{98B6290C-4307-0BB3-D329-F31C825B2E01}"/>
              </a:ext>
            </a:extLst>
          </p:cNvPr>
          <p:cNvSpPr>
            <a:spLocks noChangeArrowheads="1"/>
          </p:cNvSpPr>
          <p:nvPr/>
        </p:nvSpPr>
        <p:spPr bwMode="auto">
          <a:xfrm>
            <a:off x="2219325" y="3429000"/>
            <a:ext cx="1385888"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Month</a:t>
            </a:r>
            <a:endParaRPr lang="en-US" altLang="en-US" sz="2900">
              <a:solidFill>
                <a:srgbClr val="000000"/>
              </a:solidFill>
              <a:latin typeface="Times New Roman" panose="02020603050405020304" pitchFamily="18" charset="0"/>
            </a:endParaRPr>
          </a:p>
        </p:txBody>
      </p:sp>
      <p:sp>
        <p:nvSpPr>
          <p:cNvPr id="549910" name="Rectangle 22">
            <a:extLst>
              <a:ext uri="{FF2B5EF4-FFF2-40B4-BE49-F238E27FC236}">
                <a16:creationId xmlns:a16="http://schemas.microsoft.com/office/drawing/2014/main" id="{87900EF1-8328-7484-1C8C-15CA8A8859E0}"/>
              </a:ext>
            </a:extLst>
          </p:cNvPr>
          <p:cNvSpPr>
            <a:spLocks noChangeArrowheads="1"/>
          </p:cNvSpPr>
          <p:nvPr/>
        </p:nvSpPr>
        <p:spPr bwMode="auto">
          <a:xfrm>
            <a:off x="4067175" y="3429000"/>
            <a:ext cx="1538288"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Sales</a:t>
            </a:r>
            <a:endParaRPr lang="en-US" altLang="en-US" sz="2900">
              <a:solidFill>
                <a:srgbClr val="000000"/>
              </a:solidFill>
              <a:latin typeface="Times New Roman" panose="02020603050405020304" pitchFamily="18" charset="0"/>
            </a:endParaRPr>
          </a:p>
        </p:txBody>
      </p:sp>
      <p:sp>
        <p:nvSpPr>
          <p:cNvPr id="549911" name="Rectangle 23">
            <a:extLst>
              <a:ext uri="{FF2B5EF4-FFF2-40B4-BE49-F238E27FC236}">
                <a16:creationId xmlns:a16="http://schemas.microsoft.com/office/drawing/2014/main" id="{DFC79187-9E13-0A18-D575-45FD2BF5836C}"/>
              </a:ext>
            </a:extLst>
          </p:cNvPr>
          <p:cNvSpPr>
            <a:spLocks noChangeArrowheads="1"/>
          </p:cNvSpPr>
          <p:nvPr/>
        </p:nvSpPr>
        <p:spPr bwMode="auto">
          <a:xfrm>
            <a:off x="5683251" y="3429000"/>
            <a:ext cx="1768475"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Forecast</a:t>
            </a:r>
            <a:endParaRPr lang="en-US" altLang="en-US" sz="2900">
              <a:solidFill>
                <a:srgbClr val="000000"/>
              </a:solidFill>
              <a:latin typeface="Times New Roman" panose="02020603050405020304" pitchFamily="18" charset="0"/>
            </a:endParaRPr>
          </a:p>
        </p:txBody>
      </p:sp>
      <p:sp>
        <p:nvSpPr>
          <p:cNvPr id="549912" name="Rectangle 24">
            <a:extLst>
              <a:ext uri="{FF2B5EF4-FFF2-40B4-BE49-F238E27FC236}">
                <a16:creationId xmlns:a16="http://schemas.microsoft.com/office/drawing/2014/main" id="{DA5F178A-9D20-C609-494A-5399D5E70B67}"/>
              </a:ext>
            </a:extLst>
          </p:cNvPr>
          <p:cNvSpPr>
            <a:spLocks noChangeArrowheads="1"/>
          </p:cNvSpPr>
          <p:nvPr/>
        </p:nvSpPr>
        <p:spPr bwMode="auto">
          <a:xfrm>
            <a:off x="3484564" y="38862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1</a:t>
            </a:r>
            <a:endParaRPr lang="en-US" altLang="en-US" sz="2900">
              <a:solidFill>
                <a:srgbClr val="000000"/>
              </a:solidFill>
              <a:latin typeface="Times New Roman" panose="02020603050405020304" pitchFamily="18" charset="0"/>
            </a:endParaRPr>
          </a:p>
        </p:txBody>
      </p:sp>
      <p:sp>
        <p:nvSpPr>
          <p:cNvPr id="549913" name="Rectangle 25">
            <a:extLst>
              <a:ext uri="{FF2B5EF4-FFF2-40B4-BE49-F238E27FC236}">
                <a16:creationId xmlns:a16="http://schemas.microsoft.com/office/drawing/2014/main" id="{D855D09C-1286-7901-AEFD-8FBCB26B0BE6}"/>
              </a:ext>
            </a:extLst>
          </p:cNvPr>
          <p:cNvSpPr>
            <a:spLocks noChangeArrowheads="1"/>
          </p:cNvSpPr>
          <p:nvPr/>
        </p:nvSpPr>
        <p:spPr bwMode="auto">
          <a:xfrm>
            <a:off x="4937125" y="38862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220</a:t>
            </a:r>
          </a:p>
        </p:txBody>
      </p:sp>
      <p:sp>
        <p:nvSpPr>
          <p:cNvPr id="549914" name="Rectangle 26">
            <a:extLst>
              <a:ext uri="{FF2B5EF4-FFF2-40B4-BE49-F238E27FC236}">
                <a16:creationId xmlns:a16="http://schemas.microsoft.com/office/drawing/2014/main" id="{4AD65805-06B1-7F9D-E327-5F6D22353D57}"/>
              </a:ext>
            </a:extLst>
          </p:cNvPr>
          <p:cNvSpPr>
            <a:spLocks noChangeArrowheads="1"/>
          </p:cNvSpPr>
          <p:nvPr/>
        </p:nvSpPr>
        <p:spPr bwMode="auto">
          <a:xfrm>
            <a:off x="6858000" y="3886201"/>
            <a:ext cx="68288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n/a</a:t>
            </a:r>
          </a:p>
        </p:txBody>
      </p:sp>
      <p:sp>
        <p:nvSpPr>
          <p:cNvPr id="549915" name="Rectangle 27">
            <a:extLst>
              <a:ext uri="{FF2B5EF4-FFF2-40B4-BE49-F238E27FC236}">
                <a16:creationId xmlns:a16="http://schemas.microsoft.com/office/drawing/2014/main" id="{1155CE23-94F6-2134-4702-5E858334D2EF}"/>
              </a:ext>
            </a:extLst>
          </p:cNvPr>
          <p:cNvSpPr>
            <a:spLocks noChangeArrowheads="1"/>
          </p:cNvSpPr>
          <p:nvPr/>
        </p:nvSpPr>
        <p:spPr bwMode="auto">
          <a:xfrm>
            <a:off x="3484564" y="4344989"/>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a:t>
            </a:r>
            <a:endParaRPr lang="en-US" altLang="en-US" sz="2900">
              <a:solidFill>
                <a:srgbClr val="000000"/>
              </a:solidFill>
              <a:latin typeface="Times New Roman" panose="02020603050405020304" pitchFamily="18" charset="0"/>
            </a:endParaRPr>
          </a:p>
        </p:txBody>
      </p:sp>
      <p:sp>
        <p:nvSpPr>
          <p:cNvPr id="549916" name="Rectangle 28">
            <a:extLst>
              <a:ext uri="{FF2B5EF4-FFF2-40B4-BE49-F238E27FC236}">
                <a16:creationId xmlns:a16="http://schemas.microsoft.com/office/drawing/2014/main" id="{0F163D76-2A1A-A77D-DB8D-794C813608B7}"/>
              </a:ext>
            </a:extLst>
          </p:cNvPr>
          <p:cNvSpPr>
            <a:spLocks noChangeArrowheads="1"/>
          </p:cNvSpPr>
          <p:nvPr/>
        </p:nvSpPr>
        <p:spPr bwMode="auto">
          <a:xfrm>
            <a:off x="4937125" y="43449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250</a:t>
            </a:r>
            <a:endParaRPr lang="en-US" altLang="en-US" sz="2900">
              <a:solidFill>
                <a:srgbClr val="000000"/>
              </a:solidFill>
              <a:latin typeface="Times New Roman" panose="02020603050405020304" pitchFamily="18" charset="0"/>
            </a:endParaRPr>
          </a:p>
        </p:txBody>
      </p:sp>
      <p:sp>
        <p:nvSpPr>
          <p:cNvPr id="549917" name="Rectangle 29">
            <a:extLst>
              <a:ext uri="{FF2B5EF4-FFF2-40B4-BE49-F238E27FC236}">
                <a16:creationId xmlns:a16="http://schemas.microsoft.com/office/drawing/2014/main" id="{9C37E990-73E0-C720-B693-F6FF324292E3}"/>
              </a:ext>
            </a:extLst>
          </p:cNvPr>
          <p:cNvSpPr>
            <a:spLocks noChangeArrowheads="1"/>
          </p:cNvSpPr>
          <p:nvPr/>
        </p:nvSpPr>
        <p:spPr bwMode="auto">
          <a:xfrm>
            <a:off x="6767513" y="43449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255</a:t>
            </a:r>
            <a:endParaRPr lang="en-US" altLang="en-US" sz="2900">
              <a:solidFill>
                <a:srgbClr val="000000"/>
              </a:solidFill>
              <a:latin typeface="Times New Roman" panose="02020603050405020304" pitchFamily="18" charset="0"/>
            </a:endParaRPr>
          </a:p>
        </p:txBody>
      </p:sp>
      <p:sp>
        <p:nvSpPr>
          <p:cNvPr id="549918" name="Rectangle 30">
            <a:extLst>
              <a:ext uri="{FF2B5EF4-FFF2-40B4-BE49-F238E27FC236}">
                <a16:creationId xmlns:a16="http://schemas.microsoft.com/office/drawing/2014/main" id="{D3B0CD14-FD7E-9C43-CB7F-A3AAAC090F32}"/>
              </a:ext>
            </a:extLst>
          </p:cNvPr>
          <p:cNvSpPr>
            <a:spLocks noChangeArrowheads="1"/>
          </p:cNvSpPr>
          <p:nvPr/>
        </p:nvSpPr>
        <p:spPr bwMode="auto">
          <a:xfrm>
            <a:off x="3484564" y="48006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a:t>
            </a:r>
            <a:endParaRPr lang="en-US" altLang="en-US" sz="2900">
              <a:solidFill>
                <a:srgbClr val="000000"/>
              </a:solidFill>
              <a:latin typeface="Times New Roman" panose="02020603050405020304" pitchFamily="18" charset="0"/>
            </a:endParaRPr>
          </a:p>
        </p:txBody>
      </p:sp>
      <p:sp>
        <p:nvSpPr>
          <p:cNvPr id="549919" name="Rectangle 31">
            <a:extLst>
              <a:ext uri="{FF2B5EF4-FFF2-40B4-BE49-F238E27FC236}">
                <a16:creationId xmlns:a16="http://schemas.microsoft.com/office/drawing/2014/main" id="{60EC2125-2911-E16B-A669-65D80F7C8400}"/>
              </a:ext>
            </a:extLst>
          </p:cNvPr>
          <p:cNvSpPr>
            <a:spLocks noChangeArrowheads="1"/>
          </p:cNvSpPr>
          <p:nvPr/>
        </p:nvSpPr>
        <p:spPr bwMode="auto">
          <a:xfrm>
            <a:off x="4937125" y="48006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210</a:t>
            </a:r>
            <a:endParaRPr lang="en-US" altLang="en-US" sz="2900">
              <a:solidFill>
                <a:srgbClr val="000000"/>
              </a:solidFill>
              <a:latin typeface="Times New Roman" panose="02020603050405020304" pitchFamily="18" charset="0"/>
            </a:endParaRPr>
          </a:p>
        </p:txBody>
      </p:sp>
      <p:sp>
        <p:nvSpPr>
          <p:cNvPr id="549920" name="Rectangle 32">
            <a:extLst>
              <a:ext uri="{FF2B5EF4-FFF2-40B4-BE49-F238E27FC236}">
                <a16:creationId xmlns:a16="http://schemas.microsoft.com/office/drawing/2014/main" id="{F4376597-DAAD-34BB-EBC6-CE201A7AB8D1}"/>
              </a:ext>
            </a:extLst>
          </p:cNvPr>
          <p:cNvSpPr>
            <a:spLocks noChangeArrowheads="1"/>
          </p:cNvSpPr>
          <p:nvPr/>
        </p:nvSpPr>
        <p:spPr bwMode="auto">
          <a:xfrm>
            <a:off x="6767513" y="48006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205</a:t>
            </a:r>
          </a:p>
        </p:txBody>
      </p:sp>
      <p:sp>
        <p:nvSpPr>
          <p:cNvPr id="549921" name="Rectangle 33">
            <a:extLst>
              <a:ext uri="{FF2B5EF4-FFF2-40B4-BE49-F238E27FC236}">
                <a16:creationId xmlns:a16="http://schemas.microsoft.com/office/drawing/2014/main" id="{AB3272DD-FD1D-E54F-540B-1608D79AA7A1}"/>
              </a:ext>
            </a:extLst>
          </p:cNvPr>
          <p:cNvSpPr>
            <a:spLocks noChangeArrowheads="1"/>
          </p:cNvSpPr>
          <p:nvPr/>
        </p:nvSpPr>
        <p:spPr bwMode="auto">
          <a:xfrm>
            <a:off x="3484564" y="5259389"/>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4</a:t>
            </a:r>
            <a:endParaRPr lang="en-US" altLang="en-US" sz="2900">
              <a:solidFill>
                <a:srgbClr val="000000"/>
              </a:solidFill>
              <a:latin typeface="Times New Roman" panose="02020603050405020304" pitchFamily="18" charset="0"/>
            </a:endParaRPr>
          </a:p>
        </p:txBody>
      </p:sp>
      <p:sp>
        <p:nvSpPr>
          <p:cNvPr id="549922" name="Rectangle 34">
            <a:extLst>
              <a:ext uri="{FF2B5EF4-FFF2-40B4-BE49-F238E27FC236}">
                <a16:creationId xmlns:a16="http://schemas.microsoft.com/office/drawing/2014/main" id="{CF552EC4-4239-86AA-3F94-262B4ADCA79D}"/>
              </a:ext>
            </a:extLst>
          </p:cNvPr>
          <p:cNvSpPr>
            <a:spLocks noChangeArrowheads="1"/>
          </p:cNvSpPr>
          <p:nvPr/>
        </p:nvSpPr>
        <p:spPr bwMode="auto">
          <a:xfrm>
            <a:off x="4937125" y="52593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300</a:t>
            </a:r>
            <a:endParaRPr lang="en-US" altLang="en-US" sz="2900">
              <a:solidFill>
                <a:srgbClr val="000000"/>
              </a:solidFill>
              <a:latin typeface="Times New Roman" panose="02020603050405020304" pitchFamily="18" charset="0"/>
            </a:endParaRPr>
          </a:p>
        </p:txBody>
      </p:sp>
      <p:sp>
        <p:nvSpPr>
          <p:cNvPr id="549923" name="Rectangle 35">
            <a:extLst>
              <a:ext uri="{FF2B5EF4-FFF2-40B4-BE49-F238E27FC236}">
                <a16:creationId xmlns:a16="http://schemas.microsoft.com/office/drawing/2014/main" id="{C616D90E-00D9-AEB1-BE1F-8CD1F0319426}"/>
              </a:ext>
            </a:extLst>
          </p:cNvPr>
          <p:cNvSpPr>
            <a:spLocks noChangeArrowheads="1"/>
          </p:cNvSpPr>
          <p:nvPr/>
        </p:nvSpPr>
        <p:spPr bwMode="auto">
          <a:xfrm>
            <a:off x="6767513" y="52593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320</a:t>
            </a:r>
          </a:p>
        </p:txBody>
      </p:sp>
      <p:sp>
        <p:nvSpPr>
          <p:cNvPr id="549924" name="Rectangle 36">
            <a:extLst>
              <a:ext uri="{FF2B5EF4-FFF2-40B4-BE49-F238E27FC236}">
                <a16:creationId xmlns:a16="http://schemas.microsoft.com/office/drawing/2014/main" id="{E4A928A8-6801-3234-2AD9-47B5FC7D58F8}"/>
              </a:ext>
            </a:extLst>
          </p:cNvPr>
          <p:cNvSpPr>
            <a:spLocks noChangeArrowheads="1"/>
          </p:cNvSpPr>
          <p:nvPr/>
        </p:nvSpPr>
        <p:spPr bwMode="auto">
          <a:xfrm>
            <a:off x="3484564" y="5718176"/>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549925" name="Rectangle 37">
            <a:extLst>
              <a:ext uri="{FF2B5EF4-FFF2-40B4-BE49-F238E27FC236}">
                <a16:creationId xmlns:a16="http://schemas.microsoft.com/office/drawing/2014/main" id="{7E4D15F8-E48D-A6C4-5F5D-08C4A80FFD38}"/>
              </a:ext>
            </a:extLst>
          </p:cNvPr>
          <p:cNvSpPr>
            <a:spLocks noChangeArrowheads="1"/>
          </p:cNvSpPr>
          <p:nvPr/>
        </p:nvSpPr>
        <p:spPr bwMode="auto">
          <a:xfrm>
            <a:off x="4937125" y="5718176"/>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325</a:t>
            </a:r>
            <a:endParaRPr lang="en-US" altLang="en-US" sz="2900">
              <a:solidFill>
                <a:srgbClr val="000000"/>
              </a:solidFill>
              <a:latin typeface="Times New Roman" panose="02020603050405020304" pitchFamily="18" charset="0"/>
            </a:endParaRPr>
          </a:p>
        </p:txBody>
      </p:sp>
      <p:sp>
        <p:nvSpPr>
          <p:cNvPr id="549926" name="Rectangle 38">
            <a:extLst>
              <a:ext uri="{FF2B5EF4-FFF2-40B4-BE49-F238E27FC236}">
                <a16:creationId xmlns:a16="http://schemas.microsoft.com/office/drawing/2014/main" id="{C48890B8-5189-1C47-4DC9-367DFF1374C9}"/>
              </a:ext>
            </a:extLst>
          </p:cNvPr>
          <p:cNvSpPr>
            <a:spLocks noChangeArrowheads="1"/>
          </p:cNvSpPr>
          <p:nvPr/>
        </p:nvSpPr>
        <p:spPr bwMode="auto">
          <a:xfrm>
            <a:off x="6767513" y="5718176"/>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315</a:t>
            </a:r>
            <a:endParaRPr lang="en-US" altLang="en-US" sz="2900">
              <a:solidFill>
                <a:srgbClr val="000000"/>
              </a:solidFill>
              <a:latin typeface="Times New Roman" panose="02020603050405020304" pitchFamily="18" charset="0"/>
            </a:endParaRPr>
          </a:p>
        </p:txBody>
      </p:sp>
      <p:sp>
        <p:nvSpPr>
          <p:cNvPr id="549927" name="Line 39">
            <a:extLst>
              <a:ext uri="{FF2B5EF4-FFF2-40B4-BE49-F238E27FC236}">
                <a16:creationId xmlns:a16="http://schemas.microsoft.com/office/drawing/2014/main" id="{99B50CE7-3E10-7978-25C9-16BB0D75EF40}"/>
              </a:ext>
            </a:extLst>
          </p:cNvPr>
          <p:cNvSpPr>
            <a:spLocks noChangeShapeType="1"/>
          </p:cNvSpPr>
          <p:nvPr/>
        </p:nvSpPr>
        <p:spPr bwMode="auto">
          <a:xfrm>
            <a:off x="2006600" y="3467101"/>
            <a:ext cx="0" cy="272891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28" name="Line 40">
            <a:extLst>
              <a:ext uri="{FF2B5EF4-FFF2-40B4-BE49-F238E27FC236}">
                <a16:creationId xmlns:a16="http://schemas.microsoft.com/office/drawing/2014/main" id="{B797BDFB-AF9A-E279-B6C5-79246F44529E}"/>
              </a:ext>
            </a:extLst>
          </p:cNvPr>
          <p:cNvSpPr>
            <a:spLocks noChangeShapeType="1"/>
          </p:cNvSpPr>
          <p:nvPr/>
        </p:nvSpPr>
        <p:spPr bwMode="auto">
          <a:xfrm>
            <a:off x="3835400" y="3484564"/>
            <a:ext cx="0" cy="269398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29" name="Line 41">
            <a:extLst>
              <a:ext uri="{FF2B5EF4-FFF2-40B4-BE49-F238E27FC236}">
                <a16:creationId xmlns:a16="http://schemas.microsoft.com/office/drawing/2014/main" id="{0228C171-6F3B-F822-7B59-54942242F0AD}"/>
              </a:ext>
            </a:extLst>
          </p:cNvPr>
          <p:cNvSpPr>
            <a:spLocks noChangeShapeType="1"/>
          </p:cNvSpPr>
          <p:nvPr/>
        </p:nvSpPr>
        <p:spPr bwMode="auto">
          <a:xfrm>
            <a:off x="5667375" y="3484564"/>
            <a:ext cx="0" cy="269398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30" name="Line 42">
            <a:extLst>
              <a:ext uri="{FF2B5EF4-FFF2-40B4-BE49-F238E27FC236}">
                <a16:creationId xmlns:a16="http://schemas.microsoft.com/office/drawing/2014/main" id="{3BAC8F99-A6FA-21B2-2280-2DF530799C84}"/>
              </a:ext>
            </a:extLst>
          </p:cNvPr>
          <p:cNvSpPr>
            <a:spLocks noChangeShapeType="1"/>
          </p:cNvSpPr>
          <p:nvPr/>
        </p:nvSpPr>
        <p:spPr bwMode="auto">
          <a:xfrm>
            <a:off x="7496175" y="3467101"/>
            <a:ext cx="0" cy="272891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31" name="Rectangle 43">
            <a:extLst>
              <a:ext uri="{FF2B5EF4-FFF2-40B4-BE49-F238E27FC236}">
                <a16:creationId xmlns:a16="http://schemas.microsoft.com/office/drawing/2014/main" id="{ABF03A82-1194-82F0-680C-E6D4F27586D4}"/>
              </a:ext>
            </a:extLst>
          </p:cNvPr>
          <p:cNvSpPr>
            <a:spLocks noChangeArrowheads="1"/>
          </p:cNvSpPr>
          <p:nvPr/>
        </p:nvSpPr>
        <p:spPr bwMode="auto">
          <a:xfrm>
            <a:off x="1989138" y="3438526"/>
            <a:ext cx="5524500" cy="349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32" name="Rectangle 44">
            <a:extLst>
              <a:ext uri="{FF2B5EF4-FFF2-40B4-BE49-F238E27FC236}">
                <a16:creationId xmlns:a16="http://schemas.microsoft.com/office/drawing/2014/main" id="{AEA0EA18-D52C-37D6-17FB-84E16311C74A}"/>
              </a:ext>
            </a:extLst>
          </p:cNvPr>
          <p:cNvSpPr>
            <a:spLocks noChangeArrowheads="1"/>
          </p:cNvSpPr>
          <p:nvPr/>
        </p:nvSpPr>
        <p:spPr bwMode="auto">
          <a:xfrm>
            <a:off x="1989138" y="6184901"/>
            <a:ext cx="5524500" cy="349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33" name="Rectangle 45">
            <a:extLst>
              <a:ext uri="{FF2B5EF4-FFF2-40B4-BE49-F238E27FC236}">
                <a16:creationId xmlns:a16="http://schemas.microsoft.com/office/drawing/2014/main" id="{8D57ABEB-412B-A3B8-ED46-7EB0D688242A}"/>
              </a:ext>
            </a:extLst>
          </p:cNvPr>
          <p:cNvSpPr>
            <a:spLocks noChangeArrowheads="1"/>
          </p:cNvSpPr>
          <p:nvPr/>
        </p:nvSpPr>
        <p:spPr bwMode="auto">
          <a:xfrm>
            <a:off x="1989139" y="3473450"/>
            <a:ext cx="34925" cy="2711450"/>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34" name="Rectangle 46">
            <a:extLst>
              <a:ext uri="{FF2B5EF4-FFF2-40B4-BE49-F238E27FC236}">
                <a16:creationId xmlns:a16="http://schemas.microsoft.com/office/drawing/2014/main" id="{338A4C85-C389-2B31-030E-F9BAD95FD106}"/>
              </a:ext>
            </a:extLst>
          </p:cNvPr>
          <p:cNvSpPr>
            <a:spLocks noChangeArrowheads="1"/>
          </p:cNvSpPr>
          <p:nvPr/>
        </p:nvSpPr>
        <p:spPr bwMode="auto">
          <a:xfrm>
            <a:off x="7478714" y="3473450"/>
            <a:ext cx="34925" cy="2711450"/>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549935" name="Text Box 47">
            <a:extLst>
              <a:ext uri="{FF2B5EF4-FFF2-40B4-BE49-F238E27FC236}">
                <a16:creationId xmlns:a16="http://schemas.microsoft.com/office/drawing/2014/main" id="{248F7731-AED3-AD78-674D-57483652B35B}"/>
              </a:ext>
            </a:extLst>
          </p:cNvPr>
          <p:cNvSpPr txBox="1">
            <a:spLocks noChangeArrowheads="1"/>
          </p:cNvSpPr>
          <p:nvPr/>
        </p:nvSpPr>
        <p:spPr bwMode="auto">
          <a:xfrm>
            <a:off x="2057400" y="1600201"/>
            <a:ext cx="7391400" cy="1076325"/>
          </a:xfrm>
          <a:prstGeom prst="rect">
            <a:avLst/>
          </a:prstGeom>
          <a:solidFill>
            <a:srgbClr val="FFFF99"/>
          </a:solidFill>
          <a:ln w="9525">
            <a:solidFill>
              <a:schemeClr val="tx1"/>
            </a:solidFill>
            <a:miter lim="800000"/>
            <a:headEnd type="none" w="sm" len="sm"/>
            <a:tailEnd type="none" w="sm" len="sm"/>
          </a:ln>
          <a:effectLst>
            <a:outerShdw dist="107763" dir="2700000" algn="ctr" rotWithShape="0">
              <a:schemeClr val="bg2"/>
            </a:outerShdw>
          </a:effectLst>
        </p:spPr>
        <p:txBody>
          <a:bodyP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CCCC99"/>
              </a:buClr>
              <a:buSzPct val="75000"/>
              <a:buNone/>
            </a:pPr>
            <a:r>
              <a:rPr lang="en-US" altLang="en-US" b="1">
                <a:solidFill>
                  <a:srgbClr val="292929"/>
                </a:solidFill>
                <a:latin typeface="Times New Roman" panose="02020603050405020304" pitchFamily="18" charset="0"/>
              </a:rPr>
              <a:t>What is the MAD value given the forecast values in the table below?</a:t>
            </a:r>
            <a:endParaRPr lang="en-US" altLang="en-US" sz="2400" b="1">
              <a:solidFill>
                <a:srgbClr val="292929"/>
              </a:solidFill>
              <a:latin typeface="Times New Roman" panose="02020603050405020304" pitchFamily="18" charset="0"/>
            </a:endParaRPr>
          </a:p>
        </p:txBody>
      </p:sp>
      <p:sp>
        <p:nvSpPr>
          <p:cNvPr id="549936" name="Line 48">
            <a:extLst>
              <a:ext uri="{FF2B5EF4-FFF2-40B4-BE49-F238E27FC236}">
                <a16:creationId xmlns:a16="http://schemas.microsoft.com/office/drawing/2014/main" id="{24302A81-EE18-7D67-5AC7-5739CF0C9DF1}"/>
              </a:ext>
            </a:extLst>
          </p:cNvPr>
          <p:cNvSpPr>
            <a:spLocks noChangeShapeType="1"/>
          </p:cNvSpPr>
          <p:nvPr/>
        </p:nvSpPr>
        <p:spPr bwMode="auto">
          <a:xfrm>
            <a:off x="1989138" y="43434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37" name="Line 49">
            <a:extLst>
              <a:ext uri="{FF2B5EF4-FFF2-40B4-BE49-F238E27FC236}">
                <a16:creationId xmlns:a16="http://schemas.microsoft.com/office/drawing/2014/main" id="{CD75D0A5-470F-49BA-7456-250FA006AE53}"/>
              </a:ext>
            </a:extLst>
          </p:cNvPr>
          <p:cNvSpPr>
            <a:spLocks noChangeShapeType="1"/>
          </p:cNvSpPr>
          <p:nvPr/>
        </p:nvSpPr>
        <p:spPr bwMode="auto">
          <a:xfrm>
            <a:off x="1989138" y="48006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549938" name="Line 50">
            <a:extLst>
              <a:ext uri="{FF2B5EF4-FFF2-40B4-BE49-F238E27FC236}">
                <a16:creationId xmlns:a16="http://schemas.microsoft.com/office/drawing/2014/main" id="{B9384F4B-AF26-510E-87C7-944CF1FE4042}"/>
              </a:ext>
            </a:extLst>
          </p:cNvPr>
          <p:cNvSpPr>
            <a:spLocks noChangeShapeType="1"/>
          </p:cNvSpPr>
          <p:nvPr/>
        </p:nvSpPr>
        <p:spPr bwMode="auto">
          <a:xfrm>
            <a:off x="1989138" y="52578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graphicFrame>
        <p:nvGraphicFramePr>
          <p:cNvPr id="549939" name="Object 51">
            <a:extLst>
              <a:ext uri="{FF2B5EF4-FFF2-40B4-BE49-F238E27FC236}">
                <a16:creationId xmlns:a16="http://schemas.microsoft.com/office/drawing/2014/main" id="{C4DBDEFC-75D1-A9EF-2F25-1C134BDB1D6A}"/>
              </a:ext>
            </a:extLst>
          </p:cNvPr>
          <p:cNvGraphicFramePr>
            <a:graphicFrameLocks noGrp="1"/>
          </p:cNvGraphicFramePr>
          <p:nvPr>
            <p:ph idx="1"/>
          </p:nvPr>
        </p:nvGraphicFramePr>
        <p:xfrm>
          <a:off x="6629401" y="228600"/>
          <a:ext cx="2714625" cy="1219200"/>
        </p:xfrm>
        <a:graphic>
          <a:graphicData uri="http://schemas.openxmlformats.org/presentationml/2006/ole">
            <mc:AlternateContent xmlns:mc="http://schemas.openxmlformats.org/markup-compatibility/2006">
              <mc:Choice xmlns:v="urn:schemas-microsoft-com:vml" Requires="v">
                <p:oleObj name="Equation" r:id="rId3" imgW="13373100" imgH="6477000" progId="Equation.3">
                  <p:embed/>
                </p:oleObj>
              </mc:Choice>
              <mc:Fallback>
                <p:oleObj name="Equation" r:id="rId3" imgW="13373100" imgH="6477000" progId="Equation.3">
                  <p:embed/>
                  <p:pic>
                    <p:nvPicPr>
                      <p:cNvPr id="549939" name="Object 51">
                        <a:extLst>
                          <a:ext uri="{FF2B5EF4-FFF2-40B4-BE49-F238E27FC236}">
                            <a16:creationId xmlns:a16="http://schemas.microsoft.com/office/drawing/2014/main" id="{C4DBDEFC-75D1-A9EF-2F25-1C134BDB1D6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1" y="228600"/>
                        <a:ext cx="2714625" cy="12192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549950" name="Rectangle 62">
            <a:extLst>
              <a:ext uri="{FF2B5EF4-FFF2-40B4-BE49-F238E27FC236}">
                <a16:creationId xmlns:a16="http://schemas.microsoft.com/office/drawing/2014/main" id="{686AE524-B376-73BE-7CD5-835F9E668766}"/>
              </a:ext>
            </a:extLst>
          </p:cNvPr>
          <p:cNvSpPr>
            <a:spLocks noChangeArrowheads="1"/>
          </p:cNvSpPr>
          <p:nvPr/>
        </p:nvSpPr>
        <p:spPr bwMode="auto">
          <a:xfrm>
            <a:off x="8367714" y="43434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549951" name="Rectangle 63">
            <a:extLst>
              <a:ext uri="{FF2B5EF4-FFF2-40B4-BE49-F238E27FC236}">
                <a16:creationId xmlns:a16="http://schemas.microsoft.com/office/drawing/2014/main" id="{7E6D62C6-B2A1-7D3F-7F77-DC03EC8E9D03}"/>
              </a:ext>
            </a:extLst>
          </p:cNvPr>
          <p:cNvSpPr>
            <a:spLocks noChangeArrowheads="1"/>
          </p:cNvSpPr>
          <p:nvPr/>
        </p:nvSpPr>
        <p:spPr bwMode="auto">
          <a:xfrm>
            <a:off x="8382001" y="4741864"/>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549952" name="Rectangle 64">
            <a:extLst>
              <a:ext uri="{FF2B5EF4-FFF2-40B4-BE49-F238E27FC236}">
                <a16:creationId xmlns:a16="http://schemas.microsoft.com/office/drawing/2014/main" id="{474641BB-AADA-F9B5-58CC-EFFBB782E4E7}"/>
              </a:ext>
            </a:extLst>
          </p:cNvPr>
          <p:cNvSpPr>
            <a:spLocks noChangeArrowheads="1"/>
          </p:cNvSpPr>
          <p:nvPr/>
        </p:nvSpPr>
        <p:spPr bwMode="auto">
          <a:xfrm>
            <a:off x="8305800" y="5257801"/>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20</a:t>
            </a:r>
            <a:endParaRPr lang="en-US" altLang="en-US" sz="2900">
              <a:solidFill>
                <a:srgbClr val="000000"/>
              </a:solidFill>
              <a:latin typeface="Times New Roman" panose="02020603050405020304" pitchFamily="18" charset="0"/>
            </a:endParaRPr>
          </a:p>
        </p:txBody>
      </p:sp>
      <p:sp>
        <p:nvSpPr>
          <p:cNvPr id="549953" name="Rectangle 65">
            <a:extLst>
              <a:ext uri="{FF2B5EF4-FFF2-40B4-BE49-F238E27FC236}">
                <a16:creationId xmlns:a16="http://schemas.microsoft.com/office/drawing/2014/main" id="{128D8BB5-4183-1246-7B12-6C72C240B4B1}"/>
              </a:ext>
            </a:extLst>
          </p:cNvPr>
          <p:cNvSpPr>
            <a:spLocks noChangeArrowheads="1"/>
          </p:cNvSpPr>
          <p:nvPr/>
        </p:nvSpPr>
        <p:spPr bwMode="auto">
          <a:xfrm>
            <a:off x="8305800" y="5732464"/>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10</a:t>
            </a:r>
            <a:endParaRPr lang="en-US" altLang="en-US" sz="2900">
              <a:solidFill>
                <a:srgbClr val="000000"/>
              </a:solidFill>
              <a:latin typeface="Times New Roman" panose="02020603050405020304" pitchFamily="18" charset="0"/>
            </a:endParaRPr>
          </a:p>
        </p:txBody>
      </p:sp>
      <p:sp>
        <p:nvSpPr>
          <p:cNvPr id="549954" name="Rectangle 66">
            <a:extLst>
              <a:ext uri="{FF2B5EF4-FFF2-40B4-BE49-F238E27FC236}">
                <a16:creationId xmlns:a16="http://schemas.microsoft.com/office/drawing/2014/main" id="{E7099038-1F5C-A7A3-23F5-16CCFB27EC08}"/>
              </a:ext>
            </a:extLst>
          </p:cNvPr>
          <p:cNvSpPr>
            <a:spLocks noChangeArrowheads="1"/>
          </p:cNvSpPr>
          <p:nvPr/>
        </p:nvSpPr>
        <p:spPr bwMode="auto">
          <a:xfrm>
            <a:off x="7772400" y="3352800"/>
            <a:ext cx="15240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u="sng">
                <a:solidFill>
                  <a:srgbClr val="000000"/>
                </a:solidFill>
              </a:rPr>
              <a:t>|A</a:t>
            </a:r>
            <a:r>
              <a:rPr lang="en-US" altLang="en-US" sz="2800" u="sng" baseline="-25000">
                <a:solidFill>
                  <a:srgbClr val="000000"/>
                </a:solidFill>
              </a:rPr>
              <a:t>t</a:t>
            </a:r>
            <a:r>
              <a:rPr lang="en-US" altLang="en-US" sz="2800" u="sng">
                <a:solidFill>
                  <a:srgbClr val="000000"/>
                </a:solidFill>
              </a:rPr>
              <a:t> – F</a:t>
            </a:r>
            <a:r>
              <a:rPr lang="en-US" altLang="en-US" sz="2800" u="sng" baseline="-25000">
                <a:solidFill>
                  <a:srgbClr val="000000"/>
                </a:solidFill>
              </a:rPr>
              <a:t>t</a:t>
            </a:r>
            <a:r>
              <a:rPr lang="en-US" altLang="en-US" sz="2800" u="sng">
                <a:solidFill>
                  <a:srgbClr val="000000"/>
                </a:solidFill>
              </a:rPr>
              <a:t>|</a:t>
            </a:r>
            <a:endParaRPr lang="en-US" altLang="en-US" sz="2900" u="sng">
              <a:solidFill>
                <a:srgbClr val="000000"/>
              </a:solidFill>
              <a:latin typeface="Times New Roman" panose="02020603050405020304" pitchFamily="18" charset="0"/>
            </a:endParaRPr>
          </a:p>
        </p:txBody>
      </p:sp>
      <p:sp>
        <p:nvSpPr>
          <p:cNvPr id="549955" name="Rectangle 67">
            <a:extLst>
              <a:ext uri="{FF2B5EF4-FFF2-40B4-BE49-F238E27FC236}">
                <a16:creationId xmlns:a16="http://schemas.microsoft.com/office/drawing/2014/main" id="{7C7436A3-863C-6451-82DC-D14F631E9AAF}"/>
              </a:ext>
            </a:extLst>
          </p:cNvPr>
          <p:cNvSpPr>
            <a:spLocks noChangeArrowheads="1"/>
          </p:cNvSpPr>
          <p:nvPr/>
        </p:nvSpPr>
        <p:spPr bwMode="auto">
          <a:xfrm>
            <a:off x="6400800" y="2895600"/>
            <a:ext cx="6858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F</a:t>
            </a:r>
            <a:r>
              <a:rPr lang="en-US" altLang="en-US" sz="2800" baseline="-25000">
                <a:solidFill>
                  <a:srgbClr val="000000"/>
                </a:solidFill>
              </a:rPr>
              <a:t>t</a:t>
            </a:r>
          </a:p>
        </p:txBody>
      </p:sp>
      <p:sp>
        <p:nvSpPr>
          <p:cNvPr id="549956" name="Rectangle 68">
            <a:extLst>
              <a:ext uri="{FF2B5EF4-FFF2-40B4-BE49-F238E27FC236}">
                <a16:creationId xmlns:a16="http://schemas.microsoft.com/office/drawing/2014/main" id="{A6568424-8D69-8863-241C-0E17708F53CF}"/>
              </a:ext>
            </a:extLst>
          </p:cNvPr>
          <p:cNvSpPr>
            <a:spLocks noChangeArrowheads="1"/>
          </p:cNvSpPr>
          <p:nvPr/>
        </p:nvSpPr>
        <p:spPr bwMode="auto">
          <a:xfrm>
            <a:off x="4495800" y="2895600"/>
            <a:ext cx="6858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A</a:t>
            </a:r>
            <a:r>
              <a:rPr lang="en-US" altLang="en-US" sz="2800" baseline="-25000">
                <a:solidFill>
                  <a:srgbClr val="000000"/>
                </a:solidFill>
              </a:rPr>
              <a:t>t</a:t>
            </a:r>
          </a:p>
        </p:txBody>
      </p:sp>
      <p:sp>
        <p:nvSpPr>
          <p:cNvPr id="549957" name="Rectangle 69">
            <a:extLst>
              <a:ext uri="{FF2B5EF4-FFF2-40B4-BE49-F238E27FC236}">
                <a16:creationId xmlns:a16="http://schemas.microsoft.com/office/drawing/2014/main" id="{45614449-4D89-B66A-FD8F-D83FBCC4AB76}"/>
              </a:ext>
            </a:extLst>
          </p:cNvPr>
          <p:cNvSpPr>
            <a:spLocks noChangeArrowheads="1"/>
          </p:cNvSpPr>
          <p:nvPr/>
        </p:nvSpPr>
        <p:spPr bwMode="auto">
          <a:xfrm>
            <a:off x="8077200" y="6342064"/>
            <a:ext cx="89287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b="1">
                <a:solidFill>
                  <a:srgbClr val="000000"/>
                </a:solidFill>
              </a:rPr>
              <a:t>= 40</a:t>
            </a:r>
            <a:endParaRPr lang="en-US" altLang="en-US" sz="2900" b="1">
              <a:solidFill>
                <a:srgbClr val="000000"/>
              </a:solidFill>
              <a:latin typeface="Times New Roman" panose="02020603050405020304" pitchFamily="18" charset="0"/>
            </a:endParaRPr>
          </a:p>
        </p:txBody>
      </p:sp>
      <p:pic>
        <p:nvPicPr>
          <p:cNvPr id="549959" name="Picture 71">
            <a:extLst>
              <a:ext uri="{FF2B5EF4-FFF2-40B4-BE49-F238E27FC236}">
                <a16:creationId xmlns:a16="http://schemas.microsoft.com/office/drawing/2014/main" id="{C6B62605-AE79-B454-0539-441B6DDCFE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1800" y="6299200"/>
            <a:ext cx="1143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9960" name="Rectangle 72">
            <a:extLst>
              <a:ext uri="{FF2B5EF4-FFF2-40B4-BE49-F238E27FC236}">
                <a16:creationId xmlns:a16="http://schemas.microsoft.com/office/drawing/2014/main" id="{BC0734E7-A51E-08FC-D9E8-1CFF5783B529}"/>
              </a:ext>
            </a:extLst>
          </p:cNvPr>
          <p:cNvSpPr>
            <a:spLocks noChangeArrowheads="1"/>
          </p:cNvSpPr>
          <p:nvPr/>
        </p:nvSpPr>
        <p:spPr bwMode="auto">
          <a:xfrm>
            <a:off x="9351963" y="457200"/>
            <a:ext cx="790282"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400">
                <a:solidFill>
                  <a:srgbClr val="000000"/>
                </a:solidFill>
              </a:rPr>
              <a:t>= </a:t>
            </a:r>
            <a:r>
              <a:rPr lang="en-US" altLang="en-US" sz="2400" u="sng">
                <a:solidFill>
                  <a:srgbClr val="000000"/>
                </a:solidFill>
              </a:rPr>
              <a:t>40</a:t>
            </a:r>
          </a:p>
          <a:p>
            <a:pPr eaLnBrk="0" fontAlgn="base" hangingPunct="0">
              <a:spcBef>
                <a:spcPct val="0"/>
              </a:spcBef>
              <a:spcAft>
                <a:spcPct val="0"/>
              </a:spcAft>
              <a:buClrTx/>
              <a:buNone/>
            </a:pPr>
            <a:r>
              <a:rPr lang="en-US" altLang="en-US" sz="2400">
                <a:solidFill>
                  <a:srgbClr val="000000"/>
                </a:solidFill>
              </a:rPr>
              <a:t>    4</a:t>
            </a:r>
            <a:endParaRPr lang="en-US" altLang="en-US" sz="2400">
              <a:solidFill>
                <a:srgbClr val="000000"/>
              </a:solidFill>
              <a:latin typeface="Times New Roman" panose="02020603050405020304" pitchFamily="18" charset="0"/>
            </a:endParaRPr>
          </a:p>
        </p:txBody>
      </p:sp>
      <p:sp>
        <p:nvSpPr>
          <p:cNvPr id="549961" name="Rectangle 73">
            <a:extLst>
              <a:ext uri="{FF2B5EF4-FFF2-40B4-BE49-F238E27FC236}">
                <a16:creationId xmlns:a16="http://schemas.microsoft.com/office/drawing/2014/main" id="{D623BAC8-FA38-22C2-BB5D-DF3D4B63A251}"/>
              </a:ext>
            </a:extLst>
          </p:cNvPr>
          <p:cNvSpPr>
            <a:spLocks noChangeArrowheads="1"/>
          </p:cNvSpPr>
          <p:nvPr/>
        </p:nvSpPr>
        <p:spPr bwMode="auto">
          <a:xfrm>
            <a:off x="9982200" y="536575"/>
            <a:ext cx="70532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400">
                <a:solidFill>
                  <a:srgbClr val="000000"/>
                </a:solidFill>
              </a:rPr>
              <a:t>=10</a:t>
            </a:r>
            <a:endParaRPr lang="en-US" altLang="en-US" sz="2400">
              <a:solidFill>
                <a:srgbClr val="00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49935"/>
                                        </p:tgtEl>
                                        <p:attrNameLst>
                                          <p:attrName>style.visibility</p:attrName>
                                        </p:attrNameLst>
                                      </p:cBhvr>
                                      <p:to>
                                        <p:strVal val="visible"/>
                                      </p:to>
                                    </p:set>
                                    <p:anim calcmode="lin" valueType="num">
                                      <p:cBhvr additive="base">
                                        <p:cTn id="7" dur="500" fill="hold"/>
                                        <p:tgtEl>
                                          <p:spTgt spid="549935"/>
                                        </p:tgtEl>
                                        <p:attrNameLst>
                                          <p:attrName>ppt_x</p:attrName>
                                        </p:attrNameLst>
                                      </p:cBhvr>
                                      <p:tavLst>
                                        <p:tav tm="0">
                                          <p:val>
                                            <p:strVal val="0-#ppt_w/2"/>
                                          </p:val>
                                        </p:tav>
                                        <p:tav tm="100000">
                                          <p:val>
                                            <p:strVal val="#ppt_x"/>
                                          </p:val>
                                        </p:tav>
                                      </p:tavLst>
                                    </p:anim>
                                    <p:anim calcmode="lin" valueType="num">
                                      <p:cBhvr additive="base">
                                        <p:cTn id="8" dur="500" fill="hold"/>
                                        <p:tgtEl>
                                          <p:spTgt spid="5499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498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98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989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989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989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989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98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990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990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990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4990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990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990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990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4990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990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990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99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499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499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4991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4991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991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4991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4991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991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991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4992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99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4992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4992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499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499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992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4992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499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4992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4993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4993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4993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4993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4993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4993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4993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49938"/>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549939"/>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549956"/>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0"/>
                                          </p:stCondLst>
                                        </p:cTn>
                                        <p:tgtEl>
                                          <p:spTgt spid="549955"/>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0"/>
                                          </p:stCondLst>
                                        </p:cTn>
                                        <p:tgtEl>
                                          <p:spTgt spid="549954"/>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nodeType="clickEffect">
                                  <p:stCondLst>
                                    <p:cond delay="0"/>
                                  </p:stCondLst>
                                  <p:childTnLst>
                                    <p:set>
                                      <p:cBhvr>
                                        <p:cTn id="120" dur="1" fill="hold">
                                          <p:stCondLst>
                                            <p:cond delay="0"/>
                                          </p:stCondLst>
                                        </p:cTn>
                                        <p:tgtEl>
                                          <p:spTgt spid="549950"/>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549951"/>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nodeType="clickEffect">
                                  <p:stCondLst>
                                    <p:cond delay="0"/>
                                  </p:stCondLst>
                                  <p:childTnLst>
                                    <p:set>
                                      <p:cBhvr>
                                        <p:cTn id="128" dur="1" fill="hold">
                                          <p:stCondLst>
                                            <p:cond delay="0"/>
                                          </p:stCondLst>
                                        </p:cTn>
                                        <p:tgtEl>
                                          <p:spTgt spid="549952"/>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nodeType="clickEffect">
                                  <p:stCondLst>
                                    <p:cond delay="0"/>
                                  </p:stCondLst>
                                  <p:childTnLst>
                                    <p:set>
                                      <p:cBhvr>
                                        <p:cTn id="132" dur="1" fill="hold">
                                          <p:stCondLst>
                                            <p:cond delay="0"/>
                                          </p:stCondLst>
                                        </p:cTn>
                                        <p:tgtEl>
                                          <p:spTgt spid="549953"/>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549959"/>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0"/>
                                          </p:stCondLst>
                                        </p:cTn>
                                        <p:tgtEl>
                                          <p:spTgt spid="549957"/>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nodeType="clickEffect">
                                  <p:stCondLst>
                                    <p:cond delay="0"/>
                                  </p:stCondLst>
                                  <p:childTnLst>
                                    <p:set>
                                      <p:cBhvr>
                                        <p:cTn id="144" dur="1" fill="hold">
                                          <p:stCondLst>
                                            <p:cond delay="0"/>
                                          </p:stCondLst>
                                        </p:cTn>
                                        <p:tgtEl>
                                          <p:spTgt spid="549960"/>
                                        </p:tgtEl>
                                        <p:attrNameLst>
                                          <p:attrName>style.visibility</p:attrName>
                                        </p:attrNameLst>
                                      </p:cBhvr>
                                      <p:to>
                                        <p:strVal val="visibl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ntr" presetSubtype="0" fill="hold" nodeType="clickEffect">
                                  <p:stCondLst>
                                    <p:cond delay="0"/>
                                  </p:stCondLst>
                                  <p:childTnLst>
                                    <p:set>
                                      <p:cBhvr>
                                        <p:cTn id="148" dur="1" fill="hold">
                                          <p:stCondLst>
                                            <p:cond delay="0"/>
                                          </p:stCondLst>
                                        </p:cTn>
                                        <p:tgtEl>
                                          <p:spTgt spid="549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909" grpId="0"/>
      <p:bldP spid="549910" grpId="0"/>
      <p:bldP spid="549911" grpId="0"/>
      <p:bldP spid="549912" grpId="0"/>
      <p:bldP spid="549913" grpId="0"/>
      <p:bldP spid="549914" grpId="0"/>
      <p:bldP spid="549915" grpId="0"/>
      <p:bldP spid="549916" grpId="0"/>
      <p:bldP spid="549917" grpId="0"/>
      <p:bldP spid="549918" grpId="0"/>
      <p:bldP spid="549919" grpId="0"/>
      <p:bldP spid="549920" grpId="0"/>
      <p:bldP spid="549921" grpId="0"/>
      <p:bldP spid="549922" grpId="0"/>
      <p:bldP spid="549923" grpId="0"/>
      <p:bldP spid="549924" grpId="0"/>
      <p:bldP spid="549925" grpId="0"/>
      <p:bldP spid="549926" grpId="0"/>
      <p:bldP spid="549935" grpId="0" animBg="1" autoUpdateAnimBg="0"/>
      <p:bldP spid="549950" grpId="0"/>
      <p:bldP spid="549951" grpId="0"/>
      <p:bldP spid="549952" grpId="0"/>
      <p:bldP spid="549953" grpId="0"/>
      <p:bldP spid="549954" grpId="0"/>
      <p:bldP spid="549955" grpId="0"/>
      <p:bldP spid="549956" grpId="0"/>
      <p:bldP spid="549957" grpId="0"/>
      <p:bldP spid="549960" grpId="0"/>
      <p:bldP spid="54996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E27C9134-7536-2EED-B4AE-9ADA48AC552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87" name="Rectangle 3">
            <a:extLst>
              <a:ext uri="{FF2B5EF4-FFF2-40B4-BE49-F238E27FC236}">
                <a16:creationId xmlns:a16="http://schemas.microsoft.com/office/drawing/2014/main" id="{4C3380B2-FA24-CBF9-B5B0-39CF6AD2F23F}"/>
              </a:ext>
            </a:extLst>
          </p:cNvPr>
          <p:cNvSpPr>
            <a:spLocks noChangeArrowheads="1"/>
          </p:cNvSpPr>
          <p:nvPr/>
        </p:nvSpPr>
        <p:spPr bwMode="auto">
          <a:xfrm>
            <a:off x="3665538"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88" name="Rectangle 4">
            <a:extLst>
              <a:ext uri="{FF2B5EF4-FFF2-40B4-BE49-F238E27FC236}">
                <a16:creationId xmlns:a16="http://schemas.microsoft.com/office/drawing/2014/main" id="{241BEA61-DA76-6213-BB25-92FC99C45D30}"/>
              </a:ext>
            </a:extLst>
          </p:cNvPr>
          <p:cNvSpPr>
            <a:spLocks noGrp="1" noChangeArrowheads="1"/>
          </p:cNvSpPr>
          <p:nvPr>
            <p:ph type="title"/>
          </p:nvPr>
        </p:nvSpPr>
        <p:spPr>
          <a:noFill/>
        </p:spPr>
        <p:txBody>
          <a:bodyPr vert="horz" wrap="square" lIns="90488" tIns="44450" rIns="90488" bIns="44450" numCol="1" anchor="b" anchorCtr="0" compatLnSpc="1">
            <a:prstTxWarp prst="textNoShape">
              <a:avLst/>
            </a:prstTxWarp>
          </a:bodyPr>
          <a:lstStyle/>
          <a:p>
            <a:r>
              <a:rPr lang="en-US" altLang="en-US"/>
              <a:t>MSE/RMSE Example</a:t>
            </a:r>
          </a:p>
        </p:txBody>
      </p:sp>
      <p:sp>
        <p:nvSpPr>
          <p:cNvPr id="93189" name="Rectangle 5">
            <a:extLst>
              <a:ext uri="{FF2B5EF4-FFF2-40B4-BE49-F238E27FC236}">
                <a16:creationId xmlns:a16="http://schemas.microsoft.com/office/drawing/2014/main" id="{C1A95110-BBBE-666B-C6A0-976D6C8F7334}"/>
              </a:ext>
            </a:extLst>
          </p:cNvPr>
          <p:cNvSpPr>
            <a:spLocks noChangeArrowheads="1"/>
          </p:cNvSpPr>
          <p:nvPr/>
        </p:nvSpPr>
        <p:spPr bwMode="auto">
          <a:xfrm>
            <a:off x="2006600" y="5745164"/>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0" name="Rectangle 6">
            <a:extLst>
              <a:ext uri="{FF2B5EF4-FFF2-40B4-BE49-F238E27FC236}">
                <a16:creationId xmlns:a16="http://schemas.microsoft.com/office/drawing/2014/main" id="{EA4F06C9-F670-17DF-E334-5564AE2E65B9}"/>
              </a:ext>
            </a:extLst>
          </p:cNvPr>
          <p:cNvSpPr>
            <a:spLocks noChangeArrowheads="1"/>
          </p:cNvSpPr>
          <p:nvPr/>
        </p:nvSpPr>
        <p:spPr bwMode="auto">
          <a:xfrm>
            <a:off x="2006601" y="6202364"/>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1" name="Rectangle 7">
            <a:extLst>
              <a:ext uri="{FF2B5EF4-FFF2-40B4-BE49-F238E27FC236}">
                <a16:creationId xmlns:a16="http://schemas.microsoft.com/office/drawing/2014/main" id="{8AED35BC-447D-5A05-9BFF-479AF9A5A03F}"/>
              </a:ext>
            </a:extLst>
          </p:cNvPr>
          <p:cNvSpPr>
            <a:spLocks noChangeArrowheads="1"/>
          </p:cNvSpPr>
          <p:nvPr/>
        </p:nvSpPr>
        <p:spPr bwMode="auto">
          <a:xfrm>
            <a:off x="20066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2" name="Rectangle 8">
            <a:extLst>
              <a:ext uri="{FF2B5EF4-FFF2-40B4-BE49-F238E27FC236}">
                <a16:creationId xmlns:a16="http://schemas.microsoft.com/office/drawing/2014/main" id="{08BF0893-3D56-43A6-3D3F-15B6C0086812}"/>
              </a:ext>
            </a:extLst>
          </p:cNvPr>
          <p:cNvSpPr>
            <a:spLocks noChangeArrowheads="1"/>
          </p:cNvSpPr>
          <p:nvPr/>
        </p:nvSpPr>
        <p:spPr bwMode="auto">
          <a:xfrm>
            <a:off x="38354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3" name="Rectangle 9">
            <a:extLst>
              <a:ext uri="{FF2B5EF4-FFF2-40B4-BE49-F238E27FC236}">
                <a16:creationId xmlns:a16="http://schemas.microsoft.com/office/drawing/2014/main" id="{7EB14175-2817-36E6-269F-71D46373E5DF}"/>
              </a:ext>
            </a:extLst>
          </p:cNvPr>
          <p:cNvSpPr>
            <a:spLocks noChangeArrowheads="1"/>
          </p:cNvSpPr>
          <p:nvPr/>
        </p:nvSpPr>
        <p:spPr bwMode="auto">
          <a:xfrm>
            <a:off x="2006600" y="3913189"/>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4" name="Rectangle 10">
            <a:extLst>
              <a:ext uri="{FF2B5EF4-FFF2-40B4-BE49-F238E27FC236}">
                <a16:creationId xmlns:a16="http://schemas.microsoft.com/office/drawing/2014/main" id="{A5711F3B-FB43-4CEE-FAC3-042E9BD893A6}"/>
              </a:ext>
            </a:extLst>
          </p:cNvPr>
          <p:cNvSpPr>
            <a:spLocks noChangeArrowheads="1"/>
          </p:cNvSpPr>
          <p:nvPr/>
        </p:nvSpPr>
        <p:spPr bwMode="auto">
          <a:xfrm>
            <a:off x="2006600" y="4829176"/>
            <a:ext cx="5443538"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5" name="Rectangle 11">
            <a:extLst>
              <a:ext uri="{FF2B5EF4-FFF2-40B4-BE49-F238E27FC236}">
                <a16:creationId xmlns:a16="http://schemas.microsoft.com/office/drawing/2014/main" id="{3BB42C00-CA84-2618-8870-C4C3B1568485}"/>
              </a:ext>
            </a:extLst>
          </p:cNvPr>
          <p:cNvSpPr>
            <a:spLocks noChangeArrowheads="1"/>
          </p:cNvSpPr>
          <p:nvPr/>
        </p:nvSpPr>
        <p:spPr bwMode="auto">
          <a:xfrm>
            <a:off x="5630864"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6" name="Rectangle 12">
            <a:extLst>
              <a:ext uri="{FF2B5EF4-FFF2-40B4-BE49-F238E27FC236}">
                <a16:creationId xmlns:a16="http://schemas.microsoft.com/office/drawing/2014/main" id="{C4BF95D0-5219-A867-EB35-E3AB86949EC5}"/>
              </a:ext>
            </a:extLst>
          </p:cNvPr>
          <p:cNvSpPr>
            <a:spLocks noChangeArrowheads="1"/>
          </p:cNvSpPr>
          <p:nvPr/>
        </p:nvSpPr>
        <p:spPr bwMode="auto">
          <a:xfrm>
            <a:off x="7442201" y="3455989"/>
            <a:ext cx="9525" cy="274637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7" name="Rectangle 13">
            <a:extLst>
              <a:ext uri="{FF2B5EF4-FFF2-40B4-BE49-F238E27FC236}">
                <a16:creationId xmlns:a16="http://schemas.microsoft.com/office/drawing/2014/main" id="{38B7842F-B449-B081-5B2C-78AA5C545DD0}"/>
              </a:ext>
            </a:extLst>
          </p:cNvPr>
          <p:cNvSpPr>
            <a:spLocks noChangeArrowheads="1"/>
          </p:cNvSpPr>
          <p:nvPr/>
        </p:nvSpPr>
        <p:spPr bwMode="auto">
          <a:xfrm>
            <a:off x="1989138" y="3429000"/>
            <a:ext cx="5524500" cy="2781300"/>
          </a:xfrm>
          <a:prstGeom prst="rect">
            <a:avLst/>
          </a:prstGeom>
          <a:solidFill>
            <a:srgbClr val="A6F69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198" name="Line 14">
            <a:extLst>
              <a:ext uri="{FF2B5EF4-FFF2-40B4-BE49-F238E27FC236}">
                <a16:creationId xmlns:a16="http://schemas.microsoft.com/office/drawing/2014/main" id="{E7784B46-59B3-E7F2-25A0-032A0C564442}"/>
              </a:ext>
            </a:extLst>
          </p:cNvPr>
          <p:cNvSpPr>
            <a:spLocks noChangeShapeType="1"/>
          </p:cNvSpPr>
          <p:nvPr/>
        </p:nvSpPr>
        <p:spPr bwMode="auto">
          <a:xfrm>
            <a:off x="2017713" y="3455988"/>
            <a:ext cx="548005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199" name="Rectangle 15">
            <a:extLst>
              <a:ext uri="{FF2B5EF4-FFF2-40B4-BE49-F238E27FC236}">
                <a16:creationId xmlns:a16="http://schemas.microsoft.com/office/drawing/2014/main" id="{B9B89D19-9B1D-27C0-FBF8-2533580840E7}"/>
              </a:ext>
            </a:extLst>
          </p:cNvPr>
          <p:cNvSpPr>
            <a:spLocks noChangeArrowheads="1"/>
          </p:cNvSpPr>
          <p:nvPr/>
        </p:nvSpPr>
        <p:spPr bwMode="auto">
          <a:xfrm>
            <a:off x="2006601" y="3455989"/>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00" name="Line 16">
            <a:extLst>
              <a:ext uri="{FF2B5EF4-FFF2-40B4-BE49-F238E27FC236}">
                <a16:creationId xmlns:a16="http://schemas.microsoft.com/office/drawing/2014/main" id="{541EA32C-4F77-47E5-2818-57684A5349DF}"/>
              </a:ext>
            </a:extLst>
          </p:cNvPr>
          <p:cNvSpPr>
            <a:spLocks noChangeShapeType="1"/>
          </p:cNvSpPr>
          <p:nvPr/>
        </p:nvSpPr>
        <p:spPr bwMode="auto">
          <a:xfrm>
            <a:off x="2035175" y="3913188"/>
            <a:ext cx="543718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01" name="Rectangle 17">
            <a:extLst>
              <a:ext uri="{FF2B5EF4-FFF2-40B4-BE49-F238E27FC236}">
                <a16:creationId xmlns:a16="http://schemas.microsoft.com/office/drawing/2014/main" id="{9811CB90-9203-7EF7-262D-B159361B2728}"/>
              </a:ext>
            </a:extLst>
          </p:cNvPr>
          <p:cNvSpPr>
            <a:spLocks noChangeArrowheads="1"/>
          </p:cNvSpPr>
          <p:nvPr/>
        </p:nvSpPr>
        <p:spPr bwMode="auto">
          <a:xfrm>
            <a:off x="2006601" y="4371976"/>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02" name="Rectangle 18">
            <a:extLst>
              <a:ext uri="{FF2B5EF4-FFF2-40B4-BE49-F238E27FC236}">
                <a16:creationId xmlns:a16="http://schemas.microsoft.com/office/drawing/2014/main" id="{E865E405-1AD0-38FF-B364-FF7D5830705D}"/>
              </a:ext>
            </a:extLst>
          </p:cNvPr>
          <p:cNvSpPr>
            <a:spLocks noChangeArrowheads="1"/>
          </p:cNvSpPr>
          <p:nvPr/>
        </p:nvSpPr>
        <p:spPr bwMode="auto">
          <a:xfrm>
            <a:off x="2006601" y="5286376"/>
            <a:ext cx="5497513" cy="95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03" name="Line 19">
            <a:extLst>
              <a:ext uri="{FF2B5EF4-FFF2-40B4-BE49-F238E27FC236}">
                <a16:creationId xmlns:a16="http://schemas.microsoft.com/office/drawing/2014/main" id="{A4EEC7BC-8021-14EC-D263-2205FBDDE1E2}"/>
              </a:ext>
            </a:extLst>
          </p:cNvPr>
          <p:cNvSpPr>
            <a:spLocks noChangeShapeType="1"/>
          </p:cNvSpPr>
          <p:nvPr/>
        </p:nvSpPr>
        <p:spPr bwMode="auto">
          <a:xfrm>
            <a:off x="2035175" y="5745163"/>
            <a:ext cx="543718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04" name="Line 20">
            <a:extLst>
              <a:ext uri="{FF2B5EF4-FFF2-40B4-BE49-F238E27FC236}">
                <a16:creationId xmlns:a16="http://schemas.microsoft.com/office/drawing/2014/main" id="{59FEC032-87D1-6847-4B0A-3BCDDAE55E48}"/>
              </a:ext>
            </a:extLst>
          </p:cNvPr>
          <p:cNvSpPr>
            <a:spLocks noChangeShapeType="1"/>
          </p:cNvSpPr>
          <p:nvPr/>
        </p:nvSpPr>
        <p:spPr bwMode="auto">
          <a:xfrm>
            <a:off x="2017713" y="6202363"/>
            <a:ext cx="548005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05" name="Rectangle 21">
            <a:extLst>
              <a:ext uri="{FF2B5EF4-FFF2-40B4-BE49-F238E27FC236}">
                <a16:creationId xmlns:a16="http://schemas.microsoft.com/office/drawing/2014/main" id="{81857376-B3E4-9E17-4D5A-90657F017110}"/>
              </a:ext>
            </a:extLst>
          </p:cNvPr>
          <p:cNvSpPr>
            <a:spLocks noChangeArrowheads="1"/>
          </p:cNvSpPr>
          <p:nvPr/>
        </p:nvSpPr>
        <p:spPr bwMode="auto">
          <a:xfrm>
            <a:off x="2219325" y="3429000"/>
            <a:ext cx="1385888"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Month</a:t>
            </a:r>
            <a:endParaRPr lang="en-US" altLang="en-US" sz="2900">
              <a:solidFill>
                <a:srgbClr val="000000"/>
              </a:solidFill>
              <a:latin typeface="Times New Roman" panose="02020603050405020304" pitchFamily="18" charset="0"/>
            </a:endParaRPr>
          </a:p>
        </p:txBody>
      </p:sp>
      <p:sp>
        <p:nvSpPr>
          <p:cNvPr id="93206" name="Rectangle 22">
            <a:extLst>
              <a:ext uri="{FF2B5EF4-FFF2-40B4-BE49-F238E27FC236}">
                <a16:creationId xmlns:a16="http://schemas.microsoft.com/office/drawing/2014/main" id="{1793EB59-464E-E997-F5F0-23FC433CB652}"/>
              </a:ext>
            </a:extLst>
          </p:cNvPr>
          <p:cNvSpPr>
            <a:spLocks noChangeArrowheads="1"/>
          </p:cNvSpPr>
          <p:nvPr/>
        </p:nvSpPr>
        <p:spPr bwMode="auto">
          <a:xfrm>
            <a:off x="4067175" y="3429000"/>
            <a:ext cx="1538288"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Sales</a:t>
            </a:r>
            <a:endParaRPr lang="en-US" altLang="en-US" sz="2900">
              <a:solidFill>
                <a:srgbClr val="000000"/>
              </a:solidFill>
              <a:latin typeface="Times New Roman" panose="02020603050405020304" pitchFamily="18" charset="0"/>
            </a:endParaRPr>
          </a:p>
        </p:txBody>
      </p:sp>
      <p:sp>
        <p:nvSpPr>
          <p:cNvPr id="93207" name="Rectangle 23">
            <a:extLst>
              <a:ext uri="{FF2B5EF4-FFF2-40B4-BE49-F238E27FC236}">
                <a16:creationId xmlns:a16="http://schemas.microsoft.com/office/drawing/2014/main" id="{ED3A9FB7-1664-416F-45CF-152B867150E8}"/>
              </a:ext>
            </a:extLst>
          </p:cNvPr>
          <p:cNvSpPr>
            <a:spLocks noChangeArrowheads="1"/>
          </p:cNvSpPr>
          <p:nvPr/>
        </p:nvSpPr>
        <p:spPr bwMode="auto">
          <a:xfrm>
            <a:off x="5683251" y="3429000"/>
            <a:ext cx="1768475"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algn="ctr" eaLnBrk="0" fontAlgn="base" hangingPunct="0">
              <a:spcBef>
                <a:spcPct val="0"/>
              </a:spcBef>
              <a:spcAft>
                <a:spcPct val="0"/>
              </a:spcAft>
              <a:buClrTx/>
              <a:buNone/>
            </a:pPr>
            <a:r>
              <a:rPr lang="en-US" altLang="en-US" sz="2900">
                <a:solidFill>
                  <a:srgbClr val="000000"/>
                </a:solidFill>
              </a:rPr>
              <a:t>Forecast</a:t>
            </a:r>
            <a:endParaRPr lang="en-US" altLang="en-US" sz="2900">
              <a:solidFill>
                <a:srgbClr val="000000"/>
              </a:solidFill>
              <a:latin typeface="Times New Roman" panose="02020603050405020304" pitchFamily="18" charset="0"/>
            </a:endParaRPr>
          </a:p>
        </p:txBody>
      </p:sp>
      <p:sp>
        <p:nvSpPr>
          <p:cNvPr id="93208" name="Rectangle 24">
            <a:extLst>
              <a:ext uri="{FF2B5EF4-FFF2-40B4-BE49-F238E27FC236}">
                <a16:creationId xmlns:a16="http://schemas.microsoft.com/office/drawing/2014/main" id="{F41521C6-C856-71BC-9ED8-04E09CC82DCD}"/>
              </a:ext>
            </a:extLst>
          </p:cNvPr>
          <p:cNvSpPr>
            <a:spLocks noChangeArrowheads="1"/>
          </p:cNvSpPr>
          <p:nvPr/>
        </p:nvSpPr>
        <p:spPr bwMode="auto">
          <a:xfrm>
            <a:off x="3484564" y="38862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1</a:t>
            </a:r>
            <a:endParaRPr lang="en-US" altLang="en-US" sz="2900">
              <a:solidFill>
                <a:srgbClr val="000000"/>
              </a:solidFill>
              <a:latin typeface="Times New Roman" panose="02020603050405020304" pitchFamily="18" charset="0"/>
            </a:endParaRPr>
          </a:p>
        </p:txBody>
      </p:sp>
      <p:sp>
        <p:nvSpPr>
          <p:cNvPr id="93209" name="Rectangle 25">
            <a:extLst>
              <a:ext uri="{FF2B5EF4-FFF2-40B4-BE49-F238E27FC236}">
                <a16:creationId xmlns:a16="http://schemas.microsoft.com/office/drawing/2014/main" id="{74D84677-C640-34E0-5583-3CF8CD3BB791}"/>
              </a:ext>
            </a:extLst>
          </p:cNvPr>
          <p:cNvSpPr>
            <a:spLocks noChangeArrowheads="1"/>
          </p:cNvSpPr>
          <p:nvPr/>
        </p:nvSpPr>
        <p:spPr bwMode="auto">
          <a:xfrm>
            <a:off x="4937125" y="38862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220</a:t>
            </a:r>
          </a:p>
        </p:txBody>
      </p:sp>
      <p:sp>
        <p:nvSpPr>
          <p:cNvPr id="93210" name="Rectangle 26">
            <a:extLst>
              <a:ext uri="{FF2B5EF4-FFF2-40B4-BE49-F238E27FC236}">
                <a16:creationId xmlns:a16="http://schemas.microsoft.com/office/drawing/2014/main" id="{A842363D-5166-9BEF-5C69-3D901F25E638}"/>
              </a:ext>
            </a:extLst>
          </p:cNvPr>
          <p:cNvSpPr>
            <a:spLocks noChangeArrowheads="1"/>
          </p:cNvSpPr>
          <p:nvPr/>
        </p:nvSpPr>
        <p:spPr bwMode="auto">
          <a:xfrm>
            <a:off x="6858000" y="3886201"/>
            <a:ext cx="68288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n/a</a:t>
            </a:r>
          </a:p>
        </p:txBody>
      </p:sp>
      <p:sp>
        <p:nvSpPr>
          <p:cNvPr id="93211" name="Rectangle 27">
            <a:extLst>
              <a:ext uri="{FF2B5EF4-FFF2-40B4-BE49-F238E27FC236}">
                <a16:creationId xmlns:a16="http://schemas.microsoft.com/office/drawing/2014/main" id="{64D1D2FB-60A7-F819-34AB-9B426794C639}"/>
              </a:ext>
            </a:extLst>
          </p:cNvPr>
          <p:cNvSpPr>
            <a:spLocks noChangeArrowheads="1"/>
          </p:cNvSpPr>
          <p:nvPr/>
        </p:nvSpPr>
        <p:spPr bwMode="auto">
          <a:xfrm>
            <a:off x="3484564" y="4344989"/>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a:t>
            </a:r>
            <a:endParaRPr lang="en-US" altLang="en-US" sz="2900">
              <a:solidFill>
                <a:srgbClr val="000000"/>
              </a:solidFill>
              <a:latin typeface="Times New Roman" panose="02020603050405020304" pitchFamily="18" charset="0"/>
            </a:endParaRPr>
          </a:p>
        </p:txBody>
      </p:sp>
      <p:sp>
        <p:nvSpPr>
          <p:cNvPr id="93212" name="Rectangle 28">
            <a:extLst>
              <a:ext uri="{FF2B5EF4-FFF2-40B4-BE49-F238E27FC236}">
                <a16:creationId xmlns:a16="http://schemas.microsoft.com/office/drawing/2014/main" id="{49581630-964C-34D3-E1D3-DC87C971DBDB}"/>
              </a:ext>
            </a:extLst>
          </p:cNvPr>
          <p:cNvSpPr>
            <a:spLocks noChangeArrowheads="1"/>
          </p:cNvSpPr>
          <p:nvPr/>
        </p:nvSpPr>
        <p:spPr bwMode="auto">
          <a:xfrm>
            <a:off x="4937125" y="43449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250</a:t>
            </a:r>
            <a:endParaRPr lang="en-US" altLang="en-US" sz="2900">
              <a:solidFill>
                <a:srgbClr val="000000"/>
              </a:solidFill>
              <a:latin typeface="Times New Roman" panose="02020603050405020304" pitchFamily="18" charset="0"/>
            </a:endParaRPr>
          </a:p>
        </p:txBody>
      </p:sp>
      <p:sp>
        <p:nvSpPr>
          <p:cNvPr id="93213" name="Rectangle 29">
            <a:extLst>
              <a:ext uri="{FF2B5EF4-FFF2-40B4-BE49-F238E27FC236}">
                <a16:creationId xmlns:a16="http://schemas.microsoft.com/office/drawing/2014/main" id="{F89B44C0-C1CA-DFFC-57F2-5FC9A7730B13}"/>
              </a:ext>
            </a:extLst>
          </p:cNvPr>
          <p:cNvSpPr>
            <a:spLocks noChangeArrowheads="1"/>
          </p:cNvSpPr>
          <p:nvPr/>
        </p:nvSpPr>
        <p:spPr bwMode="auto">
          <a:xfrm>
            <a:off x="6767513" y="43449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255</a:t>
            </a:r>
            <a:endParaRPr lang="en-US" altLang="en-US" sz="2900">
              <a:solidFill>
                <a:srgbClr val="000000"/>
              </a:solidFill>
              <a:latin typeface="Times New Roman" panose="02020603050405020304" pitchFamily="18" charset="0"/>
            </a:endParaRPr>
          </a:p>
        </p:txBody>
      </p:sp>
      <p:sp>
        <p:nvSpPr>
          <p:cNvPr id="93214" name="Rectangle 30">
            <a:extLst>
              <a:ext uri="{FF2B5EF4-FFF2-40B4-BE49-F238E27FC236}">
                <a16:creationId xmlns:a16="http://schemas.microsoft.com/office/drawing/2014/main" id="{7A66C6AC-C960-725D-77D2-B88828C46D0C}"/>
              </a:ext>
            </a:extLst>
          </p:cNvPr>
          <p:cNvSpPr>
            <a:spLocks noChangeArrowheads="1"/>
          </p:cNvSpPr>
          <p:nvPr/>
        </p:nvSpPr>
        <p:spPr bwMode="auto">
          <a:xfrm>
            <a:off x="3484564" y="48006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a:t>
            </a:r>
            <a:endParaRPr lang="en-US" altLang="en-US" sz="2900">
              <a:solidFill>
                <a:srgbClr val="000000"/>
              </a:solidFill>
              <a:latin typeface="Times New Roman" panose="02020603050405020304" pitchFamily="18" charset="0"/>
            </a:endParaRPr>
          </a:p>
        </p:txBody>
      </p:sp>
      <p:sp>
        <p:nvSpPr>
          <p:cNvPr id="93215" name="Rectangle 31">
            <a:extLst>
              <a:ext uri="{FF2B5EF4-FFF2-40B4-BE49-F238E27FC236}">
                <a16:creationId xmlns:a16="http://schemas.microsoft.com/office/drawing/2014/main" id="{ACB1831C-DA5A-3E12-ACE9-9C1D654B694F}"/>
              </a:ext>
            </a:extLst>
          </p:cNvPr>
          <p:cNvSpPr>
            <a:spLocks noChangeArrowheads="1"/>
          </p:cNvSpPr>
          <p:nvPr/>
        </p:nvSpPr>
        <p:spPr bwMode="auto">
          <a:xfrm>
            <a:off x="4937125" y="48006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210</a:t>
            </a:r>
            <a:endParaRPr lang="en-US" altLang="en-US" sz="2900">
              <a:solidFill>
                <a:srgbClr val="000000"/>
              </a:solidFill>
              <a:latin typeface="Times New Roman" panose="02020603050405020304" pitchFamily="18" charset="0"/>
            </a:endParaRPr>
          </a:p>
        </p:txBody>
      </p:sp>
      <p:sp>
        <p:nvSpPr>
          <p:cNvPr id="93216" name="Rectangle 32">
            <a:extLst>
              <a:ext uri="{FF2B5EF4-FFF2-40B4-BE49-F238E27FC236}">
                <a16:creationId xmlns:a16="http://schemas.microsoft.com/office/drawing/2014/main" id="{EB4385A5-52A5-8DA3-0A37-50732F2FAEB2}"/>
              </a:ext>
            </a:extLst>
          </p:cNvPr>
          <p:cNvSpPr>
            <a:spLocks noChangeArrowheads="1"/>
          </p:cNvSpPr>
          <p:nvPr/>
        </p:nvSpPr>
        <p:spPr bwMode="auto">
          <a:xfrm>
            <a:off x="6767513" y="48006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205</a:t>
            </a:r>
          </a:p>
        </p:txBody>
      </p:sp>
      <p:sp>
        <p:nvSpPr>
          <p:cNvPr id="93217" name="Rectangle 33">
            <a:extLst>
              <a:ext uri="{FF2B5EF4-FFF2-40B4-BE49-F238E27FC236}">
                <a16:creationId xmlns:a16="http://schemas.microsoft.com/office/drawing/2014/main" id="{8FA3E0E3-2A5D-9C9A-0DFC-F8D071CB99E5}"/>
              </a:ext>
            </a:extLst>
          </p:cNvPr>
          <p:cNvSpPr>
            <a:spLocks noChangeArrowheads="1"/>
          </p:cNvSpPr>
          <p:nvPr/>
        </p:nvSpPr>
        <p:spPr bwMode="auto">
          <a:xfrm>
            <a:off x="3484564" y="5259389"/>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4</a:t>
            </a:r>
            <a:endParaRPr lang="en-US" altLang="en-US" sz="2900">
              <a:solidFill>
                <a:srgbClr val="000000"/>
              </a:solidFill>
              <a:latin typeface="Times New Roman" panose="02020603050405020304" pitchFamily="18" charset="0"/>
            </a:endParaRPr>
          </a:p>
        </p:txBody>
      </p:sp>
      <p:sp>
        <p:nvSpPr>
          <p:cNvPr id="93218" name="Rectangle 34">
            <a:extLst>
              <a:ext uri="{FF2B5EF4-FFF2-40B4-BE49-F238E27FC236}">
                <a16:creationId xmlns:a16="http://schemas.microsoft.com/office/drawing/2014/main" id="{974AFFD8-F0B2-9B68-F163-3ECD91A4EBA3}"/>
              </a:ext>
            </a:extLst>
          </p:cNvPr>
          <p:cNvSpPr>
            <a:spLocks noChangeArrowheads="1"/>
          </p:cNvSpPr>
          <p:nvPr/>
        </p:nvSpPr>
        <p:spPr bwMode="auto">
          <a:xfrm>
            <a:off x="4937125" y="52593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300</a:t>
            </a:r>
            <a:endParaRPr lang="en-US" altLang="en-US" sz="2900">
              <a:solidFill>
                <a:srgbClr val="000000"/>
              </a:solidFill>
              <a:latin typeface="Times New Roman" panose="02020603050405020304" pitchFamily="18" charset="0"/>
            </a:endParaRPr>
          </a:p>
        </p:txBody>
      </p:sp>
      <p:sp>
        <p:nvSpPr>
          <p:cNvPr id="93219" name="Rectangle 35">
            <a:extLst>
              <a:ext uri="{FF2B5EF4-FFF2-40B4-BE49-F238E27FC236}">
                <a16:creationId xmlns:a16="http://schemas.microsoft.com/office/drawing/2014/main" id="{A1EFE50C-7AC5-7FC9-3326-F111A6166960}"/>
              </a:ext>
            </a:extLst>
          </p:cNvPr>
          <p:cNvSpPr>
            <a:spLocks noChangeArrowheads="1"/>
          </p:cNvSpPr>
          <p:nvPr/>
        </p:nvSpPr>
        <p:spPr bwMode="auto">
          <a:xfrm>
            <a:off x="6767513" y="5259389"/>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320</a:t>
            </a:r>
          </a:p>
        </p:txBody>
      </p:sp>
      <p:sp>
        <p:nvSpPr>
          <p:cNvPr id="93220" name="Rectangle 36">
            <a:extLst>
              <a:ext uri="{FF2B5EF4-FFF2-40B4-BE49-F238E27FC236}">
                <a16:creationId xmlns:a16="http://schemas.microsoft.com/office/drawing/2014/main" id="{40022E60-593D-4DD7-492E-94DEED522400}"/>
              </a:ext>
            </a:extLst>
          </p:cNvPr>
          <p:cNvSpPr>
            <a:spLocks noChangeArrowheads="1"/>
          </p:cNvSpPr>
          <p:nvPr/>
        </p:nvSpPr>
        <p:spPr bwMode="auto">
          <a:xfrm>
            <a:off x="3484564" y="5718176"/>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93221" name="Rectangle 37">
            <a:extLst>
              <a:ext uri="{FF2B5EF4-FFF2-40B4-BE49-F238E27FC236}">
                <a16:creationId xmlns:a16="http://schemas.microsoft.com/office/drawing/2014/main" id="{BD09093A-CD9E-5AB3-A7E8-754214FEFBEE}"/>
              </a:ext>
            </a:extLst>
          </p:cNvPr>
          <p:cNvSpPr>
            <a:spLocks noChangeArrowheads="1"/>
          </p:cNvSpPr>
          <p:nvPr/>
        </p:nvSpPr>
        <p:spPr bwMode="auto">
          <a:xfrm>
            <a:off x="4937125" y="5718176"/>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325</a:t>
            </a:r>
            <a:endParaRPr lang="en-US" altLang="en-US" sz="2900">
              <a:solidFill>
                <a:srgbClr val="000000"/>
              </a:solidFill>
              <a:latin typeface="Times New Roman" panose="02020603050405020304" pitchFamily="18" charset="0"/>
            </a:endParaRPr>
          </a:p>
        </p:txBody>
      </p:sp>
      <p:sp>
        <p:nvSpPr>
          <p:cNvPr id="93222" name="Rectangle 38">
            <a:extLst>
              <a:ext uri="{FF2B5EF4-FFF2-40B4-BE49-F238E27FC236}">
                <a16:creationId xmlns:a16="http://schemas.microsoft.com/office/drawing/2014/main" id="{FCD948E2-0AB6-5882-FCA1-39043A7C3819}"/>
              </a:ext>
            </a:extLst>
          </p:cNvPr>
          <p:cNvSpPr>
            <a:spLocks noChangeArrowheads="1"/>
          </p:cNvSpPr>
          <p:nvPr/>
        </p:nvSpPr>
        <p:spPr bwMode="auto">
          <a:xfrm>
            <a:off x="6767513" y="5718176"/>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315</a:t>
            </a:r>
            <a:endParaRPr lang="en-US" altLang="en-US" sz="2900">
              <a:solidFill>
                <a:srgbClr val="000000"/>
              </a:solidFill>
              <a:latin typeface="Times New Roman" panose="02020603050405020304" pitchFamily="18" charset="0"/>
            </a:endParaRPr>
          </a:p>
        </p:txBody>
      </p:sp>
      <p:sp>
        <p:nvSpPr>
          <p:cNvPr id="93223" name="Line 39">
            <a:extLst>
              <a:ext uri="{FF2B5EF4-FFF2-40B4-BE49-F238E27FC236}">
                <a16:creationId xmlns:a16="http://schemas.microsoft.com/office/drawing/2014/main" id="{E5899FAC-6381-6C4D-59A2-FF293ECB13C8}"/>
              </a:ext>
            </a:extLst>
          </p:cNvPr>
          <p:cNvSpPr>
            <a:spLocks noChangeShapeType="1"/>
          </p:cNvSpPr>
          <p:nvPr/>
        </p:nvSpPr>
        <p:spPr bwMode="auto">
          <a:xfrm>
            <a:off x="2006600" y="3467101"/>
            <a:ext cx="0" cy="272891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24" name="Line 40">
            <a:extLst>
              <a:ext uri="{FF2B5EF4-FFF2-40B4-BE49-F238E27FC236}">
                <a16:creationId xmlns:a16="http://schemas.microsoft.com/office/drawing/2014/main" id="{C341E2CA-3DC8-FAA1-C46D-0E1709650348}"/>
              </a:ext>
            </a:extLst>
          </p:cNvPr>
          <p:cNvSpPr>
            <a:spLocks noChangeShapeType="1"/>
          </p:cNvSpPr>
          <p:nvPr/>
        </p:nvSpPr>
        <p:spPr bwMode="auto">
          <a:xfrm>
            <a:off x="3835400" y="3484564"/>
            <a:ext cx="0" cy="269398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25" name="Line 41">
            <a:extLst>
              <a:ext uri="{FF2B5EF4-FFF2-40B4-BE49-F238E27FC236}">
                <a16:creationId xmlns:a16="http://schemas.microsoft.com/office/drawing/2014/main" id="{E11B0FDA-0EE0-0E0F-9635-D7FA3DBC7745}"/>
              </a:ext>
            </a:extLst>
          </p:cNvPr>
          <p:cNvSpPr>
            <a:spLocks noChangeShapeType="1"/>
          </p:cNvSpPr>
          <p:nvPr/>
        </p:nvSpPr>
        <p:spPr bwMode="auto">
          <a:xfrm>
            <a:off x="5667375" y="3484564"/>
            <a:ext cx="0" cy="269398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26" name="Line 42">
            <a:extLst>
              <a:ext uri="{FF2B5EF4-FFF2-40B4-BE49-F238E27FC236}">
                <a16:creationId xmlns:a16="http://schemas.microsoft.com/office/drawing/2014/main" id="{DE92AC00-A337-2150-A593-FAD4ACF4CEF2}"/>
              </a:ext>
            </a:extLst>
          </p:cNvPr>
          <p:cNvSpPr>
            <a:spLocks noChangeShapeType="1"/>
          </p:cNvSpPr>
          <p:nvPr/>
        </p:nvSpPr>
        <p:spPr bwMode="auto">
          <a:xfrm>
            <a:off x="7496175" y="3467101"/>
            <a:ext cx="0" cy="2728913"/>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27" name="Rectangle 43">
            <a:extLst>
              <a:ext uri="{FF2B5EF4-FFF2-40B4-BE49-F238E27FC236}">
                <a16:creationId xmlns:a16="http://schemas.microsoft.com/office/drawing/2014/main" id="{3A8E52E3-4FF7-3963-1875-88F18B387065}"/>
              </a:ext>
            </a:extLst>
          </p:cNvPr>
          <p:cNvSpPr>
            <a:spLocks noChangeArrowheads="1"/>
          </p:cNvSpPr>
          <p:nvPr/>
        </p:nvSpPr>
        <p:spPr bwMode="auto">
          <a:xfrm>
            <a:off x="1989138" y="3438526"/>
            <a:ext cx="5524500" cy="349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28" name="Rectangle 44">
            <a:extLst>
              <a:ext uri="{FF2B5EF4-FFF2-40B4-BE49-F238E27FC236}">
                <a16:creationId xmlns:a16="http://schemas.microsoft.com/office/drawing/2014/main" id="{62B876C0-CA56-1D04-F281-538A310AF868}"/>
              </a:ext>
            </a:extLst>
          </p:cNvPr>
          <p:cNvSpPr>
            <a:spLocks noChangeArrowheads="1"/>
          </p:cNvSpPr>
          <p:nvPr/>
        </p:nvSpPr>
        <p:spPr bwMode="auto">
          <a:xfrm>
            <a:off x="1989138" y="6184901"/>
            <a:ext cx="5524500" cy="34925"/>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29" name="Rectangle 45">
            <a:extLst>
              <a:ext uri="{FF2B5EF4-FFF2-40B4-BE49-F238E27FC236}">
                <a16:creationId xmlns:a16="http://schemas.microsoft.com/office/drawing/2014/main" id="{1A7A18E8-2B1A-4749-527D-1BBB3A2FADD4}"/>
              </a:ext>
            </a:extLst>
          </p:cNvPr>
          <p:cNvSpPr>
            <a:spLocks noChangeArrowheads="1"/>
          </p:cNvSpPr>
          <p:nvPr/>
        </p:nvSpPr>
        <p:spPr bwMode="auto">
          <a:xfrm>
            <a:off x="1989139" y="3473450"/>
            <a:ext cx="34925" cy="2711450"/>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93230" name="Rectangle 46">
            <a:extLst>
              <a:ext uri="{FF2B5EF4-FFF2-40B4-BE49-F238E27FC236}">
                <a16:creationId xmlns:a16="http://schemas.microsoft.com/office/drawing/2014/main" id="{81F54AA3-CC3E-43B5-F740-4B791E112334}"/>
              </a:ext>
            </a:extLst>
          </p:cNvPr>
          <p:cNvSpPr>
            <a:spLocks noChangeArrowheads="1"/>
          </p:cNvSpPr>
          <p:nvPr/>
        </p:nvSpPr>
        <p:spPr bwMode="auto">
          <a:xfrm>
            <a:off x="7478714" y="3473450"/>
            <a:ext cx="34925" cy="2711450"/>
          </a:xfrm>
          <a:prstGeom prst="rect">
            <a:avLst/>
          </a:prstGeom>
          <a:solidFill>
            <a:srgbClr val="0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None/>
            </a:pPr>
            <a:endParaRPr lang="en-US" altLang="en-US" sz="2600" b="1">
              <a:solidFill>
                <a:srgbClr val="292929"/>
              </a:solidFill>
            </a:endParaRPr>
          </a:p>
        </p:txBody>
      </p:sp>
      <p:sp>
        <p:nvSpPr>
          <p:cNvPr id="681007" name="Text Box 47">
            <a:extLst>
              <a:ext uri="{FF2B5EF4-FFF2-40B4-BE49-F238E27FC236}">
                <a16:creationId xmlns:a16="http://schemas.microsoft.com/office/drawing/2014/main" id="{916BC5ED-9D40-67EB-6DD3-429216BB38FB}"/>
              </a:ext>
            </a:extLst>
          </p:cNvPr>
          <p:cNvSpPr txBox="1">
            <a:spLocks noChangeArrowheads="1"/>
          </p:cNvSpPr>
          <p:nvPr/>
        </p:nvSpPr>
        <p:spPr bwMode="auto">
          <a:xfrm>
            <a:off x="2057400" y="1600201"/>
            <a:ext cx="4572000" cy="588963"/>
          </a:xfrm>
          <a:prstGeom prst="rect">
            <a:avLst/>
          </a:prstGeom>
          <a:solidFill>
            <a:srgbClr val="FFFF99"/>
          </a:solidFill>
          <a:ln w="9525">
            <a:solidFill>
              <a:schemeClr val="tx1"/>
            </a:solidFill>
            <a:miter lim="800000"/>
            <a:headEnd type="none" w="sm" len="sm"/>
            <a:tailEnd type="none" w="sm" len="sm"/>
          </a:ln>
          <a:effectLst>
            <a:outerShdw dist="107763" dir="2700000" algn="ctr" rotWithShape="0">
              <a:schemeClr val="bg2"/>
            </a:outerShdw>
          </a:effectLst>
        </p:spPr>
        <p:txBody>
          <a:bodyPr>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Aft>
                <a:spcPct val="0"/>
              </a:spcAft>
              <a:buClr>
                <a:srgbClr val="CCCC99"/>
              </a:buClr>
              <a:buSzPct val="75000"/>
              <a:buNone/>
            </a:pPr>
            <a:r>
              <a:rPr lang="en-US" altLang="en-US" b="1">
                <a:solidFill>
                  <a:srgbClr val="292929"/>
                </a:solidFill>
                <a:latin typeface="Times New Roman" panose="02020603050405020304" pitchFamily="18" charset="0"/>
              </a:rPr>
              <a:t>What is the MSE value?</a:t>
            </a:r>
            <a:endParaRPr lang="en-US" altLang="en-US" sz="2400" b="1">
              <a:solidFill>
                <a:srgbClr val="292929"/>
              </a:solidFill>
              <a:latin typeface="Times New Roman" panose="02020603050405020304" pitchFamily="18" charset="0"/>
            </a:endParaRPr>
          </a:p>
        </p:txBody>
      </p:sp>
      <p:sp>
        <p:nvSpPr>
          <p:cNvPr id="93232" name="Line 48">
            <a:extLst>
              <a:ext uri="{FF2B5EF4-FFF2-40B4-BE49-F238E27FC236}">
                <a16:creationId xmlns:a16="http://schemas.microsoft.com/office/drawing/2014/main" id="{D25BF32D-0D2D-81D9-A5D0-E4C367B0BD90}"/>
              </a:ext>
            </a:extLst>
          </p:cNvPr>
          <p:cNvSpPr>
            <a:spLocks noChangeShapeType="1"/>
          </p:cNvSpPr>
          <p:nvPr/>
        </p:nvSpPr>
        <p:spPr bwMode="auto">
          <a:xfrm>
            <a:off x="1989138" y="43434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33" name="Line 49">
            <a:extLst>
              <a:ext uri="{FF2B5EF4-FFF2-40B4-BE49-F238E27FC236}">
                <a16:creationId xmlns:a16="http://schemas.microsoft.com/office/drawing/2014/main" id="{F8354392-2B5A-D51C-0B15-5804630B5FB5}"/>
              </a:ext>
            </a:extLst>
          </p:cNvPr>
          <p:cNvSpPr>
            <a:spLocks noChangeShapeType="1"/>
          </p:cNvSpPr>
          <p:nvPr/>
        </p:nvSpPr>
        <p:spPr bwMode="auto">
          <a:xfrm>
            <a:off x="1989138" y="48006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34" name="Line 50">
            <a:extLst>
              <a:ext uri="{FF2B5EF4-FFF2-40B4-BE49-F238E27FC236}">
                <a16:creationId xmlns:a16="http://schemas.microsoft.com/office/drawing/2014/main" id="{E5DC7B40-87C2-6D80-5CA0-907BCDC62E70}"/>
              </a:ext>
            </a:extLst>
          </p:cNvPr>
          <p:cNvSpPr>
            <a:spLocks noChangeShapeType="1"/>
          </p:cNvSpPr>
          <p:nvPr/>
        </p:nvSpPr>
        <p:spPr bwMode="auto">
          <a:xfrm>
            <a:off x="1989138" y="5257800"/>
            <a:ext cx="548640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IN" sz="2600" b="1">
              <a:solidFill>
                <a:srgbClr val="292929"/>
              </a:solidFill>
              <a:latin typeface="Arial" panose="020B0604020202020204" pitchFamily="34" charset="0"/>
            </a:endParaRPr>
          </a:p>
        </p:txBody>
      </p:sp>
      <p:sp>
        <p:nvSpPr>
          <p:cNvPr id="93235" name="Rectangle 52">
            <a:extLst>
              <a:ext uri="{FF2B5EF4-FFF2-40B4-BE49-F238E27FC236}">
                <a16:creationId xmlns:a16="http://schemas.microsoft.com/office/drawing/2014/main" id="{CA098F3F-DBFD-4A01-0419-6D241D1DBBD1}"/>
              </a:ext>
            </a:extLst>
          </p:cNvPr>
          <p:cNvSpPr>
            <a:spLocks noChangeArrowheads="1"/>
          </p:cNvSpPr>
          <p:nvPr/>
        </p:nvSpPr>
        <p:spPr bwMode="auto">
          <a:xfrm>
            <a:off x="8367714" y="4343401"/>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93236" name="Rectangle 53">
            <a:extLst>
              <a:ext uri="{FF2B5EF4-FFF2-40B4-BE49-F238E27FC236}">
                <a16:creationId xmlns:a16="http://schemas.microsoft.com/office/drawing/2014/main" id="{F3F4B582-90A1-92A1-C6A8-4A56DC168C15}"/>
              </a:ext>
            </a:extLst>
          </p:cNvPr>
          <p:cNvSpPr>
            <a:spLocks noChangeArrowheads="1"/>
          </p:cNvSpPr>
          <p:nvPr/>
        </p:nvSpPr>
        <p:spPr bwMode="auto">
          <a:xfrm>
            <a:off x="8382001" y="4741864"/>
            <a:ext cx="38311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5</a:t>
            </a:r>
            <a:endParaRPr lang="en-US" altLang="en-US" sz="2900">
              <a:solidFill>
                <a:srgbClr val="000000"/>
              </a:solidFill>
              <a:latin typeface="Times New Roman" panose="02020603050405020304" pitchFamily="18" charset="0"/>
            </a:endParaRPr>
          </a:p>
        </p:txBody>
      </p:sp>
      <p:sp>
        <p:nvSpPr>
          <p:cNvPr id="93237" name="Rectangle 54">
            <a:extLst>
              <a:ext uri="{FF2B5EF4-FFF2-40B4-BE49-F238E27FC236}">
                <a16:creationId xmlns:a16="http://schemas.microsoft.com/office/drawing/2014/main" id="{DDB32F6E-D2E8-ACB0-A243-37F4D7C2C69F}"/>
              </a:ext>
            </a:extLst>
          </p:cNvPr>
          <p:cNvSpPr>
            <a:spLocks noChangeArrowheads="1"/>
          </p:cNvSpPr>
          <p:nvPr/>
        </p:nvSpPr>
        <p:spPr bwMode="auto">
          <a:xfrm>
            <a:off x="8305800" y="5257801"/>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20</a:t>
            </a:r>
            <a:endParaRPr lang="en-US" altLang="en-US" sz="2900">
              <a:solidFill>
                <a:srgbClr val="000000"/>
              </a:solidFill>
              <a:latin typeface="Times New Roman" panose="02020603050405020304" pitchFamily="18" charset="0"/>
            </a:endParaRPr>
          </a:p>
        </p:txBody>
      </p:sp>
      <p:sp>
        <p:nvSpPr>
          <p:cNvPr id="93238" name="Rectangle 55">
            <a:extLst>
              <a:ext uri="{FF2B5EF4-FFF2-40B4-BE49-F238E27FC236}">
                <a16:creationId xmlns:a16="http://schemas.microsoft.com/office/drawing/2014/main" id="{182D46DB-E816-6A11-A235-4D4E9FC71272}"/>
              </a:ext>
            </a:extLst>
          </p:cNvPr>
          <p:cNvSpPr>
            <a:spLocks noChangeArrowheads="1"/>
          </p:cNvSpPr>
          <p:nvPr/>
        </p:nvSpPr>
        <p:spPr bwMode="auto">
          <a:xfrm>
            <a:off x="8305800" y="5732464"/>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10</a:t>
            </a:r>
            <a:endParaRPr lang="en-US" altLang="en-US" sz="2900">
              <a:solidFill>
                <a:srgbClr val="000000"/>
              </a:solidFill>
              <a:latin typeface="Times New Roman" panose="02020603050405020304" pitchFamily="18" charset="0"/>
            </a:endParaRPr>
          </a:p>
        </p:txBody>
      </p:sp>
      <p:sp>
        <p:nvSpPr>
          <p:cNvPr id="93239" name="Rectangle 56">
            <a:extLst>
              <a:ext uri="{FF2B5EF4-FFF2-40B4-BE49-F238E27FC236}">
                <a16:creationId xmlns:a16="http://schemas.microsoft.com/office/drawing/2014/main" id="{4A94F01B-3C74-C789-37E1-3D5946F2D2B2}"/>
              </a:ext>
            </a:extLst>
          </p:cNvPr>
          <p:cNvSpPr>
            <a:spLocks noChangeArrowheads="1"/>
          </p:cNvSpPr>
          <p:nvPr/>
        </p:nvSpPr>
        <p:spPr bwMode="auto">
          <a:xfrm>
            <a:off x="7772400" y="3352800"/>
            <a:ext cx="15240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u="sng">
                <a:solidFill>
                  <a:srgbClr val="000000"/>
                </a:solidFill>
              </a:rPr>
              <a:t>|A</a:t>
            </a:r>
            <a:r>
              <a:rPr lang="en-US" altLang="en-US" sz="2800" u="sng" baseline="-25000">
                <a:solidFill>
                  <a:srgbClr val="000000"/>
                </a:solidFill>
              </a:rPr>
              <a:t>t</a:t>
            </a:r>
            <a:r>
              <a:rPr lang="en-US" altLang="en-US" sz="2800" u="sng">
                <a:solidFill>
                  <a:srgbClr val="000000"/>
                </a:solidFill>
              </a:rPr>
              <a:t> – F</a:t>
            </a:r>
            <a:r>
              <a:rPr lang="en-US" altLang="en-US" sz="2800" u="sng" baseline="-25000">
                <a:solidFill>
                  <a:srgbClr val="000000"/>
                </a:solidFill>
              </a:rPr>
              <a:t>t</a:t>
            </a:r>
            <a:r>
              <a:rPr lang="en-US" altLang="en-US" sz="2800" u="sng">
                <a:solidFill>
                  <a:srgbClr val="000000"/>
                </a:solidFill>
              </a:rPr>
              <a:t>|</a:t>
            </a:r>
            <a:endParaRPr lang="en-US" altLang="en-US" sz="2900" u="sng">
              <a:solidFill>
                <a:srgbClr val="000000"/>
              </a:solidFill>
              <a:latin typeface="Times New Roman" panose="02020603050405020304" pitchFamily="18" charset="0"/>
            </a:endParaRPr>
          </a:p>
        </p:txBody>
      </p:sp>
      <p:sp>
        <p:nvSpPr>
          <p:cNvPr id="93240" name="Rectangle 57">
            <a:extLst>
              <a:ext uri="{FF2B5EF4-FFF2-40B4-BE49-F238E27FC236}">
                <a16:creationId xmlns:a16="http://schemas.microsoft.com/office/drawing/2014/main" id="{65906DA1-4886-0BEE-0606-3049D0E2DFB9}"/>
              </a:ext>
            </a:extLst>
          </p:cNvPr>
          <p:cNvSpPr>
            <a:spLocks noChangeArrowheads="1"/>
          </p:cNvSpPr>
          <p:nvPr/>
        </p:nvSpPr>
        <p:spPr bwMode="auto">
          <a:xfrm>
            <a:off x="6400800" y="2895600"/>
            <a:ext cx="6858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F</a:t>
            </a:r>
            <a:r>
              <a:rPr lang="en-US" altLang="en-US" sz="2800" baseline="-25000">
                <a:solidFill>
                  <a:srgbClr val="000000"/>
                </a:solidFill>
              </a:rPr>
              <a:t>t</a:t>
            </a:r>
          </a:p>
        </p:txBody>
      </p:sp>
      <p:sp>
        <p:nvSpPr>
          <p:cNvPr id="93241" name="Rectangle 58">
            <a:extLst>
              <a:ext uri="{FF2B5EF4-FFF2-40B4-BE49-F238E27FC236}">
                <a16:creationId xmlns:a16="http://schemas.microsoft.com/office/drawing/2014/main" id="{63314F51-7829-AFEB-27CA-ECBFA7412387}"/>
              </a:ext>
            </a:extLst>
          </p:cNvPr>
          <p:cNvSpPr>
            <a:spLocks noChangeArrowheads="1"/>
          </p:cNvSpPr>
          <p:nvPr/>
        </p:nvSpPr>
        <p:spPr bwMode="auto">
          <a:xfrm>
            <a:off x="4495800" y="2895600"/>
            <a:ext cx="6858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A</a:t>
            </a:r>
            <a:r>
              <a:rPr lang="en-US" altLang="en-US" sz="2800" baseline="-25000">
                <a:solidFill>
                  <a:srgbClr val="000000"/>
                </a:solidFill>
              </a:rPr>
              <a:t>t</a:t>
            </a:r>
          </a:p>
        </p:txBody>
      </p:sp>
      <p:sp>
        <p:nvSpPr>
          <p:cNvPr id="681021" name="Rectangle 61">
            <a:extLst>
              <a:ext uri="{FF2B5EF4-FFF2-40B4-BE49-F238E27FC236}">
                <a16:creationId xmlns:a16="http://schemas.microsoft.com/office/drawing/2014/main" id="{48F8B02F-997D-35BD-EC56-25287E00647A}"/>
              </a:ext>
            </a:extLst>
          </p:cNvPr>
          <p:cNvSpPr>
            <a:spLocks noChangeArrowheads="1"/>
          </p:cNvSpPr>
          <p:nvPr/>
        </p:nvSpPr>
        <p:spPr bwMode="auto">
          <a:xfrm>
            <a:off x="8610601" y="457200"/>
            <a:ext cx="961803"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400">
                <a:solidFill>
                  <a:srgbClr val="000000"/>
                </a:solidFill>
              </a:rPr>
              <a:t>= </a:t>
            </a:r>
            <a:r>
              <a:rPr lang="en-US" altLang="en-US" sz="2400" u="sng">
                <a:solidFill>
                  <a:srgbClr val="000000"/>
                </a:solidFill>
              </a:rPr>
              <a:t>550</a:t>
            </a:r>
          </a:p>
          <a:p>
            <a:pPr eaLnBrk="0" fontAlgn="base" hangingPunct="0">
              <a:spcBef>
                <a:spcPct val="0"/>
              </a:spcBef>
              <a:spcAft>
                <a:spcPct val="0"/>
              </a:spcAft>
              <a:buClrTx/>
              <a:buNone/>
            </a:pPr>
            <a:r>
              <a:rPr lang="en-US" altLang="en-US" sz="2400">
                <a:solidFill>
                  <a:srgbClr val="000000"/>
                </a:solidFill>
              </a:rPr>
              <a:t>    4</a:t>
            </a:r>
            <a:endParaRPr lang="en-US" altLang="en-US" sz="2400">
              <a:solidFill>
                <a:srgbClr val="000000"/>
              </a:solidFill>
              <a:latin typeface="Times New Roman" panose="02020603050405020304" pitchFamily="18" charset="0"/>
            </a:endParaRPr>
          </a:p>
        </p:txBody>
      </p:sp>
      <p:sp>
        <p:nvSpPr>
          <p:cNvPr id="681022" name="Rectangle 62">
            <a:extLst>
              <a:ext uri="{FF2B5EF4-FFF2-40B4-BE49-F238E27FC236}">
                <a16:creationId xmlns:a16="http://schemas.microsoft.com/office/drawing/2014/main" id="{3F1D6C75-5AE2-BBCB-DA79-4FDC66A7C329}"/>
              </a:ext>
            </a:extLst>
          </p:cNvPr>
          <p:cNvSpPr>
            <a:spLocks noChangeArrowheads="1"/>
          </p:cNvSpPr>
          <p:nvPr/>
        </p:nvSpPr>
        <p:spPr bwMode="auto">
          <a:xfrm>
            <a:off x="9448801" y="536575"/>
            <a:ext cx="113332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400">
                <a:solidFill>
                  <a:srgbClr val="000000"/>
                </a:solidFill>
              </a:rPr>
              <a:t>=137.5</a:t>
            </a:r>
            <a:endParaRPr lang="en-US" altLang="en-US" sz="2400">
              <a:solidFill>
                <a:srgbClr val="000000"/>
              </a:solidFill>
              <a:latin typeface="Times New Roman" panose="02020603050405020304" pitchFamily="18" charset="0"/>
            </a:endParaRPr>
          </a:p>
        </p:txBody>
      </p:sp>
      <p:sp>
        <p:nvSpPr>
          <p:cNvPr id="681024" name="Rectangle 64">
            <a:extLst>
              <a:ext uri="{FF2B5EF4-FFF2-40B4-BE49-F238E27FC236}">
                <a16:creationId xmlns:a16="http://schemas.microsoft.com/office/drawing/2014/main" id="{38C30207-B728-A578-7408-3739F7ECD47C}"/>
              </a:ext>
            </a:extLst>
          </p:cNvPr>
          <p:cNvSpPr>
            <a:spLocks noChangeArrowheads="1"/>
          </p:cNvSpPr>
          <p:nvPr/>
        </p:nvSpPr>
        <p:spPr bwMode="auto">
          <a:xfrm>
            <a:off x="9067800" y="3352800"/>
            <a:ext cx="16764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u="sng">
                <a:solidFill>
                  <a:srgbClr val="000000"/>
                </a:solidFill>
              </a:rPr>
              <a:t>(A</a:t>
            </a:r>
            <a:r>
              <a:rPr lang="en-US" altLang="en-US" sz="2800" u="sng" baseline="-25000">
                <a:solidFill>
                  <a:srgbClr val="000000"/>
                </a:solidFill>
              </a:rPr>
              <a:t>t</a:t>
            </a:r>
            <a:r>
              <a:rPr lang="en-US" altLang="en-US" sz="2800" u="sng">
                <a:solidFill>
                  <a:srgbClr val="000000"/>
                </a:solidFill>
              </a:rPr>
              <a:t> – F</a:t>
            </a:r>
            <a:r>
              <a:rPr lang="en-US" altLang="en-US" sz="2800" u="sng" baseline="-25000">
                <a:solidFill>
                  <a:srgbClr val="000000"/>
                </a:solidFill>
              </a:rPr>
              <a:t>t</a:t>
            </a:r>
            <a:r>
              <a:rPr lang="en-US" altLang="en-US" sz="2800" u="sng">
                <a:solidFill>
                  <a:srgbClr val="000000"/>
                </a:solidFill>
              </a:rPr>
              <a:t>)</a:t>
            </a:r>
            <a:r>
              <a:rPr lang="en-US" altLang="en-US" sz="2800" u="sng" baseline="30000">
                <a:solidFill>
                  <a:srgbClr val="000000"/>
                </a:solidFill>
              </a:rPr>
              <a:t>2</a:t>
            </a:r>
          </a:p>
        </p:txBody>
      </p:sp>
      <p:sp>
        <p:nvSpPr>
          <p:cNvPr id="681025" name="Rectangle 65">
            <a:extLst>
              <a:ext uri="{FF2B5EF4-FFF2-40B4-BE49-F238E27FC236}">
                <a16:creationId xmlns:a16="http://schemas.microsoft.com/office/drawing/2014/main" id="{A4FB4312-8817-1E9C-2F4A-AE64936404CF}"/>
              </a:ext>
            </a:extLst>
          </p:cNvPr>
          <p:cNvSpPr>
            <a:spLocks noChangeArrowheads="1"/>
          </p:cNvSpPr>
          <p:nvPr/>
        </p:nvSpPr>
        <p:spPr bwMode="auto">
          <a:xfrm>
            <a:off x="9845675" y="4343401"/>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a:t>
            </a:r>
            <a:endParaRPr lang="en-US" altLang="en-US" sz="2900">
              <a:solidFill>
                <a:srgbClr val="000000"/>
              </a:solidFill>
              <a:latin typeface="Times New Roman" panose="02020603050405020304" pitchFamily="18" charset="0"/>
            </a:endParaRPr>
          </a:p>
        </p:txBody>
      </p:sp>
      <p:sp>
        <p:nvSpPr>
          <p:cNvPr id="681026" name="Rectangle 66">
            <a:extLst>
              <a:ext uri="{FF2B5EF4-FFF2-40B4-BE49-F238E27FC236}">
                <a16:creationId xmlns:a16="http://schemas.microsoft.com/office/drawing/2014/main" id="{0CBDC1FE-16EF-6445-4FA2-CD1323981AFB}"/>
              </a:ext>
            </a:extLst>
          </p:cNvPr>
          <p:cNvSpPr>
            <a:spLocks noChangeArrowheads="1"/>
          </p:cNvSpPr>
          <p:nvPr/>
        </p:nvSpPr>
        <p:spPr bwMode="auto">
          <a:xfrm>
            <a:off x="9859963" y="4741864"/>
            <a:ext cx="58349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25</a:t>
            </a:r>
            <a:endParaRPr lang="en-US" altLang="en-US" sz="2900">
              <a:solidFill>
                <a:srgbClr val="000000"/>
              </a:solidFill>
              <a:latin typeface="Times New Roman" panose="02020603050405020304" pitchFamily="18" charset="0"/>
            </a:endParaRPr>
          </a:p>
        </p:txBody>
      </p:sp>
      <p:sp>
        <p:nvSpPr>
          <p:cNvPr id="681027" name="Rectangle 67">
            <a:extLst>
              <a:ext uri="{FF2B5EF4-FFF2-40B4-BE49-F238E27FC236}">
                <a16:creationId xmlns:a16="http://schemas.microsoft.com/office/drawing/2014/main" id="{A4E1572A-67BF-D0F7-0988-8AC4937BF4DD}"/>
              </a:ext>
            </a:extLst>
          </p:cNvPr>
          <p:cNvSpPr>
            <a:spLocks noChangeArrowheads="1"/>
          </p:cNvSpPr>
          <p:nvPr/>
        </p:nvSpPr>
        <p:spPr bwMode="auto">
          <a:xfrm>
            <a:off x="9677400" y="5257801"/>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400</a:t>
            </a:r>
            <a:endParaRPr lang="en-US" altLang="en-US" sz="2900">
              <a:solidFill>
                <a:srgbClr val="000000"/>
              </a:solidFill>
              <a:latin typeface="Times New Roman" panose="02020603050405020304" pitchFamily="18" charset="0"/>
            </a:endParaRPr>
          </a:p>
        </p:txBody>
      </p:sp>
      <p:sp>
        <p:nvSpPr>
          <p:cNvPr id="681028" name="Rectangle 68">
            <a:extLst>
              <a:ext uri="{FF2B5EF4-FFF2-40B4-BE49-F238E27FC236}">
                <a16:creationId xmlns:a16="http://schemas.microsoft.com/office/drawing/2014/main" id="{172D9E0C-F2C7-CB27-F6E1-7909A3B7B51E}"/>
              </a:ext>
            </a:extLst>
          </p:cNvPr>
          <p:cNvSpPr>
            <a:spLocks noChangeArrowheads="1"/>
          </p:cNvSpPr>
          <p:nvPr/>
        </p:nvSpPr>
        <p:spPr bwMode="auto">
          <a:xfrm>
            <a:off x="9677400" y="5732464"/>
            <a:ext cx="78387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100</a:t>
            </a:r>
            <a:endParaRPr lang="en-US" altLang="en-US" sz="2900">
              <a:solidFill>
                <a:srgbClr val="000000"/>
              </a:solidFill>
              <a:latin typeface="Times New Roman" panose="02020603050405020304" pitchFamily="18" charset="0"/>
            </a:endParaRPr>
          </a:p>
        </p:txBody>
      </p:sp>
      <p:sp>
        <p:nvSpPr>
          <p:cNvPr id="681029" name="Rectangle 69">
            <a:extLst>
              <a:ext uri="{FF2B5EF4-FFF2-40B4-BE49-F238E27FC236}">
                <a16:creationId xmlns:a16="http://schemas.microsoft.com/office/drawing/2014/main" id="{4833EE0D-A6DE-1B57-34B2-5456C88F97AD}"/>
              </a:ext>
            </a:extLst>
          </p:cNvPr>
          <p:cNvSpPr>
            <a:spLocks noChangeArrowheads="1"/>
          </p:cNvSpPr>
          <p:nvPr/>
        </p:nvSpPr>
        <p:spPr bwMode="auto">
          <a:xfrm>
            <a:off x="9555164" y="6342064"/>
            <a:ext cx="109324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b="1">
                <a:solidFill>
                  <a:srgbClr val="000000"/>
                </a:solidFill>
              </a:rPr>
              <a:t>= 550</a:t>
            </a:r>
            <a:endParaRPr lang="en-US" altLang="en-US" sz="2900" b="1">
              <a:solidFill>
                <a:srgbClr val="000000"/>
              </a:solidFill>
              <a:latin typeface="Times New Roman" panose="02020603050405020304" pitchFamily="18" charset="0"/>
            </a:endParaRPr>
          </a:p>
        </p:txBody>
      </p:sp>
      <p:graphicFrame>
        <p:nvGraphicFramePr>
          <p:cNvPr id="681030" name="Object 70">
            <a:extLst>
              <a:ext uri="{FF2B5EF4-FFF2-40B4-BE49-F238E27FC236}">
                <a16:creationId xmlns:a16="http://schemas.microsoft.com/office/drawing/2014/main" id="{EB9C2397-CCDD-BC2E-BEC3-CA59DE3EE544}"/>
              </a:ext>
            </a:extLst>
          </p:cNvPr>
          <p:cNvGraphicFramePr>
            <a:graphicFrameLocks noGrp="1"/>
          </p:cNvGraphicFramePr>
          <p:nvPr>
            <p:ph sz="half" idx="2"/>
          </p:nvPr>
        </p:nvGraphicFramePr>
        <p:xfrm>
          <a:off x="6096000" y="0"/>
          <a:ext cx="2514600" cy="1219200"/>
        </p:xfrm>
        <a:graphic>
          <a:graphicData uri="http://schemas.openxmlformats.org/presentationml/2006/ole">
            <mc:AlternateContent xmlns:mc="http://schemas.openxmlformats.org/markup-compatibility/2006">
              <mc:Choice xmlns:v="urn:schemas-microsoft-com:vml" Requires="v">
                <p:oleObj name="Equation" r:id="rId3" imgW="21945600" imgH="10534650" progId="Equation.3">
                  <p:embed/>
                </p:oleObj>
              </mc:Choice>
              <mc:Fallback>
                <p:oleObj name="Equation" r:id="rId3" imgW="21945600" imgH="10534650" progId="Equation.3">
                  <p:embed/>
                  <p:pic>
                    <p:nvPicPr>
                      <p:cNvPr id="681030" name="Object 70">
                        <a:extLst>
                          <a:ext uri="{FF2B5EF4-FFF2-40B4-BE49-F238E27FC236}">
                            <a16:creationId xmlns:a16="http://schemas.microsoft.com/office/drawing/2014/main" id="{EB9C2397-CCDD-BC2E-BEC3-CA59DE3EE54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0"/>
                        <a:ext cx="2514600" cy="1219200"/>
                      </a:xfrm>
                      <a:prstGeom prst="rect">
                        <a:avLst/>
                      </a:prstGeom>
                      <a:solidFill>
                        <a:srgbClr val="A6F695"/>
                      </a:solidFill>
                      <a:ln w="9525">
                        <a:solidFill>
                          <a:schemeClr val="tx1"/>
                        </a:solidFill>
                        <a:miter lim="800000"/>
                        <a:headEnd/>
                        <a:tailEnd/>
                      </a:ln>
                      <a:effectLst>
                        <a:outerShdw dist="107763" dir="2700000" algn="ctr" rotWithShape="0">
                          <a:schemeClr val="bg2"/>
                        </a:outerShdw>
                      </a:effectLst>
                    </p:spPr>
                  </p:pic>
                </p:oleObj>
              </mc:Fallback>
            </mc:AlternateContent>
          </a:graphicData>
        </a:graphic>
      </p:graphicFrame>
      <p:pic>
        <p:nvPicPr>
          <p:cNvPr id="681033" name="Picture 73">
            <a:extLst>
              <a:ext uri="{FF2B5EF4-FFF2-40B4-BE49-F238E27FC236}">
                <a16:creationId xmlns:a16="http://schemas.microsoft.com/office/drawing/2014/main" id="{AA03AAC5-C485-8B0E-8D71-969C1CBA22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6234114"/>
            <a:ext cx="12954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034" name="Rectangle 74">
            <a:extLst>
              <a:ext uri="{FF2B5EF4-FFF2-40B4-BE49-F238E27FC236}">
                <a16:creationId xmlns:a16="http://schemas.microsoft.com/office/drawing/2014/main" id="{A4F47792-972E-C733-3E52-3EB5499DA628}"/>
              </a:ext>
            </a:extLst>
          </p:cNvPr>
          <p:cNvSpPr>
            <a:spLocks noChangeArrowheads="1"/>
          </p:cNvSpPr>
          <p:nvPr/>
        </p:nvSpPr>
        <p:spPr bwMode="auto">
          <a:xfrm>
            <a:off x="7391400" y="1676401"/>
            <a:ext cx="1628652"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800">
                <a:solidFill>
                  <a:srgbClr val="000000"/>
                </a:solidFill>
              </a:rPr>
              <a:t>RMSE = </a:t>
            </a:r>
            <a:endParaRPr lang="en-US" altLang="en-US" sz="2900">
              <a:solidFill>
                <a:srgbClr val="000000"/>
              </a:solidFill>
              <a:latin typeface="Times New Roman" panose="02020603050405020304" pitchFamily="18" charset="0"/>
            </a:endParaRPr>
          </a:p>
        </p:txBody>
      </p:sp>
      <p:sp>
        <p:nvSpPr>
          <p:cNvPr id="681035" name="Rectangle 75">
            <a:extLst>
              <a:ext uri="{FF2B5EF4-FFF2-40B4-BE49-F238E27FC236}">
                <a16:creationId xmlns:a16="http://schemas.microsoft.com/office/drawing/2014/main" id="{69F10C81-99D7-D1AC-5407-4034715B35A6}"/>
              </a:ext>
            </a:extLst>
          </p:cNvPr>
          <p:cNvSpPr>
            <a:spLocks noChangeArrowheads="1"/>
          </p:cNvSpPr>
          <p:nvPr/>
        </p:nvSpPr>
        <p:spPr bwMode="auto">
          <a:xfrm>
            <a:off x="8839201" y="1676400"/>
            <a:ext cx="1223093"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900">
                <a:solidFill>
                  <a:srgbClr val="000000"/>
                </a:solidFill>
                <a:latin typeface="Times New Roman" panose="02020603050405020304" pitchFamily="18" charset="0"/>
                <a:cs typeface="Times New Roman" panose="02020603050405020304" pitchFamily="18" charset="0"/>
              </a:rPr>
              <a:t>√137.5</a:t>
            </a:r>
          </a:p>
        </p:txBody>
      </p:sp>
      <p:sp>
        <p:nvSpPr>
          <p:cNvPr id="681036" name="Rectangle 76">
            <a:extLst>
              <a:ext uri="{FF2B5EF4-FFF2-40B4-BE49-F238E27FC236}">
                <a16:creationId xmlns:a16="http://schemas.microsoft.com/office/drawing/2014/main" id="{689B837D-0B2F-F924-D7A0-8DEB7C562623}"/>
              </a:ext>
            </a:extLst>
          </p:cNvPr>
          <p:cNvSpPr>
            <a:spLocks noChangeArrowheads="1"/>
          </p:cNvSpPr>
          <p:nvPr/>
        </p:nvSpPr>
        <p:spPr bwMode="auto">
          <a:xfrm>
            <a:off x="8610600" y="2286000"/>
            <a:ext cx="1215718" cy="53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rgbClr val="B82629"/>
              </a:buClr>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rgbClr val="B82629"/>
              </a:buClr>
              <a:buFont typeface="Wingdings" panose="05000000000000000000" pitchFamily="2" charset="2"/>
              <a:buChar char="ü"/>
              <a:defRPr sz="2800">
                <a:solidFill>
                  <a:schemeClr val="tx1"/>
                </a:solidFill>
                <a:latin typeface="Arial" panose="020B0604020202020204" pitchFamily="34" charset="0"/>
              </a:defRPr>
            </a:lvl2pPr>
            <a:lvl3pPr marL="1143000" indent="-228600">
              <a:spcBef>
                <a:spcPct val="20000"/>
              </a:spcBef>
              <a:buClr>
                <a:srgbClr val="B82629"/>
              </a:buClr>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rgbClr val="B82629"/>
              </a:buClr>
              <a:buFont typeface="Wingdings" panose="05000000000000000000" pitchFamily="2" charset="2"/>
              <a:buChar char="ü"/>
              <a:defRPr sz="2000">
                <a:solidFill>
                  <a:schemeClr val="tx1"/>
                </a:solidFill>
                <a:latin typeface="Arial" panose="020B0604020202020204" pitchFamily="34" charset="0"/>
              </a:defRPr>
            </a:lvl4pPr>
            <a:lvl5pPr marL="2057400" indent="-228600">
              <a:spcBef>
                <a:spcPct val="20000"/>
              </a:spcBef>
              <a:buClr>
                <a:srgbClr val="B82629"/>
              </a:buClr>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B82629"/>
              </a:buClr>
              <a:buFont typeface="Wingdings" panose="05000000000000000000" pitchFamily="2" charset="2"/>
              <a:buChar char="n"/>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900">
                <a:solidFill>
                  <a:srgbClr val="000000"/>
                </a:solidFill>
                <a:latin typeface="Times New Roman" panose="02020603050405020304" pitchFamily="18" charset="0"/>
                <a:cs typeface="Times New Roman" panose="02020603050405020304" pitchFamily="18" charset="0"/>
              </a:rPr>
              <a:t>=11.73</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81007"/>
                                        </p:tgtEl>
                                        <p:attrNameLst>
                                          <p:attrName>style.visibility</p:attrName>
                                        </p:attrNameLst>
                                      </p:cBhvr>
                                      <p:to>
                                        <p:strVal val="visible"/>
                                      </p:to>
                                    </p:set>
                                    <p:anim calcmode="lin" valueType="num">
                                      <p:cBhvr additive="base">
                                        <p:cTn id="7" dur="500" fill="hold"/>
                                        <p:tgtEl>
                                          <p:spTgt spid="681007"/>
                                        </p:tgtEl>
                                        <p:attrNameLst>
                                          <p:attrName>ppt_x</p:attrName>
                                        </p:attrNameLst>
                                      </p:cBhvr>
                                      <p:tavLst>
                                        <p:tav tm="0">
                                          <p:val>
                                            <p:strVal val="0-#ppt_w/2"/>
                                          </p:val>
                                        </p:tav>
                                        <p:tav tm="100000">
                                          <p:val>
                                            <p:strVal val="#ppt_x"/>
                                          </p:val>
                                        </p:tav>
                                      </p:tavLst>
                                    </p:anim>
                                    <p:anim calcmode="lin" valueType="num">
                                      <p:cBhvr additive="base">
                                        <p:cTn id="8" dur="500" fill="hold"/>
                                        <p:tgtEl>
                                          <p:spTgt spid="6810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8103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8102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8102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8102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8102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8102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8103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6810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681021"/>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681022"/>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681034"/>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681035"/>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68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007" grpId="0" animBg="1" autoUpdateAnimBg="0"/>
      <p:bldP spid="681021" grpId="0"/>
      <p:bldP spid="681022" grpId="0"/>
      <p:bldP spid="681024" grpId="0"/>
      <p:bldP spid="681025" grpId="0"/>
      <p:bldP spid="681026" grpId="0"/>
      <p:bldP spid="681027" grpId="0"/>
      <p:bldP spid="681028" grpId="0"/>
      <p:bldP spid="681029" grpId="0"/>
      <p:bldP spid="681034" grpId="0"/>
      <p:bldP spid="681035" grpId="0"/>
      <p:bldP spid="68103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31BD7F-CE3A-4689-AC1D-E1D8F2ED268A}"/>
              </a:ext>
            </a:extLst>
          </p:cNvPr>
          <p:cNvSpPr txBox="1"/>
          <p:nvPr/>
        </p:nvSpPr>
        <p:spPr>
          <a:xfrm>
            <a:off x="6411685" y="634946"/>
            <a:ext cx="5127171"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800" b="1" spc="-50" dirty="0">
                <a:solidFill>
                  <a:schemeClr val="tx1">
                    <a:lumMod val="75000"/>
                    <a:lumOff val="25000"/>
                  </a:schemeClr>
                </a:solidFill>
                <a:latin typeface="+mj-lt"/>
                <a:ea typeface="+mj-ea"/>
                <a:cs typeface="+mj-cs"/>
              </a:rPr>
              <a:t>Demand Shaping</a:t>
            </a:r>
            <a:endParaRPr kumimoji="0" lang="en-US" sz="4800" b="1" i="0" u="none" strike="noStrike" cap="none" spc="-50" normalizeH="0" noProof="0" dirty="0">
              <a:ln>
                <a:noFill/>
              </a:ln>
              <a:solidFill>
                <a:schemeClr val="tx1">
                  <a:lumMod val="75000"/>
                  <a:lumOff val="25000"/>
                </a:schemeClr>
              </a:solidFill>
              <a:effectLst/>
              <a:uLnTx/>
              <a:uFillTx/>
              <a:latin typeface="+mj-lt"/>
              <a:ea typeface="+mj-ea"/>
              <a:cs typeface="+mj-cs"/>
            </a:endParaRPr>
          </a:p>
        </p:txBody>
      </p:sp>
      <p:pic>
        <p:nvPicPr>
          <p:cNvPr id="8" name="Picture 7" descr="A picture containing text&#10;&#10;Description automatically generated">
            <a:extLst>
              <a:ext uri="{FF2B5EF4-FFF2-40B4-BE49-F238E27FC236}">
                <a16:creationId xmlns:a16="http://schemas.microsoft.com/office/drawing/2014/main" id="{5B91237F-C1D9-4961-A539-47DE556A6D2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3192" y="1491396"/>
            <a:ext cx="5115347" cy="3555166"/>
          </a:xfrm>
          <a:prstGeom prst="rect">
            <a:avLst/>
          </a:prstGeom>
        </p:spPr>
      </p:pic>
      <p:sp>
        <p:nvSpPr>
          <p:cNvPr id="6" name="TextBox 5">
            <a:extLst>
              <a:ext uri="{FF2B5EF4-FFF2-40B4-BE49-F238E27FC236}">
                <a16:creationId xmlns:a16="http://schemas.microsoft.com/office/drawing/2014/main" id="{06450C18-9ACA-47B8-BD09-6C22A4B87BD0}"/>
              </a:ext>
            </a:extLst>
          </p:cNvPr>
          <p:cNvSpPr txBox="1"/>
          <p:nvPr/>
        </p:nvSpPr>
        <p:spPr>
          <a:xfrm>
            <a:off x="6411684" y="2407436"/>
            <a:ext cx="5127172" cy="3461658"/>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dirty="0">
                <a:solidFill>
                  <a:schemeClr val="tx1">
                    <a:lumMod val="75000"/>
                    <a:lumOff val="25000"/>
                  </a:schemeClr>
                </a:solidFill>
              </a:rPr>
              <a:t>Influencing the demand to match the planned supply using various tactics like price incentive, cost incentive, cost modification and product substitution.</a:t>
            </a:r>
          </a:p>
          <a:p>
            <a:pPr>
              <a:spcAft>
                <a:spcPts val="600"/>
              </a:spcAft>
              <a:buFont typeface="Calibri" panose="020F0502020204030204" pitchFamily="34" charset="0"/>
            </a:pPr>
            <a:endParaRPr lang="en-US" dirty="0">
              <a:solidFill>
                <a:schemeClr val="tx1">
                  <a:lumMod val="75000"/>
                  <a:lumOff val="25000"/>
                </a:schemeClr>
              </a:solidFill>
            </a:endParaRPr>
          </a:p>
          <a:p>
            <a:pPr>
              <a:spcAft>
                <a:spcPts val="600"/>
              </a:spcAft>
              <a:buFont typeface="Calibri" panose="020F0502020204030204" pitchFamily="34" charset="0"/>
            </a:pPr>
            <a:r>
              <a:rPr lang="en-US" dirty="0">
                <a:solidFill>
                  <a:schemeClr val="tx1">
                    <a:lumMod val="75000"/>
                    <a:lumOff val="25000"/>
                  </a:schemeClr>
                </a:solidFill>
              </a:rPr>
              <a:t>The goal is to influence the consumers to choose specific products that the company has ready or in surplus or has planned to introduce.</a:t>
            </a:r>
          </a:p>
        </p:txBody>
      </p:sp>
      <p:sp>
        <p:nvSpPr>
          <p:cNvPr id="2" name="Slide Number Placeholder 1">
            <a:extLst>
              <a:ext uri="{FF2B5EF4-FFF2-40B4-BE49-F238E27FC236}">
                <a16:creationId xmlns:a16="http://schemas.microsoft.com/office/drawing/2014/main" id="{00C03DE7-C40A-4A70-B0E5-18497E7F5BEC}"/>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3A98EE3D-8CD1-4C3F-BD1C-C98C9596463C}" type="slidenum">
              <a:rPr kumimoji="0" lang="en-US" sz="1050"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82</a:t>
            </a:fld>
            <a:endParaRPr kumimoji="0" lang="en-US" sz="1050" b="0" i="0" u="none" strike="noStrike" cap="none" spc="0" normalizeH="0" baseline="0" noProof="0">
              <a:ln>
                <a:noFill/>
              </a:ln>
              <a:effectLst/>
              <a:uLnTx/>
              <a:uFillTx/>
            </a:endParaRPr>
          </a:p>
        </p:txBody>
      </p:sp>
    </p:spTree>
    <p:extLst>
      <p:ext uri="{BB962C8B-B14F-4D97-AF65-F5344CB8AC3E}">
        <p14:creationId xmlns:p14="http://schemas.microsoft.com/office/powerpoint/2010/main" val="42317203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906BDEF-AA5F-48D9-9C8B-048F7EB371C0}"/>
              </a:ext>
            </a:extLst>
          </p:cNvPr>
          <p:cNvSpPr txBox="1"/>
          <p:nvPr/>
        </p:nvSpPr>
        <p:spPr>
          <a:xfrm>
            <a:off x="6411685" y="634946"/>
            <a:ext cx="5127171"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3000" b="1" spc="-50">
                <a:solidFill>
                  <a:schemeClr val="tx1">
                    <a:lumMod val="75000"/>
                    <a:lumOff val="25000"/>
                  </a:schemeClr>
                </a:solidFill>
                <a:latin typeface="+mj-lt"/>
                <a:ea typeface="+mj-ea"/>
                <a:cs typeface="+mj-cs"/>
              </a:rPr>
              <a:t>Demand Shaping mostly used in case of -</a:t>
            </a:r>
            <a:endParaRPr kumimoji="0" lang="en-US" sz="3000" b="1" i="0" u="none" strike="noStrike" cap="none" spc="-50" normalizeH="0" noProof="0">
              <a:ln>
                <a:noFill/>
              </a:ln>
              <a:solidFill>
                <a:schemeClr val="tx1">
                  <a:lumMod val="75000"/>
                  <a:lumOff val="25000"/>
                </a:schemeClr>
              </a:solidFill>
              <a:effectLst/>
              <a:uLnTx/>
              <a:uFillTx/>
              <a:latin typeface="+mj-lt"/>
              <a:ea typeface="+mj-ea"/>
              <a:cs typeface="+mj-cs"/>
            </a:endParaRPr>
          </a:p>
        </p:txBody>
      </p:sp>
      <p:pic>
        <p:nvPicPr>
          <p:cNvPr id="10" name="Picture 9" descr="A picture containing text, businesscard, vector graphics&#10;&#10;Description automatically generated">
            <a:extLst>
              <a:ext uri="{FF2B5EF4-FFF2-40B4-BE49-F238E27FC236}">
                <a16:creationId xmlns:a16="http://schemas.microsoft.com/office/drawing/2014/main" id="{94D6F8D4-0836-4161-85F5-49814937682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3192" y="1580915"/>
            <a:ext cx="5115347" cy="3376129"/>
          </a:xfrm>
          <a:prstGeom prst="rect">
            <a:avLst/>
          </a:prstGeom>
        </p:spPr>
      </p:pic>
      <p:sp>
        <p:nvSpPr>
          <p:cNvPr id="2" name="Slide Number Placeholder 1">
            <a:extLst>
              <a:ext uri="{FF2B5EF4-FFF2-40B4-BE49-F238E27FC236}">
                <a16:creationId xmlns:a16="http://schemas.microsoft.com/office/drawing/2014/main" id="{B8CBDD24-4B5D-4636-AFB4-EF98D43600D2}"/>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83</a:t>
            </a:fld>
            <a:endParaRPr lang="en-US" sz="1050"/>
          </a:p>
        </p:txBody>
      </p:sp>
      <p:graphicFrame>
        <p:nvGraphicFramePr>
          <p:cNvPr id="3" name="Diagram 2">
            <a:extLst>
              <a:ext uri="{FF2B5EF4-FFF2-40B4-BE49-F238E27FC236}">
                <a16:creationId xmlns:a16="http://schemas.microsoft.com/office/drawing/2014/main" id="{2370879E-7998-4553-AEC9-3C60AB17321B}"/>
              </a:ext>
            </a:extLst>
          </p:cNvPr>
          <p:cNvGraphicFramePr/>
          <p:nvPr/>
        </p:nvGraphicFramePr>
        <p:xfrm>
          <a:off x="6411684" y="2407436"/>
          <a:ext cx="5127172" cy="34616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10539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D4320-5A3A-4880-B700-C113AEB0BE61}"/>
              </a:ext>
            </a:extLst>
          </p:cNvPr>
          <p:cNvSpPr txBox="1"/>
          <p:nvPr/>
        </p:nvSpPr>
        <p:spPr>
          <a:xfrm>
            <a:off x="1036320" y="286603"/>
            <a:ext cx="10058400"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lang="en-US" sz="4800" b="1" spc="-50">
                <a:solidFill>
                  <a:schemeClr val="tx1">
                    <a:lumMod val="75000"/>
                    <a:lumOff val="25000"/>
                  </a:schemeClr>
                </a:solidFill>
                <a:latin typeface="+mj-lt"/>
                <a:ea typeface="+mj-ea"/>
                <a:cs typeface="+mj-cs"/>
              </a:rPr>
              <a:t>Tactics Used</a:t>
            </a:r>
            <a:endParaRPr kumimoji="0" lang="en-US" sz="4800" b="1" i="0" u="none" strike="noStrike" cap="none" spc="-50" normalizeH="0" noProof="0">
              <a:ln>
                <a:noFill/>
              </a:ln>
              <a:solidFill>
                <a:schemeClr val="tx1">
                  <a:lumMod val="75000"/>
                  <a:lumOff val="25000"/>
                </a:schemeClr>
              </a:solidFill>
              <a:effectLst/>
              <a:uLnTx/>
              <a:uFillTx/>
              <a:latin typeface="+mj-lt"/>
              <a:ea typeface="+mj-ea"/>
              <a:cs typeface="+mj-cs"/>
            </a:endParaRPr>
          </a:p>
        </p:txBody>
      </p:sp>
      <p:pic>
        <p:nvPicPr>
          <p:cNvPr id="5" name="Picture 4" descr="A picture containing text, blackboard&#10;&#10;Description automatically generated">
            <a:extLst>
              <a:ext uri="{FF2B5EF4-FFF2-40B4-BE49-F238E27FC236}">
                <a16:creationId xmlns:a16="http://schemas.microsoft.com/office/drawing/2014/main" id="{BB07418F-5D5A-4FB5-AE72-B36A8E50F19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074" r="19635" b="1"/>
          <a:stretch/>
        </p:blipFill>
        <p:spPr>
          <a:xfrm>
            <a:off x="1161535" y="2108200"/>
            <a:ext cx="3495807" cy="3600613"/>
          </a:xfrm>
          <a:prstGeom prst="rect">
            <a:avLst/>
          </a:prstGeom>
        </p:spPr>
      </p:pic>
      <p:sp>
        <p:nvSpPr>
          <p:cNvPr id="2" name="Slide Number Placeholder 1">
            <a:extLst>
              <a:ext uri="{FF2B5EF4-FFF2-40B4-BE49-F238E27FC236}">
                <a16:creationId xmlns:a16="http://schemas.microsoft.com/office/drawing/2014/main" id="{994E7A30-7750-4602-B138-84BFDBBBAA06}"/>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84</a:t>
            </a:fld>
            <a:endParaRPr lang="en-US" sz="1050"/>
          </a:p>
        </p:txBody>
      </p:sp>
      <p:graphicFrame>
        <p:nvGraphicFramePr>
          <p:cNvPr id="8" name="Diagram 7">
            <a:extLst>
              <a:ext uri="{FF2B5EF4-FFF2-40B4-BE49-F238E27FC236}">
                <a16:creationId xmlns:a16="http://schemas.microsoft.com/office/drawing/2014/main" id="{C78A0876-8D33-4382-AD0E-B848F8F29754}"/>
              </a:ext>
            </a:extLst>
          </p:cNvPr>
          <p:cNvGraphicFramePr/>
          <p:nvPr/>
        </p:nvGraphicFramePr>
        <p:xfrm>
          <a:off x="5248657" y="2108201"/>
          <a:ext cx="5846063" cy="3760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032602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925571" y="56320"/>
            <a:ext cx="4008754" cy="574040"/>
          </a:xfrm>
          <a:prstGeom prst="rect">
            <a:avLst/>
          </a:prstGeom>
        </p:spPr>
        <p:txBody>
          <a:bodyPr vert="horz" wrap="square" lIns="0" tIns="12700" rIns="0" bIns="0" rtlCol="0">
            <a:spAutoFit/>
          </a:bodyPr>
          <a:lstStyle/>
          <a:p>
            <a:pPr marL="12700">
              <a:lnSpc>
                <a:spcPct val="100000"/>
              </a:lnSpc>
              <a:spcBef>
                <a:spcPts val="100"/>
              </a:spcBef>
            </a:pPr>
            <a:r>
              <a:rPr lang="en-IN" b="0" spc="-5" dirty="0">
                <a:solidFill>
                  <a:srgbClr val="000000"/>
                </a:solidFill>
              </a:rPr>
              <a:t>Demand Shaping</a:t>
            </a:r>
            <a:endParaRPr b="0" spc="-5" dirty="0">
              <a:solidFill>
                <a:srgbClr val="000000"/>
              </a:solidFill>
              <a:latin typeface="Bookman Uralic"/>
              <a:cs typeface="Bookman Uralic"/>
            </a:endParaRPr>
          </a:p>
        </p:txBody>
      </p:sp>
      <p:sp>
        <p:nvSpPr>
          <p:cNvPr id="8" name="object 8"/>
          <p:cNvSpPr txBox="1">
            <a:spLocks noGrp="1"/>
          </p:cNvSpPr>
          <p:nvPr>
            <p:ph type="sldNum" sz="quarter" idx="7"/>
          </p:nvPr>
        </p:nvSpPr>
        <p:spPr>
          <a:xfrm>
            <a:off x="11048365" y="6562436"/>
            <a:ext cx="195579" cy="141604"/>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ct val="100000"/>
              </a:lnSpc>
              <a:spcBef>
                <a:spcPts val="35"/>
              </a:spcBef>
            </a:pPr>
            <a:fld id="{81D60167-4931-47E6-BA6A-407CBD079E47}" type="slidenum">
              <a:rPr lang="en-IN" spc="50" smtClean="0"/>
              <a:pPr marL="38100">
                <a:lnSpc>
                  <a:spcPct val="100000"/>
                </a:lnSpc>
                <a:spcBef>
                  <a:spcPts val="35"/>
                </a:spcBef>
              </a:pPr>
              <a:t>85</a:t>
            </a:fld>
            <a:endParaRPr spc="50" dirty="0"/>
          </a:p>
        </p:txBody>
      </p:sp>
      <p:pic>
        <p:nvPicPr>
          <p:cNvPr id="10" name="Picture 9" descr="A close-up of a signpost&#10;&#10;Description automatically generated with medium confidence">
            <a:extLst>
              <a:ext uri="{FF2B5EF4-FFF2-40B4-BE49-F238E27FC236}">
                <a16:creationId xmlns:a16="http://schemas.microsoft.com/office/drawing/2014/main" id="{7234FEC5-9CEA-4A1A-863D-B7C05E6E22BE}"/>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6165" y="3634563"/>
            <a:ext cx="3734694" cy="2487364"/>
          </a:xfrm>
          <a:prstGeom prst="rect">
            <a:avLst/>
          </a:prstGeom>
        </p:spPr>
      </p:pic>
      <p:sp>
        <p:nvSpPr>
          <p:cNvPr id="15" name="TextBox 14">
            <a:extLst>
              <a:ext uri="{FF2B5EF4-FFF2-40B4-BE49-F238E27FC236}">
                <a16:creationId xmlns:a16="http://schemas.microsoft.com/office/drawing/2014/main" id="{F6A42E45-FFEC-44C2-B704-384E3CDD11A0}"/>
              </a:ext>
            </a:extLst>
          </p:cNvPr>
          <p:cNvSpPr txBox="1"/>
          <p:nvPr/>
        </p:nvSpPr>
        <p:spPr>
          <a:xfrm>
            <a:off x="213313" y="1219200"/>
            <a:ext cx="8397287"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It </a:t>
            </a:r>
            <a:r>
              <a:rPr lang="en-US" b="1" i="0" dirty="0">
                <a:effectLst/>
                <a:latin typeface="Arial" panose="020B0604020202020204" pitchFamily="34" charset="0"/>
                <a:cs typeface="Arial" panose="020B0604020202020204" pitchFamily="34" charset="0"/>
              </a:rPr>
              <a:t>is an operational supply chain management strategy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a:t>
            </a:r>
            <a:r>
              <a:rPr lang="en-US" b="1" i="0" dirty="0">
                <a:effectLst/>
                <a:latin typeface="Arial" panose="020B0604020202020204" pitchFamily="34" charset="0"/>
                <a:cs typeface="Arial" panose="020B0604020202020204" pitchFamily="34" charset="0"/>
              </a:rPr>
              <a:t>ethods such as price incentives, Discounts and product substitutions are used to entice customers to purchase their products</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Demand shaping is carried out in order to bridge the gap between demand and supply</a:t>
            </a:r>
            <a:endParaRPr lang="en-IN" b="1" dirty="0">
              <a:latin typeface="Arial" panose="020B0604020202020204" pitchFamily="34" charset="0"/>
              <a:cs typeface="Arial" panose="020B0604020202020204" pitchFamily="34" charset="0"/>
            </a:endParaRPr>
          </a:p>
        </p:txBody>
      </p:sp>
      <p:pic>
        <p:nvPicPr>
          <p:cNvPr id="17" name="Picture 16" descr="A picture containing logo&#10;&#10;Description automatically generated">
            <a:extLst>
              <a:ext uri="{FF2B5EF4-FFF2-40B4-BE49-F238E27FC236}">
                <a16:creationId xmlns:a16="http://schemas.microsoft.com/office/drawing/2014/main" id="{A2BE948D-8BCC-47B3-B734-60548A54522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291751" y="1447800"/>
            <a:ext cx="2482008" cy="1552575"/>
          </a:xfrm>
          <a:prstGeom prst="rect">
            <a:avLst/>
          </a:prstGeom>
        </p:spPr>
      </p:pic>
      <p:pic>
        <p:nvPicPr>
          <p:cNvPr id="20" name="Picture 19" descr="Calendar&#10;&#10;Description automatically generated">
            <a:extLst>
              <a:ext uri="{FF2B5EF4-FFF2-40B4-BE49-F238E27FC236}">
                <a16:creationId xmlns:a16="http://schemas.microsoft.com/office/drawing/2014/main" id="{76E695D4-A5BD-4DE0-9FF6-8447C17D79F8}"/>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986951" y="4066143"/>
            <a:ext cx="2786808" cy="1857872"/>
          </a:xfrm>
          <a:prstGeom prst="rect">
            <a:avLst/>
          </a:prstGeom>
        </p:spPr>
      </p:pic>
      <p:pic>
        <p:nvPicPr>
          <p:cNvPr id="23" name="Picture 22" descr="Text&#10;&#10;Description automatically generated with medium confidence">
            <a:extLst>
              <a:ext uri="{FF2B5EF4-FFF2-40B4-BE49-F238E27FC236}">
                <a16:creationId xmlns:a16="http://schemas.microsoft.com/office/drawing/2014/main" id="{8E445EC6-40A0-4594-88F4-B3FC9BFEE6A6}"/>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4876800" y="3657600"/>
            <a:ext cx="3057525" cy="229654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F386-30DF-49CF-9619-C732D8F44634}"/>
              </a:ext>
            </a:extLst>
          </p:cNvPr>
          <p:cNvSpPr>
            <a:spLocks noGrp="1"/>
          </p:cNvSpPr>
          <p:nvPr>
            <p:ph type="title"/>
          </p:nvPr>
        </p:nvSpPr>
        <p:spPr/>
        <p:txBody>
          <a:bodyPr/>
          <a:lstStyle/>
          <a:p>
            <a:r>
              <a:rPr lang="en-US" dirty="0"/>
              <a:t>Examples of Demand Shaping</a:t>
            </a:r>
            <a:endParaRPr lang="en-IN" dirty="0"/>
          </a:p>
        </p:txBody>
      </p:sp>
      <p:pic>
        <p:nvPicPr>
          <p:cNvPr id="1026" name="Picture 2">
            <a:extLst>
              <a:ext uri="{FF2B5EF4-FFF2-40B4-BE49-F238E27FC236}">
                <a16:creationId xmlns:a16="http://schemas.microsoft.com/office/drawing/2014/main" id="{1F6FB066-D444-45A4-8882-C5610BBA007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527" r="31660"/>
          <a:stretch/>
        </p:blipFill>
        <p:spPr bwMode="auto">
          <a:xfrm>
            <a:off x="799947" y="2210247"/>
            <a:ext cx="1150753" cy="321325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028" name="Picture 4">
            <a:extLst>
              <a:ext uri="{FF2B5EF4-FFF2-40B4-BE49-F238E27FC236}">
                <a16:creationId xmlns:a16="http://schemas.microsoft.com/office/drawing/2014/main" id="{A23B821A-648B-44D5-86A6-77789C0986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561" b="21754"/>
          <a:stretch/>
        </p:blipFill>
        <p:spPr bwMode="auto">
          <a:xfrm>
            <a:off x="3061384" y="2232497"/>
            <a:ext cx="4781037" cy="272990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B29F0402-75EC-455D-9BBA-503A479E205E}"/>
              </a:ext>
            </a:extLst>
          </p:cNvPr>
          <p:cNvSpPr txBox="1"/>
          <p:nvPr/>
        </p:nvSpPr>
        <p:spPr>
          <a:xfrm>
            <a:off x="590426" y="5596493"/>
            <a:ext cx="2253688" cy="954107"/>
          </a:xfrm>
          <a:prstGeom prst="rect">
            <a:avLst/>
          </a:prstGeom>
          <a:noFill/>
        </p:spPr>
        <p:txBody>
          <a:bodyPr wrap="square" rtlCol="0">
            <a:spAutoFit/>
          </a:bodyPr>
          <a:lstStyle/>
          <a:p>
            <a:pPr algn="just"/>
            <a:r>
              <a:rPr lang="en-US" sz="1400" dirty="0"/>
              <a:t>Colgate toothpaste is given free with their toothbrush to shape the demand of toothpaste.</a:t>
            </a:r>
            <a:endParaRPr lang="en-IN" sz="1400" dirty="0"/>
          </a:p>
        </p:txBody>
      </p:sp>
      <p:sp>
        <p:nvSpPr>
          <p:cNvPr id="5" name="TextBox 4">
            <a:extLst>
              <a:ext uri="{FF2B5EF4-FFF2-40B4-BE49-F238E27FC236}">
                <a16:creationId xmlns:a16="http://schemas.microsoft.com/office/drawing/2014/main" id="{C2C9D287-4B37-4A8F-B030-E87402923613}"/>
              </a:ext>
            </a:extLst>
          </p:cNvPr>
          <p:cNvSpPr txBox="1"/>
          <p:nvPr/>
        </p:nvSpPr>
        <p:spPr>
          <a:xfrm>
            <a:off x="3356401" y="5125794"/>
            <a:ext cx="4191001" cy="923330"/>
          </a:xfrm>
          <a:prstGeom prst="rect">
            <a:avLst/>
          </a:prstGeom>
          <a:noFill/>
        </p:spPr>
        <p:txBody>
          <a:bodyPr wrap="square" rtlCol="0">
            <a:spAutoFit/>
          </a:bodyPr>
          <a:lstStyle/>
          <a:p>
            <a:pPr algn="just"/>
            <a:r>
              <a:rPr lang="en-US" dirty="0"/>
              <a:t>Dettol masks are given free with Dabur Chyawanprash to shape the demand of Dettol Masks</a:t>
            </a:r>
            <a:endParaRPr lang="en-IN" dirty="0"/>
          </a:p>
        </p:txBody>
      </p:sp>
      <p:pic>
        <p:nvPicPr>
          <p:cNvPr id="1030" name="Picture 6">
            <a:extLst>
              <a:ext uri="{FF2B5EF4-FFF2-40B4-BE49-F238E27FC236}">
                <a16:creationId xmlns:a16="http://schemas.microsoft.com/office/drawing/2014/main" id="{6D4C8595-1309-4276-8280-8EA0C1E036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000"/>
          <a:stretch/>
        </p:blipFill>
        <p:spPr bwMode="auto">
          <a:xfrm>
            <a:off x="8506202" y="2161478"/>
            <a:ext cx="2166706" cy="33107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8E1E7252-2098-4957-8B9F-AE93FD8E17EB}"/>
              </a:ext>
            </a:extLst>
          </p:cNvPr>
          <p:cNvSpPr txBox="1"/>
          <p:nvPr/>
        </p:nvSpPr>
        <p:spPr>
          <a:xfrm>
            <a:off x="8377881" y="5587459"/>
            <a:ext cx="2660822" cy="1077218"/>
          </a:xfrm>
          <a:prstGeom prst="rect">
            <a:avLst/>
          </a:prstGeom>
          <a:noFill/>
        </p:spPr>
        <p:txBody>
          <a:bodyPr wrap="square" rtlCol="0">
            <a:spAutoFit/>
          </a:bodyPr>
          <a:lstStyle/>
          <a:p>
            <a:pPr algn="just"/>
            <a:r>
              <a:rPr lang="en-US" sz="1600" dirty="0"/>
              <a:t>Subway uses ‘Sub of the Day’ offer to shape its demand of different types of veg and non-veg subs.</a:t>
            </a:r>
            <a:endParaRPr lang="en-IN" sz="1600" dirty="0"/>
          </a:p>
        </p:txBody>
      </p:sp>
    </p:spTree>
    <p:extLst>
      <p:ext uri="{BB962C8B-B14F-4D97-AF65-F5344CB8AC3E}">
        <p14:creationId xmlns:p14="http://schemas.microsoft.com/office/powerpoint/2010/main" val="4069003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4014" y="142186"/>
            <a:ext cx="4431386" cy="566822"/>
          </a:xfrm>
          <a:prstGeom prst="rect">
            <a:avLst/>
          </a:prstGeom>
        </p:spPr>
        <p:txBody>
          <a:bodyPr vert="horz" wrap="square" lIns="0" tIns="12700" rIns="0" bIns="0" rtlCol="0">
            <a:spAutoFit/>
          </a:bodyPr>
          <a:lstStyle/>
          <a:p>
            <a:pPr marL="12700">
              <a:lnSpc>
                <a:spcPct val="100000"/>
              </a:lnSpc>
              <a:spcBef>
                <a:spcPts val="100"/>
              </a:spcBef>
            </a:pPr>
            <a:r>
              <a:rPr lang="en-IN" spc="-50" dirty="0"/>
              <a:t>Dynamic Pricing</a:t>
            </a:r>
            <a:endParaRPr spc="-50" dirty="0"/>
          </a:p>
        </p:txBody>
      </p:sp>
      <p:sp>
        <p:nvSpPr>
          <p:cNvPr id="5" name="object 5"/>
          <p:cNvSpPr txBox="1"/>
          <p:nvPr/>
        </p:nvSpPr>
        <p:spPr>
          <a:xfrm>
            <a:off x="1831085" y="2173604"/>
            <a:ext cx="7693915" cy="566822"/>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Lst>
            </a:pPr>
            <a:r>
              <a:rPr lang="en-US" b="1" dirty="0">
                <a:solidFill>
                  <a:srgbClr val="202124"/>
                </a:solidFill>
                <a:latin typeface="arial" panose="020B0604020202020204" pitchFamily="34" charset="0"/>
              </a:rPr>
              <a:t>B</a:t>
            </a:r>
            <a:r>
              <a:rPr lang="en-US" b="1" i="0" dirty="0">
                <a:solidFill>
                  <a:srgbClr val="202124"/>
                </a:solidFill>
                <a:effectLst/>
                <a:latin typeface="arial" panose="020B0604020202020204" pitchFamily="34" charset="0"/>
              </a:rPr>
              <a:t>usinesses set flexible prices for products or services based on current market demands</a:t>
            </a:r>
            <a:endParaRPr sz="1800" dirty="0">
              <a:latin typeface="Trebuchet MS"/>
              <a:cs typeface="Trebuchet MS"/>
            </a:endParaRPr>
          </a:p>
        </p:txBody>
      </p:sp>
      <p:sp>
        <p:nvSpPr>
          <p:cNvPr id="6" name="object 6"/>
          <p:cNvSpPr txBox="1"/>
          <p:nvPr/>
        </p:nvSpPr>
        <p:spPr>
          <a:xfrm>
            <a:off x="1831085" y="3271265"/>
            <a:ext cx="8303515" cy="566822"/>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Lst>
            </a:pPr>
            <a:r>
              <a:rPr lang="en-US" b="1" dirty="0">
                <a:solidFill>
                  <a:srgbClr val="202124"/>
                </a:solidFill>
                <a:latin typeface="arial" panose="020B0604020202020204" pitchFamily="34" charset="0"/>
              </a:rPr>
              <a:t>Commonly practiced in industries such as hospitality, tourism, entertainment , public transport. </a:t>
            </a:r>
            <a:endParaRPr b="1" dirty="0">
              <a:solidFill>
                <a:srgbClr val="202124"/>
              </a:solidFill>
              <a:latin typeface="arial" panose="020B0604020202020204" pitchFamily="34" charset="0"/>
            </a:endParaRPr>
          </a:p>
        </p:txBody>
      </p:sp>
      <p:sp>
        <p:nvSpPr>
          <p:cNvPr id="7" name="object 7"/>
          <p:cNvSpPr txBox="1"/>
          <p:nvPr/>
        </p:nvSpPr>
        <p:spPr>
          <a:xfrm>
            <a:off x="1831085" y="4368545"/>
            <a:ext cx="7236715" cy="566822"/>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Lst>
            </a:pPr>
            <a:r>
              <a:rPr lang="en-IN" b="1" dirty="0">
                <a:solidFill>
                  <a:srgbClr val="202124"/>
                </a:solidFill>
                <a:latin typeface="arial" panose="020B0604020202020204" pitchFamily="34" charset="0"/>
              </a:rPr>
              <a:t>Hotels industry alters its prices depending on the time of year, size of room.</a:t>
            </a:r>
            <a:endParaRPr b="1" dirty="0">
              <a:solidFill>
                <a:srgbClr val="202124"/>
              </a:solidFill>
              <a:latin typeface="arial" panose="020B0604020202020204" pitchFamily="34" charset="0"/>
            </a:endParaRPr>
          </a:p>
        </p:txBody>
      </p:sp>
      <p:sp>
        <p:nvSpPr>
          <p:cNvPr id="8" name="object 8"/>
          <p:cNvSpPr txBox="1"/>
          <p:nvPr/>
        </p:nvSpPr>
        <p:spPr>
          <a:xfrm>
            <a:off x="1831085" y="5466079"/>
            <a:ext cx="7008115" cy="289823"/>
          </a:xfrm>
          <a:prstGeom prst="rect">
            <a:avLst/>
          </a:prstGeom>
        </p:spPr>
        <p:txBody>
          <a:bodyPr vert="horz" wrap="square" lIns="0" tIns="12700" rIns="0" bIns="0" rtlCol="0">
            <a:spAutoFit/>
          </a:bodyPr>
          <a:lstStyle/>
          <a:p>
            <a:pPr marL="299085" indent="-287020">
              <a:lnSpc>
                <a:spcPct val="100000"/>
              </a:lnSpc>
              <a:spcBef>
                <a:spcPts val="100"/>
              </a:spcBef>
              <a:buFont typeface="Arial"/>
              <a:buChar char="•"/>
              <a:tabLst>
                <a:tab pos="299085" algn="l"/>
                <a:tab pos="299720" algn="l"/>
              </a:tabLst>
            </a:pPr>
            <a:r>
              <a:rPr lang="en-IN" b="1" dirty="0">
                <a:solidFill>
                  <a:srgbClr val="202124"/>
                </a:solidFill>
                <a:latin typeface="arial" panose="020B0604020202020204" pitchFamily="34" charset="0"/>
              </a:rPr>
              <a:t>Airlines and taxi services map real time demand to prices.</a:t>
            </a:r>
            <a:endParaRPr b="1" dirty="0">
              <a:solidFill>
                <a:srgbClr val="202124"/>
              </a:solidFill>
              <a:latin typeface="arial" panose="020B0604020202020204" pitchFamily="34" charset="0"/>
            </a:endParaRPr>
          </a:p>
        </p:txBody>
      </p:sp>
      <p:sp>
        <p:nvSpPr>
          <p:cNvPr id="14" name="object 14"/>
          <p:cNvSpPr txBox="1">
            <a:spLocks noGrp="1"/>
          </p:cNvSpPr>
          <p:nvPr>
            <p:ph type="sldNum" sz="quarter" idx="7"/>
          </p:nvPr>
        </p:nvSpPr>
        <p:spPr>
          <a:xfrm>
            <a:off x="11048365" y="6562436"/>
            <a:ext cx="195579" cy="141604"/>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ct val="100000"/>
              </a:lnSpc>
              <a:spcBef>
                <a:spcPts val="35"/>
              </a:spcBef>
            </a:pPr>
            <a:fld id="{81D60167-4931-47E6-BA6A-407CBD079E47}" type="slidenum">
              <a:rPr lang="en-IN" spc="50" smtClean="0"/>
              <a:pPr marL="38100">
                <a:lnSpc>
                  <a:spcPct val="100000"/>
                </a:lnSpc>
                <a:spcBef>
                  <a:spcPts val="35"/>
                </a:spcBef>
              </a:pPr>
              <a:t>87</a:t>
            </a:fld>
            <a:endParaRPr spc="50" dirty="0"/>
          </a:p>
        </p:txBody>
      </p:sp>
      <p:pic>
        <p:nvPicPr>
          <p:cNvPr id="16" name="Picture 15" descr="A large airplane flying in the sky&#10;&#10;Description automatically generated with medium confidence">
            <a:extLst>
              <a:ext uri="{FF2B5EF4-FFF2-40B4-BE49-F238E27FC236}">
                <a16:creationId xmlns:a16="http://schemas.microsoft.com/office/drawing/2014/main" id="{354AEDCF-24B1-4E51-93F2-EB772D28B6A3}"/>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28429" y="71606"/>
            <a:ext cx="2743200" cy="1714500"/>
          </a:xfrm>
          <a:prstGeom prst="rect">
            <a:avLst/>
          </a:prstGeom>
        </p:spPr>
      </p:pic>
      <p:pic>
        <p:nvPicPr>
          <p:cNvPr id="19" name="Picture 18" descr="Logo&#10;&#10;Description automatically generated with medium confidence">
            <a:extLst>
              <a:ext uri="{FF2B5EF4-FFF2-40B4-BE49-F238E27FC236}">
                <a16:creationId xmlns:a16="http://schemas.microsoft.com/office/drawing/2014/main" id="{F33A57E3-A326-494C-98E8-EE67741497D7}"/>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422433" y="1648993"/>
            <a:ext cx="2493025" cy="1659277"/>
          </a:xfrm>
          <a:prstGeom prst="rect">
            <a:avLst/>
          </a:prstGeom>
        </p:spPr>
      </p:pic>
      <p:sp>
        <p:nvSpPr>
          <p:cNvPr id="20" name="TextBox 19">
            <a:extLst>
              <a:ext uri="{FF2B5EF4-FFF2-40B4-BE49-F238E27FC236}">
                <a16:creationId xmlns:a16="http://schemas.microsoft.com/office/drawing/2014/main" id="{3981050C-2032-4EF8-B7FC-1A8F1F398264}"/>
              </a:ext>
            </a:extLst>
          </p:cNvPr>
          <p:cNvSpPr txBox="1"/>
          <p:nvPr/>
        </p:nvSpPr>
        <p:spPr>
          <a:xfrm>
            <a:off x="944006" y="6858000"/>
            <a:ext cx="10303987" cy="230832"/>
          </a:xfrm>
          <a:prstGeom prst="rect">
            <a:avLst/>
          </a:prstGeom>
          <a:noFill/>
        </p:spPr>
        <p:txBody>
          <a:bodyPr wrap="square" rtlCol="0">
            <a:spAutoFit/>
          </a:bodyPr>
          <a:lstStyle/>
          <a:p>
            <a:r>
              <a:rPr lang="en-IN" sz="900">
                <a:hlinkClick r:id="rId6" tooltip="https://www.diggita.it/story.php?title=Uber_pro_e_contro_della_start-up_avversata_dai_tassisti"/>
              </a:rPr>
              <a:t>This Photo</a:t>
            </a:r>
            <a:r>
              <a:rPr lang="en-IN" sz="900"/>
              <a:t> by Unknown Author is licensed under </a:t>
            </a:r>
            <a:r>
              <a:rPr lang="en-IN" sz="900">
                <a:hlinkClick r:id="rId7" tooltip="https://creativecommons.org/licenses/by/3.0/"/>
              </a:rPr>
              <a:t>CC BY</a:t>
            </a:r>
            <a:endParaRPr lang="en-IN" sz="900"/>
          </a:p>
        </p:txBody>
      </p:sp>
      <p:pic>
        <p:nvPicPr>
          <p:cNvPr id="22" name="Picture 21" descr="A picture containing indoor, floor, wall, window&#10;&#10;Description automatically generated">
            <a:extLst>
              <a:ext uri="{FF2B5EF4-FFF2-40B4-BE49-F238E27FC236}">
                <a16:creationId xmlns:a16="http://schemas.microsoft.com/office/drawing/2014/main" id="{4BDA4131-23A8-4D62-A1EE-4C38ACB48507}"/>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9161155" y="3634359"/>
            <a:ext cx="2743200" cy="20574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6600" y="114251"/>
            <a:ext cx="6629400" cy="566822"/>
          </a:xfrm>
          <a:prstGeom prst="rect">
            <a:avLst/>
          </a:prstGeom>
        </p:spPr>
        <p:txBody>
          <a:bodyPr vert="horz" wrap="square" lIns="0" tIns="12700" rIns="0" bIns="0" rtlCol="0">
            <a:spAutoFit/>
          </a:bodyPr>
          <a:lstStyle/>
          <a:p>
            <a:pPr marL="12700">
              <a:lnSpc>
                <a:spcPct val="100000"/>
              </a:lnSpc>
              <a:spcBef>
                <a:spcPts val="100"/>
              </a:spcBef>
            </a:pPr>
            <a:r>
              <a:rPr lang="en-IN" spc="-50" dirty="0"/>
              <a:t> Delivery Demand Shaping</a:t>
            </a:r>
            <a:endParaRPr spc="-50" dirty="0"/>
          </a:p>
        </p:txBody>
      </p:sp>
      <p:sp>
        <p:nvSpPr>
          <p:cNvPr id="14" name="object 14"/>
          <p:cNvSpPr txBox="1">
            <a:spLocks noGrp="1"/>
          </p:cNvSpPr>
          <p:nvPr>
            <p:ph type="sldNum" sz="quarter" idx="7"/>
          </p:nvPr>
        </p:nvSpPr>
        <p:spPr>
          <a:xfrm>
            <a:off x="11048365" y="6562436"/>
            <a:ext cx="195579" cy="141604"/>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ct val="100000"/>
              </a:lnSpc>
              <a:spcBef>
                <a:spcPts val="35"/>
              </a:spcBef>
            </a:pPr>
            <a:fld id="{81D60167-4931-47E6-BA6A-407CBD079E47}" type="slidenum">
              <a:rPr lang="en-IN" spc="50" smtClean="0"/>
              <a:pPr marL="38100">
                <a:lnSpc>
                  <a:spcPct val="100000"/>
                </a:lnSpc>
                <a:spcBef>
                  <a:spcPts val="35"/>
                </a:spcBef>
              </a:pPr>
              <a:t>88</a:t>
            </a:fld>
            <a:endParaRPr spc="50" dirty="0"/>
          </a:p>
        </p:txBody>
      </p:sp>
      <p:sp>
        <p:nvSpPr>
          <p:cNvPr id="4" name="TextBox 3">
            <a:extLst>
              <a:ext uri="{FF2B5EF4-FFF2-40B4-BE49-F238E27FC236}">
                <a16:creationId xmlns:a16="http://schemas.microsoft.com/office/drawing/2014/main" id="{D0C2BB3A-52B7-48B6-8E75-6E744754F214}"/>
              </a:ext>
            </a:extLst>
          </p:cNvPr>
          <p:cNvSpPr txBox="1"/>
          <p:nvPr/>
        </p:nvSpPr>
        <p:spPr>
          <a:xfrm>
            <a:off x="685800" y="1295400"/>
            <a:ext cx="10134600"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a:solidFill>
                  <a:srgbClr val="202124"/>
                </a:solidFill>
                <a:latin typeface="arial" panose="020B0604020202020204" pitchFamily="34" charset="0"/>
              </a:rPr>
              <a:t>Typically works well with online grocery shopping.</a:t>
            </a:r>
          </a:p>
          <a:p>
            <a:endParaRPr lang="en-IN" b="1" dirty="0">
              <a:solidFill>
                <a:srgbClr val="202124"/>
              </a:solidFill>
              <a:latin typeface="arial" panose="020B0604020202020204" pitchFamily="34" charset="0"/>
            </a:endParaRPr>
          </a:p>
          <a:p>
            <a:pPr marL="285750" indent="-285750">
              <a:buFont typeface="Arial" panose="020B0604020202020204" pitchFamily="34" charset="0"/>
              <a:buChar char="•"/>
            </a:pPr>
            <a:r>
              <a:rPr lang="en-IN" b="1" dirty="0">
                <a:solidFill>
                  <a:srgbClr val="202124"/>
                </a:solidFill>
                <a:latin typeface="arial" panose="020B0604020202020204" pitchFamily="34" charset="0"/>
              </a:rPr>
              <a:t>If few customers in an area have selected a particular time slot for grocery delivery and if a new order comes, grocery company will incentivize the new buyer to choose the same time of delivery.</a:t>
            </a:r>
          </a:p>
          <a:p>
            <a:endParaRPr lang="en-IN" b="1" dirty="0">
              <a:solidFill>
                <a:srgbClr val="202124"/>
              </a:solidFill>
              <a:latin typeface="arial" panose="020B0604020202020204" pitchFamily="34" charset="0"/>
            </a:endParaRPr>
          </a:p>
          <a:p>
            <a:pPr marL="285750" indent="-285750">
              <a:buFont typeface="Arial" panose="020B0604020202020204" pitchFamily="34" charset="0"/>
              <a:buChar char="•"/>
            </a:pPr>
            <a:r>
              <a:rPr lang="en-IN" b="1" dirty="0">
                <a:solidFill>
                  <a:srgbClr val="202124"/>
                </a:solidFill>
                <a:latin typeface="arial" panose="020B0604020202020204" pitchFamily="34" charset="0"/>
              </a:rPr>
              <a:t>This is the most effective way for the grocery company from an operation standpoint.</a:t>
            </a:r>
          </a:p>
        </p:txBody>
      </p:sp>
      <p:pic>
        <p:nvPicPr>
          <p:cNvPr id="6" name="Picture 5" descr="A picture containing text, tree, outdoor&#10;&#10;Description automatically generated">
            <a:extLst>
              <a:ext uri="{FF2B5EF4-FFF2-40B4-BE49-F238E27FC236}">
                <a16:creationId xmlns:a16="http://schemas.microsoft.com/office/drawing/2014/main" id="{DF8D17B5-8567-4960-BB0E-E90FEC21DB7E}"/>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80484" y="3489413"/>
            <a:ext cx="3329677" cy="2514600"/>
          </a:xfrm>
          <a:prstGeom prst="rect">
            <a:avLst/>
          </a:prstGeom>
        </p:spPr>
      </p:pic>
      <p:graphicFrame>
        <p:nvGraphicFramePr>
          <p:cNvPr id="8" name="Table 8">
            <a:extLst>
              <a:ext uri="{FF2B5EF4-FFF2-40B4-BE49-F238E27FC236}">
                <a16:creationId xmlns:a16="http://schemas.microsoft.com/office/drawing/2014/main" id="{095AC1EC-F322-403F-AA11-1983969F7B51}"/>
              </a:ext>
            </a:extLst>
          </p:cNvPr>
          <p:cNvGraphicFramePr>
            <a:graphicFrameLocks noGrp="1"/>
          </p:cNvGraphicFramePr>
          <p:nvPr/>
        </p:nvGraphicFramePr>
        <p:xfrm>
          <a:off x="4824818" y="3531276"/>
          <a:ext cx="6654800" cy="2225040"/>
        </p:xfrm>
        <a:graphic>
          <a:graphicData uri="http://schemas.openxmlformats.org/drawingml/2006/table">
            <a:tbl>
              <a:tblPr firstRow="1" bandRow="1">
                <a:tableStyleId>{21E4AEA4-8DFA-4A89-87EB-49C32662AFE0}</a:tableStyleId>
              </a:tblPr>
              <a:tblGrid>
                <a:gridCol w="3327400">
                  <a:extLst>
                    <a:ext uri="{9D8B030D-6E8A-4147-A177-3AD203B41FA5}">
                      <a16:colId xmlns:a16="http://schemas.microsoft.com/office/drawing/2014/main" val="2277300919"/>
                    </a:ext>
                  </a:extLst>
                </a:gridCol>
                <a:gridCol w="3327400">
                  <a:extLst>
                    <a:ext uri="{9D8B030D-6E8A-4147-A177-3AD203B41FA5}">
                      <a16:colId xmlns:a16="http://schemas.microsoft.com/office/drawing/2014/main" val="1748105456"/>
                    </a:ext>
                  </a:extLst>
                </a:gridCol>
              </a:tblGrid>
              <a:tr h="370840">
                <a:tc>
                  <a:txBody>
                    <a:bodyPr/>
                    <a:lstStyle/>
                    <a:p>
                      <a:r>
                        <a:rPr lang="en-IN" dirty="0"/>
                        <a:t>Delivery Window</a:t>
                      </a:r>
                    </a:p>
                  </a:txBody>
                  <a:tcPr/>
                </a:tc>
                <a:tc>
                  <a:txBody>
                    <a:bodyPr/>
                    <a:lstStyle/>
                    <a:p>
                      <a:r>
                        <a:rPr lang="en-IN" dirty="0"/>
                        <a:t> Delivery fee</a:t>
                      </a:r>
                    </a:p>
                  </a:txBody>
                  <a:tcPr/>
                </a:tc>
                <a:extLst>
                  <a:ext uri="{0D108BD9-81ED-4DB2-BD59-A6C34878D82A}">
                    <a16:rowId xmlns:a16="http://schemas.microsoft.com/office/drawing/2014/main" val="2358482747"/>
                  </a:ext>
                </a:extLst>
              </a:tr>
              <a:tr h="370840">
                <a:tc>
                  <a:txBody>
                    <a:bodyPr/>
                    <a:lstStyle/>
                    <a:p>
                      <a:r>
                        <a:rPr lang="en-IN" dirty="0"/>
                        <a:t>9:00 am – 11:00 am</a:t>
                      </a:r>
                    </a:p>
                  </a:txBody>
                  <a:tcPr/>
                </a:tc>
                <a:tc>
                  <a:txBody>
                    <a:bodyPr/>
                    <a:lstStyle/>
                    <a:p>
                      <a:r>
                        <a:rPr lang="en-IN" dirty="0"/>
                        <a:t>Free</a:t>
                      </a:r>
                    </a:p>
                  </a:txBody>
                  <a:tcPr/>
                </a:tc>
                <a:extLst>
                  <a:ext uri="{0D108BD9-81ED-4DB2-BD59-A6C34878D82A}">
                    <a16:rowId xmlns:a16="http://schemas.microsoft.com/office/drawing/2014/main" val="3086002052"/>
                  </a:ext>
                </a:extLst>
              </a:tr>
              <a:tr h="370840">
                <a:tc>
                  <a:txBody>
                    <a:bodyPr/>
                    <a:lstStyle/>
                    <a:p>
                      <a:r>
                        <a:rPr lang="en-IN" dirty="0"/>
                        <a:t>11:00 am – 1:00 pm</a:t>
                      </a:r>
                    </a:p>
                  </a:txBody>
                  <a:tcPr/>
                </a:tc>
                <a:tc>
                  <a:txBody>
                    <a:bodyPr/>
                    <a:lstStyle/>
                    <a:p>
                      <a:r>
                        <a:rPr lang="en-IN" dirty="0"/>
                        <a:t>Rs  100</a:t>
                      </a:r>
                    </a:p>
                  </a:txBody>
                  <a:tcPr/>
                </a:tc>
                <a:extLst>
                  <a:ext uri="{0D108BD9-81ED-4DB2-BD59-A6C34878D82A}">
                    <a16:rowId xmlns:a16="http://schemas.microsoft.com/office/drawing/2014/main" val="1193667818"/>
                  </a:ext>
                </a:extLst>
              </a:tr>
              <a:tr h="370840">
                <a:tc>
                  <a:txBody>
                    <a:bodyPr/>
                    <a:lstStyle/>
                    <a:p>
                      <a:r>
                        <a:rPr lang="en-IN" dirty="0"/>
                        <a:t>1:00 pm – 3:00 pm</a:t>
                      </a:r>
                    </a:p>
                  </a:txBody>
                  <a:tcPr/>
                </a:tc>
                <a:tc>
                  <a:txBody>
                    <a:bodyPr/>
                    <a:lstStyle/>
                    <a:p>
                      <a:r>
                        <a:rPr lang="en-IN" dirty="0"/>
                        <a:t>Rs   50</a:t>
                      </a:r>
                    </a:p>
                  </a:txBody>
                  <a:tcPr/>
                </a:tc>
                <a:extLst>
                  <a:ext uri="{0D108BD9-81ED-4DB2-BD59-A6C34878D82A}">
                    <a16:rowId xmlns:a16="http://schemas.microsoft.com/office/drawing/2014/main" val="1926986342"/>
                  </a:ext>
                </a:extLst>
              </a:tr>
              <a:tr h="370840">
                <a:tc>
                  <a:txBody>
                    <a:bodyPr/>
                    <a:lstStyle/>
                    <a:p>
                      <a:r>
                        <a:rPr lang="en-IN" dirty="0"/>
                        <a:t>3:00 pm – 5:00 pm</a:t>
                      </a:r>
                    </a:p>
                  </a:txBody>
                  <a:tcPr/>
                </a:tc>
                <a:tc>
                  <a:txBody>
                    <a:bodyPr/>
                    <a:lstStyle/>
                    <a:p>
                      <a:r>
                        <a:rPr lang="en-IN" dirty="0"/>
                        <a:t>Rs   20</a:t>
                      </a:r>
                    </a:p>
                  </a:txBody>
                  <a:tcPr/>
                </a:tc>
                <a:extLst>
                  <a:ext uri="{0D108BD9-81ED-4DB2-BD59-A6C34878D82A}">
                    <a16:rowId xmlns:a16="http://schemas.microsoft.com/office/drawing/2014/main" val="157662081"/>
                  </a:ext>
                </a:extLst>
              </a:tr>
              <a:tr h="370840">
                <a:tc>
                  <a:txBody>
                    <a:bodyPr/>
                    <a:lstStyle/>
                    <a:p>
                      <a:r>
                        <a:rPr lang="en-IN" dirty="0"/>
                        <a:t>5:00 pm – 7:00 pm</a:t>
                      </a:r>
                    </a:p>
                  </a:txBody>
                  <a:tcPr/>
                </a:tc>
                <a:tc>
                  <a:txBody>
                    <a:bodyPr/>
                    <a:lstStyle/>
                    <a:p>
                      <a:r>
                        <a:rPr lang="en-IN" dirty="0"/>
                        <a:t>Rs   30</a:t>
                      </a:r>
                    </a:p>
                  </a:txBody>
                  <a:tcPr/>
                </a:tc>
                <a:extLst>
                  <a:ext uri="{0D108BD9-81ED-4DB2-BD59-A6C34878D82A}">
                    <a16:rowId xmlns:a16="http://schemas.microsoft.com/office/drawing/2014/main" val="390596924"/>
                  </a:ext>
                </a:extLst>
              </a:tr>
            </a:tbl>
          </a:graphicData>
        </a:graphic>
      </p:graphicFrame>
    </p:spTree>
    <p:extLst>
      <p:ext uri="{BB962C8B-B14F-4D97-AF65-F5344CB8AC3E}">
        <p14:creationId xmlns:p14="http://schemas.microsoft.com/office/powerpoint/2010/main" val="29075863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6600" y="156781"/>
            <a:ext cx="7185394" cy="566822"/>
          </a:xfrm>
          <a:prstGeom prst="rect">
            <a:avLst/>
          </a:prstGeom>
        </p:spPr>
        <p:txBody>
          <a:bodyPr vert="horz" wrap="square" lIns="0" tIns="12700" rIns="0" bIns="0" rtlCol="0">
            <a:spAutoFit/>
          </a:bodyPr>
          <a:lstStyle/>
          <a:p>
            <a:pPr marL="12700">
              <a:lnSpc>
                <a:spcPct val="100000"/>
              </a:lnSpc>
              <a:spcBef>
                <a:spcPts val="100"/>
              </a:spcBef>
            </a:pPr>
            <a:r>
              <a:rPr lang="en-IN" spc="-50" dirty="0"/>
              <a:t>Product Substitution Method</a:t>
            </a:r>
            <a:endParaRPr spc="-50" dirty="0"/>
          </a:p>
        </p:txBody>
      </p:sp>
      <p:sp>
        <p:nvSpPr>
          <p:cNvPr id="14" name="object 14"/>
          <p:cNvSpPr txBox="1">
            <a:spLocks noGrp="1"/>
          </p:cNvSpPr>
          <p:nvPr>
            <p:ph type="sldNum" sz="quarter" idx="7"/>
          </p:nvPr>
        </p:nvSpPr>
        <p:spPr>
          <a:xfrm>
            <a:off x="11048365" y="6562436"/>
            <a:ext cx="195579" cy="141604"/>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ct val="100000"/>
              </a:lnSpc>
              <a:spcBef>
                <a:spcPts val="35"/>
              </a:spcBef>
            </a:pPr>
            <a:fld id="{81D60167-4931-47E6-BA6A-407CBD079E47}" type="slidenum">
              <a:rPr lang="en-IN" spc="50" smtClean="0"/>
              <a:pPr marL="38100">
                <a:lnSpc>
                  <a:spcPct val="100000"/>
                </a:lnSpc>
                <a:spcBef>
                  <a:spcPts val="35"/>
                </a:spcBef>
              </a:pPr>
              <a:t>89</a:t>
            </a:fld>
            <a:endParaRPr spc="50" dirty="0"/>
          </a:p>
        </p:txBody>
      </p:sp>
      <p:sp>
        <p:nvSpPr>
          <p:cNvPr id="4" name="TextBox 3">
            <a:extLst>
              <a:ext uri="{FF2B5EF4-FFF2-40B4-BE49-F238E27FC236}">
                <a16:creationId xmlns:a16="http://schemas.microsoft.com/office/drawing/2014/main" id="{D0C2BB3A-52B7-48B6-8E75-6E744754F214}"/>
              </a:ext>
            </a:extLst>
          </p:cNvPr>
          <p:cNvSpPr txBox="1"/>
          <p:nvPr/>
        </p:nvSpPr>
        <p:spPr>
          <a:xfrm>
            <a:off x="685800" y="1295400"/>
            <a:ext cx="10134600" cy="923330"/>
          </a:xfrm>
          <a:prstGeom prst="rect">
            <a:avLst/>
          </a:prstGeom>
          <a:noFill/>
        </p:spPr>
        <p:txBody>
          <a:bodyPr wrap="square" rtlCol="0">
            <a:spAutoFit/>
          </a:bodyPr>
          <a:lstStyle/>
          <a:p>
            <a:r>
              <a:rPr lang="en-IN" b="1" dirty="0">
                <a:solidFill>
                  <a:srgbClr val="202124"/>
                </a:solidFill>
                <a:latin typeface="arial" panose="020B0604020202020204" pitchFamily="34" charset="0"/>
              </a:rPr>
              <a:t>If demand patterns change and company doesn’t have enough stock of Product A, then the company attempts to steer the demand towards a substitute of product A.</a:t>
            </a:r>
          </a:p>
          <a:p>
            <a:endParaRPr lang="en-IN" b="1" dirty="0">
              <a:solidFill>
                <a:srgbClr val="202124"/>
              </a:solidFill>
              <a:latin typeface="arial" panose="020B0604020202020204" pitchFamily="34" charset="0"/>
            </a:endParaRPr>
          </a:p>
        </p:txBody>
      </p:sp>
      <p:sp>
        <p:nvSpPr>
          <p:cNvPr id="12" name="TextBox 11">
            <a:extLst>
              <a:ext uri="{FF2B5EF4-FFF2-40B4-BE49-F238E27FC236}">
                <a16:creationId xmlns:a16="http://schemas.microsoft.com/office/drawing/2014/main" id="{B2FA45B7-248B-412E-A2B0-4A6A25EE941D}"/>
              </a:ext>
            </a:extLst>
          </p:cNvPr>
          <p:cNvSpPr txBox="1"/>
          <p:nvPr/>
        </p:nvSpPr>
        <p:spPr>
          <a:xfrm>
            <a:off x="987800" y="4962737"/>
            <a:ext cx="4114800" cy="954107"/>
          </a:xfrm>
          <a:prstGeom prst="rect">
            <a:avLst/>
          </a:prstGeom>
          <a:noFill/>
        </p:spPr>
        <p:txBody>
          <a:bodyPr wrap="square" rtlCol="0">
            <a:spAutoFit/>
          </a:bodyPr>
          <a:lstStyle/>
          <a:p>
            <a:r>
              <a:rPr lang="en-US" sz="1400" dirty="0"/>
              <a:t>Dell monitors real-time demand for its products, and if a certain laptop's stock falls below a certain threshold, it gives a discount on a similar laptop until the stock recovers.</a:t>
            </a:r>
            <a:endParaRPr lang="en-IN" sz="1400" dirty="0"/>
          </a:p>
        </p:txBody>
      </p:sp>
      <p:pic>
        <p:nvPicPr>
          <p:cNvPr id="15" name="Picture 14" descr="A collage of a car&#10;&#10;Description automatically generated with low confidence">
            <a:extLst>
              <a:ext uri="{FF2B5EF4-FFF2-40B4-BE49-F238E27FC236}">
                <a16:creationId xmlns:a16="http://schemas.microsoft.com/office/drawing/2014/main" id="{56CF2ED8-A53A-4A17-A530-C5E02F5B2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7644" y="2304004"/>
            <a:ext cx="4324350" cy="2563722"/>
          </a:xfrm>
          <a:prstGeom prst="rect">
            <a:avLst/>
          </a:prstGeom>
        </p:spPr>
      </p:pic>
      <p:sp>
        <p:nvSpPr>
          <p:cNvPr id="16" name="TextBox 15">
            <a:extLst>
              <a:ext uri="{FF2B5EF4-FFF2-40B4-BE49-F238E27FC236}">
                <a16:creationId xmlns:a16="http://schemas.microsoft.com/office/drawing/2014/main" id="{3D574DA8-435F-4D27-82B9-09BFAE66E7CA}"/>
              </a:ext>
            </a:extLst>
          </p:cNvPr>
          <p:cNvSpPr txBox="1"/>
          <p:nvPr/>
        </p:nvSpPr>
        <p:spPr>
          <a:xfrm>
            <a:off x="6347194" y="4996407"/>
            <a:ext cx="4114800" cy="738664"/>
          </a:xfrm>
          <a:prstGeom prst="rect">
            <a:avLst/>
          </a:prstGeom>
          <a:noFill/>
        </p:spPr>
        <p:txBody>
          <a:bodyPr wrap="square" rtlCol="0">
            <a:spAutoFit/>
          </a:bodyPr>
          <a:lstStyle/>
          <a:p>
            <a:r>
              <a:rPr lang="en-US" sz="1400" dirty="0"/>
              <a:t>Maruti offers discount on similar cars if demand for one model goes very high and production is expected to stay low due to reasons such as chip shortages .</a:t>
            </a:r>
            <a:endParaRPr lang="en-IN" sz="1400" dirty="0"/>
          </a:p>
        </p:txBody>
      </p:sp>
      <p:pic>
        <p:nvPicPr>
          <p:cNvPr id="5" name="Picture 4">
            <a:extLst>
              <a:ext uri="{FF2B5EF4-FFF2-40B4-BE49-F238E27FC236}">
                <a16:creationId xmlns:a16="http://schemas.microsoft.com/office/drawing/2014/main" id="{B4CDB7D0-0C16-46CC-AD4F-2F6F37C7747F}"/>
              </a:ext>
            </a:extLst>
          </p:cNvPr>
          <p:cNvPicPr>
            <a:picLocks noChangeAspect="1"/>
          </p:cNvPicPr>
          <p:nvPr/>
        </p:nvPicPr>
        <p:blipFill>
          <a:blip r:embed="rId4"/>
          <a:stretch>
            <a:fillRect/>
          </a:stretch>
        </p:blipFill>
        <p:spPr>
          <a:xfrm>
            <a:off x="208521" y="2124602"/>
            <a:ext cx="5673357" cy="2743124"/>
          </a:xfrm>
          <a:prstGeom prst="rect">
            <a:avLst/>
          </a:prstGeom>
        </p:spPr>
      </p:pic>
    </p:spTree>
    <p:extLst>
      <p:ext uri="{BB962C8B-B14F-4D97-AF65-F5344CB8AC3E}">
        <p14:creationId xmlns:p14="http://schemas.microsoft.com/office/powerpoint/2010/main" val="41404327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F30EF4-F0D0-4A0D-B4CC-FC72AB32B54E}"/>
              </a:ext>
            </a:extLst>
          </p:cNvPr>
          <p:cNvSpPr txBox="1"/>
          <p:nvPr/>
        </p:nvSpPr>
        <p:spPr>
          <a:xfrm>
            <a:off x="1097280" y="286603"/>
            <a:ext cx="10058400"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4800" b="1" i="0" u="none" strike="noStrike" cap="none" spc="-50" normalizeH="0" noProof="0">
                <a:ln>
                  <a:noFill/>
                </a:ln>
                <a:solidFill>
                  <a:schemeClr val="tx1">
                    <a:lumMod val="75000"/>
                    <a:lumOff val="25000"/>
                  </a:schemeClr>
                </a:solidFill>
                <a:effectLst/>
                <a:uLnTx/>
                <a:uFillTx/>
                <a:latin typeface="+mj-lt"/>
                <a:ea typeface="+mj-ea"/>
                <a:cs typeface="+mj-cs"/>
              </a:rPr>
              <a:t>Example</a:t>
            </a:r>
            <a:r>
              <a:rPr lang="en-US" sz="4800" b="1" spc="-50">
                <a:solidFill>
                  <a:schemeClr val="tx1">
                    <a:lumMod val="75000"/>
                    <a:lumOff val="25000"/>
                  </a:schemeClr>
                </a:solidFill>
                <a:latin typeface="+mj-lt"/>
                <a:ea typeface="+mj-ea"/>
                <a:cs typeface="+mj-cs"/>
              </a:rPr>
              <a:t>s in the industry</a:t>
            </a:r>
            <a:endParaRPr kumimoji="0" lang="en-US" sz="4800" b="1" i="0" u="none" strike="noStrike" cap="none" spc="-50" normalizeH="0" noProof="0">
              <a:ln>
                <a:noFill/>
              </a:ln>
              <a:solidFill>
                <a:schemeClr val="tx1">
                  <a:lumMod val="75000"/>
                  <a:lumOff val="25000"/>
                </a:schemeClr>
              </a:solidFill>
              <a:effectLst/>
              <a:uLnTx/>
              <a:uFillTx/>
              <a:latin typeface="+mj-lt"/>
              <a:ea typeface="+mj-ea"/>
              <a:cs typeface="+mj-cs"/>
            </a:endParaRPr>
          </a:p>
        </p:txBody>
      </p:sp>
      <p:sp>
        <p:nvSpPr>
          <p:cNvPr id="9" name="TextBox 8">
            <a:extLst>
              <a:ext uri="{FF2B5EF4-FFF2-40B4-BE49-F238E27FC236}">
                <a16:creationId xmlns:a16="http://schemas.microsoft.com/office/drawing/2014/main" id="{9ACCED9C-70A7-4271-8084-AD968E762732}"/>
              </a:ext>
            </a:extLst>
          </p:cNvPr>
          <p:cNvSpPr txBox="1"/>
          <p:nvPr/>
        </p:nvSpPr>
        <p:spPr>
          <a:xfrm>
            <a:off x="1097280" y="2108201"/>
            <a:ext cx="5575367" cy="3760891"/>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a:solidFill>
                  <a:schemeClr val="tx1">
                    <a:lumMod val="75000"/>
                    <a:lumOff val="25000"/>
                  </a:schemeClr>
                </a:solidFill>
              </a:rPr>
              <a:t>Stimulate demand of slow-moving product where there is inventory surplus by Markdown on price and additional discounts</a:t>
            </a:r>
          </a:p>
        </p:txBody>
      </p:sp>
      <p:pic>
        <p:nvPicPr>
          <p:cNvPr id="5" name="Picture 4" descr="Icon&#10;&#10;Description automatically generated">
            <a:extLst>
              <a:ext uri="{FF2B5EF4-FFF2-40B4-BE49-F238E27FC236}">
                <a16:creationId xmlns:a16="http://schemas.microsoft.com/office/drawing/2014/main" id="{364803B2-0DDA-42D8-837F-9C0579DE69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90" r="5" b="178"/>
          <a:stretch/>
        </p:blipFill>
        <p:spPr>
          <a:xfrm>
            <a:off x="7534656" y="2108200"/>
            <a:ext cx="3621024" cy="3600613"/>
          </a:xfrm>
          <a:prstGeom prst="rect">
            <a:avLst/>
          </a:prstGeom>
        </p:spPr>
      </p:pic>
      <p:sp>
        <p:nvSpPr>
          <p:cNvPr id="2" name="Slide Number Placeholder 1">
            <a:extLst>
              <a:ext uri="{FF2B5EF4-FFF2-40B4-BE49-F238E27FC236}">
                <a16:creationId xmlns:a16="http://schemas.microsoft.com/office/drawing/2014/main" id="{994E7A30-7750-4602-B138-84BFDBBBAA06}"/>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90</a:t>
            </a:fld>
            <a:endParaRPr lang="en-US" sz="1050"/>
          </a:p>
        </p:txBody>
      </p:sp>
      <p:pic>
        <p:nvPicPr>
          <p:cNvPr id="19" name="Picture 18" descr="A picture containing text, indoor, ceiling, computer&#10;&#10;Description automatically generated">
            <a:extLst>
              <a:ext uri="{FF2B5EF4-FFF2-40B4-BE49-F238E27FC236}">
                <a16:creationId xmlns:a16="http://schemas.microsoft.com/office/drawing/2014/main" id="{8F56C8C6-66D9-4E46-9D4A-097EEDF1D61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851652" y="3189966"/>
            <a:ext cx="4066622" cy="3049967"/>
          </a:xfrm>
          <a:prstGeom prst="rect">
            <a:avLst/>
          </a:prstGeom>
        </p:spPr>
      </p:pic>
    </p:spTree>
    <p:extLst>
      <p:ext uri="{BB962C8B-B14F-4D97-AF65-F5344CB8AC3E}">
        <p14:creationId xmlns:p14="http://schemas.microsoft.com/office/powerpoint/2010/main" val="5066880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02A080-2649-482E-8A00-CF7CC64371C2}"/>
              </a:ext>
            </a:extLst>
          </p:cNvPr>
          <p:cNvSpPr txBox="1"/>
          <p:nvPr/>
        </p:nvSpPr>
        <p:spPr>
          <a:xfrm>
            <a:off x="1097280" y="286603"/>
            <a:ext cx="10058400"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4800" b="1" i="0" u="none" strike="noStrike" cap="none" spc="-50" normalizeH="0" noProof="0">
                <a:ln>
                  <a:noFill/>
                </a:ln>
                <a:solidFill>
                  <a:schemeClr val="tx1">
                    <a:lumMod val="75000"/>
                    <a:lumOff val="25000"/>
                  </a:schemeClr>
                </a:solidFill>
                <a:effectLst/>
                <a:uLnTx/>
                <a:uFillTx/>
                <a:latin typeface="+mj-lt"/>
                <a:ea typeface="+mj-ea"/>
                <a:cs typeface="+mj-cs"/>
              </a:rPr>
              <a:t>Example</a:t>
            </a:r>
            <a:r>
              <a:rPr lang="en-US" sz="4800" b="1" spc="-50">
                <a:solidFill>
                  <a:schemeClr val="tx1">
                    <a:lumMod val="75000"/>
                    <a:lumOff val="25000"/>
                  </a:schemeClr>
                </a:solidFill>
                <a:latin typeface="+mj-lt"/>
                <a:ea typeface="+mj-ea"/>
                <a:cs typeface="+mj-cs"/>
              </a:rPr>
              <a:t>s in the industry</a:t>
            </a:r>
            <a:endParaRPr kumimoji="0" lang="en-US" sz="4800" b="1" i="0" u="none" strike="noStrike" cap="none" spc="-50" normalizeH="0" noProof="0">
              <a:ln>
                <a:noFill/>
              </a:ln>
              <a:solidFill>
                <a:schemeClr val="tx1">
                  <a:lumMod val="75000"/>
                  <a:lumOff val="25000"/>
                </a:schemeClr>
              </a:solidFill>
              <a:effectLst/>
              <a:uLnTx/>
              <a:uFillTx/>
              <a:latin typeface="+mj-lt"/>
              <a:ea typeface="+mj-ea"/>
              <a:cs typeface="+mj-cs"/>
            </a:endParaRPr>
          </a:p>
        </p:txBody>
      </p:sp>
      <p:sp>
        <p:nvSpPr>
          <p:cNvPr id="9" name="TextBox 8">
            <a:extLst>
              <a:ext uri="{FF2B5EF4-FFF2-40B4-BE49-F238E27FC236}">
                <a16:creationId xmlns:a16="http://schemas.microsoft.com/office/drawing/2014/main" id="{5E710AA5-80A0-40D0-97B7-25442EAA39D3}"/>
              </a:ext>
            </a:extLst>
          </p:cNvPr>
          <p:cNvSpPr txBox="1"/>
          <p:nvPr/>
        </p:nvSpPr>
        <p:spPr>
          <a:xfrm>
            <a:off x="1097281" y="2108201"/>
            <a:ext cx="3557016" cy="3760891"/>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a:solidFill>
                  <a:schemeClr val="tx1">
                    <a:lumMod val="75000"/>
                    <a:lumOff val="25000"/>
                  </a:schemeClr>
                </a:solidFill>
              </a:rPr>
              <a:t>Using price reductions to increase demand on certain sale events and using the sale rush to clear outstanding inventory</a:t>
            </a:r>
          </a:p>
        </p:txBody>
      </p:sp>
      <p:pic>
        <p:nvPicPr>
          <p:cNvPr id="5" name="Picture 4" descr="Logo&#10;&#10;Description automatically generated">
            <a:extLst>
              <a:ext uri="{FF2B5EF4-FFF2-40B4-BE49-F238E27FC236}">
                <a16:creationId xmlns:a16="http://schemas.microsoft.com/office/drawing/2014/main" id="{41E5786B-7DC9-43C7-A3D2-797041004D7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2196" b="24708"/>
          <a:stretch/>
        </p:blipFill>
        <p:spPr>
          <a:xfrm>
            <a:off x="531848" y="3686714"/>
            <a:ext cx="6439500" cy="2025825"/>
          </a:xfrm>
          <a:prstGeom prst="rect">
            <a:avLst/>
          </a:prstGeom>
        </p:spPr>
      </p:pic>
      <p:pic>
        <p:nvPicPr>
          <p:cNvPr id="8" name="Picture 7" descr="Logo&#10;&#10;Description automatically generated">
            <a:extLst>
              <a:ext uri="{FF2B5EF4-FFF2-40B4-BE49-F238E27FC236}">
                <a16:creationId xmlns:a16="http://schemas.microsoft.com/office/drawing/2014/main" id="{8BA030D6-22A0-464E-8FC2-B280B9B156D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536781" y="2187533"/>
            <a:ext cx="4123371" cy="3618257"/>
          </a:xfrm>
          <a:prstGeom prst="rect">
            <a:avLst/>
          </a:prstGeom>
        </p:spPr>
      </p:pic>
      <p:sp>
        <p:nvSpPr>
          <p:cNvPr id="2" name="Slide Number Placeholder 1">
            <a:extLst>
              <a:ext uri="{FF2B5EF4-FFF2-40B4-BE49-F238E27FC236}">
                <a16:creationId xmlns:a16="http://schemas.microsoft.com/office/drawing/2014/main" id="{994E7A30-7750-4602-B138-84BFDBBBAA06}"/>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91</a:t>
            </a:fld>
            <a:endParaRPr lang="en-US" sz="1050"/>
          </a:p>
        </p:txBody>
      </p:sp>
    </p:spTree>
    <p:extLst>
      <p:ext uri="{BB962C8B-B14F-4D97-AF65-F5344CB8AC3E}">
        <p14:creationId xmlns:p14="http://schemas.microsoft.com/office/powerpoint/2010/main" val="28642024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6FC5EA-8A30-48C0-923B-98B281E446D4}"/>
              </a:ext>
            </a:extLst>
          </p:cNvPr>
          <p:cNvSpPr txBox="1"/>
          <p:nvPr/>
        </p:nvSpPr>
        <p:spPr>
          <a:xfrm>
            <a:off x="1097280" y="286603"/>
            <a:ext cx="10058400" cy="1450757"/>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4800" b="1" i="0" u="none" strike="noStrike" cap="none" spc="-50" normalizeH="0" noProof="0">
                <a:ln>
                  <a:noFill/>
                </a:ln>
                <a:solidFill>
                  <a:schemeClr val="tx1">
                    <a:lumMod val="75000"/>
                    <a:lumOff val="25000"/>
                  </a:schemeClr>
                </a:solidFill>
                <a:effectLst/>
                <a:uLnTx/>
                <a:uFillTx/>
                <a:latin typeface="+mj-lt"/>
                <a:ea typeface="+mj-ea"/>
                <a:cs typeface="+mj-cs"/>
              </a:rPr>
              <a:t>Example</a:t>
            </a:r>
            <a:r>
              <a:rPr lang="en-US" sz="4800" b="1" spc="-50">
                <a:solidFill>
                  <a:schemeClr val="tx1">
                    <a:lumMod val="75000"/>
                    <a:lumOff val="25000"/>
                  </a:schemeClr>
                </a:solidFill>
                <a:latin typeface="+mj-lt"/>
                <a:ea typeface="+mj-ea"/>
                <a:cs typeface="+mj-cs"/>
              </a:rPr>
              <a:t>s in the industry</a:t>
            </a:r>
            <a:endParaRPr kumimoji="0" lang="en-US" sz="4800" b="1" i="0" u="none" strike="noStrike" cap="none" spc="-50" normalizeH="0" noProof="0">
              <a:ln>
                <a:noFill/>
              </a:ln>
              <a:solidFill>
                <a:schemeClr val="tx1">
                  <a:lumMod val="75000"/>
                  <a:lumOff val="25000"/>
                </a:schemeClr>
              </a:solidFill>
              <a:effectLst/>
              <a:uLnTx/>
              <a:uFillTx/>
              <a:latin typeface="+mj-lt"/>
              <a:ea typeface="+mj-ea"/>
              <a:cs typeface="+mj-cs"/>
            </a:endParaRPr>
          </a:p>
        </p:txBody>
      </p:sp>
      <p:sp>
        <p:nvSpPr>
          <p:cNvPr id="8" name="TextBox 7">
            <a:extLst>
              <a:ext uri="{FF2B5EF4-FFF2-40B4-BE49-F238E27FC236}">
                <a16:creationId xmlns:a16="http://schemas.microsoft.com/office/drawing/2014/main" id="{FDB3065D-3B5C-45B0-83D4-6B40272F250F}"/>
              </a:ext>
            </a:extLst>
          </p:cNvPr>
          <p:cNvSpPr txBox="1"/>
          <p:nvPr/>
        </p:nvSpPr>
        <p:spPr>
          <a:xfrm>
            <a:off x="1097280" y="2108201"/>
            <a:ext cx="5575367" cy="3760891"/>
          </a:xfrm>
          <a:prstGeom prst="rect">
            <a:avLst/>
          </a:prstGeom>
        </p:spPr>
        <p:txBody>
          <a:bodyPr vert="horz" lIns="0" tIns="45720" rIns="0" bIns="45720" rtlCol="0">
            <a:normAutofit/>
          </a:bodyPr>
          <a:lstStyle/>
          <a:p>
            <a:pPr marL="285750" indent="-285750">
              <a:spcAft>
                <a:spcPts val="600"/>
              </a:spcAft>
              <a:buFont typeface="Arial" panose="020B0604020202020204" pitchFamily="34" charset="0"/>
              <a:buChar char="•"/>
            </a:pPr>
            <a:r>
              <a:rPr lang="en-US" dirty="0">
                <a:solidFill>
                  <a:schemeClr val="tx1">
                    <a:lumMod val="75000"/>
                    <a:lumOff val="25000"/>
                  </a:schemeClr>
                </a:solidFill>
              </a:rPr>
              <a:t>Cheaper rates for passengers booking earlier</a:t>
            </a:r>
          </a:p>
          <a:p>
            <a:pPr marL="285750" indent="-285750">
              <a:spcAft>
                <a:spcPts val="600"/>
              </a:spcAft>
              <a:buFont typeface="Arial" panose="020B0604020202020204" pitchFamily="34" charset="0"/>
              <a:buChar char="•"/>
            </a:pPr>
            <a:r>
              <a:rPr lang="en-US" dirty="0">
                <a:solidFill>
                  <a:schemeClr val="tx1">
                    <a:lumMod val="75000"/>
                    <a:lumOff val="25000"/>
                  </a:schemeClr>
                </a:solidFill>
              </a:rPr>
              <a:t>Seat Reservations at higher price</a:t>
            </a:r>
          </a:p>
          <a:p>
            <a:pPr marL="285750" indent="-285750">
              <a:spcAft>
                <a:spcPts val="600"/>
              </a:spcAft>
              <a:buFont typeface="Arial" panose="020B0604020202020204" pitchFamily="34" charset="0"/>
              <a:buChar char="•"/>
            </a:pPr>
            <a:r>
              <a:rPr lang="en-US" dirty="0">
                <a:solidFill>
                  <a:schemeClr val="tx1">
                    <a:lumMod val="75000"/>
                    <a:lumOff val="25000"/>
                  </a:schemeClr>
                </a:solidFill>
              </a:rPr>
              <a:t>Overbooking of seats in the airplane</a:t>
            </a:r>
          </a:p>
        </p:txBody>
      </p:sp>
      <p:pic>
        <p:nvPicPr>
          <p:cNvPr id="5" name="Picture 4" descr="Logo, company name&#10;&#10;Description automatically generated">
            <a:extLst>
              <a:ext uri="{FF2B5EF4-FFF2-40B4-BE49-F238E27FC236}">
                <a16:creationId xmlns:a16="http://schemas.microsoft.com/office/drawing/2014/main" id="{40D415C9-ED94-40A9-8725-B99456773B1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535" r="15957" b="1"/>
          <a:stretch/>
        </p:blipFill>
        <p:spPr>
          <a:xfrm>
            <a:off x="7534656" y="2108200"/>
            <a:ext cx="3621024" cy="3600613"/>
          </a:xfrm>
          <a:prstGeom prst="rect">
            <a:avLst/>
          </a:prstGeom>
        </p:spPr>
      </p:pic>
      <p:sp>
        <p:nvSpPr>
          <p:cNvPr id="2" name="Slide Number Placeholder 1">
            <a:extLst>
              <a:ext uri="{FF2B5EF4-FFF2-40B4-BE49-F238E27FC236}">
                <a16:creationId xmlns:a16="http://schemas.microsoft.com/office/drawing/2014/main" id="{994E7A30-7750-4602-B138-84BFDBBBAA06}"/>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92</a:t>
            </a:fld>
            <a:endParaRPr lang="en-US" sz="1050"/>
          </a:p>
        </p:txBody>
      </p:sp>
      <p:pic>
        <p:nvPicPr>
          <p:cNvPr id="12" name="Picture 11">
            <a:extLst>
              <a:ext uri="{FF2B5EF4-FFF2-40B4-BE49-F238E27FC236}">
                <a16:creationId xmlns:a16="http://schemas.microsoft.com/office/drawing/2014/main" id="{D75B12FE-1078-4E32-8E1C-151F4DC053D1}"/>
              </a:ext>
            </a:extLst>
          </p:cNvPr>
          <p:cNvPicPr>
            <a:picLocks noChangeAspect="1"/>
          </p:cNvPicPr>
          <p:nvPr/>
        </p:nvPicPr>
        <p:blipFill>
          <a:blip r:embed="rId4"/>
          <a:stretch>
            <a:fillRect/>
          </a:stretch>
        </p:blipFill>
        <p:spPr>
          <a:xfrm>
            <a:off x="448588" y="3498063"/>
            <a:ext cx="6872749" cy="2741870"/>
          </a:xfrm>
          <a:prstGeom prst="rect">
            <a:avLst/>
          </a:prstGeom>
        </p:spPr>
      </p:pic>
    </p:spTree>
    <p:extLst>
      <p:ext uri="{BB962C8B-B14F-4D97-AF65-F5344CB8AC3E}">
        <p14:creationId xmlns:p14="http://schemas.microsoft.com/office/powerpoint/2010/main" val="6549554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70753-7AC5-B7D1-E7C7-2EE1EE0083C2}"/>
              </a:ext>
            </a:extLst>
          </p:cNvPr>
          <p:cNvSpPr>
            <a:spLocks noGrp="1"/>
          </p:cNvSpPr>
          <p:nvPr>
            <p:ph type="sldNum" sz="quarter" idx="12"/>
          </p:nvPr>
        </p:nvSpPr>
        <p:spPr/>
        <p:txBody>
          <a:bodyPr/>
          <a:lstStyle/>
          <a:p>
            <a:fld id="{6B07C8CD-4FE2-46F0-9611-E3B643750200}" type="slidenum">
              <a:rPr lang="en-IN" smtClean="0"/>
              <a:t>93</a:t>
            </a:fld>
            <a:endParaRPr lang="en-IN"/>
          </a:p>
        </p:txBody>
      </p:sp>
      <p:sp>
        <p:nvSpPr>
          <p:cNvPr id="7" name="Google Shape;288;p8">
            <a:extLst>
              <a:ext uri="{FF2B5EF4-FFF2-40B4-BE49-F238E27FC236}">
                <a16:creationId xmlns:a16="http://schemas.microsoft.com/office/drawing/2014/main" id="{8174CEDE-3C61-5779-781A-AA0FC72D46A3}"/>
              </a:ext>
            </a:extLst>
          </p:cNvPr>
          <p:cNvSpPr txBox="1">
            <a:spLocks/>
          </p:cNvSpPr>
          <p:nvPr/>
        </p:nvSpPr>
        <p:spPr>
          <a:xfrm>
            <a:off x="0" y="-74645"/>
            <a:ext cx="12192000" cy="1063774"/>
          </a:xfrm>
          <a:prstGeom prst="rect">
            <a:avLst/>
          </a:prstGeom>
          <a:solidFill>
            <a:schemeClr val="accent1"/>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accent1"/>
              </a:buClr>
              <a:buSzPts val="4400"/>
              <a:buFont typeface="Corbel"/>
              <a:buNone/>
            </a:pPr>
            <a:r>
              <a:rPr lang="en-US" b="1" dirty="0"/>
              <a:t>Conclusion</a:t>
            </a:r>
          </a:p>
        </p:txBody>
      </p:sp>
      <p:sp>
        <p:nvSpPr>
          <p:cNvPr id="3" name="TextBox 2">
            <a:extLst>
              <a:ext uri="{FF2B5EF4-FFF2-40B4-BE49-F238E27FC236}">
                <a16:creationId xmlns:a16="http://schemas.microsoft.com/office/drawing/2014/main" id="{4FE62D31-E993-2046-C118-A38E1EFB3DDD}"/>
              </a:ext>
            </a:extLst>
          </p:cNvPr>
          <p:cNvSpPr txBox="1"/>
          <p:nvPr/>
        </p:nvSpPr>
        <p:spPr>
          <a:xfrm>
            <a:off x="774440" y="1464906"/>
            <a:ext cx="10579359" cy="4154984"/>
          </a:xfrm>
          <a:prstGeom prst="rect">
            <a:avLst/>
          </a:prstGeom>
          <a:noFill/>
        </p:spPr>
        <p:txBody>
          <a:bodyPr wrap="square" rtlCol="0">
            <a:spAutoFit/>
          </a:bodyPr>
          <a:lstStyle/>
          <a:p>
            <a:endParaRPr lang="en-IN" sz="2400" dirty="0"/>
          </a:p>
          <a:p>
            <a:r>
              <a:rPr lang="en-IN" sz="2400" dirty="0"/>
              <a:t>Employing supply chain strategies to reduce the impact of forecast inaccuracy-</a:t>
            </a:r>
          </a:p>
          <a:p>
            <a:endParaRPr lang="en-IN" sz="2400" dirty="0"/>
          </a:p>
          <a:p>
            <a:pPr marL="285750" indent="-285750">
              <a:buFont typeface="Wingdings" panose="05000000000000000000" pitchFamily="2" charset="2"/>
              <a:buChar char="ü"/>
            </a:pPr>
            <a:r>
              <a:rPr lang="en-IN" sz="2400" dirty="0"/>
              <a:t>Select the Push-Pull boundary so that demand is aggregated over different dimensions: Product Geography and Time</a:t>
            </a:r>
          </a:p>
          <a:p>
            <a:pPr marL="285750" indent="-285750">
              <a:buFont typeface="Wingdings" panose="05000000000000000000" pitchFamily="2" charset="2"/>
              <a:buChar char="ü"/>
            </a:pPr>
            <a:r>
              <a:rPr lang="en-IN" sz="2400" dirty="0"/>
              <a:t>Use market analysis, demographic and economic trends to improve forecast.</a:t>
            </a:r>
          </a:p>
          <a:p>
            <a:pPr marL="285750" indent="-285750">
              <a:buFont typeface="Wingdings" panose="05000000000000000000" pitchFamily="2" charset="2"/>
              <a:buChar char="ü"/>
            </a:pPr>
            <a:r>
              <a:rPr lang="en-IN" sz="2400" dirty="0"/>
              <a:t>Incorporate collaborative planning and forecasting processes with customers to better understand market demand, impact of promotions, pricing and advertising.</a:t>
            </a:r>
          </a:p>
          <a:p>
            <a:pPr marL="285750" indent="-285750">
              <a:buFont typeface="Wingdings" panose="05000000000000000000" pitchFamily="2" charset="2"/>
              <a:buChar char="ü"/>
            </a:pPr>
            <a:r>
              <a:rPr lang="en-IN" sz="2400" dirty="0"/>
              <a:t>Determine the optimal assortment of products by store to reduce the </a:t>
            </a:r>
            <a:r>
              <a:rPr lang="en-IN" sz="2400" dirty="0" err="1"/>
              <a:t>impat</a:t>
            </a:r>
            <a:r>
              <a:rPr lang="en-IN" sz="2400" dirty="0"/>
              <a:t> of competing SKUs in the same market</a:t>
            </a:r>
          </a:p>
        </p:txBody>
      </p:sp>
    </p:spTree>
    <p:extLst>
      <p:ext uri="{BB962C8B-B14F-4D97-AF65-F5344CB8AC3E}">
        <p14:creationId xmlns:p14="http://schemas.microsoft.com/office/powerpoint/2010/main" val="7025016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9D3C9-CF12-5445-B321-6B6CE1F0BC4B}"/>
              </a:ext>
            </a:extLst>
          </p:cNvPr>
          <p:cNvSpPr>
            <a:spLocks noGrp="1"/>
          </p:cNvSpPr>
          <p:nvPr>
            <p:ph type="title"/>
          </p:nvPr>
        </p:nvSpPr>
        <p:spPr>
          <a:xfrm>
            <a:off x="838200" y="2427605"/>
            <a:ext cx="10515600" cy="1325563"/>
          </a:xfrm>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IN" b="1" dirty="0"/>
              <a:t>Thank You</a:t>
            </a:r>
          </a:p>
        </p:txBody>
      </p:sp>
      <p:sp>
        <p:nvSpPr>
          <p:cNvPr id="3" name="Slide Number Placeholder 2">
            <a:extLst>
              <a:ext uri="{FF2B5EF4-FFF2-40B4-BE49-F238E27FC236}">
                <a16:creationId xmlns:a16="http://schemas.microsoft.com/office/drawing/2014/main" id="{60999A53-D46C-56A3-47EB-5202CE0B609D}"/>
              </a:ext>
            </a:extLst>
          </p:cNvPr>
          <p:cNvSpPr>
            <a:spLocks noGrp="1"/>
          </p:cNvSpPr>
          <p:nvPr>
            <p:ph type="sldNum" sz="quarter" idx="12"/>
          </p:nvPr>
        </p:nvSpPr>
        <p:spPr/>
        <p:txBody>
          <a:bodyPr/>
          <a:lstStyle/>
          <a:p>
            <a:fld id="{6B07C8CD-4FE2-46F0-9611-E3B643750200}" type="slidenum">
              <a:rPr lang="en-IN" smtClean="0"/>
              <a:t>94</a:t>
            </a:fld>
            <a:endParaRPr lang="en-IN"/>
          </a:p>
        </p:txBody>
      </p:sp>
    </p:spTree>
    <p:extLst>
      <p:ext uri="{BB962C8B-B14F-4D97-AF65-F5344CB8AC3E}">
        <p14:creationId xmlns:p14="http://schemas.microsoft.com/office/powerpoint/2010/main" val="40271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8">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none" lIns="90488" tIns="44450" rIns="90488" bIns="44450" numCol="1" anchor="t" anchorCtr="0" compatLnSpc="1">
        <a:prstTxWarp prst="textNoShape">
          <a:avLst/>
        </a:prstTxWarp>
        <a:spAutoFit/>
      </a:bodyPr>
      <a:lstStyle>
        <a:defPPr marL="447675" marR="0" indent="-447675" algn="l" defTabSz="914400" rtl="0" eaLnBrk="0" fontAlgn="base" latinLnBrk="0" hangingPunct="0">
          <a:lnSpc>
            <a:spcPct val="100000"/>
          </a:lnSpc>
          <a:spcBef>
            <a:spcPct val="0"/>
          </a:spcBef>
          <a:spcAft>
            <a:spcPct val="0"/>
          </a:spcAft>
          <a:buClr>
            <a:srgbClr val="B82629"/>
          </a:buClr>
          <a:buSzTx/>
          <a:buFont typeface="Wingdings" pitchFamily="2" charset="2"/>
          <a:buNone/>
          <a:tabLst/>
          <a:defRPr kumimoji="0" lang="en-US" altLang="en-US" sz="26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outerShdw dist="107763" dir="2700000" algn="ctr" rotWithShape="0">
            <a:schemeClr val="bg2"/>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none" lIns="90488" tIns="44450" rIns="90488" bIns="44450" numCol="1" anchor="t" anchorCtr="0" compatLnSpc="1">
        <a:prstTxWarp prst="textNoShape">
          <a:avLst/>
        </a:prstTxWarp>
        <a:spAutoFit/>
      </a:bodyPr>
      <a:lstStyle>
        <a:defPPr marL="447675" marR="0" indent="-447675" algn="l" defTabSz="914400" rtl="0" eaLnBrk="0" fontAlgn="base" latinLnBrk="0" hangingPunct="0">
          <a:lnSpc>
            <a:spcPct val="100000"/>
          </a:lnSpc>
          <a:spcBef>
            <a:spcPct val="0"/>
          </a:spcBef>
          <a:spcAft>
            <a:spcPct val="0"/>
          </a:spcAft>
          <a:buClr>
            <a:srgbClr val="B82629"/>
          </a:buClr>
          <a:buSzTx/>
          <a:buFont typeface="Wingdings" pitchFamily="2" charset="2"/>
          <a:buNone/>
          <a:tabLst/>
          <a:defRPr kumimoji="0" lang="en-US" altLang="en-US" sz="26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41374</TotalTime>
  <Words>4616</Words>
  <Application>Microsoft Office PowerPoint</Application>
  <PresentationFormat>Widescreen</PresentationFormat>
  <Paragraphs>887</Paragraphs>
  <Slides>94</Slides>
  <Notes>21</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2</vt:i4>
      </vt:variant>
      <vt:variant>
        <vt:lpstr>Slide Titles</vt:lpstr>
      </vt:variant>
      <vt:variant>
        <vt:i4>94</vt:i4>
      </vt:variant>
    </vt:vector>
  </HeadingPairs>
  <TitlesOfParts>
    <vt:vector size="112" baseType="lpstr">
      <vt:lpstr>Aharoni</vt:lpstr>
      <vt:lpstr>Arial</vt:lpstr>
      <vt:lpstr>Arial</vt:lpstr>
      <vt:lpstr>Arial Narrow</vt:lpstr>
      <vt:lpstr>Bookman Uralic</vt:lpstr>
      <vt:lpstr>Calibri</vt:lpstr>
      <vt:lpstr>Calibri Light</vt:lpstr>
      <vt:lpstr>Corbel</vt:lpstr>
      <vt:lpstr>Open Sans</vt:lpstr>
      <vt:lpstr>Symbol</vt:lpstr>
      <vt:lpstr>Times New Roman</vt:lpstr>
      <vt:lpstr>Trebuchet MS</vt:lpstr>
      <vt:lpstr>Wingdings</vt:lpstr>
      <vt:lpstr>Office Theme</vt:lpstr>
      <vt:lpstr>Contents Slide Master</vt:lpstr>
      <vt:lpstr>Axis</vt:lpstr>
      <vt:lpstr>Equation</vt:lpstr>
      <vt:lpstr>Worksheet</vt:lpstr>
      <vt:lpstr>Course on MBA- Sem III Supply Chain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2: Understanding Supply Chain Capabilities</vt:lpstr>
      <vt:lpstr>PowerPoint Presentation</vt:lpstr>
      <vt:lpstr>PowerPoint Presentation</vt:lpstr>
      <vt:lpstr>PowerPoint Presentation</vt:lpstr>
      <vt:lpstr>PowerPoint Presentation</vt:lpstr>
      <vt:lpstr>PowerPoint Presentation</vt:lpstr>
      <vt:lpstr>PowerPoint Presentation</vt:lpstr>
      <vt:lpstr>Case Study 1 : Asian Paints Mastered The Management of Push-Pull Supply Chain</vt:lpstr>
      <vt:lpstr>Introduction</vt:lpstr>
      <vt:lpstr>Background</vt:lpstr>
      <vt:lpstr>Production Units </vt:lpstr>
      <vt:lpstr>Supply Chain of  Asian Paints</vt:lpstr>
      <vt:lpstr>Asian Paints Supply Chain</vt:lpstr>
      <vt:lpstr>Demand scenario in paint industry</vt:lpstr>
      <vt:lpstr>Magic of Push – pull Supply chain of Asian Paints</vt:lpstr>
      <vt:lpstr>Advantages:</vt:lpstr>
      <vt:lpstr>PowerPoint Presentation</vt:lpstr>
      <vt:lpstr>Manufacturing Strategies</vt:lpstr>
      <vt:lpstr>Manufacturing Strategies</vt:lpstr>
      <vt:lpstr>PowerPoint Presentation</vt:lpstr>
      <vt:lpstr>Manufacturing Strategies</vt:lpstr>
      <vt:lpstr>Example</vt:lpstr>
      <vt:lpstr>Example</vt:lpstr>
      <vt:lpstr>PowerPoint Presentation</vt:lpstr>
      <vt:lpstr>PowerPoint Presentation</vt:lpstr>
      <vt:lpstr>PowerPoint Presentation</vt:lpstr>
      <vt:lpstr>Time Series Models</vt:lpstr>
      <vt:lpstr>Time Series Models: Components</vt:lpstr>
      <vt:lpstr>Product Demand over Time</vt:lpstr>
      <vt:lpstr>Product Demand over Time</vt:lpstr>
      <vt:lpstr> Simple Moving Average</vt:lpstr>
      <vt:lpstr>2a. Simple Moving Average</vt:lpstr>
      <vt:lpstr> Simple Moving Average</vt:lpstr>
      <vt:lpstr>What if ipod sales were actually 3 in month 4 </vt:lpstr>
      <vt:lpstr>Forecast for Month 5?</vt:lpstr>
      <vt:lpstr>Actual Demand for Month 5 = 7</vt:lpstr>
      <vt:lpstr>Forecast for Month 6?</vt:lpstr>
      <vt:lpstr> Weighted Moving Average</vt:lpstr>
      <vt:lpstr> Weighted Moving Average: 3/6, 2/6, 1/6</vt:lpstr>
      <vt:lpstr> Weighted Moving Average: 3/6, 2/6, 1/6</vt:lpstr>
      <vt:lpstr> Exponential Smoothing</vt:lpstr>
      <vt:lpstr> Exponential Smoothing – Example 1</vt:lpstr>
      <vt:lpstr> Exponential Smoothing – Example 1</vt:lpstr>
      <vt:lpstr>To Use a Forecasting Method</vt:lpstr>
      <vt:lpstr>A Good Forecast</vt:lpstr>
      <vt:lpstr>Measures of Forecast Error</vt:lpstr>
      <vt:lpstr>MAD Example</vt:lpstr>
      <vt:lpstr>MSE/RMSE Example</vt:lpstr>
      <vt:lpstr>PowerPoint Presentation</vt:lpstr>
      <vt:lpstr>PowerPoint Presentation</vt:lpstr>
      <vt:lpstr>PowerPoint Presentation</vt:lpstr>
      <vt:lpstr>Demand Shaping</vt:lpstr>
      <vt:lpstr>Examples of Demand Shaping</vt:lpstr>
      <vt:lpstr>Dynamic Pricing</vt:lpstr>
      <vt:lpstr> Delivery Demand Shaping</vt:lpstr>
      <vt:lpstr>Product Substitution Method</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Laxmi Gupta</dc:creator>
  <cp:lastModifiedBy>Ayush Gautam</cp:lastModifiedBy>
  <cp:revision>220</cp:revision>
  <cp:lastPrinted>2025-09-17T10:14:40Z</cp:lastPrinted>
  <dcterms:created xsi:type="dcterms:W3CDTF">2022-07-13T04:54:50Z</dcterms:created>
  <dcterms:modified xsi:type="dcterms:W3CDTF">2025-10-14T03:00:05Z</dcterms:modified>
</cp:coreProperties>
</file>