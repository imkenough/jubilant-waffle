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74" r:id="rId4"/>
    <p:sldId id="259" r:id="rId5"/>
    <p:sldId id="257" r:id="rId6"/>
    <p:sldId id="260" r:id="rId7"/>
    <p:sldId id="261" r:id="rId8"/>
    <p:sldId id="275" r:id="rId9"/>
    <p:sldId id="263" r:id="rId10"/>
    <p:sldId id="264" r:id="rId11"/>
    <p:sldId id="266" r:id="rId12"/>
    <p:sldId id="267" r:id="rId13"/>
    <p:sldId id="268" r:id="rId14"/>
    <p:sldId id="269" r:id="rId15"/>
    <p:sldId id="270" r:id="rId16"/>
    <p:sldId id="271" r:id="rId17"/>
    <p:sldId id="272" r:id="rId18"/>
    <p:sldId id="273" r:id="rId19"/>
    <p:sldId id="27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D0111-571D-C5B0-F525-A13BCD3634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C9E1E5B-D023-F3C9-1365-199818EAC8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72FE694-9794-B5F2-C7DD-1455E266D4BA}"/>
              </a:ext>
            </a:extLst>
          </p:cNvPr>
          <p:cNvSpPr>
            <a:spLocks noGrp="1"/>
          </p:cNvSpPr>
          <p:nvPr>
            <p:ph type="dt" sz="half" idx="10"/>
          </p:nvPr>
        </p:nvSpPr>
        <p:spPr/>
        <p:txBody>
          <a:bodyPr/>
          <a:lstStyle/>
          <a:p>
            <a:fld id="{4F07AD04-9A55-45B2-A45A-23585BF0B2C5}" type="datetimeFigureOut">
              <a:rPr lang="en-IN" smtClean="0"/>
              <a:t>16-09-2025</a:t>
            </a:fld>
            <a:endParaRPr lang="en-IN"/>
          </a:p>
        </p:txBody>
      </p:sp>
      <p:sp>
        <p:nvSpPr>
          <p:cNvPr id="5" name="Footer Placeholder 4">
            <a:extLst>
              <a:ext uri="{FF2B5EF4-FFF2-40B4-BE49-F238E27FC236}">
                <a16:creationId xmlns:a16="http://schemas.microsoft.com/office/drawing/2014/main" id="{8D585078-9206-8B1C-AED3-F1C3DCF2EE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95CF93-2DD1-BDF1-EEE5-D7A3017D810E}"/>
              </a:ext>
            </a:extLst>
          </p:cNvPr>
          <p:cNvSpPr>
            <a:spLocks noGrp="1"/>
          </p:cNvSpPr>
          <p:nvPr>
            <p:ph type="sldNum" sz="quarter" idx="12"/>
          </p:nvPr>
        </p:nvSpPr>
        <p:spPr/>
        <p:txBody>
          <a:bodyPr/>
          <a:lstStyle/>
          <a:p>
            <a:fld id="{52AE1FAF-A514-40E3-8982-3CECE64CB2F1}" type="slidenum">
              <a:rPr lang="en-IN" smtClean="0"/>
              <a:t>‹#›</a:t>
            </a:fld>
            <a:endParaRPr lang="en-IN"/>
          </a:p>
        </p:txBody>
      </p:sp>
    </p:spTree>
    <p:extLst>
      <p:ext uri="{BB962C8B-B14F-4D97-AF65-F5344CB8AC3E}">
        <p14:creationId xmlns:p14="http://schemas.microsoft.com/office/powerpoint/2010/main" val="1673533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808A8-7F0B-1E79-8672-6E7ADD56F2B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6C5978-EE6B-F465-B10C-DB958558C0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67075F-1CE9-46BB-AB01-027B37AB87F6}"/>
              </a:ext>
            </a:extLst>
          </p:cNvPr>
          <p:cNvSpPr>
            <a:spLocks noGrp="1"/>
          </p:cNvSpPr>
          <p:nvPr>
            <p:ph type="dt" sz="half" idx="10"/>
          </p:nvPr>
        </p:nvSpPr>
        <p:spPr/>
        <p:txBody>
          <a:bodyPr/>
          <a:lstStyle/>
          <a:p>
            <a:fld id="{4F07AD04-9A55-45B2-A45A-23585BF0B2C5}" type="datetimeFigureOut">
              <a:rPr lang="en-IN" smtClean="0"/>
              <a:t>16-09-2025</a:t>
            </a:fld>
            <a:endParaRPr lang="en-IN"/>
          </a:p>
        </p:txBody>
      </p:sp>
      <p:sp>
        <p:nvSpPr>
          <p:cNvPr id="5" name="Footer Placeholder 4">
            <a:extLst>
              <a:ext uri="{FF2B5EF4-FFF2-40B4-BE49-F238E27FC236}">
                <a16:creationId xmlns:a16="http://schemas.microsoft.com/office/drawing/2014/main" id="{132A6A08-48DC-513E-C33D-1DE4CC77C0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94556E-9870-5D29-E091-69781FE35552}"/>
              </a:ext>
            </a:extLst>
          </p:cNvPr>
          <p:cNvSpPr>
            <a:spLocks noGrp="1"/>
          </p:cNvSpPr>
          <p:nvPr>
            <p:ph type="sldNum" sz="quarter" idx="12"/>
          </p:nvPr>
        </p:nvSpPr>
        <p:spPr/>
        <p:txBody>
          <a:bodyPr/>
          <a:lstStyle/>
          <a:p>
            <a:fld id="{52AE1FAF-A514-40E3-8982-3CECE64CB2F1}" type="slidenum">
              <a:rPr lang="en-IN" smtClean="0"/>
              <a:t>‹#›</a:t>
            </a:fld>
            <a:endParaRPr lang="en-IN"/>
          </a:p>
        </p:txBody>
      </p:sp>
    </p:spTree>
    <p:extLst>
      <p:ext uri="{BB962C8B-B14F-4D97-AF65-F5344CB8AC3E}">
        <p14:creationId xmlns:p14="http://schemas.microsoft.com/office/powerpoint/2010/main" val="851175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0BF42-DFF7-0931-06FB-2C2EE7C1E6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E88D894-65E8-E71C-4F98-3094287DFC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FC5260-D782-C0AC-3C60-BF6CA1FD4A20}"/>
              </a:ext>
            </a:extLst>
          </p:cNvPr>
          <p:cNvSpPr>
            <a:spLocks noGrp="1"/>
          </p:cNvSpPr>
          <p:nvPr>
            <p:ph type="dt" sz="half" idx="10"/>
          </p:nvPr>
        </p:nvSpPr>
        <p:spPr/>
        <p:txBody>
          <a:bodyPr/>
          <a:lstStyle/>
          <a:p>
            <a:fld id="{4F07AD04-9A55-45B2-A45A-23585BF0B2C5}" type="datetimeFigureOut">
              <a:rPr lang="en-IN" smtClean="0"/>
              <a:t>16-09-2025</a:t>
            </a:fld>
            <a:endParaRPr lang="en-IN"/>
          </a:p>
        </p:txBody>
      </p:sp>
      <p:sp>
        <p:nvSpPr>
          <p:cNvPr id="5" name="Footer Placeholder 4">
            <a:extLst>
              <a:ext uri="{FF2B5EF4-FFF2-40B4-BE49-F238E27FC236}">
                <a16:creationId xmlns:a16="http://schemas.microsoft.com/office/drawing/2014/main" id="{C0E2D9F8-8AF4-35BC-5046-125028FFFC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2CB43F-F0A0-6430-E6CA-9D159AFEAF82}"/>
              </a:ext>
            </a:extLst>
          </p:cNvPr>
          <p:cNvSpPr>
            <a:spLocks noGrp="1"/>
          </p:cNvSpPr>
          <p:nvPr>
            <p:ph type="sldNum" sz="quarter" idx="12"/>
          </p:nvPr>
        </p:nvSpPr>
        <p:spPr/>
        <p:txBody>
          <a:bodyPr/>
          <a:lstStyle/>
          <a:p>
            <a:fld id="{52AE1FAF-A514-40E3-8982-3CECE64CB2F1}" type="slidenum">
              <a:rPr lang="en-IN" smtClean="0"/>
              <a:t>‹#›</a:t>
            </a:fld>
            <a:endParaRPr lang="en-IN"/>
          </a:p>
        </p:txBody>
      </p:sp>
    </p:spTree>
    <p:extLst>
      <p:ext uri="{BB962C8B-B14F-4D97-AF65-F5344CB8AC3E}">
        <p14:creationId xmlns:p14="http://schemas.microsoft.com/office/powerpoint/2010/main" val="3269470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6F56B-8239-B854-2DFE-78C99D2A9FE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727B13-A7C2-54B3-125E-32B6CF98D6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E7BEC71-B46F-1277-993A-902E37B483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7886509-D36D-B1DF-F6D0-DEBA9578CE2B}"/>
              </a:ext>
            </a:extLst>
          </p:cNvPr>
          <p:cNvSpPr>
            <a:spLocks noGrp="1"/>
          </p:cNvSpPr>
          <p:nvPr>
            <p:ph type="dt" sz="half" idx="10"/>
          </p:nvPr>
        </p:nvSpPr>
        <p:spPr/>
        <p:txBody>
          <a:bodyPr/>
          <a:lstStyle/>
          <a:p>
            <a:fld id="{4F07AD04-9A55-45B2-A45A-23585BF0B2C5}" type="datetimeFigureOut">
              <a:rPr lang="en-IN" smtClean="0"/>
              <a:t>16-09-2025</a:t>
            </a:fld>
            <a:endParaRPr lang="en-IN"/>
          </a:p>
        </p:txBody>
      </p:sp>
      <p:sp>
        <p:nvSpPr>
          <p:cNvPr id="6" name="Footer Placeholder 5">
            <a:extLst>
              <a:ext uri="{FF2B5EF4-FFF2-40B4-BE49-F238E27FC236}">
                <a16:creationId xmlns:a16="http://schemas.microsoft.com/office/drawing/2014/main" id="{5A29D8F4-0EAB-FA25-CD02-07067C409F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550C72-DD7D-2959-ABBB-D3690BD052F0}"/>
              </a:ext>
            </a:extLst>
          </p:cNvPr>
          <p:cNvSpPr>
            <a:spLocks noGrp="1"/>
          </p:cNvSpPr>
          <p:nvPr>
            <p:ph type="sldNum" sz="quarter" idx="12"/>
          </p:nvPr>
        </p:nvSpPr>
        <p:spPr/>
        <p:txBody>
          <a:bodyPr/>
          <a:lstStyle/>
          <a:p>
            <a:fld id="{52AE1FAF-A514-40E3-8982-3CECE64CB2F1}" type="slidenum">
              <a:rPr lang="en-IN" smtClean="0"/>
              <a:t>‹#›</a:t>
            </a:fld>
            <a:endParaRPr lang="en-IN"/>
          </a:p>
        </p:txBody>
      </p:sp>
    </p:spTree>
    <p:extLst>
      <p:ext uri="{BB962C8B-B14F-4D97-AF65-F5344CB8AC3E}">
        <p14:creationId xmlns:p14="http://schemas.microsoft.com/office/powerpoint/2010/main" val="3375876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E00F6-149A-FEDD-482D-C435DD7BA37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97D785-1D46-B671-472B-5C2EA16286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F664F8C-3DA0-3FF3-1090-056C4CCF3B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CBFDE92-F768-FCE2-9A4E-C9C5C74D25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167A9F-648B-3A89-4A06-A813D03783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51CA68E-0E4F-A2C3-4BE5-BE50713D41B6}"/>
              </a:ext>
            </a:extLst>
          </p:cNvPr>
          <p:cNvSpPr>
            <a:spLocks noGrp="1"/>
          </p:cNvSpPr>
          <p:nvPr>
            <p:ph type="dt" sz="half" idx="10"/>
          </p:nvPr>
        </p:nvSpPr>
        <p:spPr/>
        <p:txBody>
          <a:bodyPr/>
          <a:lstStyle/>
          <a:p>
            <a:fld id="{4F07AD04-9A55-45B2-A45A-23585BF0B2C5}" type="datetimeFigureOut">
              <a:rPr lang="en-IN" smtClean="0"/>
              <a:t>16-09-2025</a:t>
            </a:fld>
            <a:endParaRPr lang="en-IN"/>
          </a:p>
        </p:txBody>
      </p:sp>
      <p:sp>
        <p:nvSpPr>
          <p:cNvPr id="8" name="Footer Placeholder 7">
            <a:extLst>
              <a:ext uri="{FF2B5EF4-FFF2-40B4-BE49-F238E27FC236}">
                <a16:creationId xmlns:a16="http://schemas.microsoft.com/office/drawing/2014/main" id="{B60EC1A1-06B0-5785-AE65-685825ABC47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B4A1CB3-EA56-3D90-E17F-41C29284CBDD}"/>
              </a:ext>
            </a:extLst>
          </p:cNvPr>
          <p:cNvSpPr>
            <a:spLocks noGrp="1"/>
          </p:cNvSpPr>
          <p:nvPr>
            <p:ph type="sldNum" sz="quarter" idx="12"/>
          </p:nvPr>
        </p:nvSpPr>
        <p:spPr/>
        <p:txBody>
          <a:bodyPr/>
          <a:lstStyle/>
          <a:p>
            <a:fld id="{52AE1FAF-A514-40E3-8982-3CECE64CB2F1}" type="slidenum">
              <a:rPr lang="en-IN" smtClean="0"/>
              <a:t>‹#›</a:t>
            </a:fld>
            <a:endParaRPr lang="en-IN"/>
          </a:p>
        </p:txBody>
      </p:sp>
    </p:spTree>
    <p:extLst>
      <p:ext uri="{BB962C8B-B14F-4D97-AF65-F5344CB8AC3E}">
        <p14:creationId xmlns:p14="http://schemas.microsoft.com/office/powerpoint/2010/main" val="2753542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F67ED-BF23-346A-1EE3-B5360577A62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F90277D-EA18-C466-F9BF-E7313B7D0856}"/>
              </a:ext>
            </a:extLst>
          </p:cNvPr>
          <p:cNvSpPr>
            <a:spLocks noGrp="1"/>
          </p:cNvSpPr>
          <p:nvPr>
            <p:ph type="dt" sz="half" idx="10"/>
          </p:nvPr>
        </p:nvSpPr>
        <p:spPr/>
        <p:txBody>
          <a:bodyPr/>
          <a:lstStyle/>
          <a:p>
            <a:fld id="{4F07AD04-9A55-45B2-A45A-23585BF0B2C5}" type="datetimeFigureOut">
              <a:rPr lang="en-IN" smtClean="0"/>
              <a:t>16-09-2025</a:t>
            </a:fld>
            <a:endParaRPr lang="en-IN"/>
          </a:p>
        </p:txBody>
      </p:sp>
      <p:sp>
        <p:nvSpPr>
          <p:cNvPr id="4" name="Footer Placeholder 3">
            <a:extLst>
              <a:ext uri="{FF2B5EF4-FFF2-40B4-BE49-F238E27FC236}">
                <a16:creationId xmlns:a16="http://schemas.microsoft.com/office/drawing/2014/main" id="{4565A4FE-B076-4650-1C9E-7C8D9D3539A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495DCB6-C91D-77A8-DBDB-1DAFE8866FE5}"/>
              </a:ext>
            </a:extLst>
          </p:cNvPr>
          <p:cNvSpPr>
            <a:spLocks noGrp="1"/>
          </p:cNvSpPr>
          <p:nvPr>
            <p:ph type="sldNum" sz="quarter" idx="12"/>
          </p:nvPr>
        </p:nvSpPr>
        <p:spPr/>
        <p:txBody>
          <a:bodyPr/>
          <a:lstStyle/>
          <a:p>
            <a:fld id="{52AE1FAF-A514-40E3-8982-3CECE64CB2F1}" type="slidenum">
              <a:rPr lang="en-IN" smtClean="0"/>
              <a:t>‹#›</a:t>
            </a:fld>
            <a:endParaRPr lang="en-IN"/>
          </a:p>
        </p:txBody>
      </p:sp>
    </p:spTree>
    <p:extLst>
      <p:ext uri="{BB962C8B-B14F-4D97-AF65-F5344CB8AC3E}">
        <p14:creationId xmlns:p14="http://schemas.microsoft.com/office/powerpoint/2010/main" val="262435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D91863-4AA4-82F1-107A-0CBE17C87D4C}"/>
              </a:ext>
            </a:extLst>
          </p:cNvPr>
          <p:cNvSpPr>
            <a:spLocks noGrp="1"/>
          </p:cNvSpPr>
          <p:nvPr>
            <p:ph type="dt" sz="half" idx="10"/>
          </p:nvPr>
        </p:nvSpPr>
        <p:spPr/>
        <p:txBody>
          <a:bodyPr/>
          <a:lstStyle/>
          <a:p>
            <a:fld id="{4F07AD04-9A55-45B2-A45A-23585BF0B2C5}" type="datetimeFigureOut">
              <a:rPr lang="en-IN" smtClean="0"/>
              <a:t>16-09-2025</a:t>
            </a:fld>
            <a:endParaRPr lang="en-IN"/>
          </a:p>
        </p:txBody>
      </p:sp>
      <p:sp>
        <p:nvSpPr>
          <p:cNvPr id="3" name="Footer Placeholder 2">
            <a:extLst>
              <a:ext uri="{FF2B5EF4-FFF2-40B4-BE49-F238E27FC236}">
                <a16:creationId xmlns:a16="http://schemas.microsoft.com/office/drawing/2014/main" id="{9B965D35-66C5-5D40-3265-B692567651A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4D0736C-353A-DB62-4AF4-9C2FA2485A00}"/>
              </a:ext>
            </a:extLst>
          </p:cNvPr>
          <p:cNvSpPr>
            <a:spLocks noGrp="1"/>
          </p:cNvSpPr>
          <p:nvPr>
            <p:ph type="sldNum" sz="quarter" idx="12"/>
          </p:nvPr>
        </p:nvSpPr>
        <p:spPr/>
        <p:txBody>
          <a:bodyPr/>
          <a:lstStyle/>
          <a:p>
            <a:fld id="{52AE1FAF-A514-40E3-8982-3CECE64CB2F1}" type="slidenum">
              <a:rPr lang="en-IN" smtClean="0"/>
              <a:t>‹#›</a:t>
            </a:fld>
            <a:endParaRPr lang="en-IN"/>
          </a:p>
        </p:txBody>
      </p:sp>
    </p:spTree>
    <p:extLst>
      <p:ext uri="{BB962C8B-B14F-4D97-AF65-F5344CB8AC3E}">
        <p14:creationId xmlns:p14="http://schemas.microsoft.com/office/powerpoint/2010/main" val="523294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25EE2-9D24-266B-391C-456F2FCABF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B1CCB15-89CA-284A-6FE5-F52BAC8838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8C70C85-80E6-06DB-07D7-4911FC3E7A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69678F-6E82-DD3A-C7B2-67A6333FC177}"/>
              </a:ext>
            </a:extLst>
          </p:cNvPr>
          <p:cNvSpPr>
            <a:spLocks noGrp="1"/>
          </p:cNvSpPr>
          <p:nvPr>
            <p:ph type="dt" sz="half" idx="10"/>
          </p:nvPr>
        </p:nvSpPr>
        <p:spPr/>
        <p:txBody>
          <a:bodyPr/>
          <a:lstStyle/>
          <a:p>
            <a:fld id="{4F07AD04-9A55-45B2-A45A-23585BF0B2C5}" type="datetimeFigureOut">
              <a:rPr lang="en-IN" smtClean="0"/>
              <a:t>16-09-2025</a:t>
            </a:fld>
            <a:endParaRPr lang="en-IN"/>
          </a:p>
        </p:txBody>
      </p:sp>
      <p:sp>
        <p:nvSpPr>
          <p:cNvPr id="6" name="Footer Placeholder 5">
            <a:extLst>
              <a:ext uri="{FF2B5EF4-FFF2-40B4-BE49-F238E27FC236}">
                <a16:creationId xmlns:a16="http://schemas.microsoft.com/office/drawing/2014/main" id="{03722047-FE94-06B2-4BF9-68677EE73E4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848BEED-7051-E116-2A90-314D039741FC}"/>
              </a:ext>
            </a:extLst>
          </p:cNvPr>
          <p:cNvSpPr>
            <a:spLocks noGrp="1"/>
          </p:cNvSpPr>
          <p:nvPr>
            <p:ph type="sldNum" sz="quarter" idx="12"/>
          </p:nvPr>
        </p:nvSpPr>
        <p:spPr/>
        <p:txBody>
          <a:bodyPr/>
          <a:lstStyle/>
          <a:p>
            <a:fld id="{52AE1FAF-A514-40E3-8982-3CECE64CB2F1}" type="slidenum">
              <a:rPr lang="en-IN" smtClean="0"/>
              <a:t>‹#›</a:t>
            </a:fld>
            <a:endParaRPr lang="en-IN"/>
          </a:p>
        </p:txBody>
      </p:sp>
    </p:spTree>
    <p:extLst>
      <p:ext uri="{BB962C8B-B14F-4D97-AF65-F5344CB8AC3E}">
        <p14:creationId xmlns:p14="http://schemas.microsoft.com/office/powerpoint/2010/main" val="2846352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2BC63-0CF3-3F8F-7B36-870A0553B8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3925807-AB84-EC71-CD64-F8D5FB2BCC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C70112A-A636-40A7-EBD2-3F3866C9BF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BAD63C-7054-EBDC-0271-74B18FC09C0D}"/>
              </a:ext>
            </a:extLst>
          </p:cNvPr>
          <p:cNvSpPr>
            <a:spLocks noGrp="1"/>
          </p:cNvSpPr>
          <p:nvPr>
            <p:ph type="dt" sz="half" idx="10"/>
          </p:nvPr>
        </p:nvSpPr>
        <p:spPr/>
        <p:txBody>
          <a:bodyPr/>
          <a:lstStyle/>
          <a:p>
            <a:fld id="{4F07AD04-9A55-45B2-A45A-23585BF0B2C5}" type="datetimeFigureOut">
              <a:rPr lang="en-IN" smtClean="0"/>
              <a:t>16-09-2025</a:t>
            </a:fld>
            <a:endParaRPr lang="en-IN"/>
          </a:p>
        </p:txBody>
      </p:sp>
      <p:sp>
        <p:nvSpPr>
          <p:cNvPr id="6" name="Footer Placeholder 5">
            <a:extLst>
              <a:ext uri="{FF2B5EF4-FFF2-40B4-BE49-F238E27FC236}">
                <a16:creationId xmlns:a16="http://schemas.microsoft.com/office/drawing/2014/main" id="{B8E285AB-EF4A-DFDF-3BA5-9CD4D0A5A8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573F0F-0C3B-69D7-10C4-4949F612FBAB}"/>
              </a:ext>
            </a:extLst>
          </p:cNvPr>
          <p:cNvSpPr>
            <a:spLocks noGrp="1"/>
          </p:cNvSpPr>
          <p:nvPr>
            <p:ph type="sldNum" sz="quarter" idx="12"/>
          </p:nvPr>
        </p:nvSpPr>
        <p:spPr/>
        <p:txBody>
          <a:bodyPr/>
          <a:lstStyle/>
          <a:p>
            <a:fld id="{52AE1FAF-A514-40E3-8982-3CECE64CB2F1}" type="slidenum">
              <a:rPr lang="en-IN" smtClean="0"/>
              <a:t>‹#›</a:t>
            </a:fld>
            <a:endParaRPr lang="en-IN"/>
          </a:p>
        </p:txBody>
      </p:sp>
    </p:spTree>
    <p:extLst>
      <p:ext uri="{BB962C8B-B14F-4D97-AF65-F5344CB8AC3E}">
        <p14:creationId xmlns:p14="http://schemas.microsoft.com/office/powerpoint/2010/main" val="2066905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B4B63-2350-5DE4-6790-0A65226B743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9E6922-5D3E-7F9D-2DFB-6790462223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733725-431A-BA26-1575-725CDA7675EC}"/>
              </a:ext>
            </a:extLst>
          </p:cNvPr>
          <p:cNvSpPr>
            <a:spLocks noGrp="1"/>
          </p:cNvSpPr>
          <p:nvPr>
            <p:ph type="dt" sz="half" idx="10"/>
          </p:nvPr>
        </p:nvSpPr>
        <p:spPr/>
        <p:txBody>
          <a:bodyPr/>
          <a:lstStyle/>
          <a:p>
            <a:fld id="{4F07AD04-9A55-45B2-A45A-23585BF0B2C5}" type="datetimeFigureOut">
              <a:rPr lang="en-IN" smtClean="0"/>
              <a:t>16-09-2025</a:t>
            </a:fld>
            <a:endParaRPr lang="en-IN"/>
          </a:p>
        </p:txBody>
      </p:sp>
      <p:sp>
        <p:nvSpPr>
          <p:cNvPr id="5" name="Footer Placeholder 4">
            <a:extLst>
              <a:ext uri="{FF2B5EF4-FFF2-40B4-BE49-F238E27FC236}">
                <a16:creationId xmlns:a16="http://schemas.microsoft.com/office/drawing/2014/main" id="{79D60D2C-07E2-26E4-0842-8863E0B9DA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F1E528-8D33-339F-8D36-68E2E36E51FF}"/>
              </a:ext>
            </a:extLst>
          </p:cNvPr>
          <p:cNvSpPr>
            <a:spLocks noGrp="1"/>
          </p:cNvSpPr>
          <p:nvPr>
            <p:ph type="sldNum" sz="quarter" idx="12"/>
          </p:nvPr>
        </p:nvSpPr>
        <p:spPr/>
        <p:txBody>
          <a:bodyPr/>
          <a:lstStyle/>
          <a:p>
            <a:fld id="{52AE1FAF-A514-40E3-8982-3CECE64CB2F1}" type="slidenum">
              <a:rPr lang="en-IN" smtClean="0"/>
              <a:t>‹#›</a:t>
            </a:fld>
            <a:endParaRPr lang="en-IN"/>
          </a:p>
        </p:txBody>
      </p:sp>
    </p:spTree>
    <p:extLst>
      <p:ext uri="{BB962C8B-B14F-4D97-AF65-F5344CB8AC3E}">
        <p14:creationId xmlns:p14="http://schemas.microsoft.com/office/powerpoint/2010/main" val="3667840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1D1A5B-9EEA-2144-6764-16617493E0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33DD054-80F2-5F30-E311-D0251F8822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26A794-A82E-D9C0-8928-1BE7ADB229B1}"/>
              </a:ext>
            </a:extLst>
          </p:cNvPr>
          <p:cNvSpPr>
            <a:spLocks noGrp="1"/>
          </p:cNvSpPr>
          <p:nvPr>
            <p:ph type="dt" sz="half" idx="10"/>
          </p:nvPr>
        </p:nvSpPr>
        <p:spPr/>
        <p:txBody>
          <a:bodyPr/>
          <a:lstStyle/>
          <a:p>
            <a:fld id="{4F07AD04-9A55-45B2-A45A-23585BF0B2C5}" type="datetimeFigureOut">
              <a:rPr lang="en-IN" smtClean="0"/>
              <a:t>16-09-2025</a:t>
            </a:fld>
            <a:endParaRPr lang="en-IN"/>
          </a:p>
        </p:txBody>
      </p:sp>
      <p:sp>
        <p:nvSpPr>
          <p:cNvPr id="5" name="Footer Placeholder 4">
            <a:extLst>
              <a:ext uri="{FF2B5EF4-FFF2-40B4-BE49-F238E27FC236}">
                <a16:creationId xmlns:a16="http://schemas.microsoft.com/office/drawing/2014/main" id="{CE00FFA6-44A4-EE52-178B-27F98A38B5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886487-29C7-56C6-1B48-18F394BBAD04}"/>
              </a:ext>
            </a:extLst>
          </p:cNvPr>
          <p:cNvSpPr>
            <a:spLocks noGrp="1"/>
          </p:cNvSpPr>
          <p:nvPr>
            <p:ph type="sldNum" sz="quarter" idx="12"/>
          </p:nvPr>
        </p:nvSpPr>
        <p:spPr/>
        <p:txBody>
          <a:bodyPr/>
          <a:lstStyle/>
          <a:p>
            <a:fld id="{52AE1FAF-A514-40E3-8982-3CECE64CB2F1}" type="slidenum">
              <a:rPr lang="en-IN" smtClean="0"/>
              <a:t>‹#›</a:t>
            </a:fld>
            <a:endParaRPr lang="en-IN"/>
          </a:p>
        </p:txBody>
      </p:sp>
    </p:spTree>
    <p:extLst>
      <p:ext uri="{BB962C8B-B14F-4D97-AF65-F5344CB8AC3E}">
        <p14:creationId xmlns:p14="http://schemas.microsoft.com/office/powerpoint/2010/main" val="1299323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242A98-1C59-40E4-3417-6DDD0A734B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D059A4A-9987-02F7-0BE0-7C19DE6653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83AF8E-5580-E0F5-FECE-EC0FFE5FB9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07AD04-9A55-45B2-A45A-23585BF0B2C5}" type="datetimeFigureOut">
              <a:rPr lang="en-IN" smtClean="0"/>
              <a:t>16-09-2025</a:t>
            </a:fld>
            <a:endParaRPr lang="en-IN"/>
          </a:p>
        </p:txBody>
      </p:sp>
      <p:sp>
        <p:nvSpPr>
          <p:cNvPr id="5" name="Footer Placeholder 4">
            <a:extLst>
              <a:ext uri="{FF2B5EF4-FFF2-40B4-BE49-F238E27FC236}">
                <a16:creationId xmlns:a16="http://schemas.microsoft.com/office/drawing/2014/main" id="{68CE72C0-5686-5FA3-C9E4-18129844B2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79FA0BC-764A-AC8E-311F-360F877442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AE1FAF-A514-40E3-8982-3CECE64CB2F1}" type="slidenum">
              <a:rPr lang="en-IN" smtClean="0"/>
              <a:t>‹#›</a:t>
            </a:fld>
            <a:endParaRPr lang="en-IN"/>
          </a:p>
        </p:txBody>
      </p:sp>
    </p:spTree>
    <p:extLst>
      <p:ext uri="{BB962C8B-B14F-4D97-AF65-F5344CB8AC3E}">
        <p14:creationId xmlns:p14="http://schemas.microsoft.com/office/powerpoint/2010/main" val="8286203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91784-A936-A9AE-F4A0-65858C0526F2}"/>
              </a:ext>
            </a:extLst>
          </p:cNvPr>
          <p:cNvSpPr>
            <a:spLocks noGrp="1"/>
          </p:cNvSpPr>
          <p:nvPr>
            <p:ph type="ctrTitle"/>
          </p:nvPr>
        </p:nvSpPr>
        <p:spPr>
          <a:xfrm>
            <a:off x="1524000" y="1122362"/>
            <a:ext cx="9144000" cy="2999695"/>
          </a:xfrm>
          <a:solidFill>
            <a:schemeClr val="bg1"/>
          </a:solidFill>
        </p:spPr>
        <p:txBody>
          <a:bodyPr>
            <a:normAutofit/>
          </a:bodyPr>
          <a:lstStyle/>
          <a:p>
            <a:r>
              <a:rPr lang="en-US" sz="8000" dirty="0">
                <a:effectLst>
                  <a:outerShdw blurRad="38100" dist="38100" dir="2700000" algn="tl">
                    <a:srgbClr val="000000">
                      <a:alpha val="43137"/>
                    </a:srgbClr>
                  </a:outerShdw>
                </a:effectLst>
                <a:latin typeface="Brush Script MT" panose="03060802040406070304" pitchFamily="66" charset="0"/>
              </a:rPr>
              <a:t>Travelling Salesman Problem</a:t>
            </a:r>
            <a:endParaRPr lang="en-IN" sz="8000" dirty="0">
              <a:effectLst>
                <a:outerShdw blurRad="38100" dist="38100" dir="2700000" algn="tl">
                  <a:srgbClr val="000000">
                    <a:alpha val="43137"/>
                  </a:srgbClr>
                </a:outerShdw>
              </a:effectLst>
              <a:latin typeface="Brush Script MT" panose="03060802040406070304" pitchFamily="66" charset="0"/>
            </a:endParaRPr>
          </a:p>
        </p:txBody>
      </p:sp>
    </p:spTree>
    <p:extLst>
      <p:ext uri="{BB962C8B-B14F-4D97-AF65-F5344CB8AC3E}">
        <p14:creationId xmlns:p14="http://schemas.microsoft.com/office/powerpoint/2010/main" val="3991001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7D57C-7773-15B0-FC85-381766A1567B}"/>
              </a:ext>
            </a:extLst>
          </p:cNvPr>
          <p:cNvSpPr>
            <a:spLocks noGrp="1"/>
          </p:cNvSpPr>
          <p:nvPr>
            <p:ph type="title"/>
          </p:nvPr>
        </p:nvSpPr>
        <p:spPr>
          <a:xfrm>
            <a:off x="831850" y="768349"/>
            <a:ext cx="10515600" cy="1130789"/>
          </a:xfrm>
        </p:spPr>
        <p:txBody>
          <a:bodyPr>
            <a:normAutofit/>
          </a:bodyPr>
          <a:lstStyle/>
          <a:p>
            <a:r>
              <a:rPr lang="en-US" dirty="0"/>
              <a:t>Assignment Problem</a:t>
            </a:r>
            <a:endParaRPr lang="en-IN" dirty="0"/>
          </a:p>
        </p:txBody>
      </p:sp>
      <p:sp>
        <p:nvSpPr>
          <p:cNvPr id="3" name="Text Placeholder 2">
            <a:extLst>
              <a:ext uri="{FF2B5EF4-FFF2-40B4-BE49-F238E27FC236}">
                <a16:creationId xmlns:a16="http://schemas.microsoft.com/office/drawing/2014/main" id="{8B708188-35C6-8E9E-DA0D-9E6A07F8BA15}"/>
              </a:ext>
            </a:extLst>
          </p:cNvPr>
          <p:cNvSpPr>
            <a:spLocks noGrp="1"/>
          </p:cNvSpPr>
          <p:nvPr>
            <p:ph type="body" idx="1"/>
          </p:nvPr>
        </p:nvSpPr>
        <p:spPr>
          <a:xfrm>
            <a:off x="831850" y="2208628"/>
            <a:ext cx="10515600" cy="3881023"/>
          </a:xfrm>
        </p:spPr>
        <p:txBody>
          <a:bodyPr/>
          <a:lstStyle/>
          <a:p>
            <a:pPr marL="342900" indent="-342900" algn="just">
              <a:buFont typeface="Arial" panose="020B0604020202020204" pitchFamily="34" charset="0"/>
              <a:buChar char="•"/>
            </a:pPr>
            <a:r>
              <a:rPr lang="en-US" dirty="0">
                <a:solidFill>
                  <a:schemeClr val="tx1"/>
                </a:solidFill>
              </a:rPr>
              <a:t>An assignment problem is a particular case of a transportation problem where the resources (say facilities) are assignees and the destinations are activities (say jobs).</a:t>
            </a:r>
          </a:p>
          <a:p>
            <a:pPr marL="342900" indent="-342900" algn="just">
              <a:buFont typeface="Arial" panose="020B0604020202020204" pitchFamily="34" charset="0"/>
              <a:buChar char="•"/>
            </a:pPr>
            <a:r>
              <a:rPr lang="en-US" dirty="0">
                <a:solidFill>
                  <a:schemeClr val="tx1"/>
                </a:solidFill>
              </a:rPr>
              <a:t> Given n resources (or facilities) and n activities (or jobs), with effectiveness (in terms of cost, profit, time, etc.) of each resource for each activity. </a:t>
            </a:r>
          </a:p>
          <a:p>
            <a:pPr marL="342900" indent="-342900" algn="just">
              <a:buFont typeface="Arial" panose="020B0604020202020204" pitchFamily="34" charset="0"/>
              <a:buChar char="•"/>
            </a:pPr>
            <a:r>
              <a:rPr lang="en-US" dirty="0">
                <a:solidFill>
                  <a:schemeClr val="tx1"/>
                </a:solidFill>
              </a:rPr>
              <a:t>Then problem becomes to assign (or allocate) each resource to only one activity (job) and vice-versa so that the given measure of effectiveness is optimized</a:t>
            </a:r>
            <a:endParaRPr lang="en-IN" dirty="0">
              <a:solidFill>
                <a:schemeClr val="tx1"/>
              </a:solidFill>
            </a:endParaRPr>
          </a:p>
        </p:txBody>
      </p:sp>
    </p:spTree>
    <p:extLst>
      <p:ext uri="{BB962C8B-B14F-4D97-AF65-F5344CB8AC3E}">
        <p14:creationId xmlns:p14="http://schemas.microsoft.com/office/powerpoint/2010/main" val="2104675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845E575D-FA53-7A82-FB16-BC801E9FB69B}"/>
              </a:ext>
            </a:extLst>
          </p:cNvPr>
          <p:cNvSpPr>
            <a:spLocks noGrp="1" noChangeArrowheads="1"/>
          </p:cNvSpPr>
          <p:nvPr>
            <p:ph type="title"/>
          </p:nvPr>
        </p:nvSpPr>
        <p:spPr bwMode="auto">
          <a:xfrm>
            <a:off x="703385" y="2135041"/>
            <a:ext cx="9270609" cy="304544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n-lt"/>
              </a:rPr>
              <a:t>Number of workers = Number of jobs.</a:t>
            </a:r>
          </a:p>
          <a:p>
            <a:pPr marL="0" marR="0" lvl="0" indent="0" algn="just" defTabSz="914400" rtl="0" eaLnBrk="0" fontAlgn="base" latinLnBrk="0" hangingPunct="0">
              <a:lnSpc>
                <a:spcPct val="2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n-lt"/>
              </a:rPr>
              <a:t>Each worker is assigned only one job.</a:t>
            </a:r>
          </a:p>
          <a:p>
            <a:pPr marL="0" marR="0" lvl="0" indent="0" algn="just" defTabSz="914400" rtl="0" eaLnBrk="0" fontAlgn="base" latinLnBrk="0" hangingPunct="0">
              <a:lnSpc>
                <a:spcPct val="2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n-lt"/>
              </a:rPr>
              <a:t>Each worker is independently capable for handling any job.</a:t>
            </a:r>
          </a:p>
          <a:p>
            <a:pPr marL="0" marR="0" lvl="0" indent="0" algn="just" defTabSz="914400" rtl="0" eaLnBrk="0" fontAlgn="base" latinLnBrk="0" hangingPunct="0">
              <a:lnSpc>
                <a:spcPct val="2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n-lt"/>
              </a:rPr>
              <a:t>Assigning criteria is either minimizing cost or maximizing profit.</a:t>
            </a:r>
          </a:p>
        </p:txBody>
      </p:sp>
      <p:sp>
        <p:nvSpPr>
          <p:cNvPr id="6" name="TextBox 5">
            <a:extLst>
              <a:ext uri="{FF2B5EF4-FFF2-40B4-BE49-F238E27FC236}">
                <a16:creationId xmlns:a16="http://schemas.microsoft.com/office/drawing/2014/main" id="{C11B7C5C-D470-37AF-FC1A-06C91D744225}"/>
              </a:ext>
            </a:extLst>
          </p:cNvPr>
          <p:cNvSpPr txBox="1"/>
          <p:nvPr/>
        </p:nvSpPr>
        <p:spPr>
          <a:xfrm>
            <a:off x="590843" y="562708"/>
            <a:ext cx="11000935" cy="923330"/>
          </a:xfrm>
          <a:prstGeom prst="rect">
            <a:avLst/>
          </a:prstGeom>
          <a:noFill/>
        </p:spPr>
        <p:txBody>
          <a:bodyPr wrap="square" rtlCol="0">
            <a:spAutoFit/>
          </a:bodyPr>
          <a:lstStyle/>
          <a:p>
            <a:r>
              <a:rPr lang="en-US" sz="5400" dirty="0"/>
              <a:t>Important Points </a:t>
            </a:r>
            <a:endParaRPr lang="en-IN" sz="5400" dirty="0"/>
          </a:p>
        </p:txBody>
      </p:sp>
    </p:spTree>
    <p:extLst>
      <p:ext uri="{BB962C8B-B14F-4D97-AF65-F5344CB8AC3E}">
        <p14:creationId xmlns:p14="http://schemas.microsoft.com/office/powerpoint/2010/main" val="2106457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D6223-08F8-59ED-02B4-FC8A78A1179B}"/>
              </a:ext>
            </a:extLst>
          </p:cNvPr>
          <p:cNvSpPr>
            <a:spLocks noGrp="1"/>
          </p:cNvSpPr>
          <p:nvPr>
            <p:ph type="title"/>
          </p:nvPr>
        </p:nvSpPr>
        <p:spPr/>
        <p:txBody>
          <a:bodyPr/>
          <a:lstStyle/>
          <a:p>
            <a:r>
              <a:rPr lang="en-US" dirty="0">
                <a:latin typeface="+mn-lt"/>
              </a:rPr>
              <a:t>Example</a:t>
            </a:r>
            <a:endParaRPr lang="en-IN" dirty="0">
              <a:latin typeface="+mn-lt"/>
            </a:endParaRPr>
          </a:p>
        </p:txBody>
      </p:sp>
      <p:pic>
        <p:nvPicPr>
          <p:cNvPr id="4" name="Picture 3">
            <a:extLst>
              <a:ext uri="{FF2B5EF4-FFF2-40B4-BE49-F238E27FC236}">
                <a16:creationId xmlns:a16="http://schemas.microsoft.com/office/drawing/2014/main" id="{6FD63D92-606E-B698-D039-0BC114C71C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947192"/>
            <a:ext cx="7343335" cy="4355134"/>
          </a:xfrm>
          <a:prstGeom prst="rect">
            <a:avLst/>
          </a:prstGeom>
        </p:spPr>
      </p:pic>
    </p:spTree>
    <p:extLst>
      <p:ext uri="{BB962C8B-B14F-4D97-AF65-F5344CB8AC3E}">
        <p14:creationId xmlns:p14="http://schemas.microsoft.com/office/powerpoint/2010/main" val="2436475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A2CA1-A015-0E84-CF0A-C124EF370490}"/>
              </a:ext>
            </a:extLst>
          </p:cNvPr>
          <p:cNvSpPr>
            <a:spLocks noGrp="1"/>
          </p:cNvSpPr>
          <p:nvPr>
            <p:ph type="title"/>
          </p:nvPr>
        </p:nvSpPr>
        <p:spPr>
          <a:xfrm>
            <a:off x="831850" y="956603"/>
            <a:ext cx="10515600" cy="717452"/>
          </a:xfrm>
        </p:spPr>
        <p:txBody>
          <a:bodyPr>
            <a:normAutofit fontScale="90000"/>
          </a:bodyPr>
          <a:lstStyle/>
          <a:p>
            <a:r>
              <a:rPr lang="en-US" dirty="0"/>
              <a:t>Travelling Salesman Problem</a:t>
            </a:r>
            <a:endParaRPr lang="en-IN" dirty="0"/>
          </a:p>
        </p:txBody>
      </p:sp>
      <p:sp>
        <p:nvSpPr>
          <p:cNvPr id="3" name="Text Placeholder 2">
            <a:extLst>
              <a:ext uri="{FF2B5EF4-FFF2-40B4-BE49-F238E27FC236}">
                <a16:creationId xmlns:a16="http://schemas.microsoft.com/office/drawing/2014/main" id="{BCDC64F0-2E22-9EE1-D70D-CDAA14572C77}"/>
              </a:ext>
            </a:extLst>
          </p:cNvPr>
          <p:cNvSpPr>
            <a:spLocks noGrp="1"/>
          </p:cNvSpPr>
          <p:nvPr>
            <p:ph type="body" idx="1"/>
          </p:nvPr>
        </p:nvSpPr>
        <p:spPr>
          <a:xfrm>
            <a:off x="831850" y="2011680"/>
            <a:ext cx="10515600" cy="4077971"/>
          </a:xfrm>
        </p:spPr>
        <p:txBody>
          <a:bodyPr/>
          <a:lstStyle/>
          <a:p>
            <a:pPr algn="just"/>
            <a:r>
              <a:rPr lang="en-US" dirty="0">
                <a:solidFill>
                  <a:schemeClr val="tx1"/>
                </a:solidFill>
              </a:rPr>
              <a:t>The travelling salesman problem may be solved as an assignment problem, with two additional conditions on the choice of assignment. </a:t>
            </a:r>
          </a:p>
          <a:p>
            <a:pPr marL="457200" indent="-457200" algn="just">
              <a:buAutoNum type="arabicParenBoth"/>
            </a:pPr>
            <a:r>
              <a:rPr lang="en-US" dirty="0">
                <a:solidFill>
                  <a:schemeClr val="tx1"/>
                </a:solidFill>
              </a:rPr>
              <a:t>How should a travelling salesman start from his home city (the city from where he started), visiting each city only once and returning to his home city, so that the total distance (cost or time) covered is minimum. </a:t>
            </a:r>
          </a:p>
          <a:p>
            <a:pPr marL="457200" indent="-457200" algn="just">
              <a:buAutoNum type="arabicParenBoth"/>
            </a:pPr>
            <a:r>
              <a:rPr lang="en-US" dirty="0">
                <a:solidFill>
                  <a:schemeClr val="tx1"/>
                </a:solidFill>
              </a:rPr>
              <a:t> For example, given n cities and distances </a:t>
            </a:r>
            <a:r>
              <a:rPr lang="en-IN" b="1" dirty="0">
                <a:solidFill>
                  <a:schemeClr val="tx1"/>
                </a:solidFill>
              </a:rPr>
              <a:t>dᵢⱼ</a:t>
            </a:r>
            <a:r>
              <a:rPr lang="en-US" dirty="0">
                <a:solidFill>
                  <a:schemeClr val="tx1"/>
                </a:solidFill>
              </a:rPr>
              <a:t> </a:t>
            </a:r>
            <a:r>
              <a:rPr lang="en-US" sz="1800" dirty="0">
                <a:solidFill>
                  <a:schemeClr val="tx1"/>
                </a:solidFill>
              </a:rPr>
              <a:t> </a:t>
            </a:r>
            <a:r>
              <a:rPr lang="en-US" dirty="0">
                <a:solidFill>
                  <a:schemeClr val="tx1"/>
                </a:solidFill>
              </a:rPr>
              <a:t>(cost c</a:t>
            </a:r>
            <a:r>
              <a:rPr lang="en-IN" b="1" dirty="0">
                <a:solidFill>
                  <a:schemeClr val="tx1"/>
                </a:solidFill>
              </a:rPr>
              <a:t>ᵢⱼ</a:t>
            </a:r>
            <a:r>
              <a:rPr lang="en-US" dirty="0">
                <a:solidFill>
                  <a:schemeClr val="tx1"/>
                </a:solidFill>
              </a:rPr>
              <a:t> or time t</a:t>
            </a:r>
            <a:r>
              <a:rPr lang="en-IN" b="1" dirty="0">
                <a:solidFill>
                  <a:schemeClr val="tx1"/>
                </a:solidFill>
              </a:rPr>
              <a:t>ᵢⱼ</a:t>
            </a:r>
            <a:r>
              <a:rPr lang="en-US" dirty="0">
                <a:solidFill>
                  <a:schemeClr val="tx1"/>
                </a:solidFill>
              </a:rPr>
              <a:t> ) from city </a:t>
            </a:r>
            <a:r>
              <a:rPr lang="en-US" dirty="0" err="1">
                <a:solidFill>
                  <a:schemeClr val="tx1"/>
                </a:solidFill>
              </a:rPr>
              <a:t>i</a:t>
            </a:r>
            <a:r>
              <a:rPr lang="en-US" dirty="0">
                <a:solidFill>
                  <a:schemeClr val="tx1"/>
                </a:solidFill>
              </a:rPr>
              <a:t> to city j, the salesman starts from city 1, then any permutation of 2, 3, . . ., n represents the number of possible ways of his tour. </a:t>
            </a:r>
          </a:p>
          <a:p>
            <a:pPr marL="457200" indent="-457200" algn="just">
              <a:buAutoNum type="arabicParenBoth"/>
            </a:pPr>
            <a:r>
              <a:rPr lang="en-US" dirty="0">
                <a:solidFill>
                  <a:schemeClr val="tx1"/>
                </a:solidFill>
              </a:rPr>
              <a:t>Thus, there are </a:t>
            </a:r>
            <a:r>
              <a:rPr lang="en-US" b="1" dirty="0">
                <a:solidFill>
                  <a:schemeClr val="tx1"/>
                </a:solidFill>
              </a:rPr>
              <a:t>(n – 1)! </a:t>
            </a:r>
            <a:r>
              <a:rPr lang="en-US" dirty="0">
                <a:solidFill>
                  <a:schemeClr val="tx1"/>
                </a:solidFill>
              </a:rPr>
              <a:t>possible ways of his tour. Now the problem is to select an optimal route that is able to achieve the objective of the salesman.</a:t>
            </a:r>
            <a:endParaRPr lang="en-IN" dirty="0">
              <a:solidFill>
                <a:schemeClr val="tx1"/>
              </a:solidFill>
            </a:endParaRPr>
          </a:p>
        </p:txBody>
      </p:sp>
    </p:spTree>
    <p:extLst>
      <p:ext uri="{BB962C8B-B14F-4D97-AF65-F5344CB8AC3E}">
        <p14:creationId xmlns:p14="http://schemas.microsoft.com/office/powerpoint/2010/main" val="661617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FF6FEC8-4BC4-A110-66BD-06249D3CC298}"/>
                  </a:ext>
                </a:extLst>
              </p:cNvPr>
              <p:cNvSpPr>
                <a:spLocks noGrp="1"/>
              </p:cNvSpPr>
              <p:nvPr>
                <p:ph type="body" idx="1"/>
              </p:nvPr>
            </p:nvSpPr>
            <p:spPr>
              <a:xfrm>
                <a:off x="604911" y="407964"/>
                <a:ext cx="10742539" cy="6063174"/>
              </a:xfrm>
            </p:spPr>
            <p:txBody>
              <a:bodyPr>
                <a:normAutofit/>
              </a:bodyPr>
              <a:lstStyle/>
              <a:p>
                <a:r>
                  <a:rPr lang="en-IN" dirty="0">
                    <a:solidFill>
                      <a:schemeClr val="tx1"/>
                    </a:solidFill>
                  </a:rPr>
                  <a:t>To formulate and solve this problem, let us define:</a:t>
                </a:r>
              </a:p>
              <a:p>
                <a:endParaRPr lang="en-IN" dirty="0">
                  <a:solidFill>
                    <a:schemeClr val="tx1"/>
                  </a:solidFill>
                </a:endParaRPr>
              </a:p>
              <a:p>
                <a:pPr/>
                <a14:m>
                  <m:oMathPara xmlns:m="http://schemas.openxmlformats.org/officeDocument/2006/math">
                    <m:oMathParaPr>
                      <m:jc m:val="centerGroup"/>
                    </m:oMathParaPr>
                    <m:oMath xmlns:m="http://schemas.openxmlformats.org/officeDocument/2006/math">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𝑥</m:t>
                          </m:r>
                        </m:e>
                        <m:sub>
                          <m:r>
                            <a:rPr lang="ar-AE" i="1">
                              <a:solidFill>
                                <a:schemeClr val="tx1"/>
                              </a:solidFill>
                              <a:latin typeface="Cambria Math" panose="02040503050406030204" pitchFamily="18" charset="0"/>
                            </a:rPr>
                            <m:t>𝑖𝑗</m:t>
                          </m:r>
                        </m:sub>
                      </m:sSub>
                      <m:r>
                        <a:rPr lang="ar-AE">
                          <a:solidFill>
                            <a:schemeClr val="tx1"/>
                          </a:solidFill>
                          <a:latin typeface="Cambria Math" panose="02040503050406030204" pitchFamily="18" charset="0"/>
                        </a:rPr>
                        <m:t>=</m:t>
                      </m:r>
                      <m:d>
                        <m:dPr>
                          <m:begChr m:val="{"/>
                          <m:endChr m:val=""/>
                          <m:ctrlPr>
                            <a:rPr lang="ar-AE" i="1">
                              <a:solidFill>
                                <a:schemeClr val="tx1"/>
                              </a:solidFill>
                              <a:latin typeface="Cambria Math" panose="02040503050406030204" pitchFamily="18" charset="0"/>
                            </a:rPr>
                          </m:ctrlPr>
                        </m:dPr>
                        <m:e>
                          <m:m>
                            <m:mPr>
                              <m:plcHide m:val="on"/>
                              <m:mcs>
                                <m:mc>
                                  <m:mcPr>
                                    <m:count m:val="2"/>
                                    <m:mcJc m:val="center"/>
                                  </m:mcPr>
                                </m:mc>
                              </m:mcs>
                              <m:ctrlPr>
                                <a:rPr lang="ar-AE" i="1">
                                  <a:solidFill>
                                    <a:schemeClr val="tx1"/>
                                  </a:solidFill>
                                  <a:latin typeface="Cambria Math" panose="02040503050406030204" pitchFamily="18" charset="0"/>
                                </a:rPr>
                              </m:ctrlPr>
                            </m:mPr>
                            <m:mr>
                              <m:e>
                                <m:r>
                                  <a:rPr lang="ar-AE">
                                    <a:solidFill>
                                      <a:schemeClr val="tx1"/>
                                    </a:solidFill>
                                    <a:latin typeface="Cambria Math" panose="02040503050406030204" pitchFamily="18" charset="0"/>
                                  </a:rPr>
                                  <m:t>1</m:t>
                                </m:r>
                                <m:r>
                                  <a:rPr lang="ar-AE">
                                    <a:solidFill>
                                      <a:schemeClr val="tx1"/>
                                    </a:solidFill>
                                    <a:latin typeface="Cambria Math" panose="02040503050406030204" pitchFamily="18" charset="0"/>
                                  </a:rPr>
                                  <m:t>,</m:t>
                                </m:r>
                              </m:e>
                              <m:e>
                                <m:r>
                                  <m:rPr>
                                    <m:nor/>
                                  </m:rPr>
                                  <a:rPr lang="en-IN" i="1">
                                    <a:solidFill>
                                      <a:schemeClr val="tx1"/>
                                    </a:solidFill>
                                  </a:rPr>
                                  <m:t>if</m:t>
                                </m:r>
                                <m:r>
                                  <m:rPr>
                                    <m:nor/>
                                  </m:rPr>
                                  <a:rPr lang="en-IN" i="1">
                                    <a:solidFill>
                                      <a:schemeClr val="tx1"/>
                                    </a:solidFill>
                                  </a:rPr>
                                  <m:t> </m:t>
                                </m:r>
                                <m:r>
                                  <m:rPr>
                                    <m:nor/>
                                  </m:rPr>
                                  <a:rPr lang="en-IN" i="1">
                                    <a:solidFill>
                                      <a:schemeClr val="tx1"/>
                                    </a:solidFill>
                                  </a:rPr>
                                  <m:t>salesman</m:t>
                                </m:r>
                                <m:r>
                                  <m:rPr>
                                    <m:nor/>
                                  </m:rPr>
                                  <a:rPr lang="en-IN" i="1">
                                    <a:solidFill>
                                      <a:schemeClr val="tx1"/>
                                    </a:solidFill>
                                  </a:rPr>
                                  <m:t> </m:t>
                                </m:r>
                                <m:r>
                                  <m:rPr>
                                    <m:nor/>
                                  </m:rPr>
                                  <a:rPr lang="en-IN" i="1">
                                    <a:solidFill>
                                      <a:schemeClr val="tx1"/>
                                    </a:solidFill>
                                  </a:rPr>
                                  <m:t>travels</m:t>
                                </m:r>
                                <m:r>
                                  <m:rPr>
                                    <m:nor/>
                                  </m:rPr>
                                  <a:rPr lang="en-IN" i="1">
                                    <a:solidFill>
                                      <a:schemeClr val="tx1"/>
                                    </a:solidFill>
                                  </a:rPr>
                                  <m:t> </m:t>
                                </m:r>
                                <m:r>
                                  <m:rPr>
                                    <m:nor/>
                                  </m:rPr>
                                  <a:rPr lang="en-IN" i="1">
                                    <a:solidFill>
                                      <a:schemeClr val="tx1"/>
                                    </a:solidFill>
                                  </a:rPr>
                                  <m:t>from</m:t>
                                </m:r>
                                <m:r>
                                  <m:rPr>
                                    <m:nor/>
                                  </m:rPr>
                                  <a:rPr lang="en-IN" i="1">
                                    <a:solidFill>
                                      <a:schemeClr val="tx1"/>
                                    </a:solidFill>
                                  </a:rPr>
                                  <m:t> </m:t>
                                </m:r>
                                <m:r>
                                  <m:rPr>
                                    <m:nor/>
                                  </m:rPr>
                                  <a:rPr lang="en-IN" i="1">
                                    <a:solidFill>
                                      <a:schemeClr val="tx1"/>
                                    </a:solidFill>
                                  </a:rPr>
                                  <m:t>city</m:t>
                                </m:r>
                                <m:r>
                                  <m:rPr>
                                    <m:nor/>
                                  </m:rPr>
                                  <a:rPr lang="en-IN" i="1">
                                    <a:solidFill>
                                      <a:schemeClr val="tx1"/>
                                    </a:solidFill>
                                  </a:rPr>
                                  <m:t> </m:t>
                                </m:r>
                                <m:r>
                                  <a:rPr lang="en-IN" i="1">
                                    <a:solidFill>
                                      <a:schemeClr val="tx1"/>
                                    </a:solidFill>
                                    <a:latin typeface="Cambria Math" panose="02040503050406030204" pitchFamily="18" charset="0"/>
                                  </a:rPr>
                                  <m:t>𝑖</m:t>
                                </m:r>
                                <m:r>
                                  <m:rPr>
                                    <m:nor/>
                                  </m:rPr>
                                  <a:rPr lang="en-IN" i="1">
                                    <a:solidFill>
                                      <a:schemeClr val="tx1"/>
                                    </a:solidFill>
                                  </a:rPr>
                                  <m:t> </m:t>
                                </m:r>
                                <m:r>
                                  <m:rPr>
                                    <m:nor/>
                                  </m:rPr>
                                  <a:rPr lang="en-IN" i="1">
                                    <a:solidFill>
                                      <a:schemeClr val="tx1"/>
                                    </a:solidFill>
                                  </a:rPr>
                                  <m:t>to</m:t>
                                </m:r>
                                <m:r>
                                  <m:rPr>
                                    <m:nor/>
                                  </m:rPr>
                                  <a:rPr lang="en-IN" i="1">
                                    <a:solidFill>
                                      <a:schemeClr val="tx1"/>
                                    </a:solidFill>
                                  </a:rPr>
                                  <m:t> </m:t>
                                </m:r>
                                <m:r>
                                  <m:rPr>
                                    <m:nor/>
                                  </m:rPr>
                                  <a:rPr lang="en-IN" i="1">
                                    <a:solidFill>
                                      <a:schemeClr val="tx1"/>
                                    </a:solidFill>
                                  </a:rPr>
                                  <m:t>city</m:t>
                                </m:r>
                                <m:r>
                                  <m:rPr>
                                    <m:nor/>
                                  </m:rPr>
                                  <a:rPr lang="en-IN" i="1">
                                    <a:solidFill>
                                      <a:schemeClr val="tx1"/>
                                    </a:solidFill>
                                  </a:rPr>
                                  <m:t> </m:t>
                                </m:r>
                                <m:r>
                                  <a:rPr lang="en-IN" i="1">
                                    <a:solidFill>
                                      <a:schemeClr val="tx1"/>
                                    </a:solidFill>
                                    <a:latin typeface="Cambria Math" panose="02040503050406030204" pitchFamily="18" charset="0"/>
                                  </a:rPr>
                                  <m:t>𝑗</m:t>
                                </m:r>
                              </m:e>
                            </m:mr>
                            <m:mr>
                              <m:e>
                                <m:r>
                                  <a:rPr lang="ar-AE">
                                    <a:solidFill>
                                      <a:schemeClr val="tx1"/>
                                    </a:solidFill>
                                    <a:latin typeface="Cambria Math" panose="02040503050406030204" pitchFamily="18" charset="0"/>
                                  </a:rPr>
                                  <m:t>0</m:t>
                                </m:r>
                                <m:r>
                                  <a:rPr lang="ar-AE">
                                    <a:solidFill>
                                      <a:schemeClr val="tx1"/>
                                    </a:solidFill>
                                    <a:latin typeface="Cambria Math" panose="02040503050406030204" pitchFamily="18" charset="0"/>
                                  </a:rPr>
                                  <m:t>,</m:t>
                                </m:r>
                              </m:e>
                              <m:e>
                                <m:r>
                                  <m:rPr>
                                    <m:nor/>
                                  </m:rPr>
                                  <a:rPr lang="en-IN" i="1">
                                    <a:solidFill>
                                      <a:schemeClr val="tx1"/>
                                    </a:solidFill>
                                  </a:rPr>
                                  <m:t>otherwise</m:t>
                                </m:r>
                              </m:e>
                            </m:mr>
                          </m:m>
                        </m:e>
                      </m:d>
                    </m:oMath>
                  </m:oMathPara>
                </a14:m>
                <a:endParaRPr lang="ar-AE" b="0" dirty="0">
                  <a:solidFill>
                    <a:schemeClr val="tx1"/>
                  </a:solidFill>
                </a:endParaRPr>
              </a:p>
              <a:p>
                <a:endParaRPr lang="en-IN" dirty="0">
                  <a:solidFill>
                    <a:schemeClr val="tx1"/>
                  </a:solidFill>
                </a:endParaRPr>
              </a:p>
              <a:p>
                <a:r>
                  <a:rPr lang="en-IN" dirty="0">
                    <a:solidFill>
                      <a:schemeClr val="tx1"/>
                    </a:solidFill>
                  </a:rPr>
                  <a:t>Since each city can be visited only once, we have:</a:t>
                </a:r>
              </a:p>
              <a:p>
                <a:endParaRPr lang="en-IN" dirty="0">
                  <a:solidFill>
                    <a:schemeClr val="tx1"/>
                  </a:solidFill>
                </a:endParaRPr>
              </a:p>
              <a:p>
                <a:pPr/>
                <a14:m>
                  <m:oMathPara xmlns:m="http://schemas.openxmlformats.org/officeDocument/2006/math">
                    <m:oMathParaPr>
                      <m:jc m:val="centerGroup"/>
                    </m:oMathParaPr>
                    <m:oMath xmlns:m="http://schemas.openxmlformats.org/officeDocument/2006/math">
                      <m:nary>
                        <m:naryPr>
                          <m:chr m:val="∑"/>
                          <m:grow m:val="on"/>
                          <m:ctrlPr>
                            <a:rPr lang="ar-AE" i="1">
                              <a:solidFill>
                                <a:schemeClr val="tx1"/>
                              </a:solidFill>
                              <a:latin typeface="Cambria Math" panose="02040503050406030204" pitchFamily="18" charset="0"/>
                            </a:rPr>
                          </m:ctrlPr>
                        </m:naryPr>
                        <m:sub>
                          <m:r>
                            <a:rPr lang="ar-AE" i="1">
                              <a:solidFill>
                                <a:schemeClr val="tx1"/>
                              </a:solidFill>
                              <a:latin typeface="Cambria Math" panose="02040503050406030204" pitchFamily="18" charset="0"/>
                            </a:rPr>
                            <m:t>𝑖</m:t>
                          </m:r>
                          <m:r>
                            <a:rPr lang="ar-AE">
                              <a:solidFill>
                                <a:schemeClr val="tx1"/>
                              </a:solidFill>
                              <a:latin typeface="Cambria Math" panose="02040503050406030204" pitchFamily="18" charset="0"/>
                            </a:rPr>
                            <m:t>=</m:t>
                          </m:r>
                          <m:r>
                            <a:rPr lang="ar-AE">
                              <a:solidFill>
                                <a:schemeClr val="tx1"/>
                              </a:solidFill>
                              <a:latin typeface="Cambria Math" panose="02040503050406030204" pitchFamily="18" charset="0"/>
                            </a:rPr>
                            <m:t>1</m:t>
                          </m:r>
                          <m:r>
                            <a:rPr lang="ar-AE">
                              <a:solidFill>
                                <a:schemeClr val="tx1"/>
                              </a:solidFill>
                              <a:latin typeface="Cambria Math" panose="02040503050406030204" pitchFamily="18" charset="0"/>
                            </a:rPr>
                            <m:t>,</m:t>
                          </m:r>
                          <m:r>
                            <a:rPr lang="ar-AE" i="1">
                              <a:solidFill>
                                <a:schemeClr val="tx1"/>
                              </a:solidFill>
                              <a:latin typeface="Cambria Math" panose="02040503050406030204" pitchFamily="18" charset="0"/>
                            </a:rPr>
                            <m:t>𝑖</m:t>
                          </m:r>
                          <m:r>
                            <a:rPr lang="ar-AE">
                              <a:solidFill>
                                <a:schemeClr val="tx1"/>
                              </a:solidFill>
                              <a:latin typeface="Cambria Math" panose="02040503050406030204" pitchFamily="18" charset="0"/>
                            </a:rPr>
                            <m:t>≠</m:t>
                          </m:r>
                          <m:r>
                            <a:rPr lang="ar-AE" i="1">
                              <a:solidFill>
                                <a:schemeClr val="tx1"/>
                              </a:solidFill>
                              <a:latin typeface="Cambria Math" panose="02040503050406030204" pitchFamily="18" charset="0"/>
                            </a:rPr>
                            <m:t>𝑗</m:t>
                          </m:r>
                        </m:sub>
                        <m:sup>
                          <m:r>
                            <a:rPr lang="ar-AE" i="1">
                              <a:solidFill>
                                <a:schemeClr val="tx1"/>
                              </a:solidFill>
                              <a:latin typeface="Cambria Math" panose="02040503050406030204" pitchFamily="18" charset="0"/>
                            </a:rPr>
                            <m:t>𝑛</m:t>
                          </m:r>
                          <m:r>
                            <a:rPr lang="ar-AE">
                              <a:solidFill>
                                <a:schemeClr val="tx1"/>
                              </a:solidFill>
                              <a:latin typeface="Cambria Math" panose="02040503050406030204" pitchFamily="18" charset="0"/>
                            </a:rPr>
                            <m:t>−</m:t>
                          </m:r>
                          <m:r>
                            <a:rPr lang="ar-AE">
                              <a:solidFill>
                                <a:schemeClr val="tx1"/>
                              </a:solidFill>
                              <a:latin typeface="Cambria Math" panose="02040503050406030204" pitchFamily="18" charset="0"/>
                            </a:rPr>
                            <m:t>1</m:t>
                          </m:r>
                        </m:sup>
                        <m:e>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𝑥</m:t>
                              </m:r>
                            </m:e>
                            <m:sub>
                              <m:r>
                                <a:rPr lang="ar-AE" i="1">
                                  <a:solidFill>
                                    <a:schemeClr val="tx1"/>
                                  </a:solidFill>
                                  <a:latin typeface="Cambria Math" panose="02040503050406030204" pitchFamily="18" charset="0"/>
                                </a:rPr>
                                <m:t>𝑖𝑗</m:t>
                              </m:r>
                            </m:sub>
                          </m:sSub>
                        </m:e>
                      </m:nary>
                      <m:r>
                        <a:rPr lang="ar-AE">
                          <a:solidFill>
                            <a:schemeClr val="tx1"/>
                          </a:solidFill>
                          <a:latin typeface="Cambria Math" panose="02040503050406030204" pitchFamily="18" charset="0"/>
                        </a:rPr>
                        <m:t>=</m:t>
                      </m:r>
                      <m:r>
                        <a:rPr lang="ar-AE">
                          <a:solidFill>
                            <a:schemeClr val="tx1"/>
                          </a:solidFill>
                          <a:latin typeface="Cambria Math" panose="02040503050406030204" pitchFamily="18" charset="0"/>
                        </a:rPr>
                        <m:t>1</m:t>
                      </m:r>
                      <m:r>
                        <a:rPr lang="ar-AE">
                          <a:solidFill>
                            <a:schemeClr val="tx1"/>
                          </a:solidFill>
                          <a:latin typeface="Cambria Math" panose="02040503050406030204" pitchFamily="18" charset="0"/>
                        </a:rPr>
                        <m:t>, </m:t>
                      </m:r>
                      <m:r>
                        <a:rPr lang="ar-AE" i="1">
                          <a:solidFill>
                            <a:schemeClr val="tx1"/>
                          </a:solidFill>
                          <a:latin typeface="Cambria Math" panose="02040503050406030204" pitchFamily="18" charset="0"/>
                        </a:rPr>
                        <m:t>𝑗</m:t>
                      </m:r>
                      <m:r>
                        <a:rPr lang="ar-AE">
                          <a:solidFill>
                            <a:schemeClr val="tx1"/>
                          </a:solidFill>
                          <a:latin typeface="Cambria Math" panose="02040503050406030204" pitchFamily="18" charset="0"/>
                        </a:rPr>
                        <m:t>=</m:t>
                      </m:r>
                      <m:r>
                        <a:rPr lang="ar-AE">
                          <a:solidFill>
                            <a:schemeClr val="tx1"/>
                          </a:solidFill>
                          <a:latin typeface="Cambria Math" panose="02040503050406030204" pitchFamily="18" charset="0"/>
                        </a:rPr>
                        <m:t>1</m:t>
                      </m:r>
                      <m:r>
                        <a:rPr lang="ar-AE">
                          <a:solidFill>
                            <a:schemeClr val="tx1"/>
                          </a:solidFill>
                          <a:latin typeface="Cambria Math" panose="02040503050406030204" pitchFamily="18" charset="0"/>
                        </a:rPr>
                        <m:t>,</m:t>
                      </m:r>
                      <m:r>
                        <a:rPr lang="ar-AE">
                          <a:solidFill>
                            <a:schemeClr val="tx1"/>
                          </a:solidFill>
                          <a:latin typeface="Cambria Math" panose="02040503050406030204" pitchFamily="18" charset="0"/>
                        </a:rPr>
                        <m:t>2</m:t>
                      </m:r>
                      <m:r>
                        <a:rPr lang="ar-AE">
                          <a:solidFill>
                            <a:schemeClr val="tx1"/>
                          </a:solidFill>
                          <a:latin typeface="Cambria Math" panose="02040503050406030204" pitchFamily="18" charset="0"/>
                        </a:rPr>
                        <m:t>,…,</m:t>
                      </m:r>
                      <m:r>
                        <a:rPr lang="ar-AE" i="1">
                          <a:solidFill>
                            <a:schemeClr val="tx1"/>
                          </a:solidFill>
                          <a:latin typeface="Cambria Math" panose="02040503050406030204" pitchFamily="18" charset="0"/>
                        </a:rPr>
                        <m:t>𝑛</m:t>
                      </m:r>
                    </m:oMath>
                  </m:oMathPara>
                </a14:m>
                <a:endParaRPr lang="ar-AE" dirty="0">
                  <a:solidFill>
                    <a:schemeClr val="tx1"/>
                  </a:solidFill>
                </a:endParaRPr>
              </a:p>
              <a:p>
                <a:endParaRPr lang="en-IN" dirty="0">
                  <a:solidFill>
                    <a:schemeClr val="tx1"/>
                  </a:solidFill>
                </a:endParaRPr>
              </a:p>
              <a:p>
                <a:r>
                  <a:rPr lang="en-IN" dirty="0">
                    <a:solidFill>
                      <a:schemeClr val="tx1"/>
                    </a:solidFill>
                  </a:rPr>
                  <a:t>Again, since the salesman has to leave each city except city </a:t>
                </a:r>
                <a14:m>
                  <m:oMath xmlns:m="http://schemas.openxmlformats.org/officeDocument/2006/math">
                    <m:r>
                      <a:rPr lang="en-IN" i="1">
                        <a:solidFill>
                          <a:schemeClr val="tx1"/>
                        </a:solidFill>
                        <a:latin typeface="Cambria Math" panose="02040503050406030204" pitchFamily="18" charset="0"/>
                      </a:rPr>
                      <m:t>𝑛</m:t>
                    </m:r>
                  </m:oMath>
                </a14:m>
                <a:r>
                  <a:rPr lang="en-IN" dirty="0">
                    <a:solidFill>
                      <a:schemeClr val="tx1"/>
                    </a:solidFill>
                  </a:rPr>
                  <a:t>, we have:</a:t>
                </a:r>
              </a:p>
              <a:p>
                <a:pPr/>
                <a14:m>
                  <m:oMathPara xmlns:m="http://schemas.openxmlformats.org/officeDocument/2006/math">
                    <m:oMathParaPr>
                      <m:jc m:val="centerGroup"/>
                    </m:oMathParaPr>
                    <m:oMath xmlns:m="http://schemas.openxmlformats.org/officeDocument/2006/math">
                      <m:nary>
                        <m:naryPr>
                          <m:chr m:val="∑"/>
                          <m:grow m:val="on"/>
                          <m:ctrlPr>
                            <a:rPr lang="ar-AE" i="1">
                              <a:solidFill>
                                <a:schemeClr val="tx1"/>
                              </a:solidFill>
                              <a:latin typeface="Cambria Math" panose="02040503050406030204" pitchFamily="18" charset="0"/>
                            </a:rPr>
                          </m:ctrlPr>
                        </m:naryPr>
                        <m:sub>
                          <m:r>
                            <a:rPr lang="ar-AE" i="1">
                              <a:solidFill>
                                <a:schemeClr val="tx1"/>
                              </a:solidFill>
                              <a:latin typeface="Cambria Math" panose="02040503050406030204" pitchFamily="18" charset="0"/>
                            </a:rPr>
                            <m:t>𝑗</m:t>
                          </m:r>
                          <m:r>
                            <a:rPr lang="ar-AE">
                              <a:solidFill>
                                <a:schemeClr val="tx1"/>
                              </a:solidFill>
                              <a:latin typeface="Cambria Math" panose="02040503050406030204" pitchFamily="18" charset="0"/>
                            </a:rPr>
                            <m:t>=</m:t>
                          </m:r>
                          <m:r>
                            <a:rPr lang="ar-AE">
                              <a:solidFill>
                                <a:schemeClr val="tx1"/>
                              </a:solidFill>
                              <a:latin typeface="Cambria Math" panose="02040503050406030204" pitchFamily="18" charset="0"/>
                            </a:rPr>
                            <m:t>1</m:t>
                          </m:r>
                          <m:r>
                            <a:rPr lang="ar-AE">
                              <a:solidFill>
                                <a:schemeClr val="tx1"/>
                              </a:solidFill>
                              <a:latin typeface="Cambria Math" panose="02040503050406030204" pitchFamily="18" charset="0"/>
                            </a:rPr>
                            <m:t>,</m:t>
                          </m:r>
                          <m:r>
                            <a:rPr lang="ar-AE" i="1">
                              <a:solidFill>
                                <a:schemeClr val="tx1"/>
                              </a:solidFill>
                              <a:latin typeface="Cambria Math" panose="02040503050406030204" pitchFamily="18" charset="0"/>
                            </a:rPr>
                            <m:t>𝑗</m:t>
                          </m:r>
                          <m:r>
                            <a:rPr lang="ar-AE">
                              <a:solidFill>
                                <a:schemeClr val="tx1"/>
                              </a:solidFill>
                              <a:latin typeface="Cambria Math" panose="02040503050406030204" pitchFamily="18" charset="0"/>
                            </a:rPr>
                            <m:t>≠</m:t>
                          </m:r>
                          <m:r>
                            <a:rPr lang="ar-AE" i="1">
                              <a:solidFill>
                                <a:schemeClr val="tx1"/>
                              </a:solidFill>
                              <a:latin typeface="Cambria Math" panose="02040503050406030204" pitchFamily="18" charset="0"/>
                            </a:rPr>
                            <m:t>𝑖</m:t>
                          </m:r>
                        </m:sub>
                        <m:sup>
                          <m:r>
                            <a:rPr lang="ar-AE" i="1">
                              <a:solidFill>
                                <a:schemeClr val="tx1"/>
                              </a:solidFill>
                              <a:latin typeface="Cambria Math" panose="02040503050406030204" pitchFamily="18" charset="0"/>
                            </a:rPr>
                            <m:t>𝑛</m:t>
                          </m:r>
                        </m:sup>
                        <m:e>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𝑥</m:t>
                              </m:r>
                            </m:e>
                            <m:sub>
                              <m:r>
                                <a:rPr lang="ar-AE" i="1">
                                  <a:solidFill>
                                    <a:schemeClr val="tx1"/>
                                  </a:solidFill>
                                  <a:latin typeface="Cambria Math" panose="02040503050406030204" pitchFamily="18" charset="0"/>
                                </a:rPr>
                                <m:t>𝑖𝑗</m:t>
                              </m:r>
                            </m:sub>
                          </m:sSub>
                        </m:e>
                      </m:nary>
                      <m:r>
                        <a:rPr lang="ar-AE">
                          <a:solidFill>
                            <a:schemeClr val="tx1"/>
                          </a:solidFill>
                          <a:latin typeface="Cambria Math" panose="02040503050406030204" pitchFamily="18" charset="0"/>
                        </a:rPr>
                        <m:t>=</m:t>
                      </m:r>
                      <m:r>
                        <a:rPr lang="ar-AE">
                          <a:solidFill>
                            <a:schemeClr val="tx1"/>
                          </a:solidFill>
                          <a:latin typeface="Cambria Math" panose="02040503050406030204" pitchFamily="18" charset="0"/>
                        </a:rPr>
                        <m:t>1</m:t>
                      </m:r>
                      <m:r>
                        <a:rPr lang="ar-AE">
                          <a:solidFill>
                            <a:schemeClr val="tx1"/>
                          </a:solidFill>
                          <a:latin typeface="Cambria Math" panose="02040503050406030204" pitchFamily="18" charset="0"/>
                        </a:rPr>
                        <m:t>, </m:t>
                      </m:r>
                      <m:r>
                        <a:rPr lang="ar-AE" i="1">
                          <a:solidFill>
                            <a:schemeClr val="tx1"/>
                          </a:solidFill>
                          <a:latin typeface="Cambria Math" panose="02040503050406030204" pitchFamily="18" charset="0"/>
                        </a:rPr>
                        <m:t>𝑖</m:t>
                      </m:r>
                      <m:r>
                        <a:rPr lang="ar-AE">
                          <a:solidFill>
                            <a:schemeClr val="tx1"/>
                          </a:solidFill>
                          <a:latin typeface="Cambria Math" panose="02040503050406030204" pitchFamily="18" charset="0"/>
                        </a:rPr>
                        <m:t>=</m:t>
                      </m:r>
                      <m:r>
                        <a:rPr lang="ar-AE">
                          <a:solidFill>
                            <a:schemeClr val="tx1"/>
                          </a:solidFill>
                          <a:latin typeface="Cambria Math" panose="02040503050406030204" pitchFamily="18" charset="0"/>
                        </a:rPr>
                        <m:t>1</m:t>
                      </m:r>
                      <m:r>
                        <a:rPr lang="ar-AE">
                          <a:solidFill>
                            <a:schemeClr val="tx1"/>
                          </a:solidFill>
                          <a:latin typeface="Cambria Math" panose="02040503050406030204" pitchFamily="18" charset="0"/>
                        </a:rPr>
                        <m:t>,</m:t>
                      </m:r>
                      <m:r>
                        <a:rPr lang="ar-AE">
                          <a:solidFill>
                            <a:schemeClr val="tx1"/>
                          </a:solidFill>
                          <a:latin typeface="Cambria Math" panose="02040503050406030204" pitchFamily="18" charset="0"/>
                        </a:rPr>
                        <m:t>2</m:t>
                      </m:r>
                      <m:r>
                        <a:rPr lang="ar-AE">
                          <a:solidFill>
                            <a:schemeClr val="tx1"/>
                          </a:solidFill>
                          <a:latin typeface="Cambria Math" panose="02040503050406030204" pitchFamily="18" charset="0"/>
                        </a:rPr>
                        <m:t>,…,</m:t>
                      </m:r>
                      <m:r>
                        <a:rPr lang="ar-AE" i="1">
                          <a:solidFill>
                            <a:schemeClr val="tx1"/>
                          </a:solidFill>
                          <a:latin typeface="Cambria Math" panose="02040503050406030204" pitchFamily="18" charset="0"/>
                        </a:rPr>
                        <m:t>𝑛</m:t>
                      </m:r>
                      <m:r>
                        <a:rPr lang="ar-AE">
                          <a:solidFill>
                            <a:schemeClr val="tx1"/>
                          </a:solidFill>
                          <a:latin typeface="Cambria Math" panose="02040503050406030204" pitchFamily="18" charset="0"/>
                        </a:rPr>
                        <m:t>−</m:t>
                      </m:r>
                      <m:r>
                        <a:rPr lang="ar-AE">
                          <a:solidFill>
                            <a:schemeClr val="tx1"/>
                          </a:solidFill>
                          <a:latin typeface="Cambria Math" panose="02040503050406030204" pitchFamily="18" charset="0"/>
                        </a:rPr>
                        <m:t>1</m:t>
                      </m:r>
                    </m:oMath>
                  </m:oMathPara>
                </a14:m>
                <a:endParaRPr lang="ar-AE" dirty="0">
                  <a:solidFill>
                    <a:schemeClr val="tx1"/>
                  </a:solidFill>
                </a:endParaRPr>
              </a:p>
              <a:p>
                <a:endParaRPr lang="en-IN" dirty="0">
                  <a:solidFill>
                    <a:schemeClr val="tx1"/>
                  </a:solidFill>
                </a:endParaRPr>
              </a:p>
            </p:txBody>
          </p:sp>
        </mc:Choice>
        <mc:Fallback xmlns="">
          <p:sp>
            <p:nvSpPr>
              <p:cNvPr id="3" name="Text Placeholder 2">
                <a:extLst>
                  <a:ext uri="{FF2B5EF4-FFF2-40B4-BE49-F238E27FC236}">
                    <a16:creationId xmlns:a16="http://schemas.microsoft.com/office/drawing/2014/main" id="{BFF6FEC8-4BC4-A110-66BD-06249D3CC298}"/>
                  </a:ext>
                </a:extLst>
              </p:cNvPr>
              <p:cNvSpPr>
                <a:spLocks noGrp="1" noRot="1" noChangeAspect="1" noMove="1" noResize="1" noEditPoints="1" noAdjustHandles="1" noChangeArrowheads="1" noChangeShapeType="1" noTextEdit="1"/>
              </p:cNvSpPr>
              <p:nvPr>
                <p:ph type="body" idx="1"/>
              </p:nvPr>
            </p:nvSpPr>
            <p:spPr>
              <a:xfrm>
                <a:off x="604911" y="407964"/>
                <a:ext cx="10742539" cy="6063174"/>
              </a:xfrm>
              <a:blipFill>
                <a:blip r:embed="rId2"/>
                <a:stretch>
                  <a:fillRect l="-851" t="-1407"/>
                </a:stretch>
              </a:blipFill>
            </p:spPr>
            <p:txBody>
              <a:bodyPr/>
              <a:lstStyle/>
              <a:p>
                <a:r>
                  <a:rPr lang="en-IN">
                    <a:noFill/>
                  </a:rPr>
                  <a:t> </a:t>
                </a:r>
              </a:p>
            </p:txBody>
          </p:sp>
        </mc:Fallback>
      </mc:AlternateContent>
    </p:spTree>
    <p:extLst>
      <p:ext uri="{BB962C8B-B14F-4D97-AF65-F5344CB8AC3E}">
        <p14:creationId xmlns:p14="http://schemas.microsoft.com/office/powerpoint/2010/main" val="600855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7E1C277-4EE7-867B-A6A9-728F21C84589}"/>
                  </a:ext>
                </a:extLst>
              </p:cNvPr>
              <p:cNvSpPr>
                <a:spLocks noGrp="1"/>
              </p:cNvSpPr>
              <p:nvPr>
                <p:ph type="title"/>
              </p:nvPr>
            </p:nvSpPr>
            <p:spPr>
              <a:xfrm>
                <a:off x="838200" y="411162"/>
                <a:ext cx="10515600" cy="6035675"/>
              </a:xfrm>
            </p:spPr>
            <p:txBody>
              <a:bodyPr>
                <a:normAutofit/>
              </a:bodyPr>
              <a:lstStyle/>
              <a:p>
                <a:pPr/>
                <a:r>
                  <a:rPr lang="en-IN" sz="2800" dirty="0">
                    <a:solidFill>
                      <a:schemeClr val="tx1"/>
                    </a:solidFill>
                    <a:latin typeface="+mn-lt"/>
                  </a:rPr>
                  <a:t>The objective function is then</a:t>
                </a:r>
                <a:br>
                  <a:rPr lang="en-IN" sz="2800" dirty="0">
                    <a:solidFill>
                      <a:schemeClr val="tx1"/>
                    </a:solidFill>
                    <a:latin typeface="+mn-lt"/>
                  </a:rPr>
                </a:br>
                <a:br>
                  <a:rPr lang="en-IN" sz="2800" dirty="0">
                    <a:solidFill>
                      <a:schemeClr val="tx1"/>
                    </a:solidFill>
                    <a:latin typeface="+mn-lt"/>
                  </a:rPr>
                </a:br>
                <a:br>
                  <a:rPr lang="en-IN" sz="2800" dirty="0">
                    <a:solidFill>
                      <a:schemeClr val="tx1"/>
                    </a:solidFill>
                    <a:latin typeface="+mn-lt"/>
                  </a:rPr>
                </a:br>
                <a:br>
                  <a:rPr lang="en-IN" sz="2800" dirty="0">
                    <a:solidFill>
                      <a:schemeClr val="tx1"/>
                    </a:solidFill>
                    <a:latin typeface="+mn-lt"/>
                  </a:rPr>
                </a:br>
                <a:br>
                  <a:rPr lang="en-IN" sz="2800" dirty="0">
                    <a:solidFill>
                      <a:schemeClr val="tx1"/>
                    </a:solidFill>
                    <a:latin typeface="+mn-lt"/>
                  </a:rPr>
                </a:br>
                <a:br>
                  <a:rPr lang="en-IN" sz="2800" dirty="0">
                    <a:latin typeface="+mn-lt"/>
                  </a:rPr>
                </a:br>
                <a:br>
                  <a:rPr lang="en-IN" sz="2800" dirty="0">
                    <a:solidFill>
                      <a:schemeClr val="tx1"/>
                    </a:solidFill>
                    <a:latin typeface="+mn-lt"/>
                  </a:rPr>
                </a:br>
                <a:r>
                  <a:rPr lang="en-IN" sz="2800" dirty="0">
                    <a:solidFill>
                      <a:schemeClr val="tx1"/>
                    </a:solidFill>
                    <a:latin typeface="+mn-lt"/>
                  </a:rPr>
                  <a:t>Since </a:t>
                </a:r>
                <a14:m>
                  <m:oMath xmlns:m="http://schemas.openxmlformats.org/officeDocument/2006/math">
                    <m:sSub>
                      <m:sSubPr>
                        <m:ctrlPr>
                          <a:rPr lang="ar-AE" sz="2800" i="1">
                            <a:solidFill>
                              <a:schemeClr val="tx1"/>
                            </a:solidFill>
                            <a:latin typeface="Cambria Math" panose="02040503050406030204" pitchFamily="18" charset="0"/>
                          </a:rPr>
                        </m:ctrlPr>
                      </m:sSubPr>
                      <m:e>
                        <m:r>
                          <a:rPr lang="ar-AE" sz="2800" i="1">
                            <a:solidFill>
                              <a:schemeClr val="tx1"/>
                            </a:solidFill>
                            <a:latin typeface="Cambria Math" panose="02040503050406030204" pitchFamily="18" charset="0"/>
                          </a:rPr>
                          <m:t>𝑑</m:t>
                        </m:r>
                      </m:e>
                      <m:sub>
                        <m:r>
                          <a:rPr lang="ar-AE" sz="2800" i="1">
                            <a:solidFill>
                              <a:schemeClr val="tx1"/>
                            </a:solidFill>
                            <a:latin typeface="Cambria Math" panose="02040503050406030204" pitchFamily="18" charset="0"/>
                          </a:rPr>
                          <m:t>𝑗𝑖</m:t>
                        </m:r>
                      </m:sub>
                    </m:sSub>
                    <m:r>
                      <a:rPr lang="ar-AE" sz="2800">
                        <a:solidFill>
                          <a:schemeClr val="tx1"/>
                        </a:solidFill>
                        <a:latin typeface="Cambria Math" panose="02040503050406030204" pitchFamily="18" charset="0"/>
                      </a:rPr>
                      <m:t>=</m:t>
                    </m:r>
                    <m:sSub>
                      <m:sSubPr>
                        <m:ctrlPr>
                          <a:rPr lang="ar-AE" sz="2800" i="1">
                            <a:solidFill>
                              <a:schemeClr val="tx1"/>
                            </a:solidFill>
                            <a:latin typeface="Cambria Math" panose="02040503050406030204" pitchFamily="18" charset="0"/>
                          </a:rPr>
                        </m:ctrlPr>
                      </m:sSubPr>
                      <m:e>
                        <m:r>
                          <a:rPr lang="ar-AE" sz="2800" i="1">
                            <a:solidFill>
                              <a:schemeClr val="tx1"/>
                            </a:solidFill>
                            <a:latin typeface="Cambria Math" panose="02040503050406030204" pitchFamily="18" charset="0"/>
                          </a:rPr>
                          <m:t>𝑑</m:t>
                        </m:r>
                      </m:e>
                      <m:sub>
                        <m:r>
                          <a:rPr lang="ar-AE" sz="2800" i="1">
                            <a:solidFill>
                              <a:schemeClr val="tx1"/>
                            </a:solidFill>
                            <a:latin typeface="Cambria Math" panose="02040503050406030204" pitchFamily="18" charset="0"/>
                          </a:rPr>
                          <m:t>𝑖𝑗</m:t>
                        </m:r>
                      </m:sub>
                    </m:sSub>
                  </m:oMath>
                </a14:m>
                <a:r>
                  <a:rPr lang="en-IN" sz="2800" dirty="0">
                    <a:solidFill>
                      <a:schemeClr val="tx1"/>
                    </a:solidFill>
                    <a:latin typeface="+mn-lt"/>
                  </a:rPr>
                  <a:t>is not required, therefore </a:t>
                </a:r>
                <a14:m>
                  <m:oMath xmlns:m="http://schemas.openxmlformats.org/officeDocument/2006/math">
                    <m:sSub>
                      <m:sSubPr>
                        <m:ctrlPr>
                          <a:rPr lang="ar-AE" sz="2800" i="1">
                            <a:solidFill>
                              <a:schemeClr val="tx1"/>
                            </a:solidFill>
                            <a:latin typeface="Cambria Math" panose="02040503050406030204" pitchFamily="18" charset="0"/>
                          </a:rPr>
                        </m:ctrlPr>
                      </m:sSubPr>
                      <m:e>
                        <m:r>
                          <a:rPr lang="ar-AE" sz="2800" i="1">
                            <a:solidFill>
                              <a:schemeClr val="tx1"/>
                            </a:solidFill>
                            <a:latin typeface="Cambria Math" panose="02040503050406030204" pitchFamily="18" charset="0"/>
                          </a:rPr>
                          <m:t>𝑑</m:t>
                        </m:r>
                      </m:e>
                      <m:sub>
                        <m:r>
                          <a:rPr lang="ar-AE" sz="2800" i="1">
                            <a:solidFill>
                              <a:schemeClr val="tx1"/>
                            </a:solidFill>
                            <a:latin typeface="Cambria Math" panose="02040503050406030204" pitchFamily="18" charset="0"/>
                          </a:rPr>
                          <m:t>𝑖𝑗</m:t>
                        </m:r>
                      </m:sub>
                    </m:sSub>
                    <m:r>
                      <a:rPr lang="ar-AE" sz="2800">
                        <a:solidFill>
                          <a:schemeClr val="tx1"/>
                        </a:solidFill>
                        <a:latin typeface="Cambria Math" panose="02040503050406030204" pitchFamily="18" charset="0"/>
                      </a:rPr>
                      <m:t>=</m:t>
                    </m:r>
                    <m:r>
                      <a:rPr lang="ar-AE" sz="2800">
                        <a:solidFill>
                          <a:schemeClr val="tx1"/>
                        </a:solidFill>
                        <a:latin typeface="Cambria Math" panose="02040503050406030204" pitchFamily="18" charset="0"/>
                      </a:rPr>
                      <m:t>∞</m:t>
                    </m:r>
                  </m:oMath>
                </a14:m>
                <a:r>
                  <a:rPr lang="en-IN" sz="2800" dirty="0">
                    <a:solidFill>
                      <a:schemeClr val="tx1"/>
                    </a:solidFill>
                    <a:latin typeface="+mn-lt"/>
                  </a:rPr>
                  <a:t>for </a:t>
                </a:r>
                <a14:m>
                  <m:oMath xmlns:m="http://schemas.openxmlformats.org/officeDocument/2006/math">
                    <m:r>
                      <a:rPr lang="en-IN" sz="2800" i="1">
                        <a:solidFill>
                          <a:schemeClr val="tx1"/>
                        </a:solidFill>
                        <a:latin typeface="Cambria Math" panose="02040503050406030204" pitchFamily="18" charset="0"/>
                      </a:rPr>
                      <m:t>𝑖</m:t>
                    </m:r>
                    <m:r>
                      <a:rPr lang="en-IN" sz="2800">
                        <a:solidFill>
                          <a:schemeClr val="tx1"/>
                        </a:solidFill>
                        <a:latin typeface="Cambria Math" panose="02040503050406030204" pitchFamily="18" charset="0"/>
                      </a:rPr>
                      <m:t>=</m:t>
                    </m:r>
                    <m:r>
                      <a:rPr lang="en-IN" sz="2800" i="1">
                        <a:solidFill>
                          <a:schemeClr val="tx1"/>
                        </a:solidFill>
                        <a:latin typeface="Cambria Math" panose="02040503050406030204" pitchFamily="18" charset="0"/>
                      </a:rPr>
                      <m:t>𝑗</m:t>
                    </m:r>
                  </m:oMath>
                </a14:m>
                <a:r>
                  <a:rPr lang="en-IN" sz="2800" dirty="0">
                    <a:solidFill>
                      <a:schemeClr val="tx1"/>
                    </a:solidFill>
                    <a:latin typeface="+mn-lt"/>
                  </a:rPr>
                  <a:t>.</a:t>
                </a:r>
                <a:br>
                  <a:rPr lang="en-IN" sz="2800" dirty="0">
                    <a:solidFill>
                      <a:schemeClr val="tx1"/>
                    </a:solidFill>
                    <a:latin typeface="+mn-lt"/>
                  </a:rPr>
                </a:br>
                <a:r>
                  <a:rPr lang="en-IN" sz="2800" dirty="0">
                    <a:solidFill>
                      <a:schemeClr val="tx1"/>
                    </a:solidFill>
                    <a:latin typeface="+mn-lt"/>
                  </a:rPr>
                  <a:t>However, all </a:t>
                </a:r>
                <a14:m>
                  <m:oMath xmlns:m="http://schemas.openxmlformats.org/officeDocument/2006/math">
                    <m:sSub>
                      <m:sSubPr>
                        <m:ctrlPr>
                          <a:rPr lang="ar-AE" sz="2800" i="1">
                            <a:solidFill>
                              <a:schemeClr val="tx1"/>
                            </a:solidFill>
                            <a:latin typeface="Cambria Math" panose="02040503050406030204" pitchFamily="18" charset="0"/>
                          </a:rPr>
                        </m:ctrlPr>
                      </m:sSubPr>
                      <m:e>
                        <m:r>
                          <a:rPr lang="ar-AE" sz="2800" i="1">
                            <a:solidFill>
                              <a:schemeClr val="tx1"/>
                            </a:solidFill>
                            <a:latin typeface="Cambria Math" panose="02040503050406030204" pitchFamily="18" charset="0"/>
                          </a:rPr>
                          <m:t>𝑑</m:t>
                        </m:r>
                      </m:e>
                      <m:sub>
                        <m:r>
                          <a:rPr lang="ar-AE" sz="2800" i="1">
                            <a:solidFill>
                              <a:schemeClr val="tx1"/>
                            </a:solidFill>
                            <a:latin typeface="Cambria Math" panose="02040503050406030204" pitchFamily="18" charset="0"/>
                          </a:rPr>
                          <m:t>𝑖𝑗</m:t>
                        </m:r>
                      </m:sub>
                    </m:sSub>
                  </m:oMath>
                </a14:m>
                <a:r>
                  <a:rPr lang="en-IN" sz="2800" dirty="0">
                    <a:solidFill>
                      <a:schemeClr val="tx1"/>
                    </a:solidFill>
                    <a:latin typeface="+mn-lt"/>
                  </a:rPr>
                  <a:t>s must be non-negative, i.e.,</a:t>
                </a:r>
                <a:br>
                  <a:rPr lang="en-IN" sz="2800" dirty="0">
                    <a:solidFill>
                      <a:schemeClr val="tx1"/>
                    </a:solidFill>
                    <a:latin typeface="+mn-lt"/>
                  </a:rPr>
                </a:br>
                <a14:m>
                  <m:oMathPara xmlns:m="http://schemas.openxmlformats.org/officeDocument/2006/math">
                    <m:oMathParaPr>
                      <m:jc m:val="centerGroup"/>
                    </m:oMathParaPr>
                    <m:oMath xmlns:m="http://schemas.openxmlformats.org/officeDocument/2006/math">
                      <m:sSub>
                        <m:sSubPr>
                          <m:ctrlPr>
                            <a:rPr lang="ar-AE" sz="2800" i="1">
                              <a:solidFill>
                                <a:schemeClr val="tx1"/>
                              </a:solidFill>
                              <a:latin typeface="Cambria Math" panose="02040503050406030204" pitchFamily="18" charset="0"/>
                            </a:rPr>
                          </m:ctrlPr>
                        </m:sSubPr>
                        <m:e>
                          <m:r>
                            <a:rPr lang="ar-AE" sz="2800" i="1">
                              <a:solidFill>
                                <a:schemeClr val="tx1"/>
                              </a:solidFill>
                              <a:latin typeface="Cambria Math" panose="02040503050406030204" pitchFamily="18" charset="0"/>
                            </a:rPr>
                            <m:t>𝑑</m:t>
                          </m:r>
                        </m:e>
                        <m:sub>
                          <m:r>
                            <a:rPr lang="ar-AE" sz="2800" i="1">
                              <a:solidFill>
                                <a:schemeClr val="tx1"/>
                              </a:solidFill>
                              <a:latin typeface="Cambria Math" panose="02040503050406030204" pitchFamily="18" charset="0"/>
                            </a:rPr>
                            <m:t>𝑖𝑗</m:t>
                          </m:r>
                        </m:sub>
                      </m:sSub>
                      <m:r>
                        <a:rPr lang="ar-AE" sz="2800">
                          <a:solidFill>
                            <a:schemeClr val="tx1"/>
                          </a:solidFill>
                          <a:latin typeface="Cambria Math" panose="02040503050406030204" pitchFamily="18" charset="0"/>
                        </a:rPr>
                        <m:t>≥</m:t>
                      </m:r>
                      <m:r>
                        <a:rPr lang="ar-AE" sz="2800">
                          <a:solidFill>
                            <a:schemeClr val="tx1"/>
                          </a:solidFill>
                          <a:latin typeface="Cambria Math" panose="02040503050406030204" pitchFamily="18" charset="0"/>
                        </a:rPr>
                        <m:t>0</m:t>
                      </m:r>
                      <m:r>
                        <a:rPr lang="ar-AE" sz="2800">
                          <a:solidFill>
                            <a:schemeClr val="tx1"/>
                          </a:solidFill>
                          <a:latin typeface="Cambria Math" panose="02040503050406030204" pitchFamily="18" charset="0"/>
                        </a:rPr>
                        <m:t> </m:t>
                      </m:r>
                      <m:r>
                        <m:rPr>
                          <m:nor/>
                        </m:rPr>
                        <a:rPr lang="en-IN" sz="2800" i="1">
                          <a:solidFill>
                            <a:schemeClr val="tx1"/>
                          </a:solidFill>
                          <a:latin typeface="+mn-lt"/>
                        </a:rPr>
                        <m:t>and</m:t>
                      </m:r>
                      <m:r>
                        <a:rPr lang="en-IN" sz="2800">
                          <a:solidFill>
                            <a:schemeClr val="tx1"/>
                          </a:solidFill>
                          <a:latin typeface="Cambria Math" panose="02040503050406030204" pitchFamily="18" charset="0"/>
                        </a:rPr>
                        <m:t> </m:t>
                      </m:r>
                      <m:sSub>
                        <m:sSubPr>
                          <m:ctrlPr>
                            <a:rPr lang="ar-AE" sz="2800" i="1">
                              <a:solidFill>
                                <a:schemeClr val="tx1"/>
                              </a:solidFill>
                              <a:latin typeface="Cambria Math" panose="02040503050406030204" pitchFamily="18" charset="0"/>
                            </a:rPr>
                          </m:ctrlPr>
                        </m:sSubPr>
                        <m:e>
                          <m:r>
                            <a:rPr lang="ar-AE" sz="2800" i="1">
                              <a:solidFill>
                                <a:schemeClr val="tx1"/>
                              </a:solidFill>
                              <a:latin typeface="Cambria Math" panose="02040503050406030204" pitchFamily="18" charset="0"/>
                            </a:rPr>
                            <m:t>𝑑</m:t>
                          </m:r>
                        </m:e>
                        <m:sub>
                          <m:r>
                            <a:rPr lang="ar-AE" sz="2800" i="1">
                              <a:solidFill>
                                <a:schemeClr val="tx1"/>
                              </a:solidFill>
                              <a:latin typeface="Cambria Math" panose="02040503050406030204" pitchFamily="18" charset="0"/>
                            </a:rPr>
                            <m:t>𝑖𝑗</m:t>
                          </m:r>
                        </m:sub>
                      </m:sSub>
                      <m:r>
                        <a:rPr lang="ar-AE" sz="2800">
                          <a:solidFill>
                            <a:schemeClr val="tx1"/>
                          </a:solidFill>
                          <a:latin typeface="Cambria Math" panose="02040503050406030204" pitchFamily="18" charset="0"/>
                        </a:rPr>
                        <m:t>+</m:t>
                      </m:r>
                      <m:sSub>
                        <m:sSubPr>
                          <m:ctrlPr>
                            <a:rPr lang="ar-AE" sz="2800" i="1">
                              <a:solidFill>
                                <a:schemeClr val="tx1"/>
                              </a:solidFill>
                              <a:latin typeface="Cambria Math" panose="02040503050406030204" pitchFamily="18" charset="0"/>
                            </a:rPr>
                          </m:ctrlPr>
                        </m:sSubPr>
                        <m:e>
                          <m:r>
                            <a:rPr lang="ar-AE" sz="2800" i="1">
                              <a:solidFill>
                                <a:schemeClr val="tx1"/>
                              </a:solidFill>
                              <a:latin typeface="Cambria Math" panose="02040503050406030204" pitchFamily="18" charset="0"/>
                            </a:rPr>
                            <m:t>𝑑</m:t>
                          </m:r>
                        </m:e>
                        <m:sub>
                          <m:r>
                            <a:rPr lang="ar-AE" sz="2800" i="1">
                              <a:solidFill>
                                <a:schemeClr val="tx1"/>
                              </a:solidFill>
                              <a:latin typeface="Cambria Math" panose="02040503050406030204" pitchFamily="18" charset="0"/>
                            </a:rPr>
                            <m:t>𝑗𝑘</m:t>
                          </m:r>
                        </m:sub>
                      </m:sSub>
                      <m:r>
                        <a:rPr lang="ar-AE" sz="2800">
                          <a:solidFill>
                            <a:schemeClr val="tx1"/>
                          </a:solidFill>
                          <a:latin typeface="Cambria Math" panose="02040503050406030204" pitchFamily="18" charset="0"/>
                        </a:rPr>
                        <m:t>≥</m:t>
                      </m:r>
                      <m:sSub>
                        <m:sSubPr>
                          <m:ctrlPr>
                            <a:rPr lang="ar-AE" sz="2800" i="1">
                              <a:solidFill>
                                <a:schemeClr val="tx1"/>
                              </a:solidFill>
                              <a:latin typeface="Cambria Math" panose="02040503050406030204" pitchFamily="18" charset="0"/>
                            </a:rPr>
                          </m:ctrlPr>
                        </m:sSubPr>
                        <m:e>
                          <m:r>
                            <a:rPr lang="ar-AE" sz="2800" i="1">
                              <a:solidFill>
                                <a:schemeClr val="tx1"/>
                              </a:solidFill>
                              <a:latin typeface="Cambria Math" panose="02040503050406030204" pitchFamily="18" charset="0"/>
                            </a:rPr>
                            <m:t>𝑑</m:t>
                          </m:r>
                        </m:e>
                        <m:sub>
                          <m:r>
                            <a:rPr lang="ar-AE" sz="2800" i="1">
                              <a:solidFill>
                                <a:schemeClr val="tx1"/>
                              </a:solidFill>
                              <a:latin typeface="Cambria Math" panose="02040503050406030204" pitchFamily="18" charset="0"/>
                            </a:rPr>
                            <m:t>𝑖𝑘</m:t>
                          </m:r>
                        </m:sub>
                      </m:sSub>
                      <m:r>
                        <a:rPr lang="ar-AE" sz="2800">
                          <a:solidFill>
                            <a:schemeClr val="tx1"/>
                          </a:solidFill>
                          <a:latin typeface="Cambria Math" panose="02040503050406030204" pitchFamily="18" charset="0"/>
                        </a:rPr>
                        <m:t> </m:t>
                      </m:r>
                      <m:r>
                        <m:rPr>
                          <m:nor/>
                        </m:rPr>
                        <a:rPr lang="en-IN" sz="2800" i="1">
                          <a:solidFill>
                            <a:schemeClr val="tx1"/>
                          </a:solidFill>
                          <a:latin typeface="+mn-lt"/>
                        </a:rPr>
                        <m:t>for</m:t>
                      </m:r>
                      <m:r>
                        <m:rPr>
                          <m:nor/>
                        </m:rPr>
                        <a:rPr lang="en-IN" sz="2800" i="1">
                          <a:solidFill>
                            <a:schemeClr val="tx1"/>
                          </a:solidFill>
                          <a:latin typeface="+mn-lt"/>
                        </a:rPr>
                        <m:t> </m:t>
                      </m:r>
                      <m:r>
                        <m:rPr>
                          <m:nor/>
                        </m:rPr>
                        <a:rPr lang="en-IN" sz="2800" i="1">
                          <a:solidFill>
                            <a:schemeClr val="tx1"/>
                          </a:solidFill>
                          <a:latin typeface="+mn-lt"/>
                        </a:rPr>
                        <m:t>all</m:t>
                      </m:r>
                      <m:r>
                        <m:rPr>
                          <m:nor/>
                        </m:rPr>
                        <a:rPr lang="en-IN" sz="2800" i="1">
                          <a:solidFill>
                            <a:schemeClr val="tx1"/>
                          </a:solidFill>
                          <a:latin typeface="+mn-lt"/>
                        </a:rPr>
                        <m:t> </m:t>
                      </m:r>
                      <m:r>
                        <a:rPr lang="en-IN" sz="2800" i="1">
                          <a:solidFill>
                            <a:schemeClr val="tx1"/>
                          </a:solidFill>
                          <a:latin typeface="Cambria Math" panose="02040503050406030204" pitchFamily="18" charset="0"/>
                        </a:rPr>
                        <m:t>𝑖</m:t>
                      </m:r>
                      <m:r>
                        <a:rPr lang="en-IN" sz="2800">
                          <a:solidFill>
                            <a:schemeClr val="tx1"/>
                          </a:solidFill>
                          <a:latin typeface="Cambria Math" panose="02040503050406030204" pitchFamily="18" charset="0"/>
                        </a:rPr>
                        <m:t>,</m:t>
                      </m:r>
                      <m:r>
                        <a:rPr lang="en-IN" sz="2800" i="1">
                          <a:solidFill>
                            <a:schemeClr val="tx1"/>
                          </a:solidFill>
                          <a:latin typeface="Cambria Math" panose="02040503050406030204" pitchFamily="18" charset="0"/>
                        </a:rPr>
                        <m:t>𝑗</m:t>
                      </m:r>
                      <m:r>
                        <a:rPr lang="en-IN" sz="2800">
                          <a:solidFill>
                            <a:schemeClr val="tx1"/>
                          </a:solidFill>
                          <a:latin typeface="Cambria Math" panose="02040503050406030204" pitchFamily="18" charset="0"/>
                        </a:rPr>
                        <m:t>,</m:t>
                      </m:r>
                      <m:r>
                        <a:rPr lang="en-IN" sz="2800" i="1">
                          <a:solidFill>
                            <a:schemeClr val="tx1"/>
                          </a:solidFill>
                          <a:latin typeface="Cambria Math" panose="02040503050406030204" pitchFamily="18" charset="0"/>
                        </a:rPr>
                        <m:t>𝑘</m:t>
                      </m:r>
                      <m:r>
                        <a:rPr lang="en-IN" sz="2800">
                          <a:solidFill>
                            <a:schemeClr val="tx1"/>
                          </a:solidFill>
                          <a:latin typeface="Cambria Math" panose="02040503050406030204" pitchFamily="18" charset="0"/>
                        </a:rPr>
                        <m:t>.</m:t>
                      </m:r>
                    </m:oMath>
                  </m:oMathPara>
                </a14:m>
                <a:endParaRPr lang="en-IN" sz="2800" b="0" dirty="0">
                  <a:solidFill>
                    <a:schemeClr val="tx1"/>
                  </a:solidFill>
                  <a:latin typeface="+mn-lt"/>
                </a:endParaRPr>
              </a:p>
            </p:txBody>
          </p:sp>
        </mc:Choice>
        <mc:Fallback xmlns="">
          <p:sp>
            <p:nvSpPr>
              <p:cNvPr id="2" name="Title 1">
                <a:extLst>
                  <a:ext uri="{FF2B5EF4-FFF2-40B4-BE49-F238E27FC236}">
                    <a16:creationId xmlns:a16="http://schemas.microsoft.com/office/drawing/2014/main" id="{07E1C277-4EE7-867B-A6A9-728F21C84589}"/>
                  </a:ext>
                </a:extLst>
              </p:cNvPr>
              <p:cNvSpPr>
                <a:spLocks noGrp="1" noRot="1" noChangeAspect="1" noMove="1" noResize="1" noEditPoints="1" noAdjustHandles="1" noChangeArrowheads="1" noChangeShapeType="1" noTextEdit="1"/>
              </p:cNvSpPr>
              <p:nvPr>
                <p:ph type="title"/>
              </p:nvPr>
            </p:nvSpPr>
            <p:spPr>
              <a:xfrm>
                <a:off x="838200" y="411162"/>
                <a:ext cx="10515600" cy="6035675"/>
              </a:xfrm>
              <a:blipFill>
                <a:blip r:embed="rId2"/>
                <a:stretch>
                  <a:fillRect l="-121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196FF41-A151-8EA0-43D6-840D5436205E}"/>
                  </a:ext>
                </a:extLst>
              </p:cNvPr>
              <p:cNvSpPr txBox="1"/>
              <p:nvPr/>
            </p:nvSpPr>
            <p:spPr>
              <a:xfrm>
                <a:off x="1856934" y="2574388"/>
                <a:ext cx="7469945" cy="21209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IN" sz="2800" i="1" smtClean="0">
                              <a:latin typeface="Cambria Math" panose="02040503050406030204" pitchFamily="18" charset="0"/>
                            </a:rPr>
                          </m:ctrlPr>
                        </m:funcPr>
                        <m:fName>
                          <m:r>
                            <m:rPr>
                              <m:sty m:val="p"/>
                            </m:rPr>
                            <a:rPr lang="en-IN" sz="2800" i="0">
                              <a:latin typeface="Cambria Math" panose="02040503050406030204" pitchFamily="18" charset="0"/>
                            </a:rPr>
                            <m:t>min</m:t>
                          </m:r>
                        </m:fName>
                        <m:e>
                          <m:r>
                            <a:rPr lang="en-IN" sz="2800" i="1">
                              <a:latin typeface="Cambria Math" panose="02040503050406030204" pitchFamily="18" charset="0"/>
                            </a:rPr>
                            <m:t>𝑍</m:t>
                          </m:r>
                        </m:e>
                      </m:func>
                      <m:r>
                        <a:rPr lang="en-IN" sz="2800" i="1">
                          <a:latin typeface="Cambria Math" panose="02040503050406030204" pitchFamily="18" charset="0"/>
                        </a:rPr>
                        <m:t>=</m:t>
                      </m:r>
                      <m:nary>
                        <m:naryPr>
                          <m:chr m:val="∑"/>
                          <m:ctrlPr>
                            <a:rPr lang="en-IN" sz="2800" i="1">
                              <a:latin typeface="Cambria Math" panose="02040503050406030204" pitchFamily="18" charset="0"/>
                            </a:rPr>
                          </m:ctrlPr>
                        </m:naryPr>
                        <m:sub>
                          <m:r>
                            <a:rPr lang="en-IN" sz="2800" i="1">
                              <a:latin typeface="Cambria Math" panose="02040503050406030204" pitchFamily="18" charset="0"/>
                            </a:rPr>
                            <m:t>𝑖</m:t>
                          </m:r>
                          <m:r>
                            <a:rPr lang="en-IN" sz="2800" i="1">
                              <a:latin typeface="Cambria Math" panose="02040503050406030204" pitchFamily="18" charset="0"/>
                            </a:rPr>
                            <m:t>=</m:t>
                          </m:r>
                          <m:r>
                            <a:rPr lang="en-IN" sz="2800" i="1">
                              <a:latin typeface="Cambria Math" panose="02040503050406030204" pitchFamily="18" charset="0"/>
                            </a:rPr>
                            <m:t>1</m:t>
                          </m:r>
                        </m:sub>
                        <m:sup>
                          <m:r>
                            <a:rPr lang="en-IN" sz="2800" i="1">
                              <a:latin typeface="Cambria Math" panose="02040503050406030204" pitchFamily="18" charset="0"/>
                            </a:rPr>
                            <m:t>𝑛</m:t>
                          </m:r>
                          <m:r>
                            <a:rPr lang="en-IN" sz="2800" i="1">
                              <a:latin typeface="Cambria Math" panose="02040503050406030204" pitchFamily="18" charset="0"/>
                            </a:rPr>
                            <m:t>−</m:t>
                          </m:r>
                          <m:r>
                            <a:rPr lang="en-IN" sz="2800" i="1">
                              <a:latin typeface="Cambria Math" panose="02040503050406030204" pitchFamily="18" charset="0"/>
                            </a:rPr>
                            <m:t>1</m:t>
                          </m:r>
                        </m:sup>
                        <m:e>
                          <m:nary>
                            <m:naryPr>
                              <m:chr m:val="∑"/>
                              <m:ctrlPr>
                                <a:rPr lang="en-IN" sz="2800" i="1">
                                  <a:latin typeface="Cambria Math" panose="02040503050406030204" pitchFamily="18" charset="0"/>
                                </a:rPr>
                              </m:ctrlPr>
                            </m:naryPr>
                            <m:sub>
                              <m:r>
                                <a:rPr lang="en-IN" sz="2800" i="1">
                                  <a:latin typeface="Cambria Math" panose="02040503050406030204" pitchFamily="18" charset="0"/>
                                </a:rPr>
                                <m:t>𝑗</m:t>
                              </m:r>
                              <m:r>
                                <a:rPr lang="en-IN" sz="2800" i="1">
                                  <a:latin typeface="Cambria Math" panose="02040503050406030204" pitchFamily="18" charset="0"/>
                                </a:rPr>
                                <m:t>=</m:t>
                              </m:r>
                              <m:r>
                                <a:rPr lang="en-IN" sz="2800" i="1">
                                  <a:latin typeface="Cambria Math" panose="02040503050406030204" pitchFamily="18" charset="0"/>
                                </a:rPr>
                                <m:t>1</m:t>
                              </m:r>
                            </m:sub>
                            <m:sup>
                              <m:r>
                                <a:rPr lang="en-IN" sz="2800" i="1">
                                  <a:latin typeface="Cambria Math" panose="02040503050406030204" pitchFamily="18" charset="0"/>
                                </a:rPr>
                                <m:t>𝑛</m:t>
                              </m:r>
                            </m:sup>
                            <m:e>
                              <m:sSub>
                                <m:sSubPr>
                                  <m:ctrlPr>
                                    <a:rPr lang="en-IN" sz="2800" i="1">
                                      <a:latin typeface="Cambria Math" panose="02040503050406030204" pitchFamily="18" charset="0"/>
                                    </a:rPr>
                                  </m:ctrlPr>
                                </m:sSubPr>
                                <m:e>
                                  <m:r>
                                    <a:rPr lang="en-IN" sz="2800" i="1">
                                      <a:latin typeface="Cambria Math" panose="02040503050406030204" pitchFamily="18" charset="0"/>
                                    </a:rPr>
                                    <m:t>𝑑</m:t>
                                  </m:r>
                                </m:e>
                                <m:sub>
                                  <m:r>
                                    <a:rPr lang="en-IN" sz="2800" i="1">
                                      <a:latin typeface="Cambria Math" panose="02040503050406030204" pitchFamily="18" charset="0"/>
                                    </a:rPr>
                                    <m:t>𝑖𝑗</m:t>
                                  </m:r>
                                </m:sub>
                              </m:sSub>
                              <m:sSub>
                                <m:sSubPr>
                                  <m:ctrlPr>
                                    <a:rPr lang="en-IN" sz="2800" i="1">
                                      <a:latin typeface="Cambria Math" panose="02040503050406030204" pitchFamily="18" charset="0"/>
                                    </a:rPr>
                                  </m:ctrlPr>
                                </m:sSubPr>
                                <m:e>
                                  <m:r>
                                    <a:rPr lang="en-IN" sz="2800" i="1">
                                      <a:latin typeface="Cambria Math" panose="02040503050406030204" pitchFamily="18" charset="0"/>
                                    </a:rPr>
                                    <m:t>𝑥</m:t>
                                  </m:r>
                                </m:e>
                                <m:sub>
                                  <m:r>
                                    <a:rPr lang="en-IN" sz="2800" i="1">
                                      <a:latin typeface="Cambria Math" panose="02040503050406030204" pitchFamily="18" charset="0"/>
                                    </a:rPr>
                                    <m:t>𝑖𝑗</m:t>
                                  </m:r>
                                </m:sub>
                              </m:sSub>
                            </m:e>
                          </m:nary>
                        </m:e>
                      </m:nary>
                    </m:oMath>
                  </m:oMathPara>
                </a14:m>
                <a:endParaRPr lang="en-US" sz="2800" i="1" dirty="0">
                  <a:latin typeface="Cambria Math" panose="02040503050406030204" pitchFamily="18" charset="0"/>
                </a:endParaRPr>
              </a:p>
              <a:p>
                <a:endParaRPr lang="en-US" sz="2800" i="1" dirty="0">
                  <a:latin typeface="Cambria Math" panose="02040503050406030204" pitchFamily="18" charset="0"/>
                </a:endParaRPr>
              </a:p>
              <a:p>
                <a:endParaRPr lang="en-IN" sz="2800" dirty="0"/>
              </a:p>
            </p:txBody>
          </p:sp>
        </mc:Choice>
        <mc:Fallback xmlns="">
          <p:sp>
            <p:nvSpPr>
              <p:cNvPr id="7" name="TextBox 6">
                <a:extLst>
                  <a:ext uri="{FF2B5EF4-FFF2-40B4-BE49-F238E27FC236}">
                    <a16:creationId xmlns:a16="http://schemas.microsoft.com/office/drawing/2014/main" id="{D196FF41-A151-8EA0-43D6-840D5436205E}"/>
                  </a:ext>
                </a:extLst>
              </p:cNvPr>
              <p:cNvSpPr txBox="1">
                <a:spLocks noRot="1" noChangeAspect="1" noMove="1" noResize="1" noEditPoints="1" noAdjustHandles="1" noChangeArrowheads="1" noChangeShapeType="1" noTextEdit="1"/>
              </p:cNvSpPr>
              <p:nvPr/>
            </p:nvSpPr>
            <p:spPr>
              <a:xfrm>
                <a:off x="1856934" y="2574388"/>
                <a:ext cx="7469945" cy="2120965"/>
              </a:xfrm>
              <a:prstGeom prst="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300885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80C54-99A4-4C75-62EC-1194008F1E58}"/>
              </a:ext>
            </a:extLst>
          </p:cNvPr>
          <p:cNvSpPr>
            <a:spLocks noGrp="1"/>
          </p:cNvSpPr>
          <p:nvPr>
            <p:ph type="title"/>
          </p:nvPr>
        </p:nvSpPr>
        <p:spPr>
          <a:xfrm>
            <a:off x="838200" y="365125"/>
            <a:ext cx="10584766" cy="1140118"/>
          </a:xfrm>
        </p:spPr>
        <p:txBody>
          <a:bodyPr>
            <a:normAutofit fontScale="90000"/>
          </a:bodyPr>
          <a:lstStyle/>
          <a:p>
            <a:r>
              <a:rPr lang="en-US" dirty="0"/>
              <a:t>Need Of TSP</a:t>
            </a:r>
            <a:br>
              <a:rPr lang="en-US" dirty="0"/>
            </a:br>
            <a:endParaRPr lang="en-IN" dirty="0"/>
          </a:p>
        </p:txBody>
      </p:sp>
      <p:sp>
        <p:nvSpPr>
          <p:cNvPr id="5" name="Rectangle 2">
            <a:extLst>
              <a:ext uri="{FF2B5EF4-FFF2-40B4-BE49-F238E27FC236}">
                <a16:creationId xmlns:a16="http://schemas.microsoft.com/office/drawing/2014/main" id="{7254FC52-C356-1AB2-8F2A-2D2DAE149D72}"/>
              </a:ext>
            </a:extLst>
          </p:cNvPr>
          <p:cNvSpPr>
            <a:spLocks noChangeArrowheads="1"/>
          </p:cNvSpPr>
          <p:nvPr/>
        </p:nvSpPr>
        <p:spPr bwMode="auto">
          <a:xfrm rot="10800000" flipV="1">
            <a:off x="522514" y="1178908"/>
            <a:ext cx="10831286"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rPr>
              <a:t>Supply Chain Management:</a:t>
            </a:r>
            <a:r>
              <a:rPr kumimoji="0" lang="en-US" altLang="en-US" sz="2000" b="0" i="0" u="none" strike="noStrike" cap="none" normalizeH="0" baseline="0" dirty="0">
                <a:ln>
                  <a:noFill/>
                </a:ln>
                <a:solidFill>
                  <a:schemeClr val="tx1"/>
                </a:solidFill>
                <a:effectLst/>
              </a:rPr>
              <a:t> Efficient routing between warehouses, factories, and retail stores.</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rPr>
              <a:t>Manufacturing:</a:t>
            </a:r>
            <a:r>
              <a:rPr kumimoji="0" lang="en-US" altLang="en-US" sz="2000" b="0" i="0" u="none" strike="noStrike" cap="none" normalizeH="0" baseline="0" dirty="0">
                <a:ln>
                  <a:noFill/>
                </a:ln>
                <a:solidFill>
                  <a:schemeClr val="tx1"/>
                </a:solidFill>
                <a:effectLst/>
              </a:rPr>
              <a:t> Planning tool paths for machines like drilling, painting, or cutting to reduce operation time.</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rPr>
              <a:t>Travel Planning:</a:t>
            </a:r>
            <a:r>
              <a:rPr kumimoji="0" lang="en-US" altLang="en-US" sz="2000" b="0" i="0" u="none" strike="noStrike" cap="none" normalizeH="0" baseline="0" dirty="0">
                <a:ln>
                  <a:noFill/>
                </a:ln>
                <a:solidFill>
                  <a:schemeClr val="tx1"/>
                </a:solidFill>
                <a:effectLst/>
              </a:rPr>
              <a:t> Designing tours for salespeople, tourists, or service technicians to cover multiple locations efficiently.</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rPr>
              <a:t>Network Design:</a:t>
            </a:r>
            <a:r>
              <a:rPr kumimoji="0" lang="en-US" altLang="en-US" sz="2000" b="0" i="0" u="none" strike="noStrike" cap="none" normalizeH="0" baseline="0" dirty="0">
                <a:ln>
                  <a:noFill/>
                </a:ln>
                <a:solidFill>
                  <a:schemeClr val="tx1"/>
                </a:solidFill>
                <a:effectLst/>
              </a:rPr>
              <a:t> Optimizing wiring, cabling, or data routing in telecommunication and computer networks.</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rPr>
              <a:t>Scheduling and Planning:</a:t>
            </a:r>
            <a:r>
              <a:rPr kumimoji="0" lang="en-US" altLang="en-US" sz="2000" b="0" i="0" u="none" strike="noStrike" cap="none" normalizeH="0" baseline="0" dirty="0">
                <a:ln>
                  <a:noFill/>
                </a:ln>
                <a:solidFill>
                  <a:schemeClr val="tx1"/>
                </a:solidFill>
                <a:effectLst/>
              </a:rPr>
              <a:t> School bus routing, garbage collection, postal delivery routes.</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rPr>
              <a:t>Benchmark for Optimization:</a:t>
            </a:r>
            <a:r>
              <a:rPr kumimoji="0" lang="en-US" altLang="en-US" sz="2000" b="0" i="0" u="none" strike="noStrike" cap="none" normalizeH="0" baseline="0" dirty="0">
                <a:ln>
                  <a:noFill/>
                </a:ln>
                <a:solidFill>
                  <a:schemeClr val="tx1"/>
                </a:solidFill>
                <a:effectLst/>
              </a:rPr>
              <a:t> TSP is used in research to test algorithms for combinatorial optimization and AI routing problems.</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lang="en-US" altLang="en-US" sz="2000" dirty="0"/>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2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355990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D4B2BE-507D-2253-D684-86B4FE6E625D}"/>
              </a:ext>
            </a:extLst>
          </p:cNvPr>
          <p:cNvSpPr txBox="1"/>
          <p:nvPr/>
        </p:nvSpPr>
        <p:spPr>
          <a:xfrm>
            <a:off x="407963" y="647115"/>
            <a:ext cx="11549575" cy="1200329"/>
          </a:xfrm>
          <a:prstGeom prst="rect">
            <a:avLst/>
          </a:prstGeom>
          <a:noFill/>
        </p:spPr>
        <p:txBody>
          <a:bodyPr wrap="square">
            <a:spAutoFit/>
          </a:bodyPr>
          <a:lstStyle/>
          <a:p>
            <a:r>
              <a:rPr lang="en-US" sz="2400" dirty="0"/>
              <a:t>Example: A travelling salesman has to visit five cities. He wishes to start from a particular city, visit each city once and then return to his starting point. The travelling cost (in ’000 Rs) of each city from a particular city is given below:</a:t>
            </a:r>
            <a:endParaRPr lang="en-IN" sz="2400" dirty="0"/>
          </a:p>
        </p:txBody>
      </p:sp>
      <p:pic>
        <p:nvPicPr>
          <p:cNvPr id="2050" name="Picture 2">
            <a:extLst>
              <a:ext uri="{FF2B5EF4-FFF2-40B4-BE49-F238E27FC236}">
                <a16:creationId xmlns:a16="http://schemas.microsoft.com/office/drawing/2014/main" id="{958751CF-E778-8A4E-A427-C50C4C4555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0487" y="2095304"/>
            <a:ext cx="4739347" cy="34597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9336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438D4D-2DD9-1425-1F39-AA403B0B47DF}"/>
              </a:ext>
            </a:extLst>
          </p:cNvPr>
          <p:cNvSpPr txBox="1"/>
          <p:nvPr/>
        </p:nvSpPr>
        <p:spPr>
          <a:xfrm>
            <a:off x="436099" y="618978"/>
            <a:ext cx="11071273" cy="400110"/>
          </a:xfrm>
          <a:prstGeom prst="rect">
            <a:avLst/>
          </a:prstGeom>
          <a:noFill/>
        </p:spPr>
        <p:txBody>
          <a:bodyPr wrap="square" rtlCol="0">
            <a:spAutoFit/>
          </a:bodyPr>
          <a:lstStyle/>
          <a:p>
            <a:r>
              <a:rPr lang="en-US" sz="2000" dirty="0"/>
              <a:t>Step 1  Subtract smallest element from each row</a:t>
            </a:r>
            <a:endParaRPr lang="en-IN" sz="2000" dirty="0"/>
          </a:p>
        </p:txBody>
      </p:sp>
      <p:pic>
        <p:nvPicPr>
          <p:cNvPr id="3074" name="Picture 2" descr="Lightbox">
            <a:extLst>
              <a:ext uri="{FF2B5EF4-FFF2-40B4-BE49-F238E27FC236}">
                <a16:creationId xmlns:a16="http://schemas.microsoft.com/office/drawing/2014/main" id="{BCAB1EC8-0B51-4340-FB4C-AF4C442FEF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957" y="1204106"/>
            <a:ext cx="5025391" cy="274891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204EC5F-751A-1EA9-F0E0-D310F9E0C39F}"/>
              </a:ext>
            </a:extLst>
          </p:cNvPr>
          <p:cNvSpPr txBox="1"/>
          <p:nvPr/>
        </p:nvSpPr>
        <p:spPr>
          <a:xfrm>
            <a:off x="436099" y="4202668"/>
            <a:ext cx="9143999" cy="400110"/>
          </a:xfrm>
          <a:prstGeom prst="rect">
            <a:avLst/>
          </a:prstGeom>
          <a:noFill/>
        </p:spPr>
        <p:txBody>
          <a:bodyPr wrap="square" rtlCol="0">
            <a:spAutoFit/>
          </a:bodyPr>
          <a:lstStyle/>
          <a:p>
            <a:r>
              <a:rPr lang="en-US" sz="2000" dirty="0"/>
              <a:t>Step 2 Subtract smallest element from each column</a:t>
            </a:r>
            <a:endParaRPr lang="en-IN" sz="2000" dirty="0"/>
          </a:p>
        </p:txBody>
      </p:sp>
      <p:pic>
        <p:nvPicPr>
          <p:cNvPr id="3076" name="Picture 4">
            <a:extLst>
              <a:ext uri="{FF2B5EF4-FFF2-40B4-BE49-F238E27FC236}">
                <a16:creationId xmlns:a16="http://schemas.microsoft.com/office/drawing/2014/main" id="{13EBEF5C-DE76-1E78-D2E5-F0607C19BB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6393" y="3193366"/>
            <a:ext cx="4712677" cy="3432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2479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A1460-8792-71E8-2D6E-3F37653AD34F}"/>
              </a:ext>
            </a:extLst>
          </p:cNvPr>
          <p:cNvSpPr>
            <a:spLocks noGrp="1"/>
          </p:cNvSpPr>
          <p:nvPr>
            <p:ph type="title"/>
          </p:nvPr>
        </p:nvSpPr>
        <p:spPr>
          <a:xfrm>
            <a:off x="838200" y="365125"/>
            <a:ext cx="9754772" cy="1325563"/>
          </a:xfrm>
        </p:spPr>
        <p:txBody>
          <a:bodyPr>
            <a:normAutofit/>
          </a:bodyPr>
          <a:lstStyle/>
          <a:p>
            <a:r>
              <a:rPr lang="en-US" sz="2000" dirty="0">
                <a:latin typeface="+mn-lt"/>
              </a:rPr>
              <a:t>Step 3  Make assignment in the matrix</a:t>
            </a:r>
            <a:endParaRPr lang="en-IN" sz="2000" dirty="0">
              <a:latin typeface="+mn-lt"/>
            </a:endParaRPr>
          </a:p>
        </p:txBody>
      </p:sp>
      <p:pic>
        <p:nvPicPr>
          <p:cNvPr id="4098" name="Picture 2">
            <a:extLst>
              <a:ext uri="{FF2B5EF4-FFF2-40B4-BE49-F238E27FC236}">
                <a16:creationId xmlns:a16="http://schemas.microsoft.com/office/drawing/2014/main" id="{BBF31456-E120-D806-C9E6-74670BB2A5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954" y="1690688"/>
            <a:ext cx="5205046" cy="320729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7CF7FE9-1F70-D424-77E7-1F488691D5F3}"/>
              </a:ext>
            </a:extLst>
          </p:cNvPr>
          <p:cNvSpPr txBox="1"/>
          <p:nvPr/>
        </p:nvSpPr>
        <p:spPr>
          <a:xfrm rot="10800000" flipV="1">
            <a:off x="6991643" y="2122637"/>
            <a:ext cx="4867422" cy="1754326"/>
          </a:xfrm>
          <a:prstGeom prst="rect">
            <a:avLst/>
          </a:prstGeom>
          <a:noFill/>
        </p:spPr>
        <p:txBody>
          <a:bodyPr wrap="square" rtlCol="0">
            <a:spAutoFit/>
          </a:bodyPr>
          <a:lstStyle/>
          <a:p>
            <a:r>
              <a:rPr lang="en-US" i="1" dirty="0"/>
              <a:t>The number of assignment is equal to the number of cities and the tour is 1-&gt;5-&gt;1 and 2-&gt;3-&gt;4-&gt;2 </a:t>
            </a:r>
          </a:p>
          <a:p>
            <a:endParaRPr lang="en-US" i="1" dirty="0"/>
          </a:p>
          <a:p>
            <a:endParaRPr lang="en-US" i="1" dirty="0"/>
          </a:p>
          <a:p>
            <a:r>
              <a:rPr lang="en-US" i="1" dirty="0"/>
              <a:t>Hence </a:t>
            </a:r>
            <a:r>
              <a:rPr lang="en-US" dirty="0"/>
              <a:t>this solution is not the optimal solution to the travelling salesman problem </a:t>
            </a:r>
            <a:endParaRPr lang="en-IN" dirty="0"/>
          </a:p>
        </p:txBody>
      </p:sp>
    </p:spTree>
    <p:extLst>
      <p:ext uri="{BB962C8B-B14F-4D97-AF65-F5344CB8AC3E}">
        <p14:creationId xmlns:p14="http://schemas.microsoft.com/office/powerpoint/2010/main" val="4234198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2BB9DC2-7216-997D-54E9-8DE359E51A23}"/>
              </a:ext>
            </a:extLst>
          </p:cNvPr>
          <p:cNvSpPr txBox="1"/>
          <p:nvPr/>
        </p:nvSpPr>
        <p:spPr>
          <a:xfrm>
            <a:off x="675250" y="1125415"/>
            <a:ext cx="10185008" cy="400110"/>
          </a:xfrm>
          <a:prstGeom prst="rect">
            <a:avLst/>
          </a:prstGeom>
          <a:noFill/>
        </p:spPr>
        <p:txBody>
          <a:bodyPr wrap="square" rtlCol="0">
            <a:spAutoFit/>
          </a:bodyPr>
          <a:lstStyle/>
          <a:p>
            <a:r>
              <a:rPr lang="en-US" sz="2000" dirty="0"/>
              <a:t>Step 4 The next best solution can be obtained by bringing the minimum non-zero element</a:t>
            </a:r>
            <a:endParaRPr lang="en-IN" sz="2000" dirty="0"/>
          </a:p>
        </p:txBody>
      </p:sp>
      <p:pic>
        <p:nvPicPr>
          <p:cNvPr id="5122" name="Picture 2">
            <a:extLst>
              <a:ext uri="{FF2B5EF4-FFF2-40B4-BE49-F238E27FC236}">
                <a16:creationId xmlns:a16="http://schemas.microsoft.com/office/drawing/2014/main" id="{66540A3C-3DF4-C312-E2A9-2683FA5A16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2702" y="2020032"/>
            <a:ext cx="5283298" cy="341009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511F817-0A9B-AF43-4EB5-CBB1CF428BF1}"/>
              </a:ext>
            </a:extLst>
          </p:cNvPr>
          <p:cNvSpPr txBox="1"/>
          <p:nvPr/>
        </p:nvSpPr>
        <p:spPr>
          <a:xfrm>
            <a:off x="7258929" y="2180492"/>
            <a:ext cx="4403188" cy="3293209"/>
          </a:xfrm>
          <a:prstGeom prst="rect">
            <a:avLst/>
          </a:prstGeom>
          <a:noFill/>
          <a:ln>
            <a:solidFill>
              <a:schemeClr val="tx1"/>
            </a:solidFill>
          </a:ln>
        </p:spPr>
        <p:txBody>
          <a:bodyPr wrap="square" rtlCol="0">
            <a:spAutoFit/>
          </a:bodyPr>
          <a:lstStyle/>
          <a:p>
            <a:pPr algn="ctr"/>
            <a:r>
              <a:rPr lang="en-US" sz="2800" dirty="0"/>
              <a:t>1</a:t>
            </a:r>
            <a:r>
              <a:rPr lang="en-US" sz="2800" dirty="0">
                <a:sym typeface="Wingdings" panose="05000000000000000000" pitchFamily="2" charset="2"/>
              </a:rPr>
              <a:t>251</a:t>
            </a:r>
          </a:p>
          <a:p>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br>
              <a:rPr lang="en-US" dirty="0">
                <a:sym typeface="Wingdings" panose="05000000000000000000" pitchFamily="2" charset="2"/>
              </a:rPr>
            </a:br>
            <a:br>
              <a:rPr lang="en-US" dirty="0">
                <a:sym typeface="Wingdings" panose="05000000000000000000" pitchFamily="2" charset="2"/>
              </a:rPr>
            </a:br>
            <a:r>
              <a:rPr lang="en-US" dirty="0">
                <a:sym typeface="Wingdings" panose="05000000000000000000" pitchFamily="2" charset="2"/>
              </a:rPr>
              <a:t>This is also not the solution</a:t>
            </a:r>
            <a:endParaRPr lang="en-IN" dirty="0"/>
          </a:p>
        </p:txBody>
      </p:sp>
    </p:spTree>
    <p:extLst>
      <p:ext uri="{BB962C8B-B14F-4D97-AF65-F5344CB8AC3E}">
        <p14:creationId xmlns:p14="http://schemas.microsoft.com/office/powerpoint/2010/main" val="3786445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37835A-5800-9E76-8160-22AA60E7D530}"/>
              </a:ext>
            </a:extLst>
          </p:cNvPr>
          <p:cNvSpPr txBox="1"/>
          <p:nvPr/>
        </p:nvSpPr>
        <p:spPr>
          <a:xfrm>
            <a:off x="731520" y="928468"/>
            <a:ext cx="10616419" cy="400110"/>
          </a:xfrm>
          <a:prstGeom prst="rect">
            <a:avLst/>
          </a:prstGeom>
          <a:noFill/>
        </p:spPr>
        <p:txBody>
          <a:bodyPr wrap="square" rtlCol="0">
            <a:spAutoFit/>
          </a:bodyPr>
          <a:lstStyle/>
          <a:p>
            <a:r>
              <a:rPr lang="en-US" sz="2000" dirty="0"/>
              <a:t>Step 5 M</a:t>
            </a:r>
            <a:r>
              <a:rPr lang="en-IN" sz="2000" dirty="0"/>
              <a:t>ake different possible assignment</a:t>
            </a:r>
            <a:r>
              <a:rPr lang="en-US" sz="2000" dirty="0"/>
              <a:t>	</a:t>
            </a:r>
            <a:endParaRPr lang="en-IN" sz="2000" dirty="0"/>
          </a:p>
        </p:txBody>
      </p:sp>
      <p:pic>
        <p:nvPicPr>
          <p:cNvPr id="6146" name="Picture 2">
            <a:extLst>
              <a:ext uri="{FF2B5EF4-FFF2-40B4-BE49-F238E27FC236}">
                <a16:creationId xmlns:a16="http://schemas.microsoft.com/office/drawing/2014/main" id="{EBD90605-614D-4CC1-6DCC-988E488609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4061" y="1729374"/>
            <a:ext cx="5514535" cy="368668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0A37F1D-690E-A51E-6DCB-67EDA14B5CDD}"/>
              </a:ext>
            </a:extLst>
          </p:cNvPr>
          <p:cNvSpPr txBox="1"/>
          <p:nvPr/>
        </p:nvSpPr>
        <p:spPr>
          <a:xfrm>
            <a:off x="6991643" y="1941342"/>
            <a:ext cx="4356296" cy="2862322"/>
          </a:xfrm>
          <a:prstGeom prst="rect">
            <a:avLst/>
          </a:prstGeom>
          <a:noFill/>
        </p:spPr>
        <p:txBody>
          <a:bodyPr wrap="square" rtlCol="0">
            <a:spAutoFit/>
          </a:bodyPr>
          <a:lstStyle/>
          <a:p>
            <a:r>
              <a:rPr lang="en-US" sz="2000" i="1" dirty="0"/>
              <a:t>The sequence is 1-&gt;2-&gt;3-&gt;4-&gt;5-&gt;1. So, this solution is optimal and total distance of this tour is </a:t>
            </a:r>
          </a:p>
          <a:p>
            <a:endParaRPr lang="en-US" sz="2000" i="1" dirty="0"/>
          </a:p>
          <a:p>
            <a:pPr algn="ctr"/>
            <a:r>
              <a:rPr lang="en-IN" sz="2000" i="1" dirty="0"/>
              <a:t>Min Cost =2+3+4+5+1 =15.</a:t>
            </a:r>
            <a:endParaRPr lang="en-US" sz="2000" i="1" dirty="0"/>
          </a:p>
          <a:p>
            <a:endParaRPr lang="en-US" sz="2000" i="1" dirty="0"/>
          </a:p>
          <a:p>
            <a:endParaRPr lang="en-US" sz="2000" i="1" dirty="0"/>
          </a:p>
          <a:p>
            <a:endParaRPr lang="en-US" sz="2000" i="1" dirty="0"/>
          </a:p>
          <a:p>
            <a:endParaRPr lang="en-IN" sz="2000" dirty="0"/>
          </a:p>
        </p:txBody>
      </p:sp>
    </p:spTree>
    <p:extLst>
      <p:ext uri="{BB962C8B-B14F-4D97-AF65-F5344CB8AC3E}">
        <p14:creationId xmlns:p14="http://schemas.microsoft.com/office/powerpoint/2010/main" val="450255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0BEFD-9E00-7B5E-6DB0-4493C5BCEAEC}"/>
              </a:ext>
            </a:extLst>
          </p:cNvPr>
          <p:cNvSpPr txBox="1"/>
          <p:nvPr/>
        </p:nvSpPr>
        <p:spPr>
          <a:xfrm>
            <a:off x="407963" y="548640"/>
            <a:ext cx="5570806" cy="369332"/>
          </a:xfrm>
          <a:prstGeom prst="rect">
            <a:avLst/>
          </a:prstGeom>
          <a:noFill/>
        </p:spPr>
        <p:txBody>
          <a:bodyPr wrap="square" rtlCol="0">
            <a:spAutoFit/>
          </a:bodyPr>
          <a:lstStyle/>
          <a:p>
            <a:r>
              <a:rPr lang="en-US" dirty="0"/>
              <a:t>Example 2</a:t>
            </a:r>
            <a:endParaRPr lang="en-IN" dirty="0"/>
          </a:p>
        </p:txBody>
      </p:sp>
      <p:graphicFrame>
        <p:nvGraphicFramePr>
          <p:cNvPr id="3" name="Table 2">
            <a:extLst>
              <a:ext uri="{FF2B5EF4-FFF2-40B4-BE49-F238E27FC236}">
                <a16:creationId xmlns:a16="http://schemas.microsoft.com/office/drawing/2014/main" id="{1FDF5C40-6140-C29B-EF6F-02B5EDDEB412}"/>
              </a:ext>
            </a:extLst>
          </p:cNvPr>
          <p:cNvGraphicFramePr>
            <a:graphicFrameLocks noGrp="1"/>
          </p:cNvGraphicFramePr>
          <p:nvPr>
            <p:extLst>
              <p:ext uri="{D42A27DB-BD31-4B8C-83A1-F6EECF244321}">
                <p14:modId xmlns:p14="http://schemas.microsoft.com/office/powerpoint/2010/main" val="791799187"/>
              </p:ext>
            </p:extLst>
          </p:nvPr>
        </p:nvGraphicFramePr>
        <p:xfrm>
          <a:off x="745588" y="1252024"/>
          <a:ext cx="9973992" cy="3671670"/>
        </p:xfrm>
        <a:graphic>
          <a:graphicData uri="http://schemas.openxmlformats.org/drawingml/2006/table">
            <a:tbl>
              <a:tblPr firstRow="1" bandRow="1">
                <a:tableStyleId>{5940675A-B579-460E-94D1-54222C63F5DA}</a:tableStyleId>
              </a:tblPr>
              <a:tblGrid>
                <a:gridCol w="829994">
                  <a:extLst>
                    <a:ext uri="{9D8B030D-6E8A-4147-A177-3AD203B41FA5}">
                      <a16:colId xmlns:a16="http://schemas.microsoft.com/office/drawing/2014/main" val="267023256"/>
                    </a:ext>
                  </a:extLst>
                </a:gridCol>
                <a:gridCol w="2494670">
                  <a:extLst>
                    <a:ext uri="{9D8B030D-6E8A-4147-A177-3AD203B41FA5}">
                      <a16:colId xmlns:a16="http://schemas.microsoft.com/office/drawing/2014/main" val="3090604487"/>
                    </a:ext>
                  </a:extLst>
                </a:gridCol>
                <a:gridCol w="1662332">
                  <a:extLst>
                    <a:ext uri="{9D8B030D-6E8A-4147-A177-3AD203B41FA5}">
                      <a16:colId xmlns:a16="http://schemas.microsoft.com/office/drawing/2014/main" val="4085137464"/>
                    </a:ext>
                  </a:extLst>
                </a:gridCol>
                <a:gridCol w="1662332">
                  <a:extLst>
                    <a:ext uri="{9D8B030D-6E8A-4147-A177-3AD203B41FA5}">
                      <a16:colId xmlns:a16="http://schemas.microsoft.com/office/drawing/2014/main" val="3289445457"/>
                    </a:ext>
                  </a:extLst>
                </a:gridCol>
                <a:gridCol w="1662332">
                  <a:extLst>
                    <a:ext uri="{9D8B030D-6E8A-4147-A177-3AD203B41FA5}">
                      <a16:colId xmlns:a16="http://schemas.microsoft.com/office/drawing/2014/main" val="1827687338"/>
                    </a:ext>
                  </a:extLst>
                </a:gridCol>
                <a:gridCol w="1662332">
                  <a:extLst>
                    <a:ext uri="{9D8B030D-6E8A-4147-A177-3AD203B41FA5}">
                      <a16:colId xmlns:a16="http://schemas.microsoft.com/office/drawing/2014/main" val="1211276495"/>
                    </a:ext>
                  </a:extLst>
                </a:gridCol>
              </a:tblGrid>
              <a:tr h="323558">
                <a:tc>
                  <a:txBody>
                    <a:bodyPr/>
                    <a:lstStyle/>
                    <a:p>
                      <a:r>
                        <a:rPr lang="en-US" dirty="0"/>
                        <a:t>Work</a:t>
                      </a:r>
                      <a:endParaRPr lang="en-IN" dirty="0"/>
                    </a:p>
                  </a:txBody>
                  <a:tcPr/>
                </a:tc>
                <a:tc>
                  <a:txBody>
                    <a:bodyPr/>
                    <a:lstStyle/>
                    <a:p>
                      <a:r>
                        <a:rPr lang="en-US" dirty="0"/>
                        <a:t>A</a:t>
                      </a:r>
                      <a:endParaRPr lang="en-IN" dirty="0"/>
                    </a:p>
                  </a:txBody>
                  <a:tcPr/>
                </a:tc>
                <a:tc>
                  <a:txBody>
                    <a:bodyPr/>
                    <a:lstStyle/>
                    <a:p>
                      <a:r>
                        <a:rPr lang="en-US" dirty="0"/>
                        <a:t>B</a:t>
                      </a:r>
                      <a:endParaRPr lang="en-IN" dirty="0"/>
                    </a:p>
                  </a:txBody>
                  <a:tcPr/>
                </a:tc>
                <a:tc>
                  <a:txBody>
                    <a:bodyPr/>
                    <a:lstStyle/>
                    <a:p>
                      <a:r>
                        <a:rPr lang="en-US" dirty="0"/>
                        <a:t>C</a:t>
                      </a:r>
                      <a:endParaRPr lang="en-IN" dirty="0"/>
                    </a:p>
                  </a:txBody>
                  <a:tcPr/>
                </a:tc>
                <a:tc>
                  <a:txBody>
                    <a:bodyPr/>
                    <a:lstStyle/>
                    <a:p>
                      <a:r>
                        <a:rPr lang="en-US" dirty="0"/>
                        <a:t>D</a:t>
                      </a:r>
                      <a:endParaRPr lang="en-IN" dirty="0"/>
                    </a:p>
                  </a:txBody>
                  <a:tcPr/>
                </a:tc>
                <a:tc>
                  <a:txBody>
                    <a:bodyPr/>
                    <a:lstStyle/>
                    <a:p>
                      <a:r>
                        <a:rPr lang="en-US" dirty="0"/>
                        <a:t>E</a:t>
                      </a:r>
                      <a:endParaRPr lang="en-IN" dirty="0"/>
                    </a:p>
                  </a:txBody>
                  <a:tcPr/>
                </a:tc>
                <a:extLst>
                  <a:ext uri="{0D108BD9-81ED-4DB2-BD59-A6C34878D82A}">
                    <a16:rowId xmlns:a16="http://schemas.microsoft.com/office/drawing/2014/main" val="594595215"/>
                  </a:ext>
                </a:extLst>
              </a:tr>
              <a:tr h="661182">
                <a:tc>
                  <a:txBody>
                    <a:bodyPr/>
                    <a:lstStyle/>
                    <a:p>
                      <a:r>
                        <a:rPr lang="en-US" dirty="0"/>
                        <a:t>A</a:t>
                      </a:r>
                      <a:endParaRPr lang="en-IN" dirty="0"/>
                    </a:p>
                  </a:txBody>
                  <a:tcPr/>
                </a:tc>
                <a:tc>
                  <a:txBody>
                    <a:bodyPr/>
                    <a:lstStyle/>
                    <a:p>
                      <a:pPr>
                        <a:buNone/>
                      </a:pPr>
                      <a:r>
                        <a:rPr lang="en-IN" dirty="0"/>
                        <a:t>M</a:t>
                      </a:r>
                    </a:p>
                  </a:txBody>
                  <a:tcPr anchor="ctr"/>
                </a:tc>
                <a:tc>
                  <a:txBody>
                    <a:bodyPr/>
                    <a:lstStyle/>
                    <a:p>
                      <a:pPr>
                        <a:buNone/>
                      </a:pPr>
                      <a:r>
                        <a:rPr lang="en-IN"/>
                        <a:t>5</a:t>
                      </a:r>
                    </a:p>
                  </a:txBody>
                  <a:tcPr anchor="ctr"/>
                </a:tc>
                <a:tc>
                  <a:txBody>
                    <a:bodyPr/>
                    <a:lstStyle/>
                    <a:p>
                      <a:pPr>
                        <a:buNone/>
                      </a:pPr>
                      <a:r>
                        <a:rPr lang="en-IN"/>
                        <a:t>8</a:t>
                      </a:r>
                    </a:p>
                  </a:txBody>
                  <a:tcPr anchor="ctr"/>
                </a:tc>
                <a:tc>
                  <a:txBody>
                    <a:bodyPr/>
                    <a:lstStyle/>
                    <a:p>
                      <a:pPr>
                        <a:buNone/>
                      </a:pPr>
                      <a:r>
                        <a:rPr lang="en-IN" dirty="0"/>
                        <a:t>4</a:t>
                      </a:r>
                    </a:p>
                  </a:txBody>
                  <a:tcPr anchor="ctr"/>
                </a:tc>
                <a:tc>
                  <a:txBody>
                    <a:bodyPr/>
                    <a:lstStyle/>
                    <a:p>
                      <a:pPr>
                        <a:buNone/>
                      </a:pPr>
                      <a:r>
                        <a:rPr lang="en-IN" dirty="0"/>
                        <a:t>5</a:t>
                      </a:r>
                    </a:p>
                  </a:txBody>
                  <a:tcPr anchor="ctr"/>
                </a:tc>
                <a:extLst>
                  <a:ext uri="{0D108BD9-81ED-4DB2-BD59-A6C34878D82A}">
                    <a16:rowId xmlns:a16="http://schemas.microsoft.com/office/drawing/2014/main" val="655616099"/>
                  </a:ext>
                </a:extLst>
              </a:tr>
              <a:tr h="661182">
                <a:tc>
                  <a:txBody>
                    <a:bodyPr/>
                    <a:lstStyle/>
                    <a:p>
                      <a:r>
                        <a:rPr lang="en-US" dirty="0"/>
                        <a:t>B</a:t>
                      </a:r>
                      <a:endParaRPr lang="en-IN" dirty="0"/>
                    </a:p>
                  </a:txBody>
                  <a:tcPr/>
                </a:tc>
                <a:tc>
                  <a:txBody>
                    <a:bodyPr/>
                    <a:lstStyle/>
                    <a:p>
                      <a:pPr>
                        <a:buNone/>
                      </a:pPr>
                      <a:r>
                        <a:rPr lang="en-IN"/>
                        <a:t>5</a:t>
                      </a:r>
                    </a:p>
                  </a:txBody>
                  <a:tcPr anchor="ctr"/>
                </a:tc>
                <a:tc>
                  <a:txBody>
                    <a:bodyPr/>
                    <a:lstStyle/>
                    <a:p>
                      <a:pPr>
                        <a:buNone/>
                      </a:pPr>
                      <a:r>
                        <a:rPr lang="en-IN"/>
                        <a:t>M</a:t>
                      </a:r>
                    </a:p>
                  </a:txBody>
                  <a:tcPr anchor="ctr"/>
                </a:tc>
                <a:tc>
                  <a:txBody>
                    <a:bodyPr/>
                    <a:lstStyle/>
                    <a:p>
                      <a:pPr>
                        <a:buNone/>
                      </a:pPr>
                      <a:r>
                        <a:rPr lang="en-IN"/>
                        <a:t>7</a:t>
                      </a:r>
                    </a:p>
                  </a:txBody>
                  <a:tcPr anchor="ctr"/>
                </a:tc>
                <a:tc>
                  <a:txBody>
                    <a:bodyPr/>
                    <a:lstStyle/>
                    <a:p>
                      <a:pPr>
                        <a:buNone/>
                      </a:pPr>
                      <a:r>
                        <a:rPr lang="en-IN"/>
                        <a:t>4</a:t>
                      </a:r>
                    </a:p>
                  </a:txBody>
                  <a:tcPr anchor="ctr"/>
                </a:tc>
                <a:tc>
                  <a:txBody>
                    <a:bodyPr/>
                    <a:lstStyle/>
                    <a:p>
                      <a:pPr>
                        <a:buNone/>
                      </a:pPr>
                      <a:r>
                        <a:rPr lang="en-IN" dirty="0"/>
                        <a:t>5</a:t>
                      </a:r>
                    </a:p>
                  </a:txBody>
                  <a:tcPr anchor="ctr"/>
                </a:tc>
                <a:extLst>
                  <a:ext uri="{0D108BD9-81ED-4DB2-BD59-A6C34878D82A}">
                    <a16:rowId xmlns:a16="http://schemas.microsoft.com/office/drawing/2014/main" val="345061164"/>
                  </a:ext>
                </a:extLst>
              </a:tr>
              <a:tr h="661182">
                <a:tc>
                  <a:txBody>
                    <a:bodyPr/>
                    <a:lstStyle/>
                    <a:p>
                      <a:r>
                        <a:rPr lang="en-US" dirty="0"/>
                        <a:t>C</a:t>
                      </a:r>
                      <a:endParaRPr lang="en-IN" dirty="0"/>
                    </a:p>
                  </a:txBody>
                  <a:tcPr/>
                </a:tc>
                <a:tc>
                  <a:txBody>
                    <a:bodyPr/>
                    <a:lstStyle/>
                    <a:p>
                      <a:pPr>
                        <a:buNone/>
                      </a:pPr>
                      <a:r>
                        <a:rPr lang="en-IN" dirty="0"/>
                        <a:t>8</a:t>
                      </a:r>
                    </a:p>
                  </a:txBody>
                  <a:tcPr anchor="ctr"/>
                </a:tc>
                <a:tc>
                  <a:txBody>
                    <a:bodyPr/>
                    <a:lstStyle/>
                    <a:p>
                      <a:pPr>
                        <a:buNone/>
                      </a:pPr>
                      <a:r>
                        <a:rPr lang="en-IN"/>
                        <a:t>7</a:t>
                      </a:r>
                    </a:p>
                  </a:txBody>
                  <a:tcPr anchor="ctr"/>
                </a:tc>
                <a:tc>
                  <a:txBody>
                    <a:bodyPr/>
                    <a:lstStyle/>
                    <a:p>
                      <a:pPr>
                        <a:buNone/>
                      </a:pPr>
                      <a:r>
                        <a:rPr lang="en-IN"/>
                        <a:t>M</a:t>
                      </a:r>
                    </a:p>
                  </a:txBody>
                  <a:tcPr anchor="ctr"/>
                </a:tc>
                <a:tc>
                  <a:txBody>
                    <a:bodyPr/>
                    <a:lstStyle/>
                    <a:p>
                      <a:pPr>
                        <a:buNone/>
                      </a:pPr>
                      <a:r>
                        <a:rPr lang="en-IN"/>
                        <a:t>8</a:t>
                      </a:r>
                    </a:p>
                  </a:txBody>
                  <a:tcPr anchor="ctr"/>
                </a:tc>
                <a:tc>
                  <a:txBody>
                    <a:bodyPr/>
                    <a:lstStyle/>
                    <a:p>
                      <a:pPr>
                        <a:buNone/>
                      </a:pPr>
                      <a:r>
                        <a:rPr lang="en-IN" dirty="0"/>
                        <a:t>6</a:t>
                      </a:r>
                    </a:p>
                  </a:txBody>
                  <a:tcPr anchor="ctr"/>
                </a:tc>
                <a:extLst>
                  <a:ext uri="{0D108BD9-81ED-4DB2-BD59-A6C34878D82A}">
                    <a16:rowId xmlns:a16="http://schemas.microsoft.com/office/drawing/2014/main" val="2530201381"/>
                  </a:ext>
                </a:extLst>
              </a:tr>
              <a:tr h="661182">
                <a:tc>
                  <a:txBody>
                    <a:bodyPr/>
                    <a:lstStyle/>
                    <a:p>
                      <a:r>
                        <a:rPr lang="en-US" dirty="0"/>
                        <a:t>D</a:t>
                      </a:r>
                      <a:endParaRPr lang="en-IN" dirty="0"/>
                    </a:p>
                  </a:txBody>
                  <a:tcPr/>
                </a:tc>
                <a:tc>
                  <a:txBody>
                    <a:bodyPr/>
                    <a:lstStyle/>
                    <a:p>
                      <a:pPr>
                        <a:buNone/>
                      </a:pPr>
                      <a:r>
                        <a:rPr lang="en-IN" dirty="0"/>
                        <a:t>4</a:t>
                      </a:r>
                    </a:p>
                  </a:txBody>
                  <a:tcPr anchor="ctr"/>
                </a:tc>
                <a:tc>
                  <a:txBody>
                    <a:bodyPr/>
                    <a:lstStyle/>
                    <a:p>
                      <a:pPr>
                        <a:buNone/>
                      </a:pPr>
                      <a:r>
                        <a:rPr lang="en-IN"/>
                        <a:t>4</a:t>
                      </a:r>
                    </a:p>
                  </a:txBody>
                  <a:tcPr anchor="ctr"/>
                </a:tc>
                <a:tc>
                  <a:txBody>
                    <a:bodyPr/>
                    <a:lstStyle/>
                    <a:p>
                      <a:pPr>
                        <a:buNone/>
                      </a:pPr>
                      <a:r>
                        <a:rPr lang="en-IN"/>
                        <a:t>8</a:t>
                      </a:r>
                    </a:p>
                  </a:txBody>
                  <a:tcPr anchor="ctr"/>
                </a:tc>
                <a:tc>
                  <a:txBody>
                    <a:bodyPr/>
                    <a:lstStyle/>
                    <a:p>
                      <a:pPr>
                        <a:buNone/>
                      </a:pPr>
                      <a:r>
                        <a:rPr lang="en-IN"/>
                        <a:t>M</a:t>
                      </a:r>
                    </a:p>
                  </a:txBody>
                  <a:tcPr anchor="ctr"/>
                </a:tc>
                <a:tc>
                  <a:txBody>
                    <a:bodyPr/>
                    <a:lstStyle/>
                    <a:p>
                      <a:pPr>
                        <a:buNone/>
                      </a:pPr>
                      <a:r>
                        <a:rPr lang="en-IN" dirty="0"/>
                        <a:t>8</a:t>
                      </a:r>
                    </a:p>
                  </a:txBody>
                  <a:tcPr anchor="ctr"/>
                </a:tc>
                <a:extLst>
                  <a:ext uri="{0D108BD9-81ED-4DB2-BD59-A6C34878D82A}">
                    <a16:rowId xmlns:a16="http://schemas.microsoft.com/office/drawing/2014/main" val="2295201761"/>
                  </a:ext>
                </a:extLst>
              </a:tr>
              <a:tr h="661182">
                <a:tc>
                  <a:txBody>
                    <a:bodyPr/>
                    <a:lstStyle/>
                    <a:p>
                      <a:r>
                        <a:rPr lang="en-US" dirty="0"/>
                        <a:t>E</a:t>
                      </a:r>
                      <a:endParaRPr lang="en-IN" dirty="0"/>
                    </a:p>
                  </a:txBody>
                  <a:tcPr/>
                </a:tc>
                <a:tc>
                  <a:txBody>
                    <a:bodyPr/>
                    <a:lstStyle/>
                    <a:p>
                      <a:pPr>
                        <a:buNone/>
                      </a:pPr>
                      <a:r>
                        <a:rPr lang="en-IN" dirty="0"/>
                        <a:t>5</a:t>
                      </a:r>
                    </a:p>
                  </a:txBody>
                  <a:tcPr anchor="ctr"/>
                </a:tc>
                <a:tc>
                  <a:txBody>
                    <a:bodyPr/>
                    <a:lstStyle/>
                    <a:p>
                      <a:r>
                        <a:rPr lang="en-US" dirty="0"/>
                        <a:t>5</a:t>
                      </a:r>
                      <a:endParaRPr lang="en-IN" dirty="0"/>
                    </a:p>
                  </a:txBody>
                  <a:tcPr/>
                </a:tc>
                <a:tc>
                  <a:txBody>
                    <a:bodyPr/>
                    <a:lstStyle/>
                    <a:p>
                      <a:r>
                        <a:rPr lang="en-US" dirty="0"/>
                        <a:t>6</a:t>
                      </a:r>
                      <a:endParaRPr lang="en-IN" dirty="0"/>
                    </a:p>
                  </a:txBody>
                  <a:tcPr/>
                </a:tc>
                <a:tc>
                  <a:txBody>
                    <a:bodyPr/>
                    <a:lstStyle/>
                    <a:p>
                      <a:r>
                        <a:rPr lang="en-US" dirty="0"/>
                        <a:t>8</a:t>
                      </a:r>
                      <a:endParaRPr lang="en-IN" dirty="0"/>
                    </a:p>
                  </a:txBody>
                  <a:tcPr/>
                </a:tc>
                <a:tc>
                  <a:txBody>
                    <a:bodyPr/>
                    <a:lstStyle/>
                    <a:p>
                      <a:r>
                        <a:rPr lang="en-US" dirty="0"/>
                        <a:t>M</a:t>
                      </a:r>
                      <a:endParaRPr lang="en-IN" dirty="0"/>
                    </a:p>
                  </a:txBody>
                  <a:tcPr/>
                </a:tc>
                <a:extLst>
                  <a:ext uri="{0D108BD9-81ED-4DB2-BD59-A6C34878D82A}">
                    <a16:rowId xmlns:a16="http://schemas.microsoft.com/office/drawing/2014/main" val="917116922"/>
                  </a:ext>
                </a:extLst>
              </a:tr>
            </a:tbl>
          </a:graphicData>
        </a:graphic>
      </p:graphicFrame>
    </p:spTree>
    <p:extLst>
      <p:ext uri="{BB962C8B-B14F-4D97-AF65-F5344CB8AC3E}">
        <p14:creationId xmlns:p14="http://schemas.microsoft.com/office/powerpoint/2010/main" val="19629776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081029CE-D94D-109D-52E6-8C0B2B51B8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947" y="481874"/>
            <a:ext cx="3235569" cy="3066757"/>
          </a:xfrm>
          <a:prstGeom prst="rect">
            <a:avLst/>
          </a:prstGeom>
        </p:spPr>
      </p:pic>
      <p:pic>
        <p:nvPicPr>
          <p:cNvPr id="21" name="Picture 20">
            <a:extLst>
              <a:ext uri="{FF2B5EF4-FFF2-40B4-BE49-F238E27FC236}">
                <a16:creationId xmlns:a16="http://schemas.microsoft.com/office/drawing/2014/main" id="{6047DFB9-D483-737E-AE07-3845B34080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8286" y="481874"/>
            <a:ext cx="4007732" cy="3066757"/>
          </a:xfrm>
          <a:prstGeom prst="rect">
            <a:avLst/>
          </a:prstGeom>
        </p:spPr>
      </p:pic>
      <p:pic>
        <p:nvPicPr>
          <p:cNvPr id="23" name="Picture 22">
            <a:extLst>
              <a:ext uri="{FF2B5EF4-FFF2-40B4-BE49-F238E27FC236}">
                <a16:creationId xmlns:a16="http://schemas.microsoft.com/office/drawing/2014/main" id="{2B2BBB6E-9B2B-313F-1F91-326F6EC119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81048" y="3548630"/>
            <a:ext cx="3649558" cy="3203862"/>
          </a:xfrm>
          <a:prstGeom prst="rect">
            <a:avLst/>
          </a:prstGeom>
        </p:spPr>
      </p:pic>
      <p:sp>
        <p:nvSpPr>
          <p:cNvPr id="27" name="TextBox 26">
            <a:extLst>
              <a:ext uri="{FF2B5EF4-FFF2-40B4-BE49-F238E27FC236}">
                <a16:creationId xmlns:a16="http://schemas.microsoft.com/office/drawing/2014/main" id="{B0122030-2E5C-FFC3-3264-0DB02CBF74A8}"/>
              </a:ext>
            </a:extLst>
          </p:cNvPr>
          <p:cNvSpPr txBox="1"/>
          <p:nvPr/>
        </p:nvSpPr>
        <p:spPr>
          <a:xfrm>
            <a:off x="154744" y="112542"/>
            <a:ext cx="3226303" cy="369332"/>
          </a:xfrm>
          <a:prstGeom prst="rect">
            <a:avLst/>
          </a:prstGeom>
          <a:noFill/>
        </p:spPr>
        <p:txBody>
          <a:bodyPr wrap="square" rtlCol="0">
            <a:spAutoFit/>
          </a:bodyPr>
          <a:lstStyle/>
          <a:p>
            <a:r>
              <a:rPr lang="en-US" dirty="0"/>
              <a:t>1 Row Minimization</a:t>
            </a:r>
            <a:endParaRPr lang="en-IN" dirty="0"/>
          </a:p>
        </p:txBody>
      </p:sp>
      <p:sp>
        <p:nvSpPr>
          <p:cNvPr id="28" name="TextBox 27">
            <a:extLst>
              <a:ext uri="{FF2B5EF4-FFF2-40B4-BE49-F238E27FC236}">
                <a16:creationId xmlns:a16="http://schemas.microsoft.com/office/drawing/2014/main" id="{CF9240F6-84A1-9F2C-B321-453EFD07BF33}"/>
              </a:ext>
            </a:extLst>
          </p:cNvPr>
          <p:cNvSpPr txBox="1"/>
          <p:nvPr/>
        </p:nvSpPr>
        <p:spPr>
          <a:xfrm>
            <a:off x="7218286" y="112542"/>
            <a:ext cx="4007732" cy="369332"/>
          </a:xfrm>
          <a:prstGeom prst="rect">
            <a:avLst/>
          </a:prstGeom>
          <a:noFill/>
          <a:ln>
            <a:solidFill>
              <a:schemeClr val="tx1"/>
            </a:solidFill>
          </a:ln>
        </p:spPr>
        <p:txBody>
          <a:bodyPr wrap="square" rtlCol="0">
            <a:spAutoFit/>
          </a:bodyPr>
          <a:lstStyle/>
          <a:p>
            <a:r>
              <a:rPr lang="en-US" dirty="0"/>
              <a:t>2 Column Minimization</a:t>
            </a:r>
            <a:endParaRPr lang="en-IN" dirty="0"/>
          </a:p>
        </p:txBody>
      </p:sp>
      <p:sp>
        <p:nvSpPr>
          <p:cNvPr id="29" name="TextBox 28">
            <a:extLst>
              <a:ext uri="{FF2B5EF4-FFF2-40B4-BE49-F238E27FC236}">
                <a16:creationId xmlns:a16="http://schemas.microsoft.com/office/drawing/2014/main" id="{B7598ECC-9776-8AC3-9B02-AF0AE33E920B}"/>
              </a:ext>
            </a:extLst>
          </p:cNvPr>
          <p:cNvSpPr txBox="1"/>
          <p:nvPr/>
        </p:nvSpPr>
        <p:spPr>
          <a:xfrm>
            <a:off x="7218286" y="4346917"/>
            <a:ext cx="3867055" cy="369332"/>
          </a:xfrm>
          <a:prstGeom prst="rect">
            <a:avLst/>
          </a:prstGeom>
          <a:noFill/>
          <a:ln>
            <a:solidFill>
              <a:schemeClr val="tx1"/>
            </a:solidFill>
          </a:ln>
        </p:spPr>
        <p:txBody>
          <a:bodyPr wrap="square" rtlCol="0">
            <a:spAutoFit/>
          </a:bodyPr>
          <a:lstStyle/>
          <a:p>
            <a:r>
              <a:rPr lang="en-US" dirty="0"/>
              <a:t>3 Assignment in the matrix</a:t>
            </a:r>
            <a:endParaRPr lang="en-IN" dirty="0"/>
          </a:p>
        </p:txBody>
      </p:sp>
    </p:spTree>
    <p:extLst>
      <p:ext uri="{BB962C8B-B14F-4D97-AF65-F5344CB8AC3E}">
        <p14:creationId xmlns:p14="http://schemas.microsoft.com/office/powerpoint/2010/main" val="2109837817"/>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F5E3ABF-BA71-C8C4-452B-A950B7E83D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311" y="963804"/>
            <a:ext cx="8525021" cy="4381919"/>
          </a:xfrm>
          <a:prstGeom prst="rect">
            <a:avLst/>
          </a:prstGeom>
        </p:spPr>
      </p:pic>
    </p:spTree>
    <p:extLst>
      <p:ext uri="{BB962C8B-B14F-4D97-AF65-F5344CB8AC3E}">
        <p14:creationId xmlns:p14="http://schemas.microsoft.com/office/powerpoint/2010/main" val="12165446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E0308E-34FD-B57D-DBA7-5C5D826C52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081" y="1135532"/>
            <a:ext cx="3815430" cy="3573627"/>
          </a:xfrm>
          <a:prstGeom prst="rect">
            <a:avLst/>
          </a:prstGeom>
        </p:spPr>
      </p:pic>
      <p:pic>
        <p:nvPicPr>
          <p:cNvPr id="5" name="Picture 4">
            <a:extLst>
              <a:ext uri="{FF2B5EF4-FFF2-40B4-BE49-F238E27FC236}">
                <a16:creationId xmlns:a16="http://schemas.microsoft.com/office/drawing/2014/main" id="{2EEE721A-C8C5-6003-0D40-6508787F60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6865" y="840110"/>
            <a:ext cx="5294522" cy="3681693"/>
          </a:xfrm>
          <a:prstGeom prst="rect">
            <a:avLst/>
          </a:prstGeom>
        </p:spPr>
      </p:pic>
      <p:pic>
        <p:nvPicPr>
          <p:cNvPr id="7" name="Picture 6">
            <a:extLst>
              <a:ext uri="{FF2B5EF4-FFF2-40B4-BE49-F238E27FC236}">
                <a16:creationId xmlns:a16="http://schemas.microsoft.com/office/drawing/2014/main" id="{B9192D76-46F6-003C-91FA-E80CA77870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36865" y="4709159"/>
            <a:ext cx="4858428" cy="466790"/>
          </a:xfrm>
          <a:prstGeom prst="rect">
            <a:avLst/>
          </a:prstGeom>
        </p:spPr>
      </p:pic>
      <p:sp>
        <p:nvSpPr>
          <p:cNvPr id="8" name="Rectangle 7">
            <a:extLst>
              <a:ext uri="{FF2B5EF4-FFF2-40B4-BE49-F238E27FC236}">
                <a16:creationId xmlns:a16="http://schemas.microsoft.com/office/drawing/2014/main" id="{7CA650B2-8A2C-D4F6-7FEF-2FE1A20EFD6D}"/>
              </a:ext>
            </a:extLst>
          </p:cNvPr>
          <p:cNvSpPr/>
          <p:nvPr/>
        </p:nvSpPr>
        <p:spPr>
          <a:xfrm>
            <a:off x="6053609" y="4606206"/>
            <a:ext cx="684627" cy="3363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a:solidFill>
                    <a:schemeClr val="bg1"/>
                  </a:solidFill>
                </a:ln>
                <a:solidFill>
                  <a:schemeClr val="tx1"/>
                </a:solidFill>
              </a:rPr>
              <a:t>Step</a:t>
            </a:r>
            <a:endParaRPr lang="en-IN" b="1" dirty="0">
              <a:ln>
                <a:solidFill>
                  <a:schemeClr val="bg1"/>
                </a:solidFill>
              </a:ln>
              <a:solidFill>
                <a:schemeClr val="tx1"/>
              </a:solidFill>
            </a:endParaRPr>
          </a:p>
        </p:txBody>
      </p:sp>
    </p:spTree>
    <p:extLst>
      <p:ext uri="{BB962C8B-B14F-4D97-AF65-F5344CB8AC3E}">
        <p14:creationId xmlns:p14="http://schemas.microsoft.com/office/powerpoint/2010/main" val="6639437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B41B09-8DAF-F296-E6CF-30855B9029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4556" y="880950"/>
            <a:ext cx="7508939" cy="4436638"/>
          </a:xfrm>
          <a:prstGeom prst="rect">
            <a:avLst/>
          </a:prstGeom>
        </p:spPr>
      </p:pic>
      <p:sp>
        <p:nvSpPr>
          <p:cNvPr id="4" name="TextBox 3">
            <a:extLst>
              <a:ext uri="{FF2B5EF4-FFF2-40B4-BE49-F238E27FC236}">
                <a16:creationId xmlns:a16="http://schemas.microsoft.com/office/drawing/2014/main" id="{A48059DB-F480-D2EB-A7EB-17CB569913B2}"/>
              </a:ext>
            </a:extLst>
          </p:cNvPr>
          <p:cNvSpPr txBox="1"/>
          <p:nvPr/>
        </p:nvSpPr>
        <p:spPr>
          <a:xfrm>
            <a:off x="6597748" y="1540412"/>
            <a:ext cx="4867422" cy="2308324"/>
          </a:xfrm>
          <a:prstGeom prst="rect">
            <a:avLst/>
          </a:prstGeom>
          <a:noFill/>
        </p:spPr>
        <p:txBody>
          <a:bodyPr wrap="square" rtlCol="0">
            <a:spAutoFit/>
          </a:bodyPr>
          <a:lstStyle/>
          <a:p>
            <a:r>
              <a:rPr lang="en-US" dirty="0"/>
              <a:t> Number of assignments = 5, number of rows = 5</a:t>
            </a:r>
          </a:p>
          <a:p>
            <a:endParaRPr lang="en-US" dirty="0"/>
          </a:p>
          <a:p>
            <a:br>
              <a:rPr lang="en-US" dirty="0"/>
            </a:br>
            <a:r>
              <a:rPr lang="en-US" dirty="0"/>
              <a:t>The solution gives the sequence : </a:t>
            </a:r>
            <a:r>
              <a:rPr lang="en-US" i="1" dirty="0"/>
              <a:t>A</a:t>
            </a:r>
            <a:r>
              <a:rPr lang="en-US" dirty="0"/>
              <a:t>→</a:t>
            </a:r>
            <a:r>
              <a:rPr lang="en-US" i="1" dirty="0"/>
              <a:t>D</a:t>
            </a:r>
            <a:r>
              <a:rPr lang="en-US" dirty="0"/>
              <a:t>,</a:t>
            </a:r>
            <a:r>
              <a:rPr lang="en-US" i="1" dirty="0"/>
              <a:t>D</a:t>
            </a:r>
            <a:r>
              <a:rPr lang="en-US" dirty="0"/>
              <a:t>→</a:t>
            </a:r>
            <a:r>
              <a:rPr lang="en-US" i="1" dirty="0"/>
              <a:t>B</a:t>
            </a:r>
            <a:r>
              <a:rPr lang="en-US" dirty="0"/>
              <a:t>,</a:t>
            </a:r>
            <a:r>
              <a:rPr lang="en-US" i="1" dirty="0"/>
              <a:t>B</a:t>
            </a:r>
            <a:r>
              <a:rPr lang="en-US" dirty="0"/>
              <a:t>→</a:t>
            </a:r>
            <a:r>
              <a:rPr lang="en-US" i="1" dirty="0"/>
              <a:t>C</a:t>
            </a:r>
            <a:r>
              <a:rPr lang="en-US" dirty="0"/>
              <a:t>,</a:t>
            </a:r>
            <a:r>
              <a:rPr lang="en-US" i="1" dirty="0"/>
              <a:t>C</a:t>
            </a:r>
            <a:r>
              <a:rPr lang="en-US" dirty="0"/>
              <a:t>→</a:t>
            </a:r>
            <a:r>
              <a:rPr lang="en-US" i="1" dirty="0"/>
              <a:t>E</a:t>
            </a:r>
            <a:r>
              <a:rPr lang="en-US" dirty="0"/>
              <a:t>,</a:t>
            </a:r>
            <a:r>
              <a:rPr lang="en-US" i="1" dirty="0"/>
              <a:t>E</a:t>
            </a:r>
            <a:r>
              <a:rPr lang="en-US" dirty="0"/>
              <a:t>→</a:t>
            </a:r>
            <a:r>
              <a:rPr lang="en-US" i="1" dirty="0"/>
              <a:t>A</a:t>
            </a:r>
          </a:p>
          <a:p>
            <a:endParaRPr lang="en-US" i="1" dirty="0"/>
          </a:p>
          <a:p>
            <a:r>
              <a:rPr lang="en-US" i="1" dirty="0"/>
              <a:t>Solution is optimal: A</a:t>
            </a:r>
            <a:r>
              <a:rPr lang="en-US" i="1" dirty="0">
                <a:sym typeface="Wingdings" panose="05000000000000000000" pitchFamily="2" charset="2"/>
              </a:rPr>
              <a:t>DBCEA</a:t>
            </a:r>
            <a:endParaRPr lang="en-US" i="1" dirty="0"/>
          </a:p>
          <a:p>
            <a:r>
              <a:rPr lang="en-US" i="1" dirty="0"/>
              <a:t>=4+7+6+4+5=26</a:t>
            </a:r>
            <a:endParaRPr lang="en-IN" dirty="0"/>
          </a:p>
        </p:txBody>
      </p:sp>
    </p:spTree>
    <p:extLst>
      <p:ext uri="{BB962C8B-B14F-4D97-AF65-F5344CB8AC3E}">
        <p14:creationId xmlns:p14="http://schemas.microsoft.com/office/powerpoint/2010/main" val="28397801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1E410A5-5603-BB46-9C6C-8B4158E57100}"/>
              </a:ext>
            </a:extLst>
          </p:cNvPr>
          <p:cNvSpPr/>
          <p:nvPr/>
        </p:nvSpPr>
        <p:spPr>
          <a:xfrm>
            <a:off x="3727938" y="2967334"/>
            <a:ext cx="3942532" cy="923330"/>
          </a:xfrm>
          <a:prstGeom prst="rect">
            <a:avLst/>
          </a:prstGeom>
          <a:noFill/>
        </p:spPr>
        <p:txBody>
          <a:bodyPr wrap="square" lIns="91440" tIns="45720" rIns="91440" bIns="45720">
            <a:spAutoFit/>
          </a:bodyPr>
          <a:lstStyle/>
          <a:p>
            <a:pPr algn="ctr"/>
            <a:r>
              <a:rPr lang="en-US"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DOUBTS</a:t>
            </a: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a:t>
            </a:r>
            <a:endParaRPr lang="en-IN"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19797387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234</TotalTime>
  <Words>828</Words>
  <Application>Microsoft Office PowerPoint</Application>
  <PresentationFormat>Widescreen</PresentationFormat>
  <Paragraphs>107</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Brush Script MT</vt:lpstr>
      <vt:lpstr>Calibri</vt:lpstr>
      <vt:lpstr>Calibri Light</vt:lpstr>
      <vt:lpstr>Cambria Math</vt:lpstr>
      <vt:lpstr>Wingdings</vt:lpstr>
      <vt:lpstr>Office Theme</vt:lpstr>
      <vt:lpstr>Travelling Salesman Problem</vt:lpstr>
      <vt:lpstr>Assignment Problem</vt:lpstr>
      <vt:lpstr>Number of workers = Number of jobs. Each worker is assigned only one job. Each worker is independently capable for handling any job. Assigning criteria is either minimizing cost or maximizing profit.</vt:lpstr>
      <vt:lpstr>Example</vt:lpstr>
      <vt:lpstr>Travelling Salesman Problem</vt:lpstr>
      <vt:lpstr>PowerPoint Presentation</vt:lpstr>
      <vt:lpstr>The objective function is then       Since d_ji=d_ijis not required, therefore d_ij=∞for i=j. However, all d_ijs must be non-negative, i.e., d_ij≥0 "and" d_ij+d_jk≥d_ik  "for all " i,j,k.</vt:lpstr>
      <vt:lpstr>Need Of TSP </vt:lpstr>
      <vt:lpstr>PowerPoint Presentation</vt:lpstr>
      <vt:lpstr>PowerPoint Presentation</vt:lpstr>
      <vt:lpstr>Step 3  Make assignment in the matrix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 V</dc:creator>
  <cp:lastModifiedBy>S V</cp:lastModifiedBy>
  <cp:revision>10</cp:revision>
  <dcterms:created xsi:type="dcterms:W3CDTF">2025-09-15T12:29:22Z</dcterms:created>
  <dcterms:modified xsi:type="dcterms:W3CDTF">2025-09-15T20:08:52Z</dcterms:modified>
</cp:coreProperties>
</file>