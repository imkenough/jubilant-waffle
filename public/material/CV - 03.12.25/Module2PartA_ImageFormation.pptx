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y="6858000" cx="12192000"/>
  <p:notesSz cx="6858000" cy="9144000"/>
  <p:embeddedFontLst>
    <p:embeddedFont>
      <p:font typeface="Play"/>
      <p:regular r:id="rId76"/>
      <p:bold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8" roundtripDataSignature="AMtx7mhV7Scb7SyUicgK8HUJZbuUw+xA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Play-bold.fntdata"/><Relationship Id="rId32" Type="http://schemas.openxmlformats.org/officeDocument/2006/relationships/slide" Target="slides/slide27.xml"/><Relationship Id="rId76" Type="http://schemas.openxmlformats.org/officeDocument/2006/relationships/font" Target="fonts/Play-regular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customschemas.google.com/relationships/presentationmetadata" Target="meta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Only for </a:t>
            </a:r>
            <a:r>
              <a:rPr b="1" lang="en-US"/>
              <a:t>Spatial Euclidean distance</a:t>
            </a:r>
            <a:r>
              <a:rPr lang="en-US"/>
              <a:t> in 2D coordinates which means values in image grid are ignored.</a:t>
            </a:r>
            <a:endParaRPr/>
          </a:p>
        </p:txBody>
      </p:sp>
      <p:sp>
        <p:nvSpPr>
          <p:cNvPr id="247" name="Google Shape;2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2" name="Google Shape;4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7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8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50.png"/><Relationship Id="rId5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Relationship Id="rId4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lorful background with different colored shapes&#10;&#10;Description automatically generated with medium confidence" id="101" name="Google Shape;101;p1"/>
          <p:cNvPicPr preferRelativeResize="0"/>
          <p:nvPr/>
        </p:nvPicPr>
        <p:blipFill rotWithShape="1">
          <a:blip r:embed="rId3">
            <a:alphaModFix amt="50000"/>
          </a:blip>
          <a:srcRect b="31" l="0" r="0" t="6608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Basic Image Processing Operations</a:t>
            </a:r>
            <a:endParaRPr/>
          </a:p>
        </p:txBody>
      </p:sp>
      <p:sp>
        <p:nvSpPr>
          <p:cNvPr id="103" name="Google Shape;10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0784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>
            <p:ph type="ctr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Pixel and Connectivity Concepts</a:t>
            </a:r>
            <a:endParaRPr/>
          </a:p>
        </p:txBody>
      </p:sp>
      <p:pic>
        <p:nvPicPr>
          <p:cNvPr descr="A grid with purple squares&#10;&#10;Description automatically generated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817" y="1966293"/>
            <a:ext cx="10176364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Pixel and Pixel Grid</a:t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Pixel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smallest unit of a digital image or graphic that can be displayed and edited on a digital display system.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Pixels are the building blocks of a digital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Pixel Grid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two-dimensional array of pixels that forms the image. Each pixel in the grid has a specific location defined by its row and column coordinates.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Attributes of Pixel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Intensity</a:t>
            </a:r>
            <a:r>
              <a:rPr lang="en-US"/>
              <a:t>: The brightness level of a pixel, often represented by a value in grayscale images.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Color</a:t>
            </a:r>
            <a:r>
              <a:rPr lang="en-US"/>
              <a:t>: In color images, a pixel's color is represented by a combination of intensities in different color channels (e.g., RGB - Red, Green, Blue).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Spatial resolution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density of pixels in an image, typically measured in pixels per inch (PPI) or dots per inch (DPI).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Images having higher spatial resolution are composed of a greater number of pixels.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031" y="2904803"/>
            <a:ext cx="4298184" cy="36809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Pixel neighborhood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214045" y="1284270"/>
            <a:ext cx="8405973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neighborhood of a pixel refers to the set of pixels surrounding 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concept of pixel neighborhoods is essential for many operations, including filtering, edge detection, and image segmentation.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Pixel p(x,y) has two horizontal and two vertical neighbors.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p(x+1,y) and p(x-1,y) -&gt; Horizontal neighbors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p(x,y+1) and p(x,y-1) -&gt; Vertical neighbors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p(x-1,y+1), p(x-1,y-1), p(x+1,y-1) and p(x+1,y+1) -&gt; Diagonal neighbors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9816" y="2106201"/>
            <a:ext cx="3392184" cy="230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Types of Pixel Neighbourhoods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4-Connected Neighbourhood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8-Connected Neighbourhood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4-Connected Neighbourhood</a:t>
            </a:r>
            <a:endParaRPr/>
          </a:p>
        </p:txBody>
      </p:sp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pixel's 4-connected neighbourhood consists of the four pixels that are directly adjacent to it horizontally and vertically.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Neighbour Pixels</a:t>
            </a:r>
            <a:r>
              <a:rPr lang="en-US" sz="2000"/>
              <a:t>: The pixels located to the left, right, above, and below the central pixel.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Application</a:t>
            </a:r>
            <a:r>
              <a:rPr lang="en-US" sz="2000"/>
              <a:t>: Used in simple connectivity and region growing algorithms.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A grid with arrows and numbers&#10;&#10;Description automatically generated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293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8-Connected Neighbourhood</a:t>
            </a:r>
            <a:endParaRPr sz="4000"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/>
              <a:t>A pixel's 8-connected neighbourhood includes the four pixels directly adjacent to it, as well as the four pixels diagonally adjacent to 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1" lang="en-US" sz="1900"/>
              <a:t>Neighbour Pixels</a:t>
            </a:r>
            <a:r>
              <a:rPr lang="en-US" sz="1900"/>
              <a:t>: The pixels located to the left, right, above, below, and diagonally adjacent to the central pixel.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1" lang="en-US" sz="1900"/>
              <a:t>Application</a:t>
            </a:r>
            <a:r>
              <a:rPr lang="en-US" sz="1900"/>
              <a:t>: Used in more complex connectivity and region growing algorithms where diagonal connections are important.</a:t>
            </a:r>
            <a:endParaRPr/>
          </a:p>
          <a:p>
            <a:pPr indent="-107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pic>
        <p:nvPicPr>
          <p:cNvPr descr="A diagram of a number and arrows&#10;&#10;Description automatically generated with medium confidence" id="170" name="Google Shape;170;p9"/>
          <p:cNvPicPr preferRelativeResize="0"/>
          <p:nvPr/>
        </p:nvPicPr>
        <p:blipFill rotWithShape="1">
          <a:blip r:embed="rId3">
            <a:alphaModFix/>
          </a:blip>
          <a:srcRect b="827" l="0" r="-3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Pixel Neighbourhoods</a:t>
            </a: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Filtering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Edge detection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Morphological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Image segmentation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Filtering</a:t>
            </a:r>
            <a:endParaRPr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Smoothing Filters</a:t>
            </a:r>
            <a:r>
              <a:rPr lang="en-US"/>
              <a:t>: Apply operations like averaging or median filtering using the neighborhood pixels to reduce noise.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Sharpening Filters</a:t>
            </a:r>
            <a:r>
              <a:rPr lang="en-US"/>
              <a:t>: Enhance edges by considering the differences between the central pixel and its neighbors.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716" y="3886789"/>
            <a:ext cx="28194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138" y="3742648"/>
            <a:ext cx="3593495" cy="224916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 txBox="1"/>
          <p:nvPr/>
        </p:nvSpPr>
        <p:spPr>
          <a:xfrm>
            <a:off x="7099499" y="6098988"/>
            <a:ext cx="2928134" cy="379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sharpening</a:t>
            </a:r>
            <a:endParaRPr/>
          </a:p>
        </p:txBody>
      </p:sp>
      <p:sp>
        <p:nvSpPr>
          <p:cNvPr id="188" name="Google Shape;18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type="title"/>
          </p:nvPr>
        </p:nvSpPr>
        <p:spPr>
          <a:xfrm>
            <a:off x="214045" y="118546"/>
            <a:ext cx="11763910" cy="100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Edge detection</a:t>
            </a:r>
            <a:endParaRPr/>
          </a:p>
        </p:txBody>
      </p:sp>
      <p:sp>
        <p:nvSpPr>
          <p:cNvPr id="194" name="Google Shape;194;p12"/>
          <p:cNvSpPr txBox="1"/>
          <p:nvPr>
            <p:ph idx="1" type="body"/>
          </p:nvPr>
        </p:nvSpPr>
        <p:spPr>
          <a:xfrm>
            <a:off x="214045" y="1284270"/>
            <a:ext cx="11763910" cy="530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Gradient Operators: </a:t>
            </a:r>
            <a:r>
              <a:rPr lang="en-US" sz="2400"/>
              <a:t>Use neighbourhoods to calculate image gradients (e.g., Sobel, Prewitt operators) for detecting edges.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Laplacian Operators</a:t>
            </a:r>
            <a:r>
              <a:rPr lang="en-US" sz="2400"/>
              <a:t>: Utilize the neighbourhood to identify regions of rapid intensity change.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508" y="2853433"/>
            <a:ext cx="3612195" cy="389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321924"/>
            <a:ext cx="461010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Morphological operations</a:t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>
            <p:ph idx="1" type="body"/>
          </p:nvPr>
        </p:nvSpPr>
        <p:spPr>
          <a:xfrm>
            <a:off x="640080" y="2706624"/>
            <a:ext cx="4979884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Dilation and Erosion</a:t>
            </a:r>
            <a:r>
              <a:rPr lang="en-US" sz="2200"/>
              <a:t>: Operate on binary images to expand or shrink objects using the pixel neighbourhood.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Opening and Closing</a:t>
            </a:r>
            <a:r>
              <a:rPr lang="en-US" sz="2200"/>
              <a:t>: Combine dilation and erosion to remove noise and smoothen object boundaries.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descr="A diagram of a problem&#10;&#10;Description automatically generated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3645" y="2112263"/>
            <a:ext cx="4014216" cy="181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image of a brain&#10;&#10;Description automatically generated" id="207" name="Google Shape;2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5628" y="4745737"/>
            <a:ext cx="5783324" cy="127233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Image segmentation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 txBox="1"/>
          <p:nvPr>
            <p:ph idx="1" type="body"/>
          </p:nvPr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Region Growing</a:t>
            </a:r>
            <a:r>
              <a:rPr lang="en-US" sz="2200"/>
              <a:t>: Expand regions by adding neighbouring pixels that meet certain criteria.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Watershed Algorithm</a:t>
            </a:r>
            <a:r>
              <a:rPr lang="en-US" sz="2200"/>
              <a:t>: Use pixel neighbourhoods to identify and separate different regions based on gradients.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descr="A close-up of a brain scan&#10;&#10;Description automatically generated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505891"/>
            <a:ext cx="4014216" cy="1726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18" name="Google Shape;2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4428082"/>
            <a:ext cx="3995928" cy="14784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 txBox="1"/>
          <p:nvPr/>
        </p:nvSpPr>
        <p:spPr>
          <a:xfrm>
            <a:off x="8193025" y="3429000"/>
            <a:ext cx="3685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 growing segmentation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8327136" y="6190488"/>
            <a:ext cx="3685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Watershed algorithm</a:t>
            </a:r>
            <a:endParaRPr/>
          </a:p>
        </p:txBody>
      </p:sp>
      <p:sp>
        <p:nvSpPr>
          <p:cNvPr id="221" name="Google Shape;2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Regions</a:t>
            </a:r>
            <a:endParaRPr/>
          </a:p>
        </p:txBody>
      </p:sp>
      <p:sp>
        <p:nvSpPr>
          <p:cNvPr id="227" name="Google Shape;227;p15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region in an image is a group of connected pixels with similar properties.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properties could be related to intensity, color, texture, or any other measurable attribute.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image may contain several objects and, in turn, each object may contain several regions corresponding to different parts of the object.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an image to be interpreted accurately, it must be partitioned into regions that correspond to objects or parts of an object.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Regions are fundamental in various image processing tasks, such as segmentation, object recognition, and analysis. </a:t>
            </a:r>
            <a:endParaRPr/>
          </a:p>
        </p:txBody>
      </p:sp>
      <p:sp>
        <p:nvSpPr>
          <p:cNvPr id="228" name="Google Shape;22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Properties of regions</a:t>
            </a:r>
            <a:endParaRPr/>
          </a:p>
        </p:txBody>
      </p:sp>
      <p:sp>
        <p:nvSpPr>
          <p:cNvPr id="234" name="Google Shape;234;p16"/>
          <p:cNvSpPr txBox="1"/>
          <p:nvPr>
            <p:ph idx="1" type="body"/>
          </p:nvPr>
        </p:nvSpPr>
        <p:spPr>
          <a:xfrm>
            <a:off x="246579" y="1273997"/>
            <a:ext cx="11794733" cy="2774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Homogeneity</a:t>
            </a:r>
            <a:r>
              <a:rPr lang="en-US"/>
              <a:t>: All pixels within a region exhibit similar characteristics, such as intensity, color, or texture.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Connectivity</a:t>
            </a:r>
            <a:r>
              <a:rPr lang="en-US"/>
              <a:t>: Pixels within a region are connected to each other based on a specified connectivity criterion (e.g., 4-connected, 8-connected).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Boundary</a:t>
            </a:r>
            <a:r>
              <a:rPr lang="en-US"/>
              <a:t>: The edge or perimeter that separates one region from another. Boundaries are significant in defining the shape and extent of regions.</a:t>
            </a:r>
            <a:endParaRPr/>
          </a:p>
        </p:txBody>
      </p:sp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034" y="4418316"/>
            <a:ext cx="3810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Distance measures in image processing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Mathematical formulations used to quantify the similarity or dissimilarity between two points or objects within an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measures are crucial for various image processing tasks such as segmentation, pattern recognition, and morphological operations.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commonly used distance measures are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Euclidean Distance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City Block Distance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Chessboard Distance</a:t>
            </a:r>
            <a:endParaRPr/>
          </a:p>
        </p:txBody>
      </p:sp>
      <p:sp>
        <p:nvSpPr>
          <p:cNvPr id="243" name="Google Shape;2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246580" y="1"/>
            <a:ext cx="11620072" cy="106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US"/>
            </a:br>
            <a:r>
              <a:rPr lang="en-US"/>
              <a:t>Euclidean Distance</a:t>
            </a:r>
            <a:br>
              <a:rPr lang="en-US"/>
            </a:b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246579" y="1273996"/>
            <a:ext cx="11794733" cy="197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Straight-line distance between two pixels.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Application</a:t>
            </a:r>
            <a:r>
              <a:rPr lang="en-US"/>
              <a:t>: Used in edge detection, clustering, and nearest-neighbor classification.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Formula</a:t>
            </a:r>
            <a:r>
              <a:rPr lang="en-US"/>
              <a:t>: </a:t>
            </a:r>
            <a:endParaRPr/>
          </a:p>
        </p:txBody>
      </p:sp>
      <p:pic>
        <p:nvPicPr>
          <p:cNvPr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2682" y="2615415"/>
            <a:ext cx="46005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7791" y="4008098"/>
            <a:ext cx="46101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/>
          <p:nvPr>
            <p:ph type="title"/>
          </p:nvPr>
        </p:nvSpPr>
        <p:spPr>
          <a:xfrm>
            <a:off x="246580" y="1"/>
            <a:ext cx="11620072" cy="106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US"/>
            </a:br>
            <a:r>
              <a:rPr lang="en-US"/>
              <a:t>Euclidean Distance Example</a:t>
            </a:r>
            <a:br>
              <a:rPr lang="en-US"/>
            </a:br>
            <a:endParaRPr/>
          </a:p>
        </p:txBody>
      </p:sp>
      <p:sp>
        <p:nvSpPr>
          <p:cNvPr id="259" name="Google Shape;259;p19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central pixel is the only foreground pixel with value ‘1’.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(x1,y1) = (1,1) since it is central pixel.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Top-left (0,0)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Top-center(0, 1):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Top-right (0, 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Middle-left (1,0):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0" name="Google Shape;2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690" y="2300770"/>
            <a:ext cx="6000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3095" y="3296131"/>
            <a:ext cx="5981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5766" y="4308965"/>
            <a:ext cx="59817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5047" y="5397999"/>
            <a:ext cx="59912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>
            <p:ph type="title"/>
          </p:nvPr>
        </p:nvSpPr>
        <p:spPr>
          <a:xfrm>
            <a:off x="277403" y="267698"/>
            <a:ext cx="11239928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Euclidean Distance Example (cont.)</a:t>
            </a:r>
            <a:endParaRPr/>
          </a:p>
        </p:txBody>
      </p:sp>
      <p:sp>
        <p:nvSpPr>
          <p:cNvPr id="270" name="Google Shape;270;p20"/>
          <p:cNvSpPr txBox="1"/>
          <p:nvPr>
            <p:ph idx="1" type="body"/>
          </p:nvPr>
        </p:nvSpPr>
        <p:spPr>
          <a:xfrm>
            <a:off x="369869" y="1212351"/>
            <a:ext cx="11609797" cy="5280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Middle-right (1,2):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Bottom-left (2,0):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Bottom-center (2,1):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Bottom-right (2, 2):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1" name="Google Shape;2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837" y="1212351"/>
            <a:ext cx="59912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6837" y="2217078"/>
            <a:ext cx="5962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9276" y="3263345"/>
            <a:ext cx="5981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3037" y="4360753"/>
            <a:ext cx="59150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type="title"/>
          </p:nvPr>
        </p:nvSpPr>
        <p:spPr>
          <a:xfrm>
            <a:off x="246580" y="1"/>
            <a:ext cx="11620072" cy="106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br>
              <a:rPr lang="en-US"/>
            </a:br>
            <a:r>
              <a:rPr lang="en-US"/>
              <a:t>City Block Distance</a:t>
            </a:r>
            <a:br>
              <a:rPr lang="en-US"/>
            </a:br>
            <a:endParaRPr/>
          </a:p>
        </p:txBody>
      </p:sp>
      <p:sp>
        <p:nvSpPr>
          <p:cNvPr id="281" name="Google Shape;281;p21"/>
          <p:cNvSpPr txBox="1"/>
          <p:nvPr>
            <p:ph idx="1" type="body"/>
          </p:nvPr>
        </p:nvSpPr>
        <p:spPr>
          <a:xfrm>
            <a:off x="246579" y="1273995"/>
            <a:ext cx="11794733" cy="2835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Measures the path between the pixels based on a 4-connected neighborhood.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Pixels whose edges touch are 1 unit apart; pixels diagonally touching are 2 units apart.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Application</a:t>
            </a:r>
            <a:r>
              <a:rPr lang="en-US"/>
              <a:t> : Used in grid-based pathfinding algorithms like A*, and in certain clustering algorithms.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Formula</a:t>
            </a:r>
            <a:r>
              <a:rPr lang="en-US"/>
              <a:t>: </a:t>
            </a:r>
            <a:endParaRPr/>
          </a:p>
        </p:txBody>
      </p:sp>
      <p:pic>
        <p:nvPicPr>
          <p:cNvPr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7111" y="3429000"/>
            <a:ext cx="30289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8420" y="4315144"/>
            <a:ext cx="45910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>
            <p:ph type="title"/>
          </p:nvPr>
        </p:nvSpPr>
        <p:spPr>
          <a:xfrm>
            <a:off x="157537" y="169916"/>
            <a:ext cx="11876926" cy="816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City Block Distance Example</a:t>
            </a:r>
            <a:endParaRPr/>
          </a:p>
        </p:txBody>
      </p:sp>
      <p:sp>
        <p:nvSpPr>
          <p:cNvPr id="290" name="Google Shape;290;p22"/>
          <p:cNvSpPr txBox="1"/>
          <p:nvPr>
            <p:ph idx="1" type="body"/>
          </p:nvPr>
        </p:nvSpPr>
        <p:spPr>
          <a:xfrm>
            <a:off x="267127" y="1089060"/>
            <a:ext cx="11767335" cy="559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Let's compute the City Block distance for each background pixel: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central pixel is the only foreground pixel with value ‘1’.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(x1,y1) = (1,1) since it is central pixel.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1" name="Google Shape;2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684" y="2996041"/>
            <a:ext cx="7019925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type="title"/>
          </p:nvPr>
        </p:nvSpPr>
        <p:spPr>
          <a:xfrm>
            <a:off x="157537" y="169916"/>
            <a:ext cx="11876926" cy="816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City Block Distance Example (cont.)</a:t>
            </a:r>
            <a:endParaRPr/>
          </a:p>
        </p:txBody>
      </p:sp>
      <p:sp>
        <p:nvSpPr>
          <p:cNvPr id="298" name="Google Shape;298;p23"/>
          <p:cNvSpPr txBox="1"/>
          <p:nvPr>
            <p:ph idx="1" type="body"/>
          </p:nvPr>
        </p:nvSpPr>
        <p:spPr>
          <a:xfrm>
            <a:off x="267127" y="1089060"/>
            <a:ext cx="11767335" cy="559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9" name="Google Shape;2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062" y="1173946"/>
            <a:ext cx="6934200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 txBox="1"/>
          <p:nvPr>
            <p:ph type="title"/>
          </p:nvPr>
        </p:nvSpPr>
        <p:spPr>
          <a:xfrm>
            <a:off x="421240" y="365125"/>
            <a:ext cx="1093256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City Block Distance Example (cont.)</a:t>
            </a:r>
            <a:endParaRPr/>
          </a:p>
        </p:txBody>
      </p:sp>
      <p:pic>
        <p:nvPicPr>
          <p:cNvPr id="306" name="Google Shape;30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609" y="1825625"/>
            <a:ext cx="4862782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"/>
          <p:cNvSpPr txBox="1"/>
          <p:nvPr>
            <p:ph type="title"/>
          </p:nvPr>
        </p:nvSpPr>
        <p:spPr>
          <a:xfrm>
            <a:off x="195209" y="242013"/>
            <a:ext cx="11158591" cy="878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Chessboard Distance</a:t>
            </a:r>
            <a:endParaRPr/>
          </a:p>
        </p:txBody>
      </p:sp>
      <p:sp>
        <p:nvSpPr>
          <p:cNvPr id="313" name="Google Shape;313;p25"/>
          <p:cNvSpPr txBox="1"/>
          <p:nvPr>
            <p:ph idx="1" type="body"/>
          </p:nvPr>
        </p:nvSpPr>
        <p:spPr>
          <a:xfrm>
            <a:off x="349321" y="1273997"/>
            <a:ext cx="11486508" cy="3020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Measures the path between the pixels based on an 8-connected neighborhood.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Pixels whose edges or corners touch are 1 unit apart.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Application</a:t>
            </a:r>
            <a:r>
              <a:rPr lang="en-US"/>
              <a:t> : Used in image processing for morphological operations, such as dilation and erosion.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Formula</a:t>
            </a:r>
            <a:r>
              <a:rPr lang="en-US"/>
              <a:t> : </a:t>
            </a:r>
            <a:endParaRPr/>
          </a:p>
        </p:txBody>
      </p:sp>
      <p:pic>
        <p:nvPicPr>
          <p:cNvPr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206" y="3565989"/>
            <a:ext cx="44862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7691" y="4612776"/>
            <a:ext cx="4581525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157537" y="169916"/>
            <a:ext cx="11876926" cy="816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Chessboard Distance Example</a:t>
            </a:r>
            <a:endParaRPr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267127" y="1089060"/>
            <a:ext cx="11767335" cy="559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Let's compute the Chessboard distance for each background pixel: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central pixel is the only foreground pixel with value '1'.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(x1,y1) = (1,1) since it is central pixel.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3625" y="3047411"/>
            <a:ext cx="752475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/>
          <p:nvPr>
            <p:ph type="title"/>
          </p:nvPr>
        </p:nvSpPr>
        <p:spPr>
          <a:xfrm>
            <a:off x="157537" y="169916"/>
            <a:ext cx="11876926" cy="816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Chessboard Distance Example (cont.)</a:t>
            </a:r>
            <a:endParaRPr/>
          </a:p>
        </p:txBody>
      </p:sp>
      <p:sp>
        <p:nvSpPr>
          <p:cNvPr id="330" name="Google Shape;330;p27"/>
          <p:cNvSpPr txBox="1"/>
          <p:nvPr>
            <p:ph idx="1" type="body"/>
          </p:nvPr>
        </p:nvSpPr>
        <p:spPr>
          <a:xfrm>
            <a:off x="267127" y="1089060"/>
            <a:ext cx="11767335" cy="559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706" y="1154058"/>
            <a:ext cx="7496175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Chessboard Distance Example (cont.)</a:t>
            </a:r>
            <a:endParaRPr/>
          </a:p>
        </p:txBody>
      </p:sp>
      <p:pic>
        <p:nvPicPr>
          <p:cNvPr id="338" name="Google Shape;33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0684" y="1825625"/>
            <a:ext cx="501063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9"/>
          <p:cNvGrpSpPr/>
          <p:nvPr/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345" name="Google Shape;345;p29"/>
            <p:cNvSpPr/>
            <p:nvPr/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000">
                  <a:schemeClr val="accent2"/>
                </a:gs>
                <a:gs pos="40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17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rgbClr val="A02B93">
                    <a:alpha val="75686"/>
                  </a:srgbClr>
                </a:gs>
                <a:gs pos="67000">
                  <a:srgbClr val="E97132">
                    <a:alpha val="0"/>
                  </a:srgbClr>
                </a:gs>
                <a:gs pos="100000">
                  <a:srgbClr val="E97132">
                    <a:alpha val="0"/>
                  </a:srgbClr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>
              <a:gsLst>
                <a:gs pos="0">
                  <a:srgbClr val="501549">
                    <a:alpha val="35686"/>
                  </a:srgbClr>
                </a:gs>
                <a:gs pos="45000">
                  <a:srgbClr val="A02B93">
                    <a:alpha val="0"/>
                  </a:srgbClr>
                </a:gs>
                <a:gs pos="100000">
                  <a:srgbClr val="A02B93">
                    <a:alpha val="0"/>
                  </a:srgbClr>
                </a:gs>
              </a:gsLst>
              <a:lin ang="4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29"/>
          <p:cNvSpPr txBox="1"/>
          <p:nvPr>
            <p:ph type="title"/>
          </p:nvPr>
        </p:nvSpPr>
        <p:spPr>
          <a:xfrm>
            <a:off x="1126348" y="1124262"/>
            <a:ext cx="8017652" cy="269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en-US" sz="5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Image Pre-processing</a:t>
            </a:r>
            <a:endParaRPr/>
          </a:p>
        </p:txBody>
      </p:sp>
      <p:pic>
        <p:nvPicPr>
          <p:cNvPr descr="Camera" id="350" name="Google Shape;3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5646" y="5061057"/>
            <a:ext cx="1199733" cy="119973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Pre-processing</a:t>
            </a:r>
            <a:endParaRPr/>
          </a:p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Image Pre-processing Techniques</a:t>
            </a:r>
            <a:r>
              <a:rPr lang="en-US"/>
              <a:t> are the initial steps performed on raw images to improve their quality, remove noise, and make them suitable for higher-level tasks like feature extraction or object detection. The following are the categories of pre-processing techniques: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Image Enhancement - Histogram processing, Spatial domain filtering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Image Restoration - Noise reduction, De-blurring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Geometric Transformations - Image translation, scaling, rotation, shearing</a:t>
            </a:r>
            <a:endParaRPr/>
          </a:p>
        </p:txBody>
      </p:sp>
      <p:sp>
        <p:nvSpPr>
          <p:cNvPr id="358" name="Google Shape;35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processing operations</a:t>
            </a:r>
            <a:endParaRPr/>
          </a:p>
        </p:txBody>
      </p:sp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Arithmetic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Logical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Geometrical operations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Convolution operations</a:t>
            </a:r>
            <a:endParaRPr/>
          </a:p>
        </p:txBody>
      </p:sp>
      <p:sp>
        <p:nvSpPr>
          <p:cNvPr id="365" name="Google Shape;36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Arithmetic operations</a:t>
            </a:r>
            <a:endParaRPr/>
          </a:p>
        </p:txBody>
      </p:sp>
      <p:sp>
        <p:nvSpPr>
          <p:cNvPr id="371" name="Google Shape;371;p32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Involves the manipulation of pixel values using basic arithmetic operators.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operations are fundamental for tasks such as image enhancement, blending, and morphing.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Common arithmetic operations are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Image addition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Image subtraction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addition</a:t>
            </a:r>
            <a:endParaRPr/>
          </a:p>
        </p:txBody>
      </p:sp>
      <p:sp>
        <p:nvSpPr>
          <p:cNvPr id="378" name="Google Shape;378;p33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Combines two images by adding the corresponding pixel values.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Formula</a:t>
            </a:r>
            <a:r>
              <a:rPr lang="en-US"/>
              <a:t>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Application</a:t>
            </a:r>
            <a:r>
              <a:rPr lang="en-US"/>
              <a:t>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Image Blending</a:t>
            </a:r>
            <a:r>
              <a:rPr lang="en-US"/>
              <a:t>: Used to blend two images together.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Brightness Adjustment</a:t>
            </a:r>
            <a:r>
              <a:rPr lang="en-US"/>
              <a:t>: Adding a constant value to an image increases its brightness.</a:t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040" y="2037654"/>
            <a:ext cx="383857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>
            <p:ph type="title"/>
          </p:nvPr>
        </p:nvSpPr>
        <p:spPr>
          <a:xfrm>
            <a:off x="270553" y="267698"/>
            <a:ext cx="11650894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addition example</a:t>
            </a:r>
            <a:endParaRPr/>
          </a:p>
        </p:txBody>
      </p:sp>
      <p:pic>
        <p:nvPicPr>
          <p:cNvPr id="386" name="Google Shape;386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11" y="1282878"/>
            <a:ext cx="5551968" cy="282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9480" y="1261668"/>
            <a:ext cx="5551967" cy="283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1942" y="4288167"/>
            <a:ext cx="4861496" cy="241140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>
            <p:ph idx="11" type="ftr"/>
          </p:nvPr>
        </p:nvSpPr>
        <p:spPr>
          <a:xfrm>
            <a:off x="4760825" y="6217375"/>
            <a:ext cx="33927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5"/>
          <p:cNvSpPr txBox="1"/>
          <p:nvPr>
            <p:ph type="title"/>
          </p:nvPr>
        </p:nvSpPr>
        <p:spPr>
          <a:xfrm>
            <a:off x="838200" y="365125"/>
            <a:ext cx="10515600" cy="963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Program for addition of two images (google colab)</a:t>
            </a:r>
            <a:endParaRPr/>
          </a:p>
        </p:txBody>
      </p:sp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838199" y="1329070"/>
            <a:ext cx="10910777" cy="528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 cv2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google.colab.patches import cv2_imshow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# </a:t>
            </a:r>
            <a:r>
              <a:rPr lang="en-US">
                <a:solidFill>
                  <a:srgbClr val="00B050"/>
                </a:solidFill>
              </a:rPr>
              <a:t>Load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image1 = cv2.imread('/content/input1.jpg')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image2 = cv2.imread('/content/input2.jpg')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# </a:t>
            </a:r>
            <a:r>
              <a:rPr lang="en-US">
                <a:solidFill>
                  <a:srgbClr val="00B050"/>
                </a:solidFill>
              </a:rPr>
              <a:t>Resize second image to match first if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image1.shape != image2.shape: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   image2 = cv2.resize(image2, (image1.shape[1], image1.shape[0]))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# </a:t>
            </a:r>
            <a:r>
              <a:rPr lang="en-US">
                <a:solidFill>
                  <a:srgbClr val="00B050"/>
                </a:solidFill>
              </a:rPr>
              <a:t>Weighted addition (used for image blending and smooth transition between images)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weightedSum = cv2.addWeighted(image1, 0.5, image2, 0.5, 0)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r>
              <a:rPr lang="en-US"/>
              <a:t># </a:t>
            </a:r>
            <a:r>
              <a:rPr lang="en-US">
                <a:solidFill>
                  <a:srgbClr val="00B050"/>
                </a:solidFill>
              </a:rPr>
              <a:t>Show result in Colab</a:t>
            </a:r>
            <a:endParaRPr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cv2_imshow(weightedSum)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96" name="Google Shape;39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subtraction</a:t>
            </a:r>
            <a:endParaRPr/>
          </a:p>
        </p:txBody>
      </p:sp>
      <p:sp>
        <p:nvSpPr>
          <p:cNvPr id="402" name="Google Shape;402;p36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Subtracts the pixel values of one image from another.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Formula</a:t>
            </a:r>
            <a:r>
              <a:rPr lang="en-US"/>
              <a:t>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Application</a:t>
            </a:r>
            <a:r>
              <a:rPr lang="en-US"/>
              <a:t>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Change Detection</a:t>
            </a:r>
            <a:r>
              <a:rPr lang="en-US"/>
              <a:t>: Identifying differences between two images of the same scene taken at different times.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Edge Detection</a:t>
            </a:r>
            <a:r>
              <a:rPr lang="en-US"/>
              <a:t>: Enhancing edges by subtracting a blurred version of the image from the original.</a:t>
            </a:r>
            <a:endParaRPr/>
          </a:p>
        </p:txBody>
      </p:sp>
      <p:pic>
        <p:nvPicPr>
          <p:cNvPr id="403" name="Google Shape;4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8601" y="2145908"/>
            <a:ext cx="38766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type="title"/>
          </p:nvPr>
        </p:nvSpPr>
        <p:spPr>
          <a:xfrm>
            <a:off x="270553" y="267698"/>
            <a:ext cx="11650894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Image subtraction example</a:t>
            </a:r>
            <a:endParaRPr/>
          </a:p>
        </p:txBody>
      </p:sp>
      <p:pic>
        <p:nvPicPr>
          <p:cNvPr id="410" name="Google Shape;41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138" y="1251056"/>
            <a:ext cx="44005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270106"/>
            <a:ext cx="44100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8498" y="4094752"/>
            <a:ext cx="43719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838200" y="365125"/>
            <a:ext cx="10515600" cy="963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/>
              <a:t>Program for subtraction of two images (google colab)</a:t>
            </a:r>
            <a:endParaRPr/>
          </a:p>
        </p:txBody>
      </p:sp>
      <p:sp>
        <p:nvSpPr>
          <p:cNvPr id="419" name="Google Shape;419;p38"/>
          <p:cNvSpPr txBox="1"/>
          <p:nvPr>
            <p:ph idx="1" type="body"/>
          </p:nvPr>
        </p:nvSpPr>
        <p:spPr>
          <a:xfrm>
            <a:off x="838199" y="1329070"/>
            <a:ext cx="10910777" cy="528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 cv2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google.colab.patches import cv2_imshow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Load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image1 = cv2.imread('/content/input1.jpg')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image2 = cv2.imread('/content/input2.jpg')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Resize second image to match the first if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image1.shape != image2.shape: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image2 = cv2.resize(image2, (image1.shape[1], image1.shape[0]))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Subtract image2 from image1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subtracted = cv2.subtract(image1, image2)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Show result in Google Colab</a:t>
            </a:r>
            <a:endParaRPr b="1"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cv2_imshow(subtracted)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20" name="Google Shape;42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Geometric operations</a:t>
            </a:r>
            <a:endParaRPr/>
          </a:p>
        </p:txBody>
      </p:sp>
      <p:sp>
        <p:nvSpPr>
          <p:cNvPr id="426" name="Google Shape;426;p39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Geometric operations in image processing involve transforming the spatial relationship between pixels in an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operations are used to change the position, orientation, or scale of images.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are fundamental for tasks such as image registration, alignment, and enhancement.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27" name="Google Shape;4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/>
          <p:nvPr>
            <p:ph type="title"/>
          </p:nvPr>
        </p:nvSpPr>
        <p:spPr>
          <a:xfrm>
            <a:off x="246580" y="113017"/>
            <a:ext cx="11794732" cy="1078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Importance of geometric operations in image registration</a:t>
            </a:r>
            <a:endParaRPr/>
          </a:p>
        </p:txBody>
      </p:sp>
      <p:sp>
        <p:nvSpPr>
          <p:cNvPr id="433" name="Google Shape;433;p40"/>
          <p:cNvSpPr txBox="1"/>
          <p:nvPr>
            <p:ph idx="1" type="body"/>
          </p:nvPr>
        </p:nvSpPr>
        <p:spPr>
          <a:xfrm>
            <a:off x="246580" y="1191803"/>
            <a:ext cx="11794733" cy="16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Image registration is the process of aligning two or more images of the same scene taken at different times, from different viewpoints, or by different sensors.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Geometric operations are essential in this process because they enable the transformation and alignment of images to a common coordinate system.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34" name="Google Shape;43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505" y="2845942"/>
            <a:ext cx="9189327" cy="376638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Types of geometric operations</a:t>
            </a:r>
            <a:endParaRPr/>
          </a:p>
        </p:txBody>
      </p:sp>
      <p:pic>
        <p:nvPicPr>
          <p:cNvPr id="441" name="Google Shape;441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364" y="1274763"/>
            <a:ext cx="8016522" cy="53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Translation</a:t>
            </a:r>
            <a:endParaRPr/>
          </a:p>
        </p:txBody>
      </p:sp>
      <p:sp>
        <p:nvSpPr>
          <p:cNvPr id="448" name="Google Shape;448;p42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Shifting an image by a certain amount in the x and y directions.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Used to move objects within an image or to align images in sequence.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Formula :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49" name="Google Shape;4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6944" y="2138181"/>
            <a:ext cx="84296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2477" y="3415773"/>
            <a:ext cx="8692579" cy="3272704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/>
          <p:nvPr>
            <p:ph type="title"/>
          </p:nvPr>
        </p:nvSpPr>
        <p:spPr>
          <a:xfrm>
            <a:off x="838200" y="365125"/>
            <a:ext cx="10515600" cy="963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Program for translation of an image (google colab)</a:t>
            </a:r>
            <a:endParaRPr/>
          </a:p>
        </p:txBody>
      </p:sp>
      <p:sp>
        <p:nvSpPr>
          <p:cNvPr id="457" name="Google Shape;457;p43"/>
          <p:cNvSpPr txBox="1"/>
          <p:nvPr>
            <p:ph idx="1" type="body"/>
          </p:nvPr>
        </p:nvSpPr>
        <p:spPr>
          <a:xfrm>
            <a:off x="838199" y="1329070"/>
            <a:ext cx="10910777" cy="528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import cv2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import numpy as np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from google.colab.patches import cv2_imshow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 sz="2900"/>
            </a:br>
            <a:r>
              <a:rPr b="1" lang="en-US" sz="2900">
                <a:solidFill>
                  <a:srgbClr val="00B050"/>
                </a:solidFill>
              </a:rPr>
              <a:t># Load image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img = cv2.imread('/content/image1.jpg')</a:t>
            </a:r>
            <a:endParaRPr sz="2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h, w = img.shape[:2]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 sz="2900"/>
            </a:br>
            <a:r>
              <a:rPr b="1" lang="en-US" sz="2900">
                <a:solidFill>
                  <a:srgbClr val="00B050"/>
                </a:solidFill>
              </a:rPr>
              <a:t># Translation values (pixels), tx → Shift in x-direction (horizontal). Positive → right, Negative → left; ty → Shift in y-direction (vertical). Positive → down, Negative → 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tx, ty = 100, 50  # right and down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br>
              <a:rPr lang="en-US" sz="2900">
                <a:solidFill>
                  <a:srgbClr val="00B050"/>
                </a:solidFill>
              </a:rPr>
            </a:br>
            <a:r>
              <a:rPr b="1" lang="en-US" sz="2900">
                <a:solidFill>
                  <a:srgbClr val="00B050"/>
                </a:solidFill>
              </a:rPr>
              <a:t># </a:t>
            </a:r>
            <a:r>
              <a:rPr b="1" lang="en-US" sz="3200">
                <a:solidFill>
                  <a:srgbClr val="00B050"/>
                </a:solidFill>
              </a:rPr>
              <a:t>2×3 affine transformation matrix</a:t>
            </a:r>
            <a:r>
              <a:rPr lang="en-US" sz="3200">
                <a:solidFill>
                  <a:srgbClr val="00B050"/>
                </a:solidFill>
              </a:rPr>
              <a:t> moves (translates) the image</a:t>
            </a:r>
            <a:endParaRPr b="1" sz="2900"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M = np.float32([[1, 0, tx],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                [0, 1, ty]])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br>
              <a:rPr b="1" lang="en-US" sz="2900">
                <a:solidFill>
                  <a:srgbClr val="00B050"/>
                </a:solidFill>
              </a:rPr>
            </a:br>
            <a:r>
              <a:rPr b="1" lang="en-US" sz="2900">
                <a:solidFill>
                  <a:srgbClr val="00B050"/>
                </a:solidFill>
              </a:rPr>
              <a:t># Apply translation (same output size as original) using warpAffine</a:t>
            </a:r>
            <a:endParaRPr b="1" sz="2900"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translated = cv2.warpAffine(img, M, (w, h))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 sz="2900"/>
            </a:br>
            <a:r>
              <a:rPr b="1" lang="en-US" sz="2900">
                <a:solidFill>
                  <a:srgbClr val="00B050"/>
                </a:solidFill>
              </a:rPr>
              <a:t># Show original and translated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cv2_imshow(img)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900"/>
              <a:t>cv2_imshow(translated)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58" name="Google Shape;45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translation</a:t>
            </a:r>
            <a:endParaRPr/>
          </a:p>
        </p:txBody>
      </p:sp>
      <p:sp>
        <p:nvSpPr>
          <p:cNvPr id="464" name="Google Shape;464;p44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Hiding a part of the image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Cropping an image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Shifting an image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Animating an image using image translations in loop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5" name="Google Shape;46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5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Rotation</a:t>
            </a:r>
            <a:endParaRPr/>
          </a:p>
        </p:txBody>
      </p:sp>
      <p:sp>
        <p:nvSpPr>
          <p:cNvPr id="471" name="Google Shape;471;p45"/>
          <p:cNvSpPr txBox="1"/>
          <p:nvPr>
            <p:ph idx="1" type="body"/>
          </p:nvPr>
        </p:nvSpPr>
        <p:spPr>
          <a:xfrm>
            <a:off x="246579" y="1273996"/>
            <a:ext cx="11794733" cy="2835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Involves turning the image around a specific point, typically its center, by a certain angle.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During this process, the pixel positions are recalculated based on the rotation angle, which can be either clockwise or counterclockwise.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Mathematically, the rotation of an image is achieved using a rotation matrix that adjusts the coordinates of each pixel in the image.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72" name="Google Shape;4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415" y="4373581"/>
            <a:ext cx="40862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9382" y="4191857"/>
            <a:ext cx="56388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"/>
          <p:cNvSpPr txBox="1"/>
          <p:nvPr>
            <p:ph type="title"/>
          </p:nvPr>
        </p:nvSpPr>
        <p:spPr>
          <a:xfrm>
            <a:off x="133564" y="241836"/>
            <a:ext cx="11918023" cy="59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Examples of rotation</a:t>
            </a:r>
            <a:endParaRPr/>
          </a:p>
        </p:txBody>
      </p:sp>
      <p:pic>
        <p:nvPicPr>
          <p:cNvPr id="480" name="Google Shape;480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54" y="1130763"/>
            <a:ext cx="45053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5175" y="1005422"/>
            <a:ext cx="439102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/>
          <p:nvPr>
            <p:ph type="title"/>
          </p:nvPr>
        </p:nvSpPr>
        <p:spPr>
          <a:xfrm>
            <a:off x="133564" y="241836"/>
            <a:ext cx="11918023" cy="59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Examples of rotation (cont.)</a:t>
            </a:r>
            <a:endParaRPr/>
          </a:p>
        </p:txBody>
      </p:sp>
      <p:pic>
        <p:nvPicPr>
          <p:cNvPr id="488" name="Google Shape;488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54" y="1130763"/>
            <a:ext cx="45053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6824" y="832208"/>
            <a:ext cx="45529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 txBox="1"/>
          <p:nvPr>
            <p:ph type="title"/>
          </p:nvPr>
        </p:nvSpPr>
        <p:spPr>
          <a:xfrm>
            <a:off x="838200" y="365125"/>
            <a:ext cx="11155326" cy="963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/>
              <a:t>Program for rotation of an image by 60 degree (google colab)</a:t>
            </a:r>
            <a:endParaRPr/>
          </a:p>
        </p:txBody>
      </p:sp>
      <p:sp>
        <p:nvSpPr>
          <p:cNvPr id="496" name="Google Shape;496;p48"/>
          <p:cNvSpPr txBox="1"/>
          <p:nvPr>
            <p:ph idx="1" type="body"/>
          </p:nvPr>
        </p:nvSpPr>
        <p:spPr>
          <a:xfrm>
            <a:off x="838199" y="1329070"/>
            <a:ext cx="10910777" cy="528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 cv2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 numpy as np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google.colab.patches import cv2_imshow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Load image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img = cv2.imread('/content/input_rot.png')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h, w = img.shape[:2]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solidFill>
                <a:srgbClr val="00B05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Rotation center (image center)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center = (w // 2, h // 2)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Get rotation matrix: rotate 60 degrees, scale 1.0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 = cv2.getRotationMatrix2D(center, 60, 1.0)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Apply rotation (output size same as original)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rotated = cv2.warpAffine(img, M, (w, h))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-US">
                <a:solidFill>
                  <a:srgbClr val="00B050"/>
                </a:solidFill>
              </a:rPr>
              <a:t># Show original and rotated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cv2_imshow(img)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cv2_imshow(rotated)</a:t>
            </a:r>
            <a:endParaRPr/>
          </a:p>
        </p:txBody>
      </p:sp>
      <p:sp>
        <p:nvSpPr>
          <p:cNvPr id="497" name="Google Shape;497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133564" y="241836"/>
            <a:ext cx="11918023" cy="59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Examples of rotation (cont.)</a:t>
            </a:r>
            <a:endParaRPr/>
          </a:p>
        </p:txBody>
      </p:sp>
      <p:pic>
        <p:nvPicPr>
          <p:cNvPr id="503" name="Google Shape;503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54" y="1130763"/>
            <a:ext cx="45053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1928" y="917450"/>
            <a:ext cx="44005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0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rotation</a:t>
            </a:r>
            <a:endParaRPr/>
          </a:p>
        </p:txBody>
      </p:sp>
      <p:sp>
        <p:nvSpPr>
          <p:cNvPr id="511" name="Google Shape;511;p50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Image Alignment and Registration: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Aligning images taken from different angles or perspectives. Rotation is used to adjust one image to match the orientation of another for comparison or combination.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Medical imaging (aligning MRI or CT scans), satellite imagery (aligning images from different times), and photo stitching (creating panoramas).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Object Detection and Recognition: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Rotating images or features to standard orientations to facilitate the detection and recognition of objects regardless of their orientation.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Face recognition systems (where faces may appear at various angles), automatic number plate recognition, and detecting vehicles or objects in aerial imagery.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12" name="Google Shape;51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1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rotation (cont.)</a:t>
            </a:r>
            <a:endParaRPr/>
          </a:p>
        </p:txBody>
      </p:sp>
      <p:sp>
        <p:nvSpPr>
          <p:cNvPr id="518" name="Google Shape;518;p51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Augmented Reality (AR):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Overlaying virtual objects onto real-world scenes requires rotating the virtual objects to match the orientation of the real-world surfaces.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AR applications like virtual furniture placement, heads-up displays in vehicles, and interactive gaming.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Image Augmentation in Machine Learning: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Rotating images is a common technique in data augmentation to increase the diversity of the training dataset, helping models generalize better.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Training convolutional neural networks (CNNs) for tasks like image classification, object detection, and semantic segmentation.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19" name="Google Shape;51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2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rotation (cont.)</a:t>
            </a:r>
            <a:endParaRPr/>
          </a:p>
        </p:txBody>
      </p:sp>
      <p:sp>
        <p:nvSpPr>
          <p:cNvPr id="525" name="Google Shape;525;p52"/>
          <p:cNvSpPr txBox="1"/>
          <p:nvPr>
            <p:ph idx="1" type="body"/>
          </p:nvPr>
        </p:nvSpPr>
        <p:spPr>
          <a:xfrm>
            <a:off x="82193" y="1273996"/>
            <a:ext cx="12109807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Artistic Effects: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Applying rotation to create visually appealing or artistic effects in image editing.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Graphic design, photography post-processing, and digital art creation.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Correction of Image Orientation: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Correcting the orientation of images that were captured at an incorrect angle.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Rotating scanned documents, correcting photos taken at an angle, and aligning text in document processing.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26" name="Google Shape;526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Scaling</a:t>
            </a:r>
            <a:endParaRPr/>
          </a:p>
        </p:txBody>
      </p:sp>
      <p:sp>
        <p:nvSpPr>
          <p:cNvPr id="532" name="Google Shape;532;p53"/>
          <p:cNvSpPr txBox="1"/>
          <p:nvPr>
            <p:ph idx="1" type="body"/>
          </p:nvPr>
        </p:nvSpPr>
        <p:spPr>
          <a:xfrm>
            <a:off x="246579" y="1273996"/>
            <a:ext cx="11794733" cy="3176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Scaling in image processing refers to the process of resizing an image by changing its dimensions, either enlarging or shrinking the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Scaling down deals with making image smaller while Scaling up refers to increase the size of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Scaling an image involves adjusting the coordinates of the pixels in the image according to a scaling factor.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/>
              <a:t>Scaling Factor 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s&gt;1, the image is enlarged (upscaling).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If s&lt;1, the image is reduced in size (downscaling).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33" name="Google Shape;53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09" y="4450529"/>
            <a:ext cx="93535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4"/>
          <p:cNvSpPr txBox="1"/>
          <p:nvPr>
            <p:ph type="title"/>
          </p:nvPr>
        </p:nvSpPr>
        <p:spPr>
          <a:xfrm>
            <a:off x="133564" y="241836"/>
            <a:ext cx="11918023" cy="590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Examples of scaling</a:t>
            </a:r>
            <a:endParaRPr/>
          </a:p>
        </p:txBody>
      </p:sp>
      <p:pic>
        <p:nvPicPr>
          <p:cNvPr id="540" name="Google Shape;540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3213" y="1019962"/>
            <a:ext cx="3456600" cy="51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5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scaling</a:t>
            </a:r>
            <a:endParaRPr/>
          </a:p>
        </p:txBody>
      </p:sp>
      <p:sp>
        <p:nvSpPr>
          <p:cNvPr id="547" name="Google Shape;547;p55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Image Resizing: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To fit images into different display resolutions or to prepare them for printing.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Web development (resizing images to fit various screen sizes) and preparing images for different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Zooming: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To magnify a specific part of an image for detailed analysis.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Medical imaging (zooming into X-rays or scans), and digital photography (zooming into specific areas of a photo).</a:t>
            </a:r>
            <a:endParaRPr/>
          </a:p>
        </p:txBody>
      </p:sp>
      <p:sp>
        <p:nvSpPr>
          <p:cNvPr id="548" name="Google Shape;54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6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scaling (cont.)</a:t>
            </a:r>
            <a:endParaRPr/>
          </a:p>
        </p:txBody>
      </p:sp>
      <p:sp>
        <p:nvSpPr>
          <p:cNvPr id="554" name="Google Shape;554;p56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Thumbnail Generation: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To create small preview images that represent larger images.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 </a:t>
            </a:r>
            <a:r>
              <a:rPr lang="en-US"/>
              <a:t>Used in photo galleries, file explorers, and video previews.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Image Compression: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To reduce the size of images for storage or transmission.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Used in reducing the size of images in web pages to decrease load times and save bandwidth.</a:t>
            </a:r>
            <a:endParaRPr/>
          </a:p>
        </p:txBody>
      </p:sp>
      <p:sp>
        <p:nvSpPr>
          <p:cNvPr id="555" name="Google Shape;55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Shearing</a:t>
            </a:r>
            <a:endParaRPr/>
          </a:p>
        </p:txBody>
      </p:sp>
      <p:sp>
        <p:nvSpPr>
          <p:cNvPr id="561" name="Google Shape;561;p57"/>
          <p:cNvSpPr txBox="1"/>
          <p:nvPr>
            <p:ph idx="1" type="body"/>
          </p:nvPr>
        </p:nvSpPr>
        <p:spPr>
          <a:xfrm>
            <a:off x="246579" y="1273996"/>
            <a:ext cx="11794733" cy="2547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Shearing an image means shifting the pixel values either horizontally or vertically.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process makes the image appear slanted or skewed.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 Unlike rotation, which changes the orientation of the image, or scaling, which changes the size, shearing distorts the shape of the image by sliding its rows or columns.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transformation matrix for shearing depends on whether the shearing is horizontal or vertical.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2" name="Google Shape;56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8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Horizontal Shearing</a:t>
            </a:r>
            <a:endParaRPr/>
          </a:p>
        </p:txBody>
      </p:sp>
      <p:sp>
        <p:nvSpPr>
          <p:cNvPr id="568" name="Google Shape;568;p58"/>
          <p:cNvSpPr txBox="1"/>
          <p:nvPr>
            <p:ph idx="1" type="body"/>
          </p:nvPr>
        </p:nvSpPr>
        <p:spPr>
          <a:xfrm>
            <a:off x="246579" y="1273996"/>
            <a:ext cx="11794733" cy="139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horizontal shearing, the x-coordinate of each pixel is shifted by an amount proportional to its y-coordinate.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image is slanted horizontally, creating a "tilted" effect along the horizontal axis.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9" name="Google Shape;5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16" y="3061699"/>
            <a:ext cx="6726657" cy="178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9201" y="2779078"/>
            <a:ext cx="3754943" cy="3625759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 of horizontal shearing</a:t>
            </a:r>
            <a:endParaRPr/>
          </a:p>
        </p:txBody>
      </p:sp>
      <p:pic>
        <p:nvPicPr>
          <p:cNvPr id="577" name="Google Shape;5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25" y="1571625"/>
            <a:ext cx="9429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Vertical Shearing</a:t>
            </a:r>
            <a:endParaRPr/>
          </a:p>
        </p:txBody>
      </p:sp>
      <p:sp>
        <p:nvSpPr>
          <p:cNvPr id="584" name="Google Shape;584;p60"/>
          <p:cNvSpPr txBox="1"/>
          <p:nvPr>
            <p:ph idx="1" type="body"/>
          </p:nvPr>
        </p:nvSpPr>
        <p:spPr>
          <a:xfrm>
            <a:off x="246579" y="1273996"/>
            <a:ext cx="11794733" cy="139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vertical shearing, the y-coordinate of each pixel is shifted by an amount proportional to its x-coordinate.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image is slanted vertically, creating a "tilted" effect along the vertical axis.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85" name="Google Shape;58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28" y="3191256"/>
            <a:ext cx="6883847" cy="175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9038" y="2739544"/>
            <a:ext cx="3942286" cy="375333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1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 of vertical shearing</a:t>
            </a:r>
            <a:endParaRPr/>
          </a:p>
        </p:txBody>
      </p:sp>
      <p:pic>
        <p:nvPicPr>
          <p:cNvPr id="593" name="Google Shape;59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225" y="1647825"/>
            <a:ext cx="93535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2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shearing</a:t>
            </a:r>
            <a:endParaRPr/>
          </a:p>
        </p:txBody>
      </p:sp>
      <p:sp>
        <p:nvSpPr>
          <p:cNvPr id="600" name="Google Shape;600;p62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Text Rendering: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Shearing can be used to create italicized text in digital fonts by slanting the characters.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Applied in typography and digital typesetting.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Motion Simulation: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Purpose:</a:t>
            </a:r>
            <a:r>
              <a:rPr lang="en-US"/>
              <a:t> In animation and video games, shearing can simulate motion or the effect of speed, giving the illusion of a 3D effect.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Application:</a:t>
            </a:r>
            <a:r>
              <a:rPr lang="en-US"/>
              <a:t> Used in simulations and animations where objects need to appear as if they are moving at an angle.</a:t>
            </a:r>
            <a:endParaRPr/>
          </a:p>
        </p:txBody>
      </p:sp>
      <p:sp>
        <p:nvSpPr>
          <p:cNvPr id="601" name="Google Shape;60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3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Convolution Operations</a:t>
            </a:r>
            <a:endParaRPr/>
          </a:p>
        </p:txBody>
      </p:sp>
      <p:sp>
        <p:nvSpPr>
          <p:cNvPr id="607" name="Google Shape;607;p63"/>
          <p:cNvSpPr txBox="1"/>
          <p:nvPr>
            <p:ph idx="1" type="body"/>
          </p:nvPr>
        </p:nvSpPr>
        <p:spPr>
          <a:xfrm>
            <a:off x="246579" y="1273996"/>
            <a:ext cx="11794733" cy="3595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mathematics, convolution is an operation performed on two functions (f and g) to produce a third function.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fundamental mathematical technique used in image processing to apply filters to images, allowing for tasks such as edge detection, blurring, sharpening, and feature extraction.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Convolution involves sliding a filter (also called a kernel or mask) over an image and combining the values from the filter with the pixel values of the image to produce a new image.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8" name="Google Shape;60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4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How convolution works?</a:t>
            </a:r>
            <a:endParaRPr/>
          </a:p>
        </p:txBody>
      </p:sp>
      <p:sp>
        <p:nvSpPr>
          <p:cNvPr id="614" name="Google Shape;614;p64"/>
          <p:cNvSpPr txBox="1"/>
          <p:nvPr>
            <p:ph idx="1" type="body"/>
          </p:nvPr>
        </p:nvSpPr>
        <p:spPr>
          <a:xfrm>
            <a:off x="246579" y="1273996"/>
            <a:ext cx="11794733" cy="5373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Kernel (Filter):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kernel is a small matrix (often 3x3, 5x5, etc.) that defines the operation to be applied to the image.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Each element of the kernel represents a weight, and these weights are applied to the corresponding pixels in the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Sliding the Kernel: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kernel is slid over the image, from top-left to bottom-right, one pixel at a time.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At each position, the kernel's values are multiplied by the corresponding pixel values in the image, and the results are summed to produce a single output value.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Generating the Output: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output of the convolution operation is a new image where each pixel represents the result of applying the kernel to the corresponding area in the original image.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5" name="Google Shape;615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5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Convolution Operation on 7x7 matrix with a 3x3 kernel</a:t>
            </a:r>
            <a:endParaRPr/>
          </a:p>
        </p:txBody>
      </p:sp>
      <p:sp>
        <p:nvSpPr>
          <p:cNvPr id="621" name="Google Shape;621;p65"/>
          <p:cNvSpPr txBox="1"/>
          <p:nvPr>
            <p:ph idx="1" type="body"/>
          </p:nvPr>
        </p:nvSpPr>
        <p:spPr>
          <a:xfrm>
            <a:off x="246579" y="1273996"/>
            <a:ext cx="11794733" cy="3595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22" name="Google Shape;62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850" y="1120775"/>
            <a:ext cx="6972300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Convolution Operation on 7x7 matrix with a 3x3 kernel</a:t>
            </a:r>
            <a:endParaRPr/>
          </a:p>
        </p:txBody>
      </p:sp>
      <p:sp>
        <p:nvSpPr>
          <p:cNvPr id="629" name="Google Shape;629;p66"/>
          <p:cNvSpPr txBox="1"/>
          <p:nvPr>
            <p:ph idx="1" type="body"/>
          </p:nvPr>
        </p:nvSpPr>
        <p:spPr>
          <a:xfrm>
            <a:off x="246579" y="1273996"/>
            <a:ext cx="11794733" cy="3595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this example, at the first position, we have 0 in source pixel and 4 in the kernel. 4x0 is 0, then moving to the next pixel we have 0 and 0 in both places. 0x0 is 0.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Then again 0x0 is 0. Next at the center there is 1 in the source image and 0 in the corresponding position of kernel. 0x1 is 0. Then again 0x1 is 0.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 Then 0x0 is 0 and 0x1 is 0 and at the last position it is -4x2 which is -8. Now summing up all these results we get -8 as the answer so the output of this convolution operation is -8. This result is updated in the Destination image</a:t>
            </a:r>
            <a:r>
              <a:rPr b="0" i="0" lang="en-US" sz="1600">
                <a:solidFill>
                  <a:srgbClr val="2424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0" name="Google Shape;63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7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 of identity kernel on image</a:t>
            </a:r>
            <a:endParaRPr/>
          </a:p>
        </p:txBody>
      </p:sp>
      <p:sp>
        <p:nvSpPr>
          <p:cNvPr id="636" name="Google Shape;636;p67"/>
          <p:cNvSpPr txBox="1"/>
          <p:nvPr>
            <p:ph idx="1" type="body"/>
          </p:nvPr>
        </p:nvSpPr>
        <p:spPr>
          <a:xfrm>
            <a:off x="246579" y="1273996"/>
            <a:ext cx="11794733" cy="152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 Identity Kernel , when applied to an image through convolution, will have no effect on the resulting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Every pixel will retain its original value as shown in the following figure.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7" name="Google Shape;63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361" y="2462893"/>
            <a:ext cx="7710060" cy="439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122" y="3522269"/>
            <a:ext cx="143827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8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 of sharpen kernel on image</a:t>
            </a:r>
            <a:endParaRPr/>
          </a:p>
        </p:txBody>
      </p:sp>
      <p:sp>
        <p:nvSpPr>
          <p:cNvPr id="645" name="Google Shape;645;p68"/>
          <p:cNvSpPr txBox="1"/>
          <p:nvPr>
            <p:ph idx="1" type="body"/>
          </p:nvPr>
        </p:nvSpPr>
        <p:spPr>
          <a:xfrm>
            <a:off x="246579" y="1273996"/>
            <a:ext cx="11794733" cy="152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Sharpen Kernel when applied to an image through convolution, will have an image sharpening effect to the resulting image.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46" name="Google Shape;64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509" y="2367410"/>
            <a:ext cx="7604803" cy="436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594" y="3014716"/>
            <a:ext cx="30099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9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Convolution in CNN</a:t>
            </a:r>
            <a:endParaRPr/>
          </a:p>
        </p:txBody>
      </p:sp>
      <p:sp>
        <p:nvSpPr>
          <p:cNvPr id="654" name="Google Shape;654;p69"/>
          <p:cNvSpPr txBox="1"/>
          <p:nvPr>
            <p:ph idx="1" type="body"/>
          </p:nvPr>
        </p:nvSpPr>
        <p:spPr>
          <a:xfrm>
            <a:off x="246579" y="1273996"/>
            <a:ext cx="11794733" cy="3595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CNN comprises of Convolutional Layer, Pooling Layer, and Fully-Connected Layer.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At the Convolution layer, a CNN applies convolution on to its inputs using a Kernel Matrix that it calibrates through training.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this reason, CNNs are very good at feature matching in images and object classification.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5" name="Google Shape;655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0"/>
          <p:cNvSpPr txBox="1"/>
          <p:nvPr>
            <p:ph type="title"/>
          </p:nvPr>
        </p:nvSpPr>
        <p:spPr>
          <a:xfrm>
            <a:off x="246580" y="365125"/>
            <a:ext cx="11620072" cy="82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Applications of Convolution</a:t>
            </a:r>
            <a:endParaRPr/>
          </a:p>
        </p:txBody>
      </p:sp>
      <p:sp>
        <p:nvSpPr>
          <p:cNvPr id="661" name="Google Shape;661;p70"/>
          <p:cNvSpPr txBox="1"/>
          <p:nvPr>
            <p:ph idx="1" type="body"/>
          </p:nvPr>
        </p:nvSpPr>
        <p:spPr>
          <a:xfrm>
            <a:off x="246579" y="1273996"/>
            <a:ext cx="11794733" cy="533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200"/>
              <a:t>Edge Detection: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Sobel Operator: Uses convolution to detect edges by highlighting areas of high gradient in intensity.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Example: Applying the Sobel operator to detect horizontal or vertical edges in an image.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200"/>
              <a:t>Blurring: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Gaussian Blur: A Gaussian kernel is used to apply a blurring effect, which smooths out noise and detail.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Example: Reducing noise in an image by convolving it with a Gaussian kernel.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200"/>
              <a:t>Sharpening: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Laplacian Operator: Enhances edges by highlighting areas where the intensity changes rapidly.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Example: Enhancing the details of an image by convolving it with a Laplacian kernel.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200"/>
              <a:t>Feature Extraction: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Gabor Filters: Used in texture analysis and feature extraction, especially in applications like fingerprint recognition.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Example: Extracting texture features from an image by applying Gabor filters.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62" name="Google Shape;662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Shatabdi Basu, DSE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2024-07-10T11:04:39Z</dcterms:created>
  <dc:creator>Shatabdi Basu [MU - Jaipur]</dc:creator>
</cp:coreProperties>
</file>