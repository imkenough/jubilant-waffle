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9144000"/>
  <p:embeddedFontLst>
    <p:embeddedFont>
      <p:font typeface="Play"/>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isd9OrSHP0MahFjptMTpYSdcNG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lay-regular.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Play-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Complete the slides related to this</a:t>
            </a:r>
            <a:endParaRPr/>
          </a:p>
        </p:txBody>
      </p:sp>
      <p:sp>
        <p:nvSpPr>
          <p:cNvPr id="286" name="Google Shape;28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5"/>
          <p:cNvSpPr/>
          <p:nvPr>
            <p:ph idx="2" type="pic"/>
          </p:nvPr>
        </p:nvSpPr>
        <p:spPr>
          <a:xfrm>
            <a:off x="5183188" y="987425"/>
            <a:ext cx="6172200" cy="4873625"/>
          </a:xfrm>
          <a:prstGeom prst="rect">
            <a:avLst/>
          </a:prstGeom>
          <a:noFill/>
          <a:ln>
            <a:noFill/>
          </a:ln>
        </p:spPr>
      </p:sp>
      <p:sp>
        <p:nvSpPr>
          <p:cNvPr id="68" name="Google Shape;68;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0" y="0"/>
            <a:ext cx="1218894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89" name="Google Shape;89;p1"/>
          <p:cNvGrpSpPr/>
          <p:nvPr/>
        </p:nvGrpSpPr>
        <p:grpSpPr>
          <a:xfrm>
            <a:off x="0" y="0"/>
            <a:ext cx="12188952" cy="6858000"/>
            <a:chOff x="651279" y="598259"/>
            <a:chExt cx="10889442" cy="5680742"/>
          </a:xfrm>
        </p:grpSpPr>
        <p:sp>
          <p:nvSpPr>
            <p:cNvPr id="90" name="Google Shape;90;p1"/>
            <p:cNvSpPr/>
            <p:nvPr/>
          </p:nvSpPr>
          <p:spPr>
            <a:xfrm>
              <a:off x="651279" y="598259"/>
              <a:ext cx="10889442" cy="568074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651279" y="598259"/>
              <a:ext cx="10889442" cy="5680742"/>
            </a:xfrm>
            <a:prstGeom prst="rect">
              <a:avLst/>
            </a:prstGeom>
            <a:solidFill>
              <a:schemeClr val="accent6">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92" name="Google Shape;92;p1"/>
          <p:cNvSpPr/>
          <p:nvPr/>
        </p:nvSpPr>
        <p:spPr>
          <a:xfrm>
            <a:off x="652804" y="598259"/>
            <a:ext cx="10889442" cy="5680742"/>
          </a:xfrm>
          <a:prstGeom prst="rect">
            <a:avLst/>
          </a:prstGeom>
          <a:solidFill>
            <a:srgbClr val="C28E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hand holding a phone with a display of vegetables&#10;&#10;Description automatically generated" id="93" name="Google Shape;93;p1"/>
          <p:cNvPicPr preferRelativeResize="0"/>
          <p:nvPr/>
        </p:nvPicPr>
        <p:blipFill rotWithShape="1">
          <a:blip r:embed="rId3">
            <a:alphaModFix/>
          </a:blip>
          <a:srcRect b="1" l="9344" r="30767" t="0"/>
          <a:stretch/>
        </p:blipFill>
        <p:spPr>
          <a:xfrm>
            <a:off x="4747307" y="653615"/>
            <a:ext cx="6702822" cy="5540004"/>
          </a:xfrm>
          <a:prstGeom prst="rect">
            <a:avLst/>
          </a:prstGeom>
          <a:noFill/>
          <a:ln>
            <a:noFill/>
          </a:ln>
        </p:spPr>
      </p:pic>
      <p:grpSp>
        <p:nvGrpSpPr>
          <p:cNvPr id="94" name="Google Shape;94;p1"/>
          <p:cNvGrpSpPr/>
          <p:nvPr/>
        </p:nvGrpSpPr>
        <p:grpSpPr>
          <a:xfrm>
            <a:off x="0" y="0"/>
            <a:ext cx="12188952" cy="6858000"/>
            <a:chOff x="0" y="0"/>
            <a:chExt cx="12188952" cy="6858000"/>
          </a:xfrm>
        </p:grpSpPr>
        <p:sp>
          <p:nvSpPr>
            <p:cNvPr id="95" name="Google Shape;95;p1"/>
            <p:cNvSpPr/>
            <p:nvPr/>
          </p:nvSpPr>
          <p:spPr>
            <a:xfrm>
              <a:off x="26122" y="6015669"/>
              <a:ext cx="2605762" cy="842331"/>
            </a:xfrm>
            <a:custGeom>
              <a:rect b="b" l="l" r="r" t="t"/>
              <a:pathLst>
                <a:path extrusionOk="0" h="1033951" w="3180577">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6" name="Google Shape;96;p1"/>
            <p:cNvSpPr/>
            <p:nvPr/>
          </p:nvSpPr>
          <p:spPr>
            <a:xfrm>
              <a:off x="655184" y="5798001"/>
              <a:ext cx="2485581" cy="1059999"/>
            </a:xfrm>
            <a:custGeom>
              <a:rect b="b" l="l" r="r" t="t"/>
              <a:pathLst>
                <a:path extrusionOk="0" h="1050628" w="244976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7" name="Google Shape;97;p1"/>
            <p:cNvSpPr/>
            <p:nvPr/>
          </p:nvSpPr>
          <p:spPr>
            <a:xfrm>
              <a:off x="3474720" y="0"/>
              <a:ext cx="6177282" cy="1778750"/>
            </a:xfrm>
            <a:custGeom>
              <a:rect b="b" l="l" r="r" t="t"/>
              <a:pathLst>
                <a:path extrusionOk="0" h="1849426" w="6386648">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8" name="Google Shape;98;p1"/>
            <p:cNvSpPr/>
            <p:nvPr/>
          </p:nvSpPr>
          <p:spPr>
            <a:xfrm>
              <a:off x="0" y="2390523"/>
              <a:ext cx="611491" cy="1421482"/>
            </a:xfrm>
            <a:custGeom>
              <a:rect b="b" l="l" r="r" t="t"/>
              <a:pathLst>
                <a:path extrusionOk="0" h="1429512" w="611491">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9" name="Google Shape;99;p1"/>
            <p:cNvSpPr/>
            <p:nvPr/>
          </p:nvSpPr>
          <p:spPr>
            <a:xfrm>
              <a:off x="3792772" y="0"/>
              <a:ext cx="2423863" cy="1343767"/>
            </a:xfrm>
            <a:custGeom>
              <a:rect b="b" l="l" r="r" t="t"/>
              <a:pathLst>
                <a:path extrusionOk="0" h="1681468" w="3015964">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1"/>
            <p:cNvSpPr/>
            <p:nvPr/>
          </p:nvSpPr>
          <p:spPr>
            <a:xfrm>
              <a:off x="10946850" y="0"/>
              <a:ext cx="1242102" cy="2620884"/>
            </a:xfrm>
            <a:custGeom>
              <a:rect b="b" l="l" r="r" t="t"/>
              <a:pathLst>
                <a:path extrusionOk="0" h="2635689" w="1242102">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1" name="Google Shape;101;p1"/>
            <p:cNvSpPr/>
            <p:nvPr/>
          </p:nvSpPr>
          <p:spPr>
            <a:xfrm>
              <a:off x="0" y="0"/>
              <a:ext cx="1577788" cy="980141"/>
            </a:xfrm>
            <a:custGeom>
              <a:rect b="b" l="l" r="r" t="t"/>
              <a:pathLst>
                <a:path extrusionOk="0" h="795676" w="1471018">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02" name="Google Shape;102;p1"/>
          <p:cNvSpPr txBox="1"/>
          <p:nvPr>
            <p:ph type="ctrTitle"/>
          </p:nvPr>
        </p:nvSpPr>
        <p:spPr>
          <a:xfrm>
            <a:off x="1012644" y="719268"/>
            <a:ext cx="3573794" cy="290512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Play"/>
              <a:buNone/>
            </a:pPr>
            <a:r>
              <a:rPr lang="en-US" sz="4200">
                <a:solidFill>
                  <a:schemeClr val="dk2"/>
                </a:solidFill>
              </a:rPr>
              <a:t>Image Preprocessing</a:t>
            </a:r>
            <a:endParaRPr sz="5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02"/>
                                        </p:tgtEl>
                                        <p:attrNameLst>
                                          <p:attrName>style.visibility</p:attrName>
                                        </p:attrNameLst>
                                      </p:cBhvr>
                                      <p:to>
                                        <p:strVal val="visible"/>
                                      </p:to>
                                    </p:set>
                                    <p:animEffect filter="fade" transition="in">
                                      <p:cBhvr>
                                        <p:cTn dur="4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ctrTitle"/>
          </p:nvPr>
        </p:nvSpPr>
        <p:spPr>
          <a:xfrm>
            <a:off x="643468" y="643467"/>
            <a:ext cx="4620584" cy="45671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Image Preprocessing Techniques</a:t>
            </a:r>
            <a:endParaRPr/>
          </a:p>
        </p:txBody>
      </p:sp>
      <p:pic>
        <p:nvPicPr>
          <p:cNvPr descr="A robot thinking about maths&#10;&#10;Description automatically generated" id="108" name="Google Shape;108;p2"/>
          <p:cNvPicPr preferRelativeResize="0"/>
          <p:nvPr/>
        </p:nvPicPr>
        <p:blipFill rotWithShape="1">
          <a:blip r:embed="rId3">
            <a:alphaModFix/>
          </a:blip>
          <a:srcRect b="2" l="23603" r="18144" t="0"/>
          <a:stretch/>
        </p:blipFill>
        <p:spPr>
          <a:xfrm>
            <a:off x="6229215" y="10"/>
            <a:ext cx="5962785" cy="685799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1137034" y="609597"/>
            <a:ext cx="9392421" cy="13308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enhancement techniques</a:t>
            </a:r>
            <a:endParaRPr/>
          </a:p>
        </p:txBody>
      </p:sp>
      <p:sp>
        <p:nvSpPr>
          <p:cNvPr id="114" name="Google Shape;114;p3"/>
          <p:cNvSpPr txBox="1"/>
          <p:nvPr>
            <p:ph idx="1" type="body"/>
          </p:nvPr>
        </p:nvSpPr>
        <p:spPr>
          <a:xfrm>
            <a:off x="1137034" y="2198362"/>
            <a:ext cx="4958966" cy="391777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Used to improve the visual appearance of an image or to make certain features more distinguishable.</a:t>
            </a:r>
            <a:endParaRPr/>
          </a:p>
          <a:p>
            <a:pPr indent="-228600" lvl="1" marL="685800" rtl="0" algn="l">
              <a:lnSpc>
                <a:spcPct val="90000"/>
              </a:lnSpc>
              <a:spcBef>
                <a:spcPts val="500"/>
              </a:spcBef>
              <a:spcAft>
                <a:spcPts val="0"/>
              </a:spcAft>
              <a:buClr>
                <a:schemeClr val="dk1"/>
              </a:buClr>
              <a:buSzPts val="2000"/>
              <a:buChar char="•"/>
            </a:pPr>
            <a:r>
              <a:rPr lang="en-US" sz="2000"/>
              <a:t>Making images more visually appealing.</a:t>
            </a:r>
            <a:endParaRPr/>
          </a:p>
          <a:p>
            <a:pPr indent="-228600" lvl="1" marL="685800" rtl="0" algn="l">
              <a:lnSpc>
                <a:spcPct val="90000"/>
              </a:lnSpc>
              <a:spcBef>
                <a:spcPts val="500"/>
              </a:spcBef>
              <a:spcAft>
                <a:spcPts val="0"/>
              </a:spcAft>
              <a:buClr>
                <a:schemeClr val="dk1"/>
              </a:buClr>
              <a:buSzPts val="2000"/>
              <a:buChar char="•"/>
            </a:pPr>
            <a:r>
              <a:rPr lang="en-US" sz="2000"/>
              <a:t>Bringing out specific features.</a:t>
            </a:r>
            <a:endParaRPr/>
          </a:p>
          <a:p>
            <a:pPr indent="-228600" lvl="1" marL="685800" rtl="0" algn="l">
              <a:lnSpc>
                <a:spcPct val="90000"/>
              </a:lnSpc>
              <a:spcBef>
                <a:spcPts val="500"/>
              </a:spcBef>
              <a:spcAft>
                <a:spcPts val="0"/>
              </a:spcAft>
              <a:buClr>
                <a:schemeClr val="dk1"/>
              </a:buClr>
              <a:buSzPts val="2000"/>
              <a:buChar char="•"/>
            </a:pPr>
            <a:r>
              <a:rPr lang="en-US" sz="2000"/>
              <a:t>Removing noise from images.</a:t>
            </a:r>
            <a:endParaRPr/>
          </a:p>
          <a:p>
            <a:pPr indent="-228600" lvl="1" marL="685800" rtl="0" algn="l">
              <a:lnSpc>
                <a:spcPct val="90000"/>
              </a:lnSpc>
              <a:spcBef>
                <a:spcPts val="500"/>
              </a:spcBef>
              <a:spcAft>
                <a:spcPts val="0"/>
              </a:spcAft>
              <a:buClr>
                <a:schemeClr val="dk1"/>
              </a:buClr>
              <a:buSzPts val="2000"/>
              <a:buChar char="•"/>
            </a:pPr>
            <a:r>
              <a:rPr lang="en-US" sz="2000"/>
              <a:t>Highlighting interesting details in images.</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descr="A close-up of a computer chip&#10;&#10;Description automatically generated" id="115" name="Google Shape;115;p3"/>
          <p:cNvPicPr preferRelativeResize="0"/>
          <p:nvPr/>
        </p:nvPicPr>
        <p:blipFill rotWithShape="1">
          <a:blip r:embed="rId3">
            <a:alphaModFix/>
          </a:blip>
          <a:srcRect b="0" l="0" r="0" t="0"/>
          <a:stretch/>
        </p:blipFill>
        <p:spPr>
          <a:xfrm>
            <a:off x="6719367" y="2889688"/>
            <a:ext cx="4788505" cy="23463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Common image enhancement techniques</a:t>
            </a:r>
            <a:endParaRPr/>
          </a:p>
        </p:txBody>
      </p:sp>
      <p:sp>
        <p:nvSpPr>
          <p:cNvPr id="121" name="Google Shape;121;p4"/>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Histogram Equalization</a:t>
            </a:r>
            <a:endParaRPr/>
          </a:p>
          <a:p>
            <a:pPr indent="-228600" lvl="0" marL="228600" rtl="0" algn="l">
              <a:lnSpc>
                <a:spcPct val="90000"/>
              </a:lnSpc>
              <a:spcBef>
                <a:spcPts val="1000"/>
              </a:spcBef>
              <a:spcAft>
                <a:spcPts val="0"/>
              </a:spcAft>
              <a:buClr>
                <a:schemeClr val="dk1"/>
              </a:buClr>
              <a:buSzPts val="2800"/>
              <a:buChar char="•"/>
            </a:pPr>
            <a:r>
              <a:rPr lang="en-US"/>
              <a:t>Contrast Stretching</a:t>
            </a:r>
            <a:endParaRPr/>
          </a:p>
          <a:p>
            <a:pPr indent="-228600" lvl="0" marL="228600" rtl="0" algn="l">
              <a:lnSpc>
                <a:spcPct val="90000"/>
              </a:lnSpc>
              <a:spcBef>
                <a:spcPts val="1000"/>
              </a:spcBef>
              <a:spcAft>
                <a:spcPts val="0"/>
              </a:spcAft>
              <a:buClr>
                <a:schemeClr val="dk1"/>
              </a:buClr>
              <a:buSzPts val="2800"/>
              <a:buChar char="•"/>
            </a:pPr>
            <a:r>
              <a:rPr lang="en-US"/>
              <a:t>Smoothing</a:t>
            </a:r>
            <a:endParaRPr/>
          </a:p>
          <a:p>
            <a:pPr indent="-228600" lvl="0" marL="228600" rtl="0" algn="l">
              <a:lnSpc>
                <a:spcPct val="90000"/>
              </a:lnSpc>
              <a:spcBef>
                <a:spcPts val="1000"/>
              </a:spcBef>
              <a:spcAft>
                <a:spcPts val="0"/>
              </a:spcAft>
              <a:buClr>
                <a:schemeClr val="dk1"/>
              </a:buClr>
              <a:buSzPts val="2800"/>
              <a:buChar char="•"/>
            </a:pPr>
            <a:r>
              <a:rPr lang="en-US"/>
              <a:t>Sharpening</a:t>
            </a:r>
            <a:endParaRPr/>
          </a:p>
          <a:p>
            <a:pPr indent="-228600" lvl="0" marL="228600" rtl="0" algn="l">
              <a:lnSpc>
                <a:spcPct val="90000"/>
              </a:lnSpc>
              <a:spcBef>
                <a:spcPts val="1000"/>
              </a:spcBef>
              <a:spcAft>
                <a:spcPts val="0"/>
              </a:spcAft>
              <a:buClr>
                <a:schemeClr val="dk1"/>
              </a:buClr>
              <a:buSzPts val="2800"/>
              <a:buChar char="•"/>
            </a:pPr>
            <a:r>
              <a:rPr lang="en-US"/>
              <a:t>Noise Reduction</a:t>
            </a:r>
            <a:endParaRPr/>
          </a:p>
          <a:p>
            <a:pPr indent="-228600" lvl="0" marL="228600" rtl="0" algn="l">
              <a:lnSpc>
                <a:spcPct val="90000"/>
              </a:lnSpc>
              <a:spcBef>
                <a:spcPts val="1000"/>
              </a:spcBef>
              <a:spcAft>
                <a:spcPts val="0"/>
              </a:spcAft>
              <a:buClr>
                <a:schemeClr val="dk1"/>
              </a:buClr>
              <a:buSzPts val="2800"/>
              <a:buChar char="•"/>
            </a:pPr>
            <a:r>
              <a:rPr lang="en-US"/>
              <a:t>Edge Enhancement</a:t>
            </a:r>
            <a:endParaRPr/>
          </a:p>
          <a:p>
            <a:pPr indent="-228600" lvl="0" marL="228600" rtl="0" algn="l">
              <a:lnSpc>
                <a:spcPct val="90000"/>
              </a:lnSpc>
              <a:spcBef>
                <a:spcPts val="1000"/>
              </a:spcBef>
              <a:spcAft>
                <a:spcPts val="0"/>
              </a:spcAft>
              <a:buClr>
                <a:schemeClr val="dk1"/>
              </a:buClr>
              <a:buSzPts val="2800"/>
              <a:buChar char="•"/>
            </a:pPr>
            <a:r>
              <a:rPr lang="en-US"/>
              <a:t>Gamma Correction</a:t>
            </a:r>
            <a:endParaRPr/>
          </a:p>
          <a:p>
            <a:pPr indent="-228600" lvl="0" marL="228600" rtl="0" algn="l">
              <a:lnSpc>
                <a:spcPct val="90000"/>
              </a:lnSpc>
              <a:spcBef>
                <a:spcPts val="1000"/>
              </a:spcBef>
              <a:spcAft>
                <a:spcPts val="0"/>
              </a:spcAft>
              <a:buClr>
                <a:schemeClr val="dk1"/>
              </a:buClr>
              <a:buSzPts val="2800"/>
              <a:buChar char="•"/>
            </a:pPr>
            <a:r>
              <a:rPr lang="en-US"/>
              <a:t>Image Inversion</a:t>
            </a:r>
            <a:endParaRPr/>
          </a:p>
          <a:p>
            <a:pPr indent="-228600" lvl="0" marL="228600" rtl="0" algn="l">
              <a:lnSpc>
                <a:spcPct val="90000"/>
              </a:lnSpc>
              <a:spcBef>
                <a:spcPts val="1000"/>
              </a:spcBef>
              <a:spcAft>
                <a:spcPts val="0"/>
              </a:spcAft>
              <a:buClr>
                <a:schemeClr val="dk1"/>
              </a:buClr>
              <a:buSzPts val="2800"/>
              <a:buChar char="•"/>
            </a:pPr>
            <a:r>
              <a:rPr lang="en-US"/>
              <a:t>Bilateral Filtering</a:t>
            </a:r>
            <a:endParaRPr/>
          </a:p>
          <a:p>
            <a:pPr indent="-228600" lvl="0" marL="228600" rtl="0" algn="l">
              <a:lnSpc>
                <a:spcPct val="90000"/>
              </a:lnSpc>
              <a:spcBef>
                <a:spcPts val="1000"/>
              </a:spcBef>
              <a:spcAft>
                <a:spcPts val="0"/>
              </a:spcAft>
              <a:buClr>
                <a:schemeClr val="dk1"/>
              </a:buClr>
              <a:buSzPts val="2800"/>
              <a:buChar char="•"/>
            </a:pPr>
            <a:r>
              <a:rPr lang="en-US"/>
              <a:t>Color Enhancement</a:t>
            </a:r>
            <a:endParaRPr/>
          </a:p>
          <a:p>
            <a:pPr indent="-228600" lvl="0" marL="228600" rtl="0" algn="l">
              <a:lnSpc>
                <a:spcPct val="90000"/>
              </a:lnSpc>
              <a:spcBef>
                <a:spcPts val="1000"/>
              </a:spcBef>
              <a:spcAft>
                <a:spcPts val="0"/>
              </a:spcAft>
              <a:buClr>
                <a:schemeClr val="dk1"/>
              </a:buClr>
              <a:buSzPts val="2800"/>
              <a:buChar char="•"/>
            </a:pPr>
            <a:r>
              <a:rPr lang="en-US"/>
              <a:t>Morphological Operations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Understanding histograms</a:t>
            </a:r>
            <a:endParaRPr/>
          </a:p>
        </p:txBody>
      </p:sp>
      <p:sp>
        <p:nvSpPr>
          <p:cNvPr id="128" name="Google Shape;128;p5"/>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Image histogram:</a:t>
            </a:r>
            <a:endParaRPr/>
          </a:p>
          <a:p>
            <a:pPr indent="-228600" lvl="1" marL="685800" rtl="0" algn="l">
              <a:lnSpc>
                <a:spcPct val="90000"/>
              </a:lnSpc>
              <a:spcBef>
                <a:spcPts val="500"/>
              </a:spcBef>
              <a:spcAft>
                <a:spcPts val="0"/>
              </a:spcAft>
              <a:buClr>
                <a:schemeClr val="dk1"/>
              </a:buClr>
              <a:buSzPts val="2400"/>
              <a:buChar char="•"/>
            </a:pPr>
            <a:r>
              <a:rPr lang="en-US"/>
              <a:t>Graphical representation of the distribution of pixel intensities in an image.</a:t>
            </a:r>
            <a:endParaRPr/>
          </a:p>
          <a:p>
            <a:pPr indent="-228600" lvl="1" marL="685800" rtl="0" algn="l">
              <a:lnSpc>
                <a:spcPct val="90000"/>
              </a:lnSpc>
              <a:spcBef>
                <a:spcPts val="500"/>
              </a:spcBef>
              <a:spcAft>
                <a:spcPts val="0"/>
              </a:spcAft>
              <a:buClr>
                <a:schemeClr val="dk1"/>
              </a:buClr>
              <a:buSzPts val="2400"/>
              <a:buChar char="•"/>
            </a:pPr>
            <a:r>
              <a:rPr lang="en-US"/>
              <a:t>It plots the number of pixels (frequency) for each intensity value, typically ranging from 0 (black) to 255 (white) for 8-bit grayscale images.</a:t>
            </a:r>
            <a:endParaRPr/>
          </a:p>
          <a:p>
            <a:pPr indent="-228600" lvl="0" marL="228600" rtl="0" algn="l">
              <a:lnSpc>
                <a:spcPct val="90000"/>
              </a:lnSpc>
              <a:spcBef>
                <a:spcPts val="1000"/>
              </a:spcBef>
              <a:spcAft>
                <a:spcPts val="0"/>
              </a:spcAft>
              <a:buClr>
                <a:schemeClr val="dk1"/>
              </a:buClr>
              <a:buSzPts val="2800"/>
              <a:buChar char="•"/>
            </a:pPr>
            <a:r>
              <a:rPr b="1" lang="en-US"/>
              <a:t>Low contrast images:</a:t>
            </a:r>
            <a:endParaRPr/>
          </a:p>
          <a:p>
            <a:pPr indent="-228600" lvl="1" marL="685800" rtl="0" algn="l">
              <a:lnSpc>
                <a:spcPct val="90000"/>
              </a:lnSpc>
              <a:spcBef>
                <a:spcPts val="500"/>
              </a:spcBef>
              <a:spcAft>
                <a:spcPts val="0"/>
              </a:spcAft>
              <a:buClr>
                <a:schemeClr val="dk1"/>
              </a:buClr>
              <a:buSzPts val="2400"/>
              <a:buChar char="•"/>
            </a:pPr>
            <a:r>
              <a:rPr lang="en-US"/>
              <a:t>In images with low contrast, the histogram is often clustered in a narrow range of intensity values.</a:t>
            </a:r>
            <a:endParaRPr/>
          </a:p>
          <a:p>
            <a:pPr indent="-228600" lvl="1" marL="685800" rtl="0" algn="l">
              <a:lnSpc>
                <a:spcPct val="90000"/>
              </a:lnSpc>
              <a:spcBef>
                <a:spcPts val="500"/>
              </a:spcBef>
              <a:spcAft>
                <a:spcPts val="0"/>
              </a:spcAft>
              <a:buClr>
                <a:schemeClr val="dk1"/>
              </a:buClr>
              <a:buSzPts val="2400"/>
              <a:buChar char="•"/>
            </a:pPr>
            <a:r>
              <a:rPr lang="en-US"/>
              <a:t>This clustering results in an image where details are difficult to distinguish, as there is little variation in brightness.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652887" y="617921"/>
            <a:ext cx="3482041" cy="398858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Histogram of dark and bright images</a:t>
            </a:r>
            <a:endParaRPr/>
          </a:p>
        </p:txBody>
      </p:sp>
      <p:pic>
        <p:nvPicPr>
          <p:cNvPr descr="A collage of different images of coffee beans&#10;&#10;Description automatically generated" id="134" name="Google Shape;134;p6"/>
          <p:cNvPicPr preferRelativeResize="0"/>
          <p:nvPr>
            <p:ph idx="1" type="body"/>
          </p:nvPr>
        </p:nvPicPr>
        <p:blipFill rotWithShape="1">
          <a:blip r:embed="rId3">
            <a:alphaModFix/>
          </a:blip>
          <a:srcRect b="0" l="0" r="0" t="0"/>
          <a:stretch/>
        </p:blipFill>
        <p:spPr>
          <a:xfrm>
            <a:off x="5199145" y="749488"/>
            <a:ext cx="6409958" cy="5448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205484" y="813574"/>
            <a:ext cx="3774846" cy="385925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Histogram of low-contrast and high-contrast images</a:t>
            </a:r>
            <a:endParaRPr/>
          </a:p>
        </p:txBody>
      </p:sp>
      <p:pic>
        <p:nvPicPr>
          <p:cNvPr descr="A collage of images of different types of images&#10;&#10;Description automatically generated" id="140" name="Google Shape;140;p7"/>
          <p:cNvPicPr preferRelativeResize="0"/>
          <p:nvPr>
            <p:ph idx="1" type="body"/>
          </p:nvPr>
        </p:nvPicPr>
        <p:blipFill rotWithShape="1">
          <a:blip r:embed="rId3">
            <a:alphaModFix/>
          </a:blip>
          <a:srcRect b="2" l="0" r="6120" t="0"/>
          <a:stretch/>
        </p:blipFill>
        <p:spPr>
          <a:xfrm>
            <a:off x="4617490" y="1"/>
            <a:ext cx="7574510" cy="6858000"/>
          </a:xfrm>
          <a:prstGeom prst="rect">
            <a:avLst/>
          </a:prstGeom>
          <a:noFill/>
          <a:ln>
            <a:noFill/>
          </a:ln>
          <a:effectLst>
            <a:outerShdw blurRad="254000" sx="90000" rotWithShape="0" algn="ctr" dir="5580000" dist="190500" sy="90000">
              <a:srgbClr val="000000">
                <a:alpha val="24705"/>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How Histogram Equalization Works</a:t>
            </a:r>
            <a:endParaRPr/>
          </a:p>
        </p:txBody>
      </p:sp>
      <p:sp>
        <p:nvSpPr>
          <p:cNvPr id="146" name="Google Shape;146;p8"/>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Calculation of Cumulative Distribution Function (CDF):</a:t>
            </a:r>
            <a:endParaRPr/>
          </a:p>
          <a:p>
            <a:pPr indent="-228600" lvl="1" marL="685800" rtl="0" algn="l">
              <a:lnSpc>
                <a:spcPct val="90000"/>
              </a:lnSpc>
              <a:spcBef>
                <a:spcPts val="500"/>
              </a:spcBef>
              <a:spcAft>
                <a:spcPts val="0"/>
              </a:spcAft>
              <a:buClr>
                <a:schemeClr val="dk1"/>
              </a:buClr>
              <a:buSzPts val="2400"/>
              <a:buChar char="•"/>
            </a:pPr>
            <a:r>
              <a:rPr lang="en-US"/>
              <a:t>The CDF is a cumulative sum of the histogram values, which shows the cumulative probability of intensity values up to a certain level.</a:t>
            </a:r>
            <a:endParaRPr/>
          </a:p>
          <a:p>
            <a:pPr indent="-228600" lvl="0" marL="228600" rtl="0" algn="l">
              <a:lnSpc>
                <a:spcPct val="90000"/>
              </a:lnSpc>
              <a:spcBef>
                <a:spcPts val="1000"/>
              </a:spcBef>
              <a:spcAft>
                <a:spcPts val="0"/>
              </a:spcAft>
              <a:buClr>
                <a:schemeClr val="dk1"/>
              </a:buClr>
              <a:buSzPts val="2800"/>
              <a:buChar char="•"/>
            </a:pPr>
            <a:r>
              <a:rPr b="1" lang="en-US"/>
              <a:t>Mapping Intensities:</a:t>
            </a:r>
            <a:endParaRPr/>
          </a:p>
          <a:p>
            <a:pPr indent="-228600" lvl="1" marL="685800" rtl="0" algn="l">
              <a:lnSpc>
                <a:spcPct val="90000"/>
              </a:lnSpc>
              <a:spcBef>
                <a:spcPts val="500"/>
              </a:spcBef>
              <a:spcAft>
                <a:spcPts val="0"/>
              </a:spcAft>
              <a:buClr>
                <a:schemeClr val="dk1"/>
              </a:buClr>
              <a:buSzPts val="2400"/>
              <a:buChar char="•"/>
            </a:pPr>
            <a:r>
              <a:rPr lang="en-US"/>
              <a:t>The CDF is then normalized to span the full intensity range of the image (e.g., 0 to 255 for an 8-bit image).</a:t>
            </a:r>
            <a:endParaRPr/>
          </a:p>
          <a:p>
            <a:pPr indent="-228600" lvl="1" marL="685800" rtl="0" algn="l">
              <a:lnSpc>
                <a:spcPct val="90000"/>
              </a:lnSpc>
              <a:spcBef>
                <a:spcPts val="500"/>
              </a:spcBef>
              <a:spcAft>
                <a:spcPts val="0"/>
              </a:spcAft>
              <a:buClr>
                <a:schemeClr val="dk1"/>
              </a:buClr>
              <a:buSzPts val="2400"/>
              <a:buChar char="•"/>
            </a:pPr>
            <a:r>
              <a:rPr lang="en-US"/>
              <a:t>This normalization maps the original pixel intensities to new intensity values that are spread more evenly across the entire range.</a:t>
            </a:r>
            <a:endParaRPr/>
          </a:p>
          <a:p>
            <a:pPr indent="-228600" lvl="0" marL="228600" rtl="0" algn="l">
              <a:lnSpc>
                <a:spcPct val="90000"/>
              </a:lnSpc>
              <a:spcBef>
                <a:spcPts val="1000"/>
              </a:spcBef>
              <a:spcAft>
                <a:spcPts val="0"/>
              </a:spcAft>
              <a:buClr>
                <a:schemeClr val="dk1"/>
              </a:buClr>
              <a:buSzPts val="2800"/>
              <a:buChar char="•"/>
            </a:pPr>
            <a:r>
              <a:rPr b="1" lang="en-US"/>
              <a:t>Transforming the Image: </a:t>
            </a:r>
            <a:endParaRPr/>
          </a:p>
          <a:p>
            <a:pPr indent="-228600" lvl="1" marL="685800" rtl="0" algn="l">
              <a:lnSpc>
                <a:spcPct val="90000"/>
              </a:lnSpc>
              <a:spcBef>
                <a:spcPts val="500"/>
              </a:spcBef>
              <a:spcAft>
                <a:spcPts val="0"/>
              </a:spcAft>
              <a:buClr>
                <a:schemeClr val="dk1"/>
              </a:buClr>
              <a:buSzPts val="2400"/>
              <a:buChar char="•"/>
            </a:pPr>
            <a:r>
              <a:rPr lang="en-US"/>
              <a:t>Finally, each pixel in the original image is transformed based on the normalized CDF. </a:t>
            </a:r>
            <a:endParaRPr/>
          </a:p>
          <a:p>
            <a:pPr indent="-228600" lvl="1" marL="685800" rtl="0" algn="l">
              <a:lnSpc>
                <a:spcPct val="90000"/>
              </a:lnSpc>
              <a:spcBef>
                <a:spcPts val="500"/>
              </a:spcBef>
              <a:spcAft>
                <a:spcPts val="0"/>
              </a:spcAft>
              <a:buClr>
                <a:schemeClr val="dk1"/>
              </a:buClr>
              <a:buSzPts val="2400"/>
              <a:buChar char="•"/>
            </a:pPr>
            <a:r>
              <a:rPr lang="en-US"/>
              <a:t>The result is an image with a more uniform distribution of intensities, leading to improved contrast.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285964" y="149368"/>
            <a:ext cx="11620072" cy="82667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sz="4000"/>
              <a:t>Comparison of images before and after histogram equalization</a:t>
            </a:r>
            <a:endParaRPr/>
          </a:p>
        </p:txBody>
      </p:sp>
      <p:pic>
        <p:nvPicPr>
          <p:cNvPr id="152" name="Google Shape;152;p9"/>
          <p:cNvPicPr preferRelativeResize="0"/>
          <p:nvPr>
            <p:ph idx="1" type="body"/>
          </p:nvPr>
        </p:nvPicPr>
        <p:blipFill rotWithShape="1">
          <a:blip r:embed="rId3">
            <a:alphaModFix/>
          </a:blip>
          <a:srcRect b="0" l="0" r="0" t="0"/>
          <a:stretch/>
        </p:blipFill>
        <p:spPr>
          <a:xfrm>
            <a:off x="2787315" y="1274763"/>
            <a:ext cx="6712621" cy="5330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102742" y="0"/>
            <a:ext cx="11620072" cy="82667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sz="4000"/>
              <a:t>Comparison of images before and after histogram equalization</a:t>
            </a:r>
            <a:endParaRPr sz="4000"/>
          </a:p>
        </p:txBody>
      </p:sp>
      <p:pic>
        <p:nvPicPr>
          <p:cNvPr id="158" name="Google Shape;158;p10"/>
          <p:cNvPicPr preferRelativeResize="0"/>
          <p:nvPr>
            <p:ph idx="1" type="body"/>
          </p:nvPr>
        </p:nvPicPr>
        <p:blipFill rotWithShape="1">
          <a:blip r:embed="rId3">
            <a:alphaModFix/>
          </a:blip>
          <a:srcRect b="0" l="0" r="0" t="0"/>
          <a:stretch/>
        </p:blipFill>
        <p:spPr>
          <a:xfrm>
            <a:off x="1664413" y="697029"/>
            <a:ext cx="8003569" cy="3196394"/>
          </a:xfrm>
          <a:prstGeom prst="rect">
            <a:avLst/>
          </a:prstGeom>
          <a:noFill/>
          <a:ln>
            <a:noFill/>
          </a:ln>
        </p:spPr>
      </p:pic>
      <p:pic>
        <p:nvPicPr>
          <p:cNvPr id="159" name="Google Shape;159;p10"/>
          <p:cNvPicPr preferRelativeResize="0"/>
          <p:nvPr/>
        </p:nvPicPr>
        <p:blipFill rotWithShape="1">
          <a:blip r:embed="rId4">
            <a:alphaModFix/>
          </a:blip>
          <a:srcRect b="0" l="0" r="0" t="0"/>
          <a:stretch/>
        </p:blipFill>
        <p:spPr>
          <a:xfrm>
            <a:off x="1920197" y="3827712"/>
            <a:ext cx="7347093" cy="303028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ph type="title"/>
          </p:nvPr>
        </p:nvSpPr>
        <p:spPr>
          <a:xfrm>
            <a:off x="0" y="82193"/>
            <a:ext cx="12192000" cy="11096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Comparison of images before and after histogram equalization</a:t>
            </a:r>
            <a:endParaRPr/>
          </a:p>
        </p:txBody>
      </p:sp>
      <p:sp>
        <p:nvSpPr>
          <p:cNvPr id="166" name="Google Shape;166;p11"/>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Histogram Before Equalization:</a:t>
            </a:r>
            <a:endParaRPr/>
          </a:p>
          <a:p>
            <a:pPr indent="-228600" lvl="1" marL="685800" rtl="0" algn="l">
              <a:lnSpc>
                <a:spcPct val="90000"/>
              </a:lnSpc>
              <a:spcBef>
                <a:spcPts val="500"/>
              </a:spcBef>
              <a:spcAft>
                <a:spcPts val="0"/>
              </a:spcAft>
              <a:buClr>
                <a:schemeClr val="dk1"/>
              </a:buClr>
              <a:buSzPts val="2400"/>
              <a:buChar char="•"/>
            </a:pPr>
            <a:r>
              <a:rPr lang="en-US"/>
              <a:t>The histogram is narrow, showing a limited range of intensity values.</a:t>
            </a:r>
            <a:endParaRPr/>
          </a:p>
          <a:p>
            <a:pPr indent="-228600" lvl="0" marL="228600" rtl="0" algn="l">
              <a:lnSpc>
                <a:spcPct val="90000"/>
              </a:lnSpc>
              <a:spcBef>
                <a:spcPts val="1000"/>
              </a:spcBef>
              <a:spcAft>
                <a:spcPts val="0"/>
              </a:spcAft>
              <a:buClr>
                <a:schemeClr val="dk1"/>
              </a:buClr>
              <a:buSzPts val="2800"/>
              <a:buChar char="•"/>
            </a:pPr>
            <a:r>
              <a:rPr b="1" lang="en-US"/>
              <a:t>After Histogram Equalization:</a:t>
            </a:r>
            <a:endParaRPr/>
          </a:p>
          <a:p>
            <a:pPr indent="-228600" lvl="1" marL="685800" rtl="0" algn="l">
              <a:lnSpc>
                <a:spcPct val="90000"/>
              </a:lnSpc>
              <a:spcBef>
                <a:spcPts val="500"/>
              </a:spcBef>
              <a:spcAft>
                <a:spcPts val="0"/>
              </a:spcAft>
              <a:buClr>
                <a:schemeClr val="dk1"/>
              </a:buClr>
              <a:buSzPts val="2400"/>
              <a:buChar char="•"/>
            </a:pPr>
            <a:r>
              <a:rPr lang="en-US"/>
              <a:t>The pixel intensities are spread out across the entire range, from 0 to 255.</a:t>
            </a:r>
            <a:endParaRPr/>
          </a:p>
          <a:p>
            <a:pPr indent="-228600" lvl="1" marL="685800" rtl="0" algn="l">
              <a:lnSpc>
                <a:spcPct val="90000"/>
              </a:lnSpc>
              <a:spcBef>
                <a:spcPts val="500"/>
              </a:spcBef>
              <a:spcAft>
                <a:spcPts val="0"/>
              </a:spcAft>
              <a:buClr>
                <a:schemeClr val="dk1"/>
              </a:buClr>
              <a:buSzPts val="2400"/>
              <a:buChar char="•"/>
            </a:pPr>
            <a:r>
              <a:rPr lang="en-US"/>
              <a:t>The resulting image has higher contrast, making previously hidden details more visible.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Noise Reduction</a:t>
            </a:r>
            <a:endParaRPr/>
          </a:p>
        </p:txBody>
      </p:sp>
      <p:sp>
        <p:nvSpPr>
          <p:cNvPr id="172" name="Google Shape;172;p12"/>
          <p:cNvSpPr txBox="1"/>
          <p:nvPr>
            <p:ph idx="1" type="body"/>
          </p:nvPr>
        </p:nvSpPr>
        <p:spPr>
          <a:xfrm>
            <a:off x="246579" y="1273997"/>
            <a:ext cx="11794733" cy="215500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Techniques used to remove or minimize unwanted random variations in pixel intensity, known as noise, from an image.</a:t>
            </a:r>
            <a:endParaRPr/>
          </a:p>
          <a:p>
            <a:pPr indent="-228600" lvl="0" marL="228600" rtl="0" algn="l">
              <a:lnSpc>
                <a:spcPct val="90000"/>
              </a:lnSpc>
              <a:spcBef>
                <a:spcPts val="1000"/>
              </a:spcBef>
              <a:spcAft>
                <a:spcPts val="0"/>
              </a:spcAft>
              <a:buClr>
                <a:schemeClr val="dk1"/>
              </a:buClr>
              <a:buSzPts val="2800"/>
              <a:buChar char="•"/>
            </a:pPr>
            <a:r>
              <a:rPr lang="en-US"/>
              <a:t>Noise can be introduced during image acquisition, transmission, or processing, and it can degrade the quality of an image, making it difficult to interpret or analyze.</a:t>
            </a:r>
            <a:endParaRPr/>
          </a:p>
        </p:txBody>
      </p:sp>
      <p:pic>
        <p:nvPicPr>
          <p:cNvPr id="173" name="Google Shape;173;p12"/>
          <p:cNvPicPr preferRelativeResize="0"/>
          <p:nvPr/>
        </p:nvPicPr>
        <p:blipFill rotWithShape="1">
          <a:blip r:embed="rId3">
            <a:alphaModFix/>
          </a:blip>
          <a:srcRect b="0" l="0" r="0" t="0"/>
          <a:stretch/>
        </p:blipFill>
        <p:spPr>
          <a:xfrm>
            <a:off x="165939" y="3804117"/>
            <a:ext cx="5592948" cy="2155004"/>
          </a:xfrm>
          <a:prstGeom prst="rect">
            <a:avLst/>
          </a:prstGeom>
          <a:noFill/>
          <a:ln>
            <a:noFill/>
          </a:ln>
        </p:spPr>
      </p:pic>
      <p:pic>
        <p:nvPicPr>
          <p:cNvPr id="174" name="Google Shape;174;p12"/>
          <p:cNvPicPr preferRelativeResize="0"/>
          <p:nvPr/>
        </p:nvPicPr>
        <p:blipFill rotWithShape="1">
          <a:blip r:embed="rId4">
            <a:alphaModFix/>
          </a:blip>
          <a:srcRect b="0" l="0" r="0" t="0"/>
          <a:stretch/>
        </p:blipFill>
        <p:spPr>
          <a:xfrm>
            <a:off x="6339154" y="3820779"/>
            <a:ext cx="5280918" cy="21716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ph type="title"/>
          </p:nvPr>
        </p:nvSpPr>
        <p:spPr>
          <a:xfrm>
            <a:off x="246579" y="97996"/>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Types of Noise – Gaussian Noise</a:t>
            </a:r>
            <a:endParaRPr/>
          </a:p>
        </p:txBody>
      </p:sp>
      <p:sp>
        <p:nvSpPr>
          <p:cNvPr id="180" name="Google Shape;180;p13"/>
          <p:cNvSpPr txBox="1"/>
          <p:nvPr>
            <p:ph idx="1" type="body"/>
          </p:nvPr>
        </p:nvSpPr>
        <p:spPr>
          <a:xfrm>
            <a:off x="246579" y="924674"/>
            <a:ext cx="11794733" cy="583533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characterized by random variations in intensity that follow a bell curve distribution.</a:t>
            </a:r>
            <a:endParaRPr/>
          </a:p>
          <a:p>
            <a:pPr indent="-228600" lvl="0" marL="228600" rtl="0" algn="l">
              <a:lnSpc>
                <a:spcPct val="90000"/>
              </a:lnSpc>
              <a:spcBef>
                <a:spcPts val="1000"/>
              </a:spcBef>
              <a:spcAft>
                <a:spcPts val="0"/>
              </a:spcAft>
              <a:buClr>
                <a:schemeClr val="dk1"/>
              </a:buClr>
              <a:buSzPts val="2800"/>
              <a:buChar char="•"/>
            </a:pPr>
            <a:r>
              <a:rPr b="1" lang="en-US"/>
              <a:t>Appearance:</a:t>
            </a:r>
            <a:r>
              <a:rPr lang="en-US"/>
              <a:t> Appears as fine, grainy variations in intensity across the image.</a:t>
            </a:r>
            <a:endParaRPr/>
          </a:p>
          <a:p>
            <a:pPr indent="-228600" lvl="0" marL="228600" rtl="0" algn="l">
              <a:lnSpc>
                <a:spcPct val="90000"/>
              </a:lnSpc>
              <a:spcBef>
                <a:spcPts val="1000"/>
              </a:spcBef>
              <a:spcAft>
                <a:spcPts val="0"/>
              </a:spcAft>
              <a:buClr>
                <a:schemeClr val="dk1"/>
              </a:buClr>
              <a:buSzPts val="2800"/>
              <a:buChar char="•"/>
            </a:pPr>
            <a:r>
              <a:rPr b="1" lang="en-US"/>
              <a:t>Source:</a:t>
            </a:r>
            <a:r>
              <a:rPr lang="en-US"/>
              <a:t> Often caused by thermal noise in sensors or electronic interference.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81" name="Google Shape;181;p13"/>
          <p:cNvPicPr preferRelativeResize="0"/>
          <p:nvPr/>
        </p:nvPicPr>
        <p:blipFill rotWithShape="1">
          <a:blip r:embed="rId3">
            <a:alphaModFix/>
          </a:blip>
          <a:srcRect b="0" l="0" r="0" t="0"/>
          <a:stretch/>
        </p:blipFill>
        <p:spPr>
          <a:xfrm>
            <a:off x="4514208" y="3842339"/>
            <a:ext cx="2362200" cy="2466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ph type="title"/>
          </p:nvPr>
        </p:nvSpPr>
        <p:spPr>
          <a:xfrm>
            <a:off x="246579" y="97996"/>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Types of Noise – Salt and Pepper Noise</a:t>
            </a:r>
            <a:endParaRPr/>
          </a:p>
        </p:txBody>
      </p:sp>
      <p:sp>
        <p:nvSpPr>
          <p:cNvPr id="187" name="Google Shape;187;p14"/>
          <p:cNvSpPr txBox="1"/>
          <p:nvPr>
            <p:ph idx="1" type="body"/>
          </p:nvPr>
        </p:nvSpPr>
        <p:spPr>
          <a:xfrm>
            <a:off x="246579" y="924674"/>
            <a:ext cx="11794733" cy="583533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Salt-and-pepper noise appears as random occurrences of black and white pixels in an image.</a:t>
            </a:r>
            <a:endParaRPr/>
          </a:p>
          <a:p>
            <a:pPr indent="-228600" lvl="0" marL="228600" rtl="0" algn="l">
              <a:lnSpc>
                <a:spcPct val="90000"/>
              </a:lnSpc>
              <a:spcBef>
                <a:spcPts val="1000"/>
              </a:spcBef>
              <a:spcAft>
                <a:spcPts val="0"/>
              </a:spcAft>
              <a:buClr>
                <a:schemeClr val="dk1"/>
              </a:buClr>
              <a:buSzPts val="2800"/>
              <a:buChar char="•"/>
            </a:pPr>
            <a:r>
              <a:rPr b="1" lang="en-US"/>
              <a:t>Appearance:</a:t>
            </a:r>
            <a:r>
              <a:rPr lang="en-US"/>
              <a:t> The image is dotted with bright and dark spots.</a:t>
            </a:r>
            <a:endParaRPr/>
          </a:p>
          <a:p>
            <a:pPr indent="-228600" lvl="0" marL="228600" rtl="0" algn="l">
              <a:lnSpc>
                <a:spcPct val="90000"/>
              </a:lnSpc>
              <a:spcBef>
                <a:spcPts val="1000"/>
              </a:spcBef>
              <a:spcAft>
                <a:spcPts val="0"/>
              </a:spcAft>
              <a:buClr>
                <a:schemeClr val="dk1"/>
              </a:buClr>
              <a:buSzPts val="2800"/>
              <a:buChar char="•"/>
            </a:pPr>
            <a:r>
              <a:rPr b="1" lang="en-US"/>
              <a:t>Source:</a:t>
            </a:r>
            <a:r>
              <a:rPr lang="en-US"/>
              <a:t> Typically caused by faulty pixels in camera sensors, bit errors in transmission, or image scanning.</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88" name="Google Shape;188;p14"/>
          <p:cNvPicPr preferRelativeResize="0"/>
          <p:nvPr/>
        </p:nvPicPr>
        <p:blipFill rotWithShape="1">
          <a:blip r:embed="rId3">
            <a:alphaModFix/>
          </a:blip>
          <a:srcRect b="0" l="0" r="0" t="0"/>
          <a:stretch/>
        </p:blipFill>
        <p:spPr>
          <a:xfrm>
            <a:off x="4529940" y="3798674"/>
            <a:ext cx="2762250" cy="253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5"/>
          <p:cNvSpPr txBox="1"/>
          <p:nvPr>
            <p:ph type="title"/>
          </p:nvPr>
        </p:nvSpPr>
        <p:spPr>
          <a:xfrm>
            <a:off x="246579" y="97996"/>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Types of Noise – Speckle Noise</a:t>
            </a:r>
            <a:endParaRPr/>
          </a:p>
        </p:txBody>
      </p:sp>
      <p:sp>
        <p:nvSpPr>
          <p:cNvPr id="194" name="Google Shape;194;p15"/>
          <p:cNvSpPr txBox="1"/>
          <p:nvPr>
            <p:ph idx="1" type="body"/>
          </p:nvPr>
        </p:nvSpPr>
        <p:spPr>
          <a:xfrm>
            <a:off x="246579" y="924674"/>
            <a:ext cx="11794733" cy="583533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granular noise that typically occurs in coherent imaging systems, such as ultrasound or radar.</a:t>
            </a:r>
            <a:endParaRPr/>
          </a:p>
          <a:p>
            <a:pPr indent="-228600" lvl="0" marL="228600" rtl="0" algn="l">
              <a:lnSpc>
                <a:spcPct val="90000"/>
              </a:lnSpc>
              <a:spcBef>
                <a:spcPts val="1000"/>
              </a:spcBef>
              <a:spcAft>
                <a:spcPts val="0"/>
              </a:spcAft>
              <a:buClr>
                <a:schemeClr val="dk1"/>
              </a:buClr>
              <a:buSzPts val="2800"/>
              <a:buChar char="•"/>
            </a:pPr>
            <a:r>
              <a:rPr b="1" lang="en-US"/>
              <a:t>Appearance:</a:t>
            </a:r>
            <a:r>
              <a:rPr lang="en-US"/>
              <a:t> The noise looks like granular spots that degrade image quality, especially in medical imaging.</a:t>
            </a:r>
            <a:endParaRPr/>
          </a:p>
          <a:p>
            <a:pPr indent="-228600" lvl="0" marL="228600" rtl="0" algn="l">
              <a:lnSpc>
                <a:spcPct val="90000"/>
              </a:lnSpc>
              <a:spcBef>
                <a:spcPts val="1000"/>
              </a:spcBef>
              <a:spcAft>
                <a:spcPts val="0"/>
              </a:spcAft>
              <a:buClr>
                <a:schemeClr val="dk1"/>
              </a:buClr>
              <a:buSzPts val="2800"/>
              <a:buChar char="•"/>
            </a:pPr>
            <a:r>
              <a:rPr b="1" lang="en-US"/>
              <a:t>Source:</a:t>
            </a:r>
            <a:r>
              <a:rPr lang="en-US"/>
              <a:t> Caused by interference between multiple wavefronts.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95" name="Google Shape;195;p15"/>
          <p:cNvPicPr preferRelativeResize="0"/>
          <p:nvPr/>
        </p:nvPicPr>
        <p:blipFill rotWithShape="1">
          <a:blip r:embed="rId3">
            <a:alphaModFix/>
          </a:blip>
          <a:srcRect b="0" l="0" r="0" t="0"/>
          <a:stretch/>
        </p:blipFill>
        <p:spPr>
          <a:xfrm>
            <a:off x="4014787" y="3222317"/>
            <a:ext cx="3115478" cy="318677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6"/>
          <p:cNvSpPr txBox="1"/>
          <p:nvPr>
            <p:ph type="title"/>
          </p:nvPr>
        </p:nvSpPr>
        <p:spPr>
          <a:xfrm>
            <a:off x="378431" y="108271"/>
            <a:ext cx="1143513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Noise Comparison</a:t>
            </a:r>
            <a:endParaRPr/>
          </a:p>
        </p:txBody>
      </p:sp>
      <p:pic>
        <p:nvPicPr>
          <p:cNvPr id="201" name="Google Shape;201;p16"/>
          <p:cNvPicPr preferRelativeResize="0"/>
          <p:nvPr/>
        </p:nvPicPr>
        <p:blipFill rotWithShape="1">
          <a:blip r:embed="rId3">
            <a:alphaModFix/>
          </a:blip>
          <a:srcRect b="0" l="0" r="0" t="0"/>
          <a:stretch/>
        </p:blipFill>
        <p:spPr>
          <a:xfrm>
            <a:off x="3612009" y="1825625"/>
            <a:ext cx="4762500" cy="439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7"/>
          <p:cNvSpPr txBox="1"/>
          <p:nvPr>
            <p:ph type="title"/>
          </p:nvPr>
        </p:nvSpPr>
        <p:spPr>
          <a:xfrm>
            <a:off x="140415" y="200916"/>
            <a:ext cx="11911172" cy="9602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Noise reduction and filtering</a:t>
            </a:r>
            <a:endParaRPr/>
          </a:p>
        </p:txBody>
      </p:sp>
      <p:sp>
        <p:nvSpPr>
          <p:cNvPr id="207" name="Google Shape;207;p17"/>
          <p:cNvSpPr txBox="1"/>
          <p:nvPr>
            <p:ph idx="1" type="body"/>
          </p:nvPr>
        </p:nvSpPr>
        <p:spPr>
          <a:xfrm>
            <a:off x="140414" y="1161156"/>
            <a:ext cx="11911172" cy="203410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Filtering image data is a standard process used in almost every image processing system.</a:t>
            </a:r>
            <a:endParaRPr/>
          </a:p>
          <a:p>
            <a:pPr indent="-228600" lvl="0" marL="228600" rtl="0" algn="l">
              <a:lnSpc>
                <a:spcPct val="90000"/>
              </a:lnSpc>
              <a:spcBef>
                <a:spcPts val="1000"/>
              </a:spcBef>
              <a:spcAft>
                <a:spcPts val="0"/>
              </a:spcAft>
              <a:buClr>
                <a:schemeClr val="dk1"/>
              </a:buClr>
              <a:buSzPts val="2800"/>
              <a:buChar char="•"/>
            </a:pPr>
            <a:r>
              <a:rPr lang="en-US"/>
              <a:t>Filters remove noise from images by preserving the details of the same.</a:t>
            </a:r>
            <a:endParaRPr/>
          </a:p>
          <a:p>
            <a:pPr indent="-228600" lvl="0" marL="228600" rtl="0" algn="l">
              <a:lnSpc>
                <a:spcPct val="90000"/>
              </a:lnSpc>
              <a:spcBef>
                <a:spcPts val="1000"/>
              </a:spcBef>
              <a:spcAft>
                <a:spcPts val="0"/>
              </a:spcAft>
              <a:buClr>
                <a:schemeClr val="dk1"/>
              </a:buClr>
              <a:buSzPts val="2800"/>
              <a:buChar char="•"/>
            </a:pPr>
            <a:r>
              <a:rPr lang="en-US"/>
              <a:t>Filters can be divided into two types : Time domain and Frequency domain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08" name="Google Shape;208;p17"/>
          <p:cNvPicPr preferRelativeResize="0"/>
          <p:nvPr/>
        </p:nvPicPr>
        <p:blipFill rotWithShape="1">
          <a:blip r:embed="rId3">
            <a:alphaModFix/>
          </a:blip>
          <a:srcRect b="0" l="0" r="0" t="0"/>
          <a:stretch/>
        </p:blipFill>
        <p:spPr>
          <a:xfrm>
            <a:off x="3172306" y="3387903"/>
            <a:ext cx="5991225" cy="2790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8"/>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Gaussian Filter</a:t>
            </a:r>
            <a:endParaRPr/>
          </a:p>
        </p:txBody>
      </p:sp>
      <p:sp>
        <p:nvSpPr>
          <p:cNvPr id="214" name="Google Shape;214;p18"/>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type of low-pass filter that uses a Gaussian function to weight the pixel values in the neighborhood.</a:t>
            </a:r>
            <a:endParaRPr/>
          </a:p>
          <a:p>
            <a:pPr indent="-228600" lvl="0" marL="228600" rtl="0" algn="l">
              <a:lnSpc>
                <a:spcPct val="90000"/>
              </a:lnSpc>
              <a:spcBef>
                <a:spcPts val="1000"/>
              </a:spcBef>
              <a:spcAft>
                <a:spcPts val="0"/>
              </a:spcAft>
              <a:buClr>
                <a:schemeClr val="dk1"/>
              </a:buClr>
              <a:buSzPts val="2800"/>
              <a:buChar char="•"/>
            </a:pPr>
            <a:r>
              <a:rPr b="1" lang="en-US"/>
              <a:t>Effect:</a:t>
            </a:r>
            <a:r>
              <a:rPr lang="en-US"/>
              <a:t> Reduces Gaussian noise while preserving image structure better than the mean filter.</a:t>
            </a:r>
            <a:endParaRPr/>
          </a:p>
          <a:p>
            <a:pPr indent="-228600" lvl="0" marL="228600" rtl="0" algn="l">
              <a:lnSpc>
                <a:spcPct val="90000"/>
              </a:lnSpc>
              <a:spcBef>
                <a:spcPts val="1000"/>
              </a:spcBef>
              <a:spcAft>
                <a:spcPts val="0"/>
              </a:spcAft>
              <a:buClr>
                <a:schemeClr val="dk1"/>
              </a:buClr>
              <a:buSzPts val="2800"/>
              <a:buChar char="•"/>
            </a:pPr>
            <a:r>
              <a:rPr b="1" lang="en-US"/>
              <a:t>Application:</a:t>
            </a:r>
            <a:r>
              <a:rPr lang="en-US"/>
              <a:t> Used in various applications, including photography, video processing, and computer vision, to reduce noise before further processing.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9"/>
          <p:cNvSpPr txBox="1"/>
          <p:nvPr>
            <p:ph type="title"/>
          </p:nvPr>
        </p:nvSpPr>
        <p:spPr>
          <a:xfrm>
            <a:off x="125818" y="141841"/>
            <a:ext cx="11940363" cy="74066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Code to apply Gaussian Filter</a:t>
            </a:r>
            <a:endParaRPr/>
          </a:p>
        </p:txBody>
      </p:sp>
      <p:sp>
        <p:nvSpPr>
          <p:cNvPr id="220" name="Google Shape;220;p19"/>
          <p:cNvSpPr txBox="1"/>
          <p:nvPr>
            <p:ph idx="1" type="body"/>
          </p:nvPr>
        </p:nvSpPr>
        <p:spPr>
          <a:xfrm>
            <a:off x="125818" y="1095153"/>
            <a:ext cx="11846442" cy="562100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lang="en-US" sz="2200"/>
              <a:t>import cv2</a:t>
            </a:r>
            <a:endParaRPr/>
          </a:p>
          <a:p>
            <a:pPr indent="-228600" lvl="0" marL="228600" rtl="0" algn="l">
              <a:lnSpc>
                <a:spcPct val="90000"/>
              </a:lnSpc>
              <a:spcBef>
                <a:spcPts val="1000"/>
              </a:spcBef>
              <a:spcAft>
                <a:spcPts val="0"/>
              </a:spcAft>
              <a:buClr>
                <a:schemeClr val="dk1"/>
              </a:buClr>
              <a:buSzPts val="2200"/>
              <a:buChar char="•"/>
            </a:pPr>
            <a:r>
              <a:rPr lang="en-US" sz="2200"/>
              <a:t>from google.colab.patches import cv2_imshow</a:t>
            </a:r>
            <a:endParaRPr/>
          </a:p>
          <a:p>
            <a:pPr indent="-228600" lvl="0" marL="228600" rtl="0" algn="l">
              <a:lnSpc>
                <a:spcPct val="90000"/>
              </a:lnSpc>
              <a:spcBef>
                <a:spcPts val="1000"/>
              </a:spcBef>
              <a:spcAft>
                <a:spcPts val="0"/>
              </a:spcAft>
              <a:buClr>
                <a:srgbClr val="00B050"/>
              </a:buClr>
              <a:buSzPts val="2200"/>
              <a:buChar char="•"/>
            </a:pPr>
            <a:r>
              <a:rPr b="1" lang="en-US" sz="2200">
                <a:solidFill>
                  <a:srgbClr val="00B050"/>
                </a:solidFill>
              </a:rPr>
              <a:t># Load noisy image</a:t>
            </a:r>
            <a:endParaRPr/>
          </a:p>
          <a:p>
            <a:pPr indent="-228600" lvl="0" marL="228600" rtl="0" algn="l">
              <a:lnSpc>
                <a:spcPct val="90000"/>
              </a:lnSpc>
              <a:spcBef>
                <a:spcPts val="1000"/>
              </a:spcBef>
              <a:spcAft>
                <a:spcPts val="0"/>
              </a:spcAft>
              <a:buClr>
                <a:schemeClr val="dk1"/>
              </a:buClr>
              <a:buSzPts val="2200"/>
              <a:buChar char="•"/>
            </a:pPr>
            <a:r>
              <a:rPr lang="en-US" sz="2200"/>
              <a:t>img = cv2.imread('/content/gauss.png')</a:t>
            </a:r>
            <a:endParaRPr/>
          </a:p>
          <a:p>
            <a:pPr indent="-228600" lvl="0" marL="228600" rtl="0" algn="l">
              <a:lnSpc>
                <a:spcPct val="90000"/>
              </a:lnSpc>
              <a:spcBef>
                <a:spcPts val="1000"/>
              </a:spcBef>
              <a:spcAft>
                <a:spcPts val="0"/>
              </a:spcAft>
              <a:buClr>
                <a:srgbClr val="00B050"/>
              </a:buClr>
              <a:buSzPts val="2200"/>
              <a:buChar char="•"/>
            </a:pPr>
            <a:r>
              <a:rPr b="1" lang="en-US" sz="2200">
                <a:solidFill>
                  <a:srgbClr val="00B050"/>
                </a:solidFill>
              </a:rPr>
              <a:t># Apply Gaussian blur</a:t>
            </a:r>
            <a:endParaRPr/>
          </a:p>
          <a:p>
            <a:pPr indent="-228600" lvl="0" marL="228600" rtl="0" algn="l">
              <a:lnSpc>
                <a:spcPct val="90000"/>
              </a:lnSpc>
              <a:spcBef>
                <a:spcPts val="1000"/>
              </a:spcBef>
              <a:spcAft>
                <a:spcPts val="0"/>
              </a:spcAft>
              <a:buClr>
                <a:srgbClr val="00B050"/>
              </a:buClr>
              <a:buSzPts val="2200"/>
              <a:buChar char="•"/>
            </a:pPr>
            <a:r>
              <a:rPr b="1" lang="en-US" sz="2200">
                <a:solidFill>
                  <a:srgbClr val="00B050"/>
                </a:solidFill>
              </a:rPr>
              <a:t># (kernel size must be odd, e.g., (5,5); larger kernel = stronger smoothing)</a:t>
            </a:r>
            <a:endParaRPr/>
          </a:p>
          <a:p>
            <a:pPr indent="-228600" lvl="0" marL="228600" rtl="0" algn="l">
              <a:lnSpc>
                <a:spcPct val="90000"/>
              </a:lnSpc>
              <a:spcBef>
                <a:spcPts val="1000"/>
              </a:spcBef>
              <a:spcAft>
                <a:spcPts val="0"/>
              </a:spcAft>
              <a:buClr>
                <a:srgbClr val="00B050"/>
              </a:buClr>
              <a:buSzPts val="2200"/>
              <a:buChar char="•"/>
            </a:pPr>
            <a:r>
              <a:rPr b="1" lang="en-US" sz="2200">
                <a:solidFill>
                  <a:srgbClr val="00B050"/>
                </a:solidFill>
              </a:rPr>
              <a:t># cv2.GaussianBlur(src, ksize, sigmaX) where ksize is kernel size, sigmaX is standard </a:t>
            </a:r>
            <a:endParaRPr/>
          </a:p>
          <a:p>
            <a:pPr indent="-228600" lvl="0" marL="228600" rtl="0" algn="l">
              <a:lnSpc>
                <a:spcPct val="90000"/>
              </a:lnSpc>
              <a:spcBef>
                <a:spcPts val="1000"/>
              </a:spcBef>
              <a:spcAft>
                <a:spcPts val="0"/>
              </a:spcAft>
              <a:buClr>
                <a:srgbClr val="00B050"/>
              </a:buClr>
              <a:buSzPts val="2200"/>
              <a:buChar char="•"/>
            </a:pPr>
            <a:r>
              <a:rPr b="1" lang="en-US" sz="2200">
                <a:solidFill>
                  <a:srgbClr val="00B050"/>
                </a:solidFill>
              </a:rPr>
              <a:t># deviation in X direction</a:t>
            </a:r>
            <a:endParaRPr/>
          </a:p>
          <a:p>
            <a:pPr indent="-228600" lvl="0" marL="228600" rtl="0" algn="l">
              <a:lnSpc>
                <a:spcPct val="90000"/>
              </a:lnSpc>
              <a:spcBef>
                <a:spcPts val="1000"/>
              </a:spcBef>
              <a:spcAft>
                <a:spcPts val="0"/>
              </a:spcAft>
              <a:buClr>
                <a:schemeClr val="dk1"/>
              </a:buClr>
              <a:buSzPts val="2200"/>
              <a:buChar char="•"/>
            </a:pPr>
            <a:r>
              <a:rPr lang="en-US" sz="2200"/>
              <a:t>denoised = cv2.GaussianBlur(img, (5, 5), 0)</a:t>
            </a:r>
            <a:endParaRPr/>
          </a:p>
          <a:p>
            <a:pPr indent="-228600" lvl="0" marL="228600" rtl="0" algn="l">
              <a:lnSpc>
                <a:spcPct val="90000"/>
              </a:lnSpc>
              <a:spcBef>
                <a:spcPts val="1000"/>
              </a:spcBef>
              <a:spcAft>
                <a:spcPts val="0"/>
              </a:spcAft>
              <a:buClr>
                <a:schemeClr val="dk1"/>
              </a:buClr>
              <a:buSzPts val="2200"/>
              <a:buChar char="•"/>
            </a:pPr>
            <a:br>
              <a:rPr lang="en-US" sz="2200"/>
            </a:br>
            <a:r>
              <a:rPr b="1" lang="en-US" sz="2200">
                <a:solidFill>
                  <a:srgbClr val="00B050"/>
                </a:solidFill>
              </a:rPr>
              <a:t># Show results</a:t>
            </a:r>
            <a:endParaRPr/>
          </a:p>
          <a:p>
            <a:pPr indent="-228600" lvl="0" marL="228600" rtl="0" algn="l">
              <a:lnSpc>
                <a:spcPct val="90000"/>
              </a:lnSpc>
              <a:spcBef>
                <a:spcPts val="1000"/>
              </a:spcBef>
              <a:spcAft>
                <a:spcPts val="0"/>
              </a:spcAft>
              <a:buClr>
                <a:schemeClr val="dk1"/>
              </a:buClr>
              <a:buSzPts val="2200"/>
              <a:buChar char="•"/>
            </a:pPr>
            <a:r>
              <a:rPr lang="en-US" sz="2200"/>
              <a:t>cv2_imshow(img)        # Original noisy image</a:t>
            </a:r>
            <a:endParaRPr/>
          </a:p>
          <a:p>
            <a:pPr indent="-228600" lvl="0" marL="228600" rtl="0" algn="l">
              <a:lnSpc>
                <a:spcPct val="90000"/>
              </a:lnSpc>
              <a:spcBef>
                <a:spcPts val="1000"/>
              </a:spcBef>
              <a:spcAft>
                <a:spcPts val="0"/>
              </a:spcAft>
              <a:buClr>
                <a:schemeClr val="dk1"/>
              </a:buClr>
              <a:buSzPts val="2200"/>
              <a:buChar char="•"/>
            </a:pPr>
            <a:r>
              <a:rPr lang="en-US" sz="2200"/>
              <a:t>cv2_imshow(denoised)   # Denoised image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Mean Filter</a:t>
            </a:r>
            <a:endParaRPr/>
          </a:p>
        </p:txBody>
      </p:sp>
      <p:sp>
        <p:nvSpPr>
          <p:cNvPr id="226" name="Google Shape;226;p20"/>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Reduces noise by averaging the pixel values within a specified neighborhood. Each pixel is replaced by the mean of its neighboring pixels.</a:t>
            </a:r>
            <a:endParaRPr/>
          </a:p>
          <a:p>
            <a:pPr indent="-228600" lvl="0" marL="228600" rtl="0" algn="l">
              <a:lnSpc>
                <a:spcPct val="90000"/>
              </a:lnSpc>
              <a:spcBef>
                <a:spcPts val="1000"/>
              </a:spcBef>
              <a:spcAft>
                <a:spcPts val="0"/>
              </a:spcAft>
              <a:buClr>
                <a:schemeClr val="dk1"/>
              </a:buClr>
              <a:buSzPts val="2800"/>
              <a:buChar char="•"/>
            </a:pPr>
            <a:r>
              <a:rPr b="1" lang="en-US"/>
              <a:t>Effect:</a:t>
            </a:r>
            <a:r>
              <a:rPr lang="en-US"/>
              <a:t> Effective at reducing Gaussian noise, but it can blur edges.</a:t>
            </a:r>
            <a:endParaRPr/>
          </a:p>
          <a:p>
            <a:pPr indent="-228600" lvl="0" marL="228600" rtl="0" algn="l">
              <a:lnSpc>
                <a:spcPct val="90000"/>
              </a:lnSpc>
              <a:spcBef>
                <a:spcPts val="1000"/>
              </a:spcBef>
              <a:spcAft>
                <a:spcPts val="0"/>
              </a:spcAft>
              <a:buClr>
                <a:schemeClr val="dk1"/>
              </a:buClr>
              <a:buSzPts val="2800"/>
              <a:buChar char="•"/>
            </a:pPr>
            <a:r>
              <a:rPr b="1" lang="en-US"/>
              <a:t>Application:</a:t>
            </a:r>
            <a:r>
              <a:rPr lang="en-US"/>
              <a:t> Simple noise reduction in images where preserving edges is less critical.</a:t>
            </a:r>
            <a:endParaRPr/>
          </a:p>
        </p:txBody>
      </p:sp>
      <p:pic>
        <p:nvPicPr>
          <p:cNvPr id="227" name="Google Shape;227;p20"/>
          <p:cNvPicPr preferRelativeResize="0"/>
          <p:nvPr/>
        </p:nvPicPr>
        <p:blipFill rotWithShape="1">
          <a:blip r:embed="rId3">
            <a:alphaModFix/>
          </a:blip>
          <a:srcRect b="0" l="0" r="0" t="0"/>
          <a:stretch/>
        </p:blipFill>
        <p:spPr>
          <a:xfrm>
            <a:off x="2784778" y="4167723"/>
            <a:ext cx="6543675" cy="1933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txBox="1"/>
          <p:nvPr>
            <p:ph type="title"/>
          </p:nvPr>
        </p:nvSpPr>
        <p:spPr>
          <a:xfrm>
            <a:off x="125818" y="141841"/>
            <a:ext cx="11940363" cy="74066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Code to apply Mean Filter</a:t>
            </a:r>
            <a:endParaRPr/>
          </a:p>
        </p:txBody>
      </p:sp>
      <p:sp>
        <p:nvSpPr>
          <p:cNvPr id="233" name="Google Shape;233;p21"/>
          <p:cNvSpPr txBox="1"/>
          <p:nvPr>
            <p:ph idx="1" type="body"/>
          </p:nvPr>
        </p:nvSpPr>
        <p:spPr>
          <a:xfrm>
            <a:off x="125818" y="1095153"/>
            <a:ext cx="11846442" cy="562100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lang="en-US" sz="2200"/>
              <a:t>import cv2</a:t>
            </a:r>
            <a:endParaRPr/>
          </a:p>
          <a:p>
            <a:pPr indent="-228600" lvl="0" marL="228600" rtl="0" algn="l">
              <a:lnSpc>
                <a:spcPct val="90000"/>
              </a:lnSpc>
              <a:spcBef>
                <a:spcPts val="1000"/>
              </a:spcBef>
              <a:spcAft>
                <a:spcPts val="0"/>
              </a:spcAft>
              <a:buClr>
                <a:schemeClr val="dk1"/>
              </a:buClr>
              <a:buSzPts val="2200"/>
              <a:buChar char="•"/>
            </a:pPr>
            <a:r>
              <a:rPr lang="en-US" sz="2200"/>
              <a:t>from google.colab.patches import cv2_imshow</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Load noisy image</a:t>
            </a:r>
            <a:endParaRPr/>
          </a:p>
          <a:p>
            <a:pPr indent="-228600" lvl="0" marL="228600" rtl="0" algn="l">
              <a:lnSpc>
                <a:spcPct val="90000"/>
              </a:lnSpc>
              <a:spcBef>
                <a:spcPts val="1000"/>
              </a:spcBef>
              <a:spcAft>
                <a:spcPts val="0"/>
              </a:spcAft>
              <a:buClr>
                <a:schemeClr val="dk1"/>
              </a:buClr>
              <a:buSzPts val="2200"/>
              <a:buChar char="•"/>
            </a:pPr>
            <a:r>
              <a:rPr lang="en-US" sz="2200"/>
              <a:t>img = cv2.imread('/content/image.png')</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Apply Mean filter (average blurring)</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(kernel size must be odd; larger kernel = stronger smoothing)</a:t>
            </a:r>
            <a:endParaRPr/>
          </a:p>
          <a:p>
            <a:pPr indent="-228600" lvl="0" marL="228600" rtl="0" algn="l">
              <a:lnSpc>
                <a:spcPct val="90000"/>
              </a:lnSpc>
              <a:spcBef>
                <a:spcPts val="1000"/>
              </a:spcBef>
              <a:spcAft>
                <a:spcPts val="0"/>
              </a:spcAft>
              <a:buClr>
                <a:schemeClr val="dk1"/>
              </a:buClr>
              <a:buSzPts val="2200"/>
              <a:buChar char="•"/>
            </a:pPr>
            <a:r>
              <a:rPr lang="en-US" sz="2200"/>
              <a:t>denoised = cv2.blur(img, (5, 5))</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Show results</a:t>
            </a:r>
            <a:endParaRPr/>
          </a:p>
          <a:p>
            <a:pPr indent="-228600" lvl="0" marL="228600" rtl="0" algn="l">
              <a:lnSpc>
                <a:spcPct val="90000"/>
              </a:lnSpc>
              <a:spcBef>
                <a:spcPts val="1000"/>
              </a:spcBef>
              <a:spcAft>
                <a:spcPts val="0"/>
              </a:spcAft>
              <a:buClr>
                <a:schemeClr val="dk1"/>
              </a:buClr>
              <a:buSzPts val="2200"/>
              <a:buChar char="•"/>
            </a:pPr>
            <a:r>
              <a:rPr lang="en-US" sz="2200"/>
              <a:t>cv2_imshow(img)        # Original noisy image</a:t>
            </a:r>
            <a:endParaRPr/>
          </a:p>
          <a:p>
            <a:pPr indent="-228600" lvl="0" marL="228600" rtl="0" algn="l">
              <a:lnSpc>
                <a:spcPct val="90000"/>
              </a:lnSpc>
              <a:spcBef>
                <a:spcPts val="1000"/>
              </a:spcBef>
              <a:spcAft>
                <a:spcPts val="0"/>
              </a:spcAft>
              <a:buClr>
                <a:schemeClr val="dk1"/>
              </a:buClr>
              <a:buSzPts val="2200"/>
              <a:buChar char="•"/>
            </a:pPr>
            <a:r>
              <a:rPr lang="en-US" sz="2200"/>
              <a:t>cv2_imshow(denoised)   # Denoised image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2"/>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Median Filter</a:t>
            </a:r>
            <a:endParaRPr/>
          </a:p>
        </p:txBody>
      </p:sp>
      <p:sp>
        <p:nvSpPr>
          <p:cNvPr id="239" name="Google Shape;239;p22"/>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Reduces noise by replacing each pixel value with the median value of the pixels in its neighborhood.</a:t>
            </a:r>
            <a:endParaRPr/>
          </a:p>
          <a:p>
            <a:pPr indent="-228600" lvl="0" marL="228600" rtl="0" algn="l">
              <a:lnSpc>
                <a:spcPct val="90000"/>
              </a:lnSpc>
              <a:spcBef>
                <a:spcPts val="1000"/>
              </a:spcBef>
              <a:spcAft>
                <a:spcPts val="0"/>
              </a:spcAft>
              <a:buClr>
                <a:schemeClr val="dk1"/>
              </a:buClr>
              <a:buSzPts val="2800"/>
              <a:buChar char="•"/>
            </a:pPr>
            <a:r>
              <a:rPr b="1" lang="en-US"/>
              <a:t>Effect:</a:t>
            </a:r>
            <a:r>
              <a:rPr lang="en-US"/>
              <a:t> Particularly effective against salt-and-pepper noise.</a:t>
            </a:r>
            <a:endParaRPr/>
          </a:p>
          <a:p>
            <a:pPr indent="-228600" lvl="0" marL="228600" rtl="0" algn="l">
              <a:lnSpc>
                <a:spcPct val="90000"/>
              </a:lnSpc>
              <a:spcBef>
                <a:spcPts val="1000"/>
              </a:spcBef>
              <a:spcAft>
                <a:spcPts val="0"/>
              </a:spcAft>
              <a:buClr>
                <a:schemeClr val="dk1"/>
              </a:buClr>
              <a:buSzPts val="2800"/>
              <a:buChar char="•"/>
            </a:pPr>
            <a:r>
              <a:rPr b="1" lang="en-US"/>
              <a:t>Application:</a:t>
            </a:r>
            <a:r>
              <a:rPr lang="en-US"/>
              <a:t> Used in scenarios where edge preservation is important, such as in medical imaging or document processing.</a:t>
            </a:r>
            <a:endParaRPr/>
          </a:p>
        </p:txBody>
      </p:sp>
      <p:pic>
        <p:nvPicPr>
          <p:cNvPr id="240" name="Google Shape;240;p22"/>
          <p:cNvPicPr preferRelativeResize="0"/>
          <p:nvPr/>
        </p:nvPicPr>
        <p:blipFill rotWithShape="1">
          <a:blip r:embed="rId3">
            <a:alphaModFix/>
          </a:blip>
          <a:srcRect b="0" l="0" r="0" t="0"/>
          <a:stretch/>
        </p:blipFill>
        <p:spPr>
          <a:xfrm>
            <a:off x="3051211" y="3940139"/>
            <a:ext cx="6438900" cy="1714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125818" y="141841"/>
            <a:ext cx="11940363" cy="74066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Code to apply Median Filter</a:t>
            </a:r>
            <a:endParaRPr/>
          </a:p>
        </p:txBody>
      </p:sp>
      <p:sp>
        <p:nvSpPr>
          <p:cNvPr id="246" name="Google Shape;246;p23"/>
          <p:cNvSpPr txBox="1"/>
          <p:nvPr>
            <p:ph idx="1" type="body"/>
          </p:nvPr>
        </p:nvSpPr>
        <p:spPr>
          <a:xfrm>
            <a:off x="125818" y="1095153"/>
            <a:ext cx="11846442" cy="562100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lang="en-US" sz="2200"/>
              <a:t>import cv2</a:t>
            </a:r>
            <a:endParaRPr/>
          </a:p>
          <a:p>
            <a:pPr indent="-228600" lvl="0" marL="228600" rtl="0" algn="l">
              <a:lnSpc>
                <a:spcPct val="90000"/>
              </a:lnSpc>
              <a:spcBef>
                <a:spcPts val="1000"/>
              </a:spcBef>
              <a:spcAft>
                <a:spcPts val="0"/>
              </a:spcAft>
              <a:buClr>
                <a:schemeClr val="dk1"/>
              </a:buClr>
              <a:buSzPts val="2200"/>
              <a:buChar char="•"/>
            </a:pPr>
            <a:r>
              <a:rPr lang="en-US" sz="2200"/>
              <a:t>from google.colab.patches import cv2_imshow</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Load noisy image</a:t>
            </a:r>
            <a:endParaRPr/>
          </a:p>
          <a:p>
            <a:pPr indent="-228600" lvl="0" marL="228600" rtl="0" algn="l">
              <a:lnSpc>
                <a:spcPct val="90000"/>
              </a:lnSpc>
              <a:spcBef>
                <a:spcPts val="1000"/>
              </a:spcBef>
              <a:spcAft>
                <a:spcPts val="0"/>
              </a:spcAft>
              <a:buClr>
                <a:schemeClr val="dk1"/>
              </a:buClr>
              <a:buSzPts val="2200"/>
              <a:buChar char="•"/>
            </a:pPr>
            <a:r>
              <a:rPr lang="en-US" sz="2200"/>
              <a:t>img = cv2.imread('/content/image.png')</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Apply Median filter</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Kernel size must be odd (3, 5, 7, ...)</a:t>
            </a:r>
            <a:endParaRPr/>
          </a:p>
          <a:p>
            <a:pPr indent="-228600" lvl="0" marL="228600" rtl="0" algn="l">
              <a:lnSpc>
                <a:spcPct val="90000"/>
              </a:lnSpc>
              <a:spcBef>
                <a:spcPts val="1000"/>
              </a:spcBef>
              <a:spcAft>
                <a:spcPts val="0"/>
              </a:spcAft>
              <a:buClr>
                <a:schemeClr val="dk1"/>
              </a:buClr>
              <a:buSzPts val="2200"/>
              <a:buChar char="•"/>
            </a:pPr>
            <a:r>
              <a:rPr lang="en-US" sz="2200"/>
              <a:t>denoised = cv2.medianBlur(img, 5)</a:t>
            </a:r>
            <a:endParaRPr/>
          </a:p>
          <a:p>
            <a:pPr indent="0" lvl="0" marL="0" rtl="0" algn="l">
              <a:lnSpc>
                <a:spcPct val="90000"/>
              </a:lnSpc>
              <a:spcBef>
                <a:spcPts val="1000"/>
              </a:spcBef>
              <a:spcAft>
                <a:spcPts val="0"/>
              </a:spcAft>
              <a:buClr>
                <a:srgbClr val="00B050"/>
              </a:buClr>
              <a:buSzPts val="2200"/>
              <a:buNone/>
            </a:pPr>
            <a:r>
              <a:rPr b="1" lang="en-US" sz="2200">
                <a:solidFill>
                  <a:srgbClr val="00B050"/>
                </a:solidFill>
              </a:rPr>
              <a:t># Show results</a:t>
            </a:r>
            <a:endParaRPr/>
          </a:p>
          <a:p>
            <a:pPr indent="-228600" lvl="0" marL="228600" rtl="0" algn="l">
              <a:lnSpc>
                <a:spcPct val="90000"/>
              </a:lnSpc>
              <a:spcBef>
                <a:spcPts val="1000"/>
              </a:spcBef>
              <a:spcAft>
                <a:spcPts val="0"/>
              </a:spcAft>
              <a:buClr>
                <a:schemeClr val="dk1"/>
              </a:buClr>
              <a:buSzPts val="2200"/>
              <a:buChar char="•"/>
            </a:pPr>
            <a:r>
              <a:rPr lang="en-US" sz="2200"/>
              <a:t>cv2_imshow(img)        # Original noisy image</a:t>
            </a:r>
            <a:endParaRPr/>
          </a:p>
          <a:p>
            <a:pPr indent="-228600" lvl="0" marL="228600" rtl="0" algn="l">
              <a:lnSpc>
                <a:spcPct val="90000"/>
              </a:lnSpc>
              <a:spcBef>
                <a:spcPts val="1000"/>
              </a:spcBef>
              <a:spcAft>
                <a:spcPts val="0"/>
              </a:spcAft>
              <a:buClr>
                <a:schemeClr val="dk1"/>
              </a:buClr>
              <a:buSzPts val="2200"/>
              <a:buChar char="•"/>
            </a:pPr>
            <a:r>
              <a:rPr lang="en-US" sz="2200"/>
              <a:t>cv2_imshow(denoised)   # Denoised image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4"/>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Bilateral Filter</a:t>
            </a:r>
            <a:endParaRPr/>
          </a:p>
        </p:txBody>
      </p:sp>
      <p:sp>
        <p:nvSpPr>
          <p:cNvPr id="252" name="Google Shape;252;p24"/>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Reduces noise while preserving edges by considering both spatial proximity and intensity differences. It combines Gaussian filtering with edge preservation.</a:t>
            </a:r>
            <a:endParaRPr/>
          </a:p>
          <a:p>
            <a:pPr indent="-228600" lvl="0" marL="228600" rtl="0" algn="l">
              <a:lnSpc>
                <a:spcPct val="90000"/>
              </a:lnSpc>
              <a:spcBef>
                <a:spcPts val="1000"/>
              </a:spcBef>
              <a:spcAft>
                <a:spcPts val="0"/>
              </a:spcAft>
              <a:buClr>
                <a:schemeClr val="dk1"/>
              </a:buClr>
              <a:buSzPts val="2800"/>
              <a:buChar char="•"/>
            </a:pPr>
            <a:r>
              <a:rPr b="1" lang="en-US"/>
              <a:t>Effect:</a:t>
            </a:r>
            <a:r>
              <a:rPr lang="en-US"/>
              <a:t> Reduces noise without blurring edges, making it ideal for images with important edge information.</a:t>
            </a:r>
            <a:endParaRPr/>
          </a:p>
          <a:p>
            <a:pPr indent="-228600" lvl="0" marL="228600" rtl="0" algn="l">
              <a:lnSpc>
                <a:spcPct val="90000"/>
              </a:lnSpc>
              <a:spcBef>
                <a:spcPts val="1000"/>
              </a:spcBef>
              <a:spcAft>
                <a:spcPts val="0"/>
              </a:spcAft>
              <a:buClr>
                <a:schemeClr val="dk1"/>
              </a:buClr>
              <a:buSzPts val="2800"/>
              <a:buChar char="•"/>
            </a:pPr>
            <a:r>
              <a:rPr b="1" lang="en-US"/>
              <a:t>Application:</a:t>
            </a:r>
            <a:r>
              <a:rPr lang="en-US"/>
              <a:t> Commonly used in photography, medical imaging, and other fields where edge preservation is crucial.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5"/>
          <p:cNvSpPr txBox="1"/>
          <p:nvPr>
            <p:ph type="title"/>
          </p:nvPr>
        </p:nvSpPr>
        <p:spPr>
          <a:xfrm>
            <a:off x="125818" y="141841"/>
            <a:ext cx="11940363" cy="74066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Code to apply Bilateral Filter</a:t>
            </a:r>
            <a:endParaRPr/>
          </a:p>
        </p:txBody>
      </p:sp>
      <p:sp>
        <p:nvSpPr>
          <p:cNvPr id="258" name="Google Shape;258;p25"/>
          <p:cNvSpPr txBox="1"/>
          <p:nvPr>
            <p:ph idx="1" type="body"/>
          </p:nvPr>
        </p:nvSpPr>
        <p:spPr>
          <a:xfrm>
            <a:off x="125818" y="1095153"/>
            <a:ext cx="11846442" cy="562100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lang="en-US" sz="2200"/>
              <a:t>import cv2</a:t>
            </a:r>
            <a:endParaRPr/>
          </a:p>
          <a:p>
            <a:pPr indent="-228600" lvl="0" marL="228600" rtl="0" algn="l">
              <a:lnSpc>
                <a:spcPct val="90000"/>
              </a:lnSpc>
              <a:spcBef>
                <a:spcPts val="1000"/>
              </a:spcBef>
              <a:spcAft>
                <a:spcPts val="0"/>
              </a:spcAft>
              <a:buClr>
                <a:schemeClr val="dk1"/>
              </a:buClr>
              <a:buSzPts val="2200"/>
              <a:buChar char="•"/>
            </a:pPr>
            <a:r>
              <a:rPr lang="en-US" sz="2200"/>
              <a:t>from google.colab.patches import cv2_imshow</a:t>
            </a:r>
            <a:endParaRPr/>
          </a:p>
          <a:p>
            <a:pPr indent="-88900" lvl="0" marL="228600" rtl="0" algn="l">
              <a:lnSpc>
                <a:spcPct val="90000"/>
              </a:lnSpc>
              <a:spcBef>
                <a:spcPts val="1000"/>
              </a:spcBef>
              <a:spcAft>
                <a:spcPts val="0"/>
              </a:spcAft>
              <a:buClr>
                <a:schemeClr val="dk1"/>
              </a:buClr>
              <a:buSzPts val="2200"/>
              <a:buNone/>
            </a:pPr>
            <a:r>
              <a:t/>
            </a:r>
            <a:endParaRPr sz="2200"/>
          </a:p>
          <a:p>
            <a:pPr indent="-228600" lvl="0" marL="228600" rtl="0" algn="l">
              <a:lnSpc>
                <a:spcPct val="90000"/>
              </a:lnSpc>
              <a:spcBef>
                <a:spcPts val="1000"/>
              </a:spcBef>
              <a:spcAft>
                <a:spcPts val="0"/>
              </a:spcAft>
              <a:buClr>
                <a:srgbClr val="00B050"/>
              </a:buClr>
              <a:buSzPts val="2200"/>
              <a:buChar char="•"/>
            </a:pPr>
            <a:r>
              <a:rPr lang="en-US" sz="2200">
                <a:solidFill>
                  <a:srgbClr val="00B050"/>
                </a:solidFill>
              </a:rPr>
              <a:t># Load noisy image</a:t>
            </a:r>
            <a:endParaRPr/>
          </a:p>
          <a:p>
            <a:pPr indent="-228600" lvl="0" marL="228600" rtl="0" algn="l">
              <a:lnSpc>
                <a:spcPct val="90000"/>
              </a:lnSpc>
              <a:spcBef>
                <a:spcPts val="1000"/>
              </a:spcBef>
              <a:spcAft>
                <a:spcPts val="0"/>
              </a:spcAft>
              <a:buClr>
                <a:schemeClr val="dk1"/>
              </a:buClr>
              <a:buSzPts val="2200"/>
              <a:buChar char="•"/>
            </a:pPr>
            <a:r>
              <a:rPr lang="en-US" sz="2200"/>
              <a:t>img = cv2.imread('/content/img.png')</a:t>
            </a:r>
            <a:endParaRPr/>
          </a:p>
          <a:p>
            <a:pPr indent="-88900" lvl="0" marL="228600" rtl="0" algn="l">
              <a:lnSpc>
                <a:spcPct val="90000"/>
              </a:lnSpc>
              <a:spcBef>
                <a:spcPts val="1000"/>
              </a:spcBef>
              <a:spcAft>
                <a:spcPts val="0"/>
              </a:spcAft>
              <a:buClr>
                <a:schemeClr val="dk1"/>
              </a:buClr>
              <a:buSzPts val="2200"/>
              <a:buNone/>
            </a:pPr>
            <a:r>
              <a:t/>
            </a:r>
            <a:endParaRPr sz="2200"/>
          </a:p>
          <a:p>
            <a:pPr indent="-228600" lvl="0" marL="228600" rtl="0" algn="l">
              <a:lnSpc>
                <a:spcPct val="90000"/>
              </a:lnSpc>
              <a:spcBef>
                <a:spcPts val="1000"/>
              </a:spcBef>
              <a:spcAft>
                <a:spcPts val="0"/>
              </a:spcAft>
              <a:buClr>
                <a:srgbClr val="00B050"/>
              </a:buClr>
              <a:buSzPts val="2200"/>
              <a:buChar char="•"/>
            </a:pPr>
            <a:r>
              <a:rPr lang="en-US" sz="2200">
                <a:solidFill>
                  <a:srgbClr val="00B050"/>
                </a:solidFill>
              </a:rPr>
              <a:t># Apply Bilateral Filter</a:t>
            </a:r>
            <a:endParaRPr/>
          </a:p>
          <a:p>
            <a:pPr indent="-228600" lvl="0" marL="228600" rtl="0" algn="l">
              <a:lnSpc>
                <a:spcPct val="90000"/>
              </a:lnSpc>
              <a:spcBef>
                <a:spcPts val="1000"/>
              </a:spcBef>
              <a:spcAft>
                <a:spcPts val="0"/>
              </a:spcAft>
              <a:buClr>
                <a:srgbClr val="00B050"/>
              </a:buClr>
              <a:buSzPts val="2200"/>
              <a:buChar char="•"/>
            </a:pPr>
            <a:r>
              <a:rPr lang="en-US" sz="2200">
                <a:solidFill>
                  <a:srgbClr val="00B050"/>
                </a:solidFill>
              </a:rPr>
              <a:t># Parameters: (image, diameter, sigmaColor, sigmaSpace)</a:t>
            </a:r>
            <a:endParaRPr/>
          </a:p>
          <a:p>
            <a:pPr indent="-228600" lvl="0" marL="228600" rtl="0" algn="l">
              <a:lnSpc>
                <a:spcPct val="90000"/>
              </a:lnSpc>
              <a:spcBef>
                <a:spcPts val="1000"/>
              </a:spcBef>
              <a:spcAft>
                <a:spcPts val="0"/>
              </a:spcAft>
              <a:buClr>
                <a:schemeClr val="dk1"/>
              </a:buClr>
              <a:buSzPts val="2200"/>
              <a:buChar char="•"/>
            </a:pPr>
            <a:r>
              <a:rPr lang="en-US" sz="2200"/>
              <a:t>denoised = cv2.bilateralFilter(img, d=9, sigmaColor=75, sigmaSpace=75)</a:t>
            </a:r>
            <a:endParaRPr/>
          </a:p>
          <a:p>
            <a:pPr indent="-88900" lvl="0" marL="228600" rtl="0" algn="l">
              <a:lnSpc>
                <a:spcPct val="90000"/>
              </a:lnSpc>
              <a:spcBef>
                <a:spcPts val="1000"/>
              </a:spcBef>
              <a:spcAft>
                <a:spcPts val="0"/>
              </a:spcAft>
              <a:buClr>
                <a:schemeClr val="dk1"/>
              </a:buClr>
              <a:buSzPts val="2200"/>
              <a:buNone/>
            </a:pPr>
            <a:r>
              <a:t/>
            </a:r>
            <a:endParaRPr sz="2200"/>
          </a:p>
          <a:p>
            <a:pPr indent="-228600" lvl="0" marL="228600" rtl="0" algn="l">
              <a:lnSpc>
                <a:spcPct val="90000"/>
              </a:lnSpc>
              <a:spcBef>
                <a:spcPts val="1000"/>
              </a:spcBef>
              <a:spcAft>
                <a:spcPts val="0"/>
              </a:spcAft>
              <a:buClr>
                <a:srgbClr val="00B050"/>
              </a:buClr>
              <a:buSzPts val="2200"/>
              <a:buChar char="•"/>
            </a:pPr>
            <a:r>
              <a:rPr lang="en-US" sz="2200">
                <a:solidFill>
                  <a:srgbClr val="00B050"/>
                </a:solidFill>
              </a:rPr>
              <a:t># Show results</a:t>
            </a:r>
            <a:endParaRPr/>
          </a:p>
          <a:p>
            <a:pPr indent="-228600" lvl="0" marL="228600" rtl="0" algn="l">
              <a:lnSpc>
                <a:spcPct val="90000"/>
              </a:lnSpc>
              <a:spcBef>
                <a:spcPts val="1000"/>
              </a:spcBef>
              <a:spcAft>
                <a:spcPts val="0"/>
              </a:spcAft>
              <a:buClr>
                <a:schemeClr val="dk1"/>
              </a:buClr>
              <a:buSzPts val="2200"/>
              <a:buChar char="•"/>
            </a:pPr>
            <a:r>
              <a:rPr lang="en-US" sz="2200"/>
              <a:t>cv2_imshow(img)        </a:t>
            </a:r>
            <a:r>
              <a:rPr lang="en-US" sz="2200">
                <a:solidFill>
                  <a:srgbClr val="00B050"/>
                </a:solidFill>
              </a:rPr>
              <a:t># Original noisy image</a:t>
            </a:r>
            <a:endParaRPr/>
          </a:p>
          <a:p>
            <a:pPr indent="-228600" lvl="0" marL="228600" rtl="0" algn="l">
              <a:lnSpc>
                <a:spcPct val="90000"/>
              </a:lnSpc>
              <a:spcBef>
                <a:spcPts val="1000"/>
              </a:spcBef>
              <a:spcAft>
                <a:spcPts val="0"/>
              </a:spcAft>
              <a:buClr>
                <a:schemeClr val="dk1"/>
              </a:buClr>
              <a:buSzPts val="2200"/>
              <a:buChar char="•"/>
            </a:pPr>
            <a:r>
              <a:rPr lang="en-US" sz="2200"/>
              <a:t>cv2_imshow(denoised)   </a:t>
            </a:r>
            <a:r>
              <a:rPr lang="en-US" sz="2200">
                <a:solidFill>
                  <a:srgbClr val="00B050"/>
                </a:solidFill>
              </a:rPr>
              <a:t># Denoised image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Wiener Filter</a:t>
            </a:r>
            <a:endParaRPr/>
          </a:p>
        </p:txBody>
      </p:sp>
      <p:sp>
        <p:nvSpPr>
          <p:cNvPr id="264" name="Google Shape;264;p26"/>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adaptive filter that minimizes the mean square error between the estimated and true image. It is particularly useful in reducing additive noise.</a:t>
            </a:r>
            <a:endParaRPr/>
          </a:p>
          <a:p>
            <a:pPr indent="-228600" lvl="0" marL="228600" rtl="0" algn="l">
              <a:lnSpc>
                <a:spcPct val="90000"/>
              </a:lnSpc>
              <a:spcBef>
                <a:spcPts val="1000"/>
              </a:spcBef>
              <a:spcAft>
                <a:spcPts val="0"/>
              </a:spcAft>
              <a:buClr>
                <a:schemeClr val="dk1"/>
              </a:buClr>
              <a:buSzPts val="2800"/>
              <a:buChar char="•"/>
            </a:pPr>
            <a:r>
              <a:rPr b="1" lang="en-US"/>
              <a:t>Effect:</a:t>
            </a:r>
            <a:r>
              <a:rPr lang="en-US"/>
              <a:t> Particularly useful in reducing additive noise.</a:t>
            </a:r>
            <a:endParaRPr/>
          </a:p>
          <a:p>
            <a:pPr indent="-228600" lvl="0" marL="228600" rtl="0" algn="l">
              <a:lnSpc>
                <a:spcPct val="90000"/>
              </a:lnSpc>
              <a:spcBef>
                <a:spcPts val="1000"/>
              </a:spcBef>
              <a:spcAft>
                <a:spcPts val="0"/>
              </a:spcAft>
              <a:buClr>
                <a:schemeClr val="dk1"/>
              </a:buClr>
              <a:buSzPts val="2800"/>
              <a:buChar char="•"/>
            </a:pPr>
            <a:r>
              <a:rPr b="1" lang="en-US"/>
              <a:t>Application:</a:t>
            </a:r>
            <a:r>
              <a:rPr lang="en-US"/>
              <a:t> Often used in image restoration, especially in the presence of Gaussian noise.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7"/>
          <p:cNvSpPr txBox="1"/>
          <p:nvPr>
            <p:ph type="title"/>
          </p:nvPr>
        </p:nvSpPr>
        <p:spPr>
          <a:xfrm>
            <a:off x="125818" y="141841"/>
            <a:ext cx="11940363" cy="74066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Code to apply Wiener Filter</a:t>
            </a:r>
            <a:endParaRPr/>
          </a:p>
        </p:txBody>
      </p:sp>
      <p:sp>
        <p:nvSpPr>
          <p:cNvPr id="270" name="Google Shape;270;p27"/>
          <p:cNvSpPr txBox="1"/>
          <p:nvPr>
            <p:ph idx="1" type="body"/>
          </p:nvPr>
        </p:nvSpPr>
        <p:spPr>
          <a:xfrm>
            <a:off x="125818" y="1095153"/>
            <a:ext cx="11846442" cy="5621006"/>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sz="2200"/>
              <a:t>import cv2</a:t>
            </a:r>
            <a:endParaRPr/>
          </a:p>
          <a:p>
            <a:pPr indent="-228600" lvl="0" marL="228600" rtl="0" algn="l">
              <a:lnSpc>
                <a:spcPct val="90000"/>
              </a:lnSpc>
              <a:spcBef>
                <a:spcPts val="1000"/>
              </a:spcBef>
              <a:spcAft>
                <a:spcPts val="0"/>
              </a:spcAft>
              <a:buClr>
                <a:schemeClr val="dk1"/>
              </a:buClr>
              <a:buSzPct val="100000"/>
              <a:buChar char="•"/>
            </a:pPr>
            <a:r>
              <a:rPr lang="en-US" sz="2200"/>
              <a:t>import numpy as np</a:t>
            </a:r>
            <a:endParaRPr/>
          </a:p>
          <a:p>
            <a:pPr indent="-228600" lvl="0" marL="228600" rtl="0" algn="l">
              <a:lnSpc>
                <a:spcPct val="90000"/>
              </a:lnSpc>
              <a:spcBef>
                <a:spcPts val="1000"/>
              </a:spcBef>
              <a:spcAft>
                <a:spcPts val="0"/>
              </a:spcAft>
              <a:buClr>
                <a:schemeClr val="dk1"/>
              </a:buClr>
              <a:buSzPct val="100000"/>
              <a:buChar char="•"/>
            </a:pPr>
            <a:r>
              <a:rPr lang="en-US" sz="2200"/>
              <a:t>from scipy.signal import wiener</a:t>
            </a:r>
            <a:endParaRPr/>
          </a:p>
          <a:p>
            <a:pPr indent="-228600" lvl="0" marL="228600" rtl="0" algn="l">
              <a:lnSpc>
                <a:spcPct val="90000"/>
              </a:lnSpc>
              <a:spcBef>
                <a:spcPts val="1000"/>
              </a:spcBef>
              <a:spcAft>
                <a:spcPts val="0"/>
              </a:spcAft>
              <a:buClr>
                <a:schemeClr val="dk1"/>
              </a:buClr>
              <a:buSzPct val="100000"/>
              <a:buChar char="•"/>
            </a:pPr>
            <a:r>
              <a:rPr lang="en-US" sz="2200"/>
              <a:t>from google.colab.patches import cv2_imshow</a:t>
            </a:r>
            <a:endParaRPr/>
          </a:p>
          <a:p>
            <a:pPr indent="-120332" lvl="0" marL="228600" rtl="0" algn="l">
              <a:lnSpc>
                <a:spcPct val="90000"/>
              </a:lnSpc>
              <a:spcBef>
                <a:spcPts val="1000"/>
              </a:spcBef>
              <a:spcAft>
                <a:spcPts val="0"/>
              </a:spcAft>
              <a:buClr>
                <a:schemeClr val="dk1"/>
              </a:buClr>
              <a:buSzPct val="100000"/>
              <a:buNone/>
            </a:pPr>
            <a:r>
              <a:t/>
            </a:r>
            <a:endParaRPr sz="2200"/>
          </a:p>
          <a:p>
            <a:pPr indent="-228600" lvl="0" marL="228600" rtl="0" algn="l">
              <a:lnSpc>
                <a:spcPct val="90000"/>
              </a:lnSpc>
              <a:spcBef>
                <a:spcPts val="1000"/>
              </a:spcBef>
              <a:spcAft>
                <a:spcPts val="0"/>
              </a:spcAft>
              <a:buClr>
                <a:srgbClr val="00B050"/>
              </a:buClr>
              <a:buSzPct val="100000"/>
              <a:buChar char="•"/>
            </a:pPr>
            <a:r>
              <a:rPr b="1" lang="en-US" sz="2200">
                <a:solidFill>
                  <a:srgbClr val="00B050"/>
                </a:solidFill>
              </a:rPr>
              <a:t># Load noisy image (grayscale for Wiener filter)</a:t>
            </a:r>
            <a:endParaRPr/>
          </a:p>
          <a:p>
            <a:pPr indent="-228600" lvl="0" marL="228600" rtl="0" algn="l">
              <a:lnSpc>
                <a:spcPct val="90000"/>
              </a:lnSpc>
              <a:spcBef>
                <a:spcPts val="1000"/>
              </a:spcBef>
              <a:spcAft>
                <a:spcPts val="0"/>
              </a:spcAft>
              <a:buClr>
                <a:schemeClr val="dk1"/>
              </a:buClr>
              <a:buSzPct val="100000"/>
              <a:buChar char="•"/>
            </a:pPr>
            <a:r>
              <a:rPr lang="en-US" sz="2200"/>
              <a:t>img = cv2.imread('/content/image.png', cv2.IMREAD_GRAYSCALE)</a:t>
            </a:r>
            <a:endParaRPr/>
          </a:p>
          <a:p>
            <a:pPr indent="-120332" lvl="0" marL="228600" rtl="0" algn="l">
              <a:lnSpc>
                <a:spcPct val="90000"/>
              </a:lnSpc>
              <a:spcBef>
                <a:spcPts val="1000"/>
              </a:spcBef>
              <a:spcAft>
                <a:spcPts val="0"/>
              </a:spcAft>
              <a:buClr>
                <a:schemeClr val="dk1"/>
              </a:buClr>
              <a:buSzPct val="100000"/>
              <a:buNone/>
            </a:pPr>
            <a:r>
              <a:t/>
            </a:r>
            <a:endParaRPr sz="2200"/>
          </a:p>
          <a:p>
            <a:pPr indent="-228600" lvl="0" marL="228600" rtl="0" algn="l">
              <a:lnSpc>
                <a:spcPct val="90000"/>
              </a:lnSpc>
              <a:spcBef>
                <a:spcPts val="1000"/>
              </a:spcBef>
              <a:spcAft>
                <a:spcPts val="0"/>
              </a:spcAft>
              <a:buClr>
                <a:srgbClr val="00B050"/>
              </a:buClr>
              <a:buSzPct val="100000"/>
              <a:buChar char="•"/>
            </a:pPr>
            <a:r>
              <a:rPr b="1" lang="en-US" sz="2200">
                <a:solidFill>
                  <a:srgbClr val="00B050"/>
                </a:solidFill>
              </a:rPr>
              <a:t># Apply Wiener filter</a:t>
            </a:r>
            <a:endParaRPr/>
          </a:p>
          <a:p>
            <a:pPr indent="-228600" lvl="0" marL="228600" rtl="0" algn="l">
              <a:lnSpc>
                <a:spcPct val="90000"/>
              </a:lnSpc>
              <a:spcBef>
                <a:spcPts val="1000"/>
              </a:spcBef>
              <a:spcAft>
                <a:spcPts val="0"/>
              </a:spcAft>
              <a:buClr>
                <a:schemeClr val="dk1"/>
              </a:buClr>
              <a:buSzPct val="100000"/>
              <a:buChar char="•"/>
            </a:pPr>
            <a:r>
              <a:rPr lang="en-US" sz="2200"/>
              <a:t># mysize = window size, defaults to (3, 3) if not specified</a:t>
            </a:r>
            <a:endParaRPr/>
          </a:p>
          <a:p>
            <a:pPr indent="-228600" lvl="0" marL="228600" rtl="0" algn="l">
              <a:lnSpc>
                <a:spcPct val="90000"/>
              </a:lnSpc>
              <a:spcBef>
                <a:spcPts val="1000"/>
              </a:spcBef>
              <a:spcAft>
                <a:spcPts val="0"/>
              </a:spcAft>
              <a:buClr>
                <a:schemeClr val="dk1"/>
              </a:buClr>
              <a:buSzPct val="100000"/>
              <a:buChar char="•"/>
            </a:pPr>
            <a:r>
              <a:rPr lang="en-US" sz="2200"/>
              <a:t>denoised = wiener(img, mysize=(5, 5))</a:t>
            </a:r>
            <a:endParaRPr/>
          </a:p>
          <a:p>
            <a:pPr indent="-120332" lvl="0" marL="228600" rtl="0" algn="l">
              <a:lnSpc>
                <a:spcPct val="90000"/>
              </a:lnSpc>
              <a:spcBef>
                <a:spcPts val="1000"/>
              </a:spcBef>
              <a:spcAft>
                <a:spcPts val="0"/>
              </a:spcAft>
              <a:buClr>
                <a:schemeClr val="dk1"/>
              </a:buClr>
              <a:buSzPct val="100000"/>
              <a:buNone/>
            </a:pPr>
            <a:r>
              <a:t/>
            </a:r>
            <a:endParaRPr sz="2200"/>
          </a:p>
          <a:p>
            <a:pPr indent="-228600" lvl="0" marL="228600" rtl="0" algn="l">
              <a:lnSpc>
                <a:spcPct val="90000"/>
              </a:lnSpc>
              <a:spcBef>
                <a:spcPts val="1000"/>
              </a:spcBef>
              <a:spcAft>
                <a:spcPts val="0"/>
              </a:spcAft>
              <a:buClr>
                <a:srgbClr val="00B050"/>
              </a:buClr>
              <a:buSzPct val="100000"/>
              <a:buChar char="•"/>
            </a:pPr>
            <a:r>
              <a:rPr b="1" lang="en-US" sz="2200">
                <a:solidFill>
                  <a:srgbClr val="00B050"/>
                </a:solidFill>
              </a:rPr>
              <a:t># Convert back to uint8 for display (Wiener output is float64)</a:t>
            </a:r>
            <a:endParaRPr/>
          </a:p>
          <a:p>
            <a:pPr indent="-228600" lvl="0" marL="228600" rtl="0" algn="l">
              <a:lnSpc>
                <a:spcPct val="90000"/>
              </a:lnSpc>
              <a:spcBef>
                <a:spcPts val="1000"/>
              </a:spcBef>
              <a:spcAft>
                <a:spcPts val="0"/>
              </a:spcAft>
              <a:buClr>
                <a:schemeClr val="dk1"/>
              </a:buClr>
              <a:buSzPct val="100000"/>
              <a:buChar char="•"/>
            </a:pPr>
            <a:r>
              <a:rPr lang="en-US" sz="2200"/>
              <a:t>denoised = np.uint8(np.clip(denoised, 0, 255))</a:t>
            </a:r>
            <a:endParaRPr/>
          </a:p>
          <a:p>
            <a:pPr indent="-120332" lvl="0" marL="228600" rtl="0" algn="l">
              <a:lnSpc>
                <a:spcPct val="90000"/>
              </a:lnSpc>
              <a:spcBef>
                <a:spcPts val="1000"/>
              </a:spcBef>
              <a:spcAft>
                <a:spcPts val="0"/>
              </a:spcAft>
              <a:buClr>
                <a:schemeClr val="dk1"/>
              </a:buClr>
              <a:buSzPct val="100000"/>
              <a:buNone/>
            </a:pPr>
            <a:r>
              <a:t/>
            </a:r>
            <a:endParaRPr sz="2200"/>
          </a:p>
          <a:p>
            <a:pPr indent="-228600" lvl="0" marL="228600" rtl="0" algn="l">
              <a:lnSpc>
                <a:spcPct val="90000"/>
              </a:lnSpc>
              <a:spcBef>
                <a:spcPts val="1000"/>
              </a:spcBef>
              <a:spcAft>
                <a:spcPts val="0"/>
              </a:spcAft>
              <a:buClr>
                <a:srgbClr val="00B050"/>
              </a:buClr>
              <a:buSzPct val="100000"/>
              <a:buChar char="•"/>
            </a:pPr>
            <a:r>
              <a:rPr b="1" lang="en-US" sz="2200">
                <a:solidFill>
                  <a:srgbClr val="00B050"/>
                </a:solidFill>
              </a:rPr>
              <a:t># Show results</a:t>
            </a:r>
            <a:endParaRPr/>
          </a:p>
          <a:p>
            <a:pPr indent="-228600" lvl="0" marL="228600" rtl="0" algn="l">
              <a:lnSpc>
                <a:spcPct val="90000"/>
              </a:lnSpc>
              <a:spcBef>
                <a:spcPts val="1000"/>
              </a:spcBef>
              <a:spcAft>
                <a:spcPts val="0"/>
              </a:spcAft>
              <a:buClr>
                <a:schemeClr val="dk1"/>
              </a:buClr>
              <a:buSzPct val="100000"/>
              <a:buChar char="•"/>
            </a:pPr>
            <a:r>
              <a:rPr lang="en-US" sz="2200"/>
              <a:t>cv2_imshow(img)        </a:t>
            </a:r>
            <a:r>
              <a:rPr b="1" lang="en-US" sz="2200">
                <a:solidFill>
                  <a:srgbClr val="00B050"/>
                </a:solidFill>
              </a:rPr>
              <a:t># Original noisy image</a:t>
            </a:r>
            <a:endParaRPr/>
          </a:p>
          <a:p>
            <a:pPr indent="-228600" lvl="0" marL="228600" rtl="0" algn="l">
              <a:lnSpc>
                <a:spcPct val="90000"/>
              </a:lnSpc>
              <a:spcBef>
                <a:spcPts val="1000"/>
              </a:spcBef>
              <a:spcAft>
                <a:spcPts val="0"/>
              </a:spcAft>
              <a:buClr>
                <a:schemeClr val="dk1"/>
              </a:buClr>
              <a:buSzPct val="100000"/>
              <a:buChar char="•"/>
            </a:pPr>
            <a:r>
              <a:rPr lang="en-US" sz="2200"/>
              <a:t>cv2_imshow(denoised)   </a:t>
            </a:r>
            <a:r>
              <a:rPr b="1" lang="en-US" sz="2200">
                <a:solidFill>
                  <a:srgbClr val="00B050"/>
                </a:solidFill>
              </a:rPr>
              <a:t># Denoised image using Wiener filter</a:t>
            </a:r>
            <a:endParaRPr b="1">
              <a:solidFill>
                <a:srgbClr val="00B05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Best suited filters for noise</a:t>
            </a:r>
            <a:endParaRPr/>
          </a:p>
        </p:txBody>
      </p:sp>
      <p:pic>
        <p:nvPicPr>
          <p:cNvPr id="276" name="Google Shape;276;p28"/>
          <p:cNvPicPr preferRelativeResize="0"/>
          <p:nvPr>
            <p:ph idx="1" type="body"/>
          </p:nvPr>
        </p:nvPicPr>
        <p:blipFill rotWithShape="1">
          <a:blip r:embed="rId3">
            <a:alphaModFix/>
          </a:blip>
          <a:srcRect b="0" l="0" r="0" t="0"/>
          <a:stretch/>
        </p:blipFill>
        <p:spPr>
          <a:xfrm>
            <a:off x="1357313" y="2078038"/>
            <a:ext cx="9572625" cy="3724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9"/>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Sharpening</a:t>
            </a:r>
            <a:endParaRPr/>
          </a:p>
        </p:txBody>
      </p:sp>
      <p:sp>
        <p:nvSpPr>
          <p:cNvPr id="282" name="Google Shape;282;p29"/>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A technique used to enhance the edges and fine details in an image, making them more distinct and clearer. </a:t>
            </a:r>
            <a:endParaRPr/>
          </a:p>
          <a:p>
            <a:pPr indent="-228600" lvl="0" marL="228600" rtl="0" algn="just">
              <a:lnSpc>
                <a:spcPct val="90000"/>
              </a:lnSpc>
              <a:spcBef>
                <a:spcPts val="1000"/>
              </a:spcBef>
              <a:spcAft>
                <a:spcPts val="0"/>
              </a:spcAft>
              <a:buClr>
                <a:schemeClr val="dk1"/>
              </a:buClr>
              <a:buSzPts val="2800"/>
              <a:buChar char="•"/>
            </a:pPr>
            <a:r>
              <a:rPr lang="en-US"/>
              <a:t>The sharpened image is that in which the edges are clearly distinguishable by the viewer.</a:t>
            </a:r>
            <a:endParaRPr/>
          </a:p>
          <a:p>
            <a:pPr indent="-228600" lvl="0" marL="228600" rtl="0" algn="just">
              <a:lnSpc>
                <a:spcPct val="90000"/>
              </a:lnSpc>
              <a:spcBef>
                <a:spcPts val="1000"/>
              </a:spcBef>
              <a:spcAft>
                <a:spcPts val="0"/>
              </a:spcAft>
              <a:buClr>
                <a:schemeClr val="dk1"/>
              </a:buClr>
              <a:buSzPts val="2800"/>
              <a:buChar char="•"/>
            </a:pPr>
            <a:r>
              <a:rPr lang="en-US"/>
              <a:t>Usually, the intensity and contrast change at the edge. If this change is significant then the image is said to be sharp. The viewer can clearly see the background and foreground parts.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246580" y="365125"/>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Common Sharpening Techniques</a:t>
            </a:r>
            <a:endParaRPr/>
          </a:p>
        </p:txBody>
      </p:sp>
      <p:sp>
        <p:nvSpPr>
          <p:cNvPr id="289" name="Google Shape;289;p30"/>
          <p:cNvSpPr txBox="1"/>
          <p:nvPr>
            <p:ph idx="1" type="body"/>
          </p:nvPr>
        </p:nvSpPr>
        <p:spPr>
          <a:xfrm>
            <a:off x="246579" y="1273996"/>
            <a:ext cx="11794733" cy="53322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Unsharp Masking</a:t>
            </a:r>
            <a:endParaRPr/>
          </a:p>
          <a:p>
            <a:pPr indent="-228600" lvl="0" marL="228600" rtl="0" algn="l">
              <a:lnSpc>
                <a:spcPct val="90000"/>
              </a:lnSpc>
              <a:spcBef>
                <a:spcPts val="1000"/>
              </a:spcBef>
              <a:spcAft>
                <a:spcPts val="0"/>
              </a:spcAft>
              <a:buClr>
                <a:schemeClr val="dk1"/>
              </a:buClr>
              <a:buSzPts val="2800"/>
              <a:buChar char="•"/>
            </a:pPr>
            <a:r>
              <a:rPr lang="en-US"/>
              <a:t>Laplacian Filter</a:t>
            </a:r>
            <a:endParaRPr/>
          </a:p>
          <a:p>
            <a:pPr indent="-228600" lvl="0" marL="228600" rtl="0" algn="l">
              <a:lnSpc>
                <a:spcPct val="90000"/>
              </a:lnSpc>
              <a:spcBef>
                <a:spcPts val="1000"/>
              </a:spcBef>
              <a:spcAft>
                <a:spcPts val="0"/>
              </a:spcAft>
              <a:buClr>
                <a:schemeClr val="dk1"/>
              </a:buClr>
              <a:buSzPts val="2800"/>
              <a:buChar char="•"/>
            </a:pPr>
            <a:r>
              <a:rPr lang="en-US"/>
              <a:t>High-Pass Filter</a:t>
            </a:r>
            <a:endParaRPr/>
          </a:p>
          <a:p>
            <a:pPr indent="-228600" lvl="0" marL="228600" rtl="0" algn="l">
              <a:lnSpc>
                <a:spcPct val="90000"/>
              </a:lnSpc>
              <a:spcBef>
                <a:spcPts val="1000"/>
              </a:spcBef>
              <a:spcAft>
                <a:spcPts val="0"/>
              </a:spcAft>
              <a:buClr>
                <a:schemeClr val="dk1"/>
              </a:buClr>
              <a:buSzPts val="2800"/>
              <a:buChar char="•"/>
            </a:pPr>
            <a:r>
              <a:rPr lang="en-US"/>
              <a:t>Gradient-based methods (Sobel, Prewitt, Roberts)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txBox="1"/>
          <p:nvPr>
            <p:ph type="title"/>
          </p:nvPr>
        </p:nvSpPr>
        <p:spPr>
          <a:xfrm>
            <a:off x="246579" y="77448"/>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Laplacian Filter</a:t>
            </a:r>
            <a:endParaRPr/>
          </a:p>
        </p:txBody>
      </p:sp>
      <p:sp>
        <p:nvSpPr>
          <p:cNvPr id="296" name="Google Shape;296;p31"/>
          <p:cNvSpPr txBox="1"/>
          <p:nvPr>
            <p:ph idx="1" type="body"/>
          </p:nvPr>
        </p:nvSpPr>
        <p:spPr>
          <a:xfrm>
            <a:off x="246579" y="904126"/>
            <a:ext cx="11794733" cy="570215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Used in image sharpening to enhance the edges and fine details by emphasizing regions of rapid intensity change (such as edges).</a:t>
            </a:r>
            <a:endParaRPr/>
          </a:p>
          <a:p>
            <a:pPr indent="-228600" lvl="0" marL="228600" rtl="0" algn="just">
              <a:lnSpc>
                <a:spcPct val="90000"/>
              </a:lnSpc>
              <a:spcBef>
                <a:spcPts val="1000"/>
              </a:spcBef>
              <a:spcAft>
                <a:spcPts val="0"/>
              </a:spcAft>
              <a:buClr>
                <a:schemeClr val="dk1"/>
              </a:buClr>
              <a:buSzPts val="2800"/>
              <a:buChar char="•"/>
            </a:pPr>
            <a:r>
              <a:rPr lang="en-US"/>
              <a:t>It works by highlighting the parts of the image where the intensity values change the most, which typically occur at object boundaries or transitions between different textures.</a:t>
            </a:r>
            <a:endParaRPr/>
          </a:p>
          <a:p>
            <a:pPr indent="-228600" lvl="0" marL="228600" rtl="0" algn="just">
              <a:lnSpc>
                <a:spcPct val="90000"/>
              </a:lnSpc>
              <a:spcBef>
                <a:spcPts val="1000"/>
              </a:spcBef>
              <a:spcAft>
                <a:spcPts val="0"/>
              </a:spcAft>
              <a:buClr>
                <a:schemeClr val="dk1"/>
              </a:buClr>
              <a:buSzPts val="2800"/>
              <a:buChar char="•"/>
            </a:pPr>
            <a:r>
              <a:rPr lang="en-US"/>
              <a:t>Laplacian filter is a second-order derivative filter that calculates the rate of change in intensity in all directions (x and 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2"/>
          <p:cNvSpPr txBox="1"/>
          <p:nvPr>
            <p:ph type="title"/>
          </p:nvPr>
        </p:nvSpPr>
        <p:spPr>
          <a:xfrm>
            <a:off x="246579" y="77448"/>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Effects of Laplacian Filter</a:t>
            </a:r>
            <a:endParaRPr/>
          </a:p>
        </p:txBody>
      </p:sp>
      <p:sp>
        <p:nvSpPr>
          <p:cNvPr id="303" name="Google Shape;303;p32"/>
          <p:cNvSpPr txBox="1"/>
          <p:nvPr>
            <p:ph idx="1" type="body"/>
          </p:nvPr>
        </p:nvSpPr>
        <p:spPr>
          <a:xfrm>
            <a:off x="246579" y="1109610"/>
            <a:ext cx="11794733" cy="172605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Char char="•"/>
            </a:pPr>
            <a:r>
              <a:rPr b="1" lang="en-US" sz="2400"/>
              <a:t>Edge Enhancement:</a:t>
            </a:r>
            <a:r>
              <a:rPr lang="en-US" sz="2400"/>
              <a:t> The Laplacian filter enhances edges by amplifying the high-frequency components in the image.</a:t>
            </a:r>
            <a:endParaRPr/>
          </a:p>
          <a:p>
            <a:pPr indent="-228600" lvl="0" marL="228600" rtl="0" algn="l">
              <a:lnSpc>
                <a:spcPct val="90000"/>
              </a:lnSpc>
              <a:spcBef>
                <a:spcPts val="1000"/>
              </a:spcBef>
              <a:spcAft>
                <a:spcPts val="0"/>
              </a:spcAft>
              <a:buClr>
                <a:schemeClr val="dk1"/>
              </a:buClr>
              <a:buSzPts val="2400"/>
              <a:buChar char="•"/>
            </a:pPr>
            <a:r>
              <a:rPr b="1" lang="en-US" sz="2400"/>
              <a:t>Improved Clarity:</a:t>
            </a:r>
            <a:r>
              <a:rPr lang="en-US" sz="2400"/>
              <a:t> Adding the Laplacian result to the original image increases the contrast around edges, making details and transitions between different regions clearer.</a:t>
            </a:r>
            <a:endParaRPr/>
          </a:p>
        </p:txBody>
      </p:sp>
      <p:pic>
        <p:nvPicPr>
          <p:cNvPr id="304" name="Google Shape;304;p32"/>
          <p:cNvPicPr preferRelativeResize="0"/>
          <p:nvPr/>
        </p:nvPicPr>
        <p:blipFill rotWithShape="1">
          <a:blip r:embed="rId3">
            <a:alphaModFix/>
          </a:blip>
          <a:srcRect b="0" l="0" r="0" t="0"/>
          <a:stretch/>
        </p:blipFill>
        <p:spPr>
          <a:xfrm>
            <a:off x="2194657" y="2822932"/>
            <a:ext cx="2814961" cy="4035068"/>
          </a:xfrm>
          <a:prstGeom prst="rect">
            <a:avLst/>
          </a:prstGeom>
          <a:noFill/>
          <a:ln>
            <a:noFill/>
          </a:ln>
        </p:spPr>
      </p:pic>
      <p:pic>
        <p:nvPicPr>
          <p:cNvPr id="305" name="Google Shape;305;p32"/>
          <p:cNvPicPr preferRelativeResize="0"/>
          <p:nvPr/>
        </p:nvPicPr>
        <p:blipFill rotWithShape="1">
          <a:blip r:embed="rId4">
            <a:alphaModFix/>
          </a:blip>
          <a:srcRect b="0" l="0" r="0" t="0"/>
          <a:stretch/>
        </p:blipFill>
        <p:spPr>
          <a:xfrm>
            <a:off x="7400851" y="2822931"/>
            <a:ext cx="2994636" cy="403506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3"/>
          <p:cNvSpPr txBox="1"/>
          <p:nvPr>
            <p:ph type="title"/>
          </p:nvPr>
        </p:nvSpPr>
        <p:spPr>
          <a:xfrm>
            <a:off x="246579" y="77448"/>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High-Pass Filter</a:t>
            </a:r>
            <a:endParaRPr/>
          </a:p>
        </p:txBody>
      </p:sp>
      <p:sp>
        <p:nvSpPr>
          <p:cNvPr id="312" name="Google Shape;312;p33"/>
          <p:cNvSpPr txBox="1"/>
          <p:nvPr>
            <p:ph idx="1" type="body"/>
          </p:nvPr>
        </p:nvSpPr>
        <p:spPr>
          <a:xfrm>
            <a:off x="143839" y="1037690"/>
            <a:ext cx="11897474" cy="556859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An image processing technique used to enhance the sharpness of an image by allowing high-frequency components (such as edges and fine details) to pass through while attenuating the low-frequency components (smooth or uniform regions). </a:t>
            </a:r>
            <a:endParaRPr/>
          </a:p>
          <a:p>
            <a:pPr indent="-228600" lvl="0" marL="228600" rtl="0" algn="just">
              <a:lnSpc>
                <a:spcPct val="90000"/>
              </a:lnSpc>
              <a:spcBef>
                <a:spcPts val="1000"/>
              </a:spcBef>
              <a:spcAft>
                <a:spcPts val="0"/>
              </a:spcAft>
              <a:buClr>
                <a:schemeClr val="dk1"/>
              </a:buClr>
              <a:buSzPts val="2800"/>
              <a:buChar char="•"/>
            </a:pPr>
            <a:r>
              <a:rPr lang="en-US"/>
              <a:t>This makes the high-pass filter particularly useful for edge detection and image sharpening.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4"/>
          <p:cNvSpPr txBox="1"/>
          <p:nvPr>
            <p:ph type="title"/>
          </p:nvPr>
        </p:nvSpPr>
        <p:spPr>
          <a:xfrm>
            <a:off x="246579" y="77448"/>
            <a:ext cx="11620072"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Working of High-Pass Filter</a:t>
            </a:r>
            <a:endParaRPr/>
          </a:p>
        </p:txBody>
      </p:sp>
      <p:sp>
        <p:nvSpPr>
          <p:cNvPr id="319" name="Google Shape;319;p34"/>
          <p:cNvSpPr txBox="1"/>
          <p:nvPr>
            <p:ph idx="1" type="body"/>
          </p:nvPr>
        </p:nvSpPr>
        <p:spPr>
          <a:xfrm>
            <a:off x="143839" y="1037690"/>
            <a:ext cx="11897474" cy="556859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t>High Frequencies (Edges and Fine Details):</a:t>
            </a:r>
            <a:endParaRPr/>
          </a:p>
          <a:p>
            <a:pPr indent="-228600" lvl="1" marL="685800" rtl="0" algn="just">
              <a:lnSpc>
                <a:spcPct val="90000"/>
              </a:lnSpc>
              <a:spcBef>
                <a:spcPts val="500"/>
              </a:spcBef>
              <a:spcAft>
                <a:spcPts val="0"/>
              </a:spcAft>
              <a:buClr>
                <a:schemeClr val="dk1"/>
              </a:buClr>
              <a:buSzPts val="2400"/>
              <a:buChar char="•"/>
            </a:pPr>
            <a:r>
              <a:rPr lang="en-US"/>
              <a:t>High-frequency components correspond to areas in the image where there is a rapid change in intensity, such as edges or textures.</a:t>
            </a:r>
            <a:endParaRPr/>
          </a:p>
          <a:p>
            <a:pPr indent="-228600" lvl="0" marL="228600" rtl="0" algn="just">
              <a:lnSpc>
                <a:spcPct val="90000"/>
              </a:lnSpc>
              <a:spcBef>
                <a:spcPts val="1000"/>
              </a:spcBef>
              <a:spcAft>
                <a:spcPts val="0"/>
              </a:spcAft>
              <a:buClr>
                <a:schemeClr val="dk1"/>
              </a:buClr>
              <a:buSzPts val="2800"/>
              <a:buChar char="•"/>
            </a:pPr>
            <a:r>
              <a:rPr b="1" lang="en-US"/>
              <a:t>Low Frequencies (Smooth Areas):</a:t>
            </a:r>
            <a:endParaRPr/>
          </a:p>
          <a:p>
            <a:pPr indent="-228600" lvl="1" marL="685800" rtl="0" algn="just">
              <a:lnSpc>
                <a:spcPct val="90000"/>
              </a:lnSpc>
              <a:spcBef>
                <a:spcPts val="500"/>
              </a:spcBef>
              <a:spcAft>
                <a:spcPts val="0"/>
              </a:spcAft>
              <a:buClr>
                <a:schemeClr val="dk1"/>
              </a:buClr>
              <a:buSzPts val="2400"/>
              <a:buChar char="•"/>
            </a:pPr>
            <a:r>
              <a:rPr lang="en-US"/>
              <a:t>Low-frequency components correspond to smooth or gradually varying areas of the image, such as backgrounds or large uniform regions.</a:t>
            </a:r>
            <a:endParaRPr/>
          </a:p>
          <a:p>
            <a:pPr indent="-228600" lvl="0" marL="228600" rtl="0" algn="just">
              <a:lnSpc>
                <a:spcPct val="90000"/>
              </a:lnSpc>
              <a:spcBef>
                <a:spcPts val="1000"/>
              </a:spcBef>
              <a:spcAft>
                <a:spcPts val="0"/>
              </a:spcAft>
              <a:buClr>
                <a:schemeClr val="dk1"/>
              </a:buClr>
              <a:buSzPts val="2800"/>
              <a:buChar char="•"/>
            </a:pPr>
            <a:r>
              <a:rPr lang="en-US"/>
              <a:t>A high-pass filter emphasizes the high-frequency components (edges and fine details) and suppresses the low-frequency components (smooth areas), making the image sharper.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5"/>
          <p:cNvSpPr txBox="1"/>
          <p:nvPr>
            <p:ph type="title"/>
          </p:nvPr>
        </p:nvSpPr>
        <p:spPr>
          <a:xfrm>
            <a:off x="838200" y="365125"/>
            <a:ext cx="10515600" cy="9294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Effects of High-Pass Filter</a:t>
            </a:r>
            <a:endParaRPr/>
          </a:p>
        </p:txBody>
      </p:sp>
      <p:pic>
        <p:nvPicPr>
          <p:cNvPr id="325" name="Google Shape;325;p35"/>
          <p:cNvPicPr preferRelativeResize="0"/>
          <p:nvPr>
            <p:ph idx="1" type="body"/>
          </p:nvPr>
        </p:nvPicPr>
        <p:blipFill rotWithShape="1">
          <a:blip r:embed="rId3">
            <a:alphaModFix/>
          </a:blip>
          <a:srcRect b="0" l="0" r="0" t="0"/>
          <a:stretch/>
        </p:blipFill>
        <p:spPr>
          <a:xfrm>
            <a:off x="4532136" y="1825625"/>
            <a:ext cx="3127728" cy="43513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2025-08-12T05:06:27Z</dcterms:created>
  <dc:creator>Shatabdi Basu [MU - Jaipur]</dc:creator>
</cp:coreProperties>
</file>