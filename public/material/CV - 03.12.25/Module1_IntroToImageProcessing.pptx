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12192000"/>
  <p:notesSz cx="6858000" cy="9144000"/>
  <p:embeddedFontLst>
    <p:embeddedFont>
      <p:font typeface="Play"/>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j49I5ORrJG/smsL/93Clt2DXFt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Play-regular.fntdata"/><Relationship Id="rId41" Type="http://schemas.openxmlformats.org/officeDocument/2006/relationships/slide" Target="slides/slide36.xml"/><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Play-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4" name="Google Shape;14;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3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4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8" name="Google Shape;38;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4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4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4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4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4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4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4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4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48"/>
          <p:cNvSpPr/>
          <p:nvPr>
            <p:ph idx="2" type="pic"/>
          </p:nvPr>
        </p:nvSpPr>
        <p:spPr>
          <a:xfrm>
            <a:off x="5183188" y="987425"/>
            <a:ext cx="6172200" cy="4873625"/>
          </a:xfrm>
          <a:prstGeom prst="rect">
            <a:avLst/>
          </a:prstGeom>
          <a:noFill/>
          <a:ln>
            <a:noFill/>
          </a:ln>
        </p:spPr>
      </p:sp>
      <p:sp>
        <p:nvSpPr>
          <p:cNvPr id="76" name="Google Shape;76;p4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5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5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Play"/>
              <a:buNone/>
              <a:defRPr b="0" i="0" sz="4400" u="none" cap="none" strike="noStrik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8" name="Google Shape;8;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9" name="Google Shape;9;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0" name="Google Shape;10;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Arial"/>
                <a:ea typeface="Arial"/>
                <a:cs typeface="Arial"/>
                <a:sym typeface="Arial"/>
              </a:defRPr>
            </a:lvl1pPr>
            <a:lvl2pPr indent="0" lvl="1" marL="0" marR="0" rtl="0" algn="r">
              <a:spcBef>
                <a:spcPts val="0"/>
              </a:spcBef>
              <a:buNone/>
              <a:defRPr b="0" i="0" sz="1200" u="none" cap="none" strike="noStrike">
                <a:solidFill>
                  <a:schemeClr val="lt1"/>
                </a:solidFill>
                <a:latin typeface="Arial"/>
                <a:ea typeface="Arial"/>
                <a:cs typeface="Arial"/>
                <a:sym typeface="Arial"/>
              </a:defRPr>
            </a:lvl2pPr>
            <a:lvl3pPr indent="0" lvl="2" marL="0" marR="0" rtl="0" algn="r">
              <a:spcBef>
                <a:spcPts val="0"/>
              </a:spcBef>
              <a:buNone/>
              <a:defRPr b="0" i="0" sz="1200" u="none" cap="none" strike="noStrike">
                <a:solidFill>
                  <a:schemeClr val="lt1"/>
                </a:solidFill>
                <a:latin typeface="Arial"/>
                <a:ea typeface="Arial"/>
                <a:cs typeface="Arial"/>
                <a:sym typeface="Arial"/>
              </a:defRPr>
            </a:lvl3pPr>
            <a:lvl4pPr indent="0" lvl="3" marL="0" marR="0" rtl="0" algn="r">
              <a:spcBef>
                <a:spcPts val="0"/>
              </a:spcBef>
              <a:buNone/>
              <a:defRPr b="0" i="0" sz="1200" u="none" cap="none" strike="noStrike">
                <a:solidFill>
                  <a:schemeClr val="lt1"/>
                </a:solidFill>
                <a:latin typeface="Arial"/>
                <a:ea typeface="Arial"/>
                <a:cs typeface="Arial"/>
                <a:sym typeface="Arial"/>
              </a:defRPr>
            </a:lvl4pPr>
            <a:lvl5pPr indent="0" lvl="4" marL="0" marR="0" rtl="0" algn="r">
              <a:spcBef>
                <a:spcPts val="0"/>
              </a:spcBef>
              <a:buNone/>
              <a:defRPr b="0" i="0" sz="1200" u="none" cap="none" strike="noStrike">
                <a:solidFill>
                  <a:schemeClr val="lt1"/>
                </a:solidFill>
                <a:latin typeface="Arial"/>
                <a:ea typeface="Arial"/>
                <a:cs typeface="Arial"/>
                <a:sym typeface="Arial"/>
              </a:defRPr>
            </a:lvl5pPr>
            <a:lvl6pPr indent="0" lvl="5" marL="0" marR="0" rtl="0" algn="r">
              <a:spcBef>
                <a:spcPts val="0"/>
              </a:spcBef>
              <a:buNone/>
              <a:defRPr b="0" i="0" sz="1200" u="none" cap="none" strike="noStrike">
                <a:solidFill>
                  <a:schemeClr val="lt1"/>
                </a:solidFill>
                <a:latin typeface="Arial"/>
                <a:ea typeface="Arial"/>
                <a:cs typeface="Arial"/>
                <a:sym typeface="Arial"/>
              </a:defRPr>
            </a:lvl6pPr>
            <a:lvl7pPr indent="0" lvl="6" marL="0" marR="0" rtl="0" algn="r">
              <a:spcBef>
                <a:spcPts val="0"/>
              </a:spcBef>
              <a:buNone/>
              <a:defRPr b="0" i="0" sz="1200" u="none" cap="none" strike="noStrike">
                <a:solidFill>
                  <a:schemeClr val="lt1"/>
                </a:solidFill>
                <a:latin typeface="Arial"/>
                <a:ea typeface="Arial"/>
                <a:cs typeface="Arial"/>
                <a:sym typeface="Arial"/>
              </a:defRPr>
            </a:lvl7pPr>
            <a:lvl8pPr indent="0" lvl="7" marL="0" marR="0" rtl="0" algn="r">
              <a:spcBef>
                <a:spcPts val="0"/>
              </a:spcBef>
              <a:buNone/>
              <a:defRPr b="0" i="0" sz="1200" u="none" cap="none" strike="noStrike">
                <a:solidFill>
                  <a:schemeClr val="lt1"/>
                </a:solidFill>
                <a:latin typeface="Arial"/>
                <a:ea typeface="Arial"/>
                <a:cs typeface="Arial"/>
                <a:sym typeface="Arial"/>
              </a:defRPr>
            </a:lvl8pPr>
            <a:lvl9pPr indent="0" lvl="8" marL="0" marR="0" rtl="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 name="Shape 17"/>
        <p:cNvGrpSpPr/>
        <p:nvPr/>
      </p:nvGrpSpPr>
      <p:grpSpPr>
        <a:xfrm>
          <a:off x="0" y="0"/>
          <a:ext cx="0" cy="0"/>
          <a:chOff x="0" y="0"/>
          <a:chExt cx="0" cy="0"/>
        </a:xfrm>
      </p:grpSpPr>
      <p:sp>
        <p:nvSpPr>
          <p:cNvPr id="18" name="Google Shape;1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 name="Google Shape;20;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 name="Google Shape;21;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 name="Google Shape;2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5.jp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4.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0.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1.pn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9.png"/><Relationship Id="rId4" Type="http://schemas.openxmlformats.org/officeDocument/2006/relationships/image" Target="../media/image32.png"/><Relationship Id="rId5"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5" name="Shape 95"/>
        <p:cNvGrpSpPr/>
        <p:nvPr/>
      </p:nvGrpSpPr>
      <p:grpSpPr>
        <a:xfrm>
          <a:off x="0" y="0"/>
          <a:ext cx="0" cy="0"/>
          <a:chOff x="0" y="0"/>
          <a:chExt cx="0" cy="0"/>
        </a:xfrm>
      </p:grpSpPr>
      <p:sp>
        <p:nvSpPr>
          <p:cNvPr id="96" name="Google Shape;96;p1"/>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wall of art with many images&#10;&#10;Description automatically generated" id="97" name="Google Shape;97;p1"/>
          <p:cNvPicPr preferRelativeResize="0"/>
          <p:nvPr/>
        </p:nvPicPr>
        <p:blipFill rotWithShape="1">
          <a:blip r:embed="rId3">
            <a:alphaModFix amt="50000"/>
          </a:blip>
          <a:srcRect b="0" l="3135" r="3531" t="0"/>
          <a:stretch/>
        </p:blipFill>
        <p:spPr>
          <a:xfrm>
            <a:off x="11374" y="11355"/>
            <a:ext cx="12191981" cy="6857999"/>
          </a:xfrm>
          <a:prstGeom prst="rect">
            <a:avLst/>
          </a:prstGeom>
          <a:noFill/>
          <a:ln>
            <a:noFill/>
          </a:ln>
        </p:spPr>
      </p:pic>
      <p:sp>
        <p:nvSpPr>
          <p:cNvPr id="98" name="Google Shape;98;p1"/>
          <p:cNvSpPr txBox="1"/>
          <p:nvPr>
            <p:ph type="ctrTitle"/>
          </p:nvPr>
        </p:nvSpPr>
        <p:spPr>
          <a:xfrm>
            <a:off x="1524000" y="1122362"/>
            <a:ext cx="9144000" cy="290051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Play"/>
              <a:buNone/>
            </a:pPr>
            <a:r>
              <a:rPr lang="en-US">
                <a:solidFill>
                  <a:srgbClr val="FFFFFF"/>
                </a:solidFill>
              </a:rPr>
              <a:t>Introduction to Image Processing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214045" y="118546"/>
            <a:ext cx="11763910" cy="10013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What is image processing?</a:t>
            </a:r>
            <a:endParaRPr/>
          </a:p>
        </p:txBody>
      </p:sp>
      <p:sp>
        <p:nvSpPr>
          <p:cNvPr id="104" name="Google Shape;104;p2"/>
          <p:cNvSpPr txBox="1"/>
          <p:nvPr>
            <p:ph idx="1" type="body"/>
          </p:nvPr>
        </p:nvSpPr>
        <p:spPr>
          <a:xfrm>
            <a:off x="214045" y="1284270"/>
            <a:ext cx="11763910" cy="530146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method of performing operations on an image to enhance it or extract useful information.</a:t>
            </a:r>
            <a:endParaRPr/>
          </a:p>
          <a:p>
            <a:pPr indent="-228600" lvl="0" marL="228600" rtl="0" algn="l">
              <a:lnSpc>
                <a:spcPct val="90000"/>
              </a:lnSpc>
              <a:spcBef>
                <a:spcPts val="1000"/>
              </a:spcBef>
              <a:spcAft>
                <a:spcPts val="0"/>
              </a:spcAft>
              <a:buClr>
                <a:schemeClr val="dk1"/>
              </a:buClr>
              <a:buSzPts val="2800"/>
              <a:buChar char="•"/>
            </a:pPr>
            <a:r>
              <a:rPr lang="en-US"/>
              <a:t>Involves manipulating and analyzing digital images to improve their quality or to extract specific features for further analysis.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133565" y="149546"/>
            <a:ext cx="11907748" cy="8470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Significance of image processing - 1</a:t>
            </a:r>
            <a:endParaRPr/>
          </a:p>
        </p:txBody>
      </p:sp>
      <p:sp>
        <p:nvSpPr>
          <p:cNvPr id="110" name="Google Shape;110;p3"/>
          <p:cNvSpPr txBox="1"/>
          <p:nvPr>
            <p:ph idx="1" type="body"/>
          </p:nvPr>
        </p:nvSpPr>
        <p:spPr>
          <a:xfrm>
            <a:off x="150687" y="996594"/>
            <a:ext cx="11890626" cy="571186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Enhancement of visual information</a:t>
            </a:r>
            <a:endParaRPr/>
          </a:p>
          <a:p>
            <a:pPr indent="-228600" lvl="1" marL="685800" rtl="0" algn="l">
              <a:lnSpc>
                <a:spcPct val="90000"/>
              </a:lnSpc>
              <a:spcBef>
                <a:spcPts val="500"/>
              </a:spcBef>
              <a:spcAft>
                <a:spcPts val="0"/>
              </a:spcAft>
              <a:buClr>
                <a:schemeClr val="dk1"/>
              </a:buClr>
              <a:buSzPts val="2400"/>
              <a:buChar char="•"/>
            </a:pPr>
            <a:r>
              <a:rPr b="1" lang="en-US"/>
              <a:t>Improvement in image quality </a:t>
            </a:r>
            <a:r>
              <a:rPr lang="en-US"/>
              <a:t>- Techniques like noise reduction, contrast enhancement, and sharpening make images clearer and more useful for human viewing and interpretation.</a:t>
            </a:r>
            <a:endParaRPr/>
          </a:p>
          <a:p>
            <a:pPr indent="-228600" lvl="1" marL="685800" rtl="0" algn="l">
              <a:lnSpc>
                <a:spcPct val="90000"/>
              </a:lnSpc>
              <a:spcBef>
                <a:spcPts val="500"/>
              </a:spcBef>
              <a:spcAft>
                <a:spcPts val="0"/>
              </a:spcAft>
              <a:buClr>
                <a:schemeClr val="dk1"/>
              </a:buClr>
              <a:buSzPts val="2400"/>
              <a:buChar char="•"/>
            </a:pPr>
            <a:r>
              <a:rPr b="1" lang="en-US"/>
              <a:t>Restoration</a:t>
            </a:r>
            <a:r>
              <a:rPr lang="en-US"/>
              <a:t> - Damaged or degraded images can be restored to their original quality, making old or corrupted images usable again.</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11" name="Google Shape;111;p3"/>
          <p:cNvPicPr preferRelativeResize="0"/>
          <p:nvPr/>
        </p:nvPicPr>
        <p:blipFill rotWithShape="1">
          <a:blip r:embed="rId3">
            <a:alphaModFix/>
          </a:blip>
          <a:srcRect b="0" l="0" r="0" t="0"/>
          <a:stretch/>
        </p:blipFill>
        <p:spPr>
          <a:xfrm>
            <a:off x="8464941" y="3775033"/>
            <a:ext cx="3593494" cy="2199252"/>
          </a:xfrm>
          <a:prstGeom prst="rect">
            <a:avLst/>
          </a:prstGeom>
          <a:noFill/>
          <a:ln>
            <a:noFill/>
          </a:ln>
        </p:spPr>
      </p:pic>
      <p:pic>
        <p:nvPicPr>
          <p:cNvPr id="112" name="Google Shape;112;p3"/>
          <p:cNvPicPr preferRelativeResize="0"/>
          <p:nvPr/>
        </p:nvPicPr>
        <p:blipFill rotWithShape="1">
          <a:blip r:embed="rId4">
            <a:alphaModFix/>
          </a:blip>
          <a:srcRect b="0" l="0" r="0" t="0"/>
          <a:stretch/>
        </p:blipFill>
        <p:spPr>
          <a:xfrm>
            <a:off x="4354852" y="3748270"/>
            <a:ext cx="3689814" cy="2226015"/>
          </a:xfrm>
          <a:prstGeom prst="rect">
            <a:avLst/>
          </a:prstGeom>
          <a:noFill/>
          <a:ln>
            <a:noFill/>
          </a:ln>
        </p:spPr>
      </p:pic>
      <p:pic>
        <p:nvPicPr>
          <p:cNvPr id="113" name="Google Shape;113;p3"/>
          <p:cNvPicPr preferRelativeResize="0"/>
          <p:nvPr/>
        </p:nvPicPr>
        <p:blipFill rotWithShape="1">
          <a:blip r:embed="rId5">
            <a:alphaModFix/>
          </a:blip>
          <a:srcRect b="0" l="0" r="0" t="0"/>
          <a:stretch/>
        </p:blipFill>
        <p:spPr>
          <a:xfrm>
            <a:off x="456022" y="3775033"/>
            <a:ext cx="3593495" cy="2249166"/>
          </a:xfrm>
          <a:prstGeom prst="rect">
            <a:avLst/>
          </a:prstGeom>
          <a:noFill/>
          <a:ln>
            <a:noFill/>
          </a:ln>
        </p:spPr>
      </p:pic>
      <p:sp>
        <p:nvSpPr>
          <p:cNvPr id="114" name="Google Shape;114;p3"/>
          <p:cNvSpPr txBox="1"/>
          <p:nvPr/>
        </p:nvSpPr>
        <p:spPr>
          <a:xfrm>
            <a:off x="565079" y="6328881"/>
            <a:ext cx="2928134" cy="3795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Image sharpening</a:t>
            </a:r>
            <a:endParaRPr/>
          </a:p>
        </p:txBody>
      </p:sp>
      <p:sp>
        <p:nvSpPr>
          <p:cNvPr id="115" name="Google Shape;115;p3"/>
          <p:cNvSpPr txBox="1"/>
          <p:nvPr/>
        </p:nvSpPr>
        <p:spPr>
          <a:xfrm>
            <a:off x="4500082" y="6328881"/>
            <a:ext cx="34726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Image contrast enhancement</a:t>
            </a:r>
            <a:endParaRPr/>
          </a:p>
        </p:txBody>
      </p:sp>
      <p:sp>
        <p:nvSpPr>
          <p:cNvPr id="116" name="Google Shape;116;p3"/>
          <p:cNvSpPr txBox="1"/>
          <p:nvPr/>
        </p:nvSpPr>
        <p:spPr>
          <a:xfrm>
            <a:off x="8948791" y="6328881"/>
            <a:ext cx="26781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Image restoration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133565" y="149546"/>
            <a:ext cx="11907748" cy="8470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Significance of image processing - 2</a:t>
            </a:r>
            <a:endParaRPr/>
          </a:p>
        </p:txBody>
      </p:sp>
      <p:sp>
        <p:nvSpPr>
          <p:cNvPr id="122" name="Google Shape;122;p4"/>
          <p:cNvSpPr txBox="1"/>
          <p:nvPr>
            <p:ph idx="1" type="body"/>
          </p:nvPr>
        </p:nvSpPr>
        <p:spPr>
          <a:xfrm>
            <a:off x="150687" y="996594"/>
            <a:ext cx="11890626" cy="571186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Automated Analysis and Interpretation</a:t>
            </a:r>
            <a:endParaRPr/>
          </a:p>
          <a:p>
            <a:pPr indent="-228600" lvl="1" marL="685800" rtl="0" algn="l">
              <a:lnSpc>
                <a:spcPct val="90000"/>
              </a:lnSpc>
              <a:spcBef>
                <a:spcPts val="500"/>
              </a:spcBef>
              <a:spcAft>
                <a:spcPts val="0"/>
              </a:spcAft>
              <a:buClr>
                <a:schemeClr val="dk1"/>
              </a:buClr>
              <a:buSzPts val="2000"/>
              <a:buChar char="•"/>
            </a:pPr>
            <a:r>
              <a:rPr b="1" lang="en-US" sz="2000"/>
              <a:t>Object Recognition </a:t>
            </a:r>
            <a:r>
              <a:rPr lang="en-US" sz="2000"/>
              <a:t>- Identifying objects within an image is crucial for applications such as automated inspection, robotics, and autonomous vehicles.</a:t>
            </a:r>
            <a:endParaRPr/>
          </a:p>
          <a:p>
            <a:pPr indent="-228600" lvl="1" marL="685800" rtl="0" algn="l">
              <a:lnSpc>
                <a:spcPct val="90000"/>
              </a:lnSpc>
              <a:spcBef>
                <a:spcPts val="500"/>
              </a:spcBef>
              <a:spcAft>
                <a:spcPts val="0"/>
              </a:spcAft>
              <a:buClr>
                <a:schemeClr val="dk1"/>
              </a:buClr>
              <a:buSzPts val="2000"/>
              <a:buChar char="•"/>
            </a:pPr>
            <a:r>
              <a:rPr b="1" lang="en-US" sz="2000"/>
              <a:t>Feature Extraction </a:t>
            </a:r>
            <a:r>
              <a:rPr lang="en-US" sz="2000"/>
              <a:t>- Extracting features such as edges, textures, and shapes enables further analysis and decision-making in applications such as medical imaging, industrial quality control etc.</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23" name="Google Shape;123;p4"/>
          <p:cNvPicPr preferRelativeResize="0"/>
          <p:nvPr/>
        </p:nvPicPr>
        <p:blipFill rotWithShape="1">
          <a:blip r:embed="rId3">
            <a:alphaModFix/>
          </a:blip>
          <a:srcRect b="0" l="0" r="0" t="0"/>
          <a:stretch/>
        </p:blipFill>
        <p:spPr>
          <a:xfrm>
            <a:off x="133565" y="3308277"/>
            <a:ext cx="3669087" cy="1777429"/>
          </a:xfrm>
          <a:prstGeom prst="rect">
            <a:avLst/>
          </a:prstGeom>
          <a:noFill/>
          <a:ln>
            <a:noFill/>
          </a:ln>
        </p:spPr>
      </p:pic>
      <p:pic>
        <p:nvPicPr>
          <p:cNvPr id="124" name="Google Shape;124;p4"/>
          <p:cNvPicPr preferRelativeResize="0"/>
          <p:nvPr/>
        </p:nvPicPr>
        <p:blipFill rotWithShape="1">
          <a:blip r:embed="rId4">
            <a:alphaModFix/>
          </a:blip>
          <a:srcRect b="0" l="0" r="0" t="0"/>
          <a:stretch/>
        </p:blipFill>
        <p:spPr>
          <a:xfrm>
            <a:off x="4170822" y="3308278"/>
            <a:ext cx="3684377" cy="1777429"/>
          </a:xfrm>
          <a:prstGeom prst="rect">
            <a:avLst/>
          </a:prstGeom>
          <a:noFill/>
          <a:ln>
            <a:noFill/>
          </a:ln>
        </p:spPr>
      </p:pic>
      <p:pic>
        <p:nvPicPr>
          <p:cNvPr id="125" name="Google Shape;125;p4"/>
          <p:cNvPicPr preferRelativeResize="0"/>
          <p:nvPr/>
        </p:nvPicPr>
        <p:blipFill rotWithShape="1">
          <a:blip r:embed="rId5">
            <a:alphaModFix/>
          </a:blip>
          <a:srcRect b="0" l="0" r="0" t="0"/>
          <a:stretch/>
        </p:blipFill>
        <p:spPr>
          <a:xfrm>
            <a:off x="8394577" y="3215810"/>
            <a:ext cx="3404601" cy="1777428"/>
          </a:xfrm>
          <a:prstGeom prst="rect">
            <a:avLst/>
          </a:prstGeom>
          <a:noFill/>
          <a:ln>
            <a:noFill/>
          </a:ln>
        </p:spPr>
      </p:pic>
      <p:sp>
        <p:nvSpPr>
          <p:cNvPr id="126" name="Google Shape;126;p4"/>
          <p:cNvSpPr txBox="1"/>
          <p:nvPr/>
        </p:nvSpPr>
        <p:spPr>
          <a:xfrm>
            <a:off x="708917" y="5455578"/>
            <a:ext cx="24863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Object recognition</a:t>
            </a:r>
            <a:endParaRPr/>
          </a:p>
        </p:txBody>
      </p:sp>
      <p:sp>
        <p:nvSpPr>
          <p:cNvPr id="127" name="Google Shape;127;p4"/>
          <p:cNvSpPr txBox="1"/>
          <p:nvPr/>
        </p:nvSpPr>
        <p:spPr>
          <a:xfrm>
            <a:off x="9113178" y="5455578"/>
            <a:ext cx="22397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Shape extraction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133565" y="149546"/>
            <a:ext cx="11907748" cy="8470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Significance of image processing - 3</a:t>
            </a:r>
            <a:endParaRPr/>
          </a:p>
        </p:txBody>
      </p:sp>
      <p:sp>
        <p:nvSpPr>
          <p:cNvPr id="133" name="Google Shape;133;p5"/>
          <p:cNvSpPr txBox="1"/>
          <p:nvPr>
            <p:ph idx="1" type="body"/>
          </p:nvPr>
        </p:nvSpPr>
        <p:spPr>
          <a:xfrm>
            <a:off x="150687" y="996594"/>
            <a:ext cx="11890626" cy="571186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Accessibility and Preservation of Information</a:t>
            </a:r>
            <a:endParaRPr/>
          </a:p>
          <a:p>
            <a:pPr indent="-228600" lvl="1" marL="685800" rtl="0" algn="l">
              <a:lnSpc>
                <a:spcPct val="90000"/>
              </a:lnSpc>
              <a:spcBef>
                <a:spcPts val="500"/>
              </a:spcBef>
              <a:spcAft>
                <a:spcPts val="0"/>
              </a:spcAft>
              <a:buClr>
                <a:schemeClr val="dk1"/>
              </a:buClr>
              <a:buSzPts val="2400"/>
              <a:buChar char="•"/>
            </a:pPr>
            <a:r>
              <a:rPr b="1" lang="en-US"/>
              <a:t>Document Processing </a:t>
            </a:r>
            <a:r>
              <a:rPr lang="en-US"/>
              <a:t>- Converts physical documents into digital form, making them easier to store, search, and share, and preserving important information.</a:t>
            </a:r>
            <a:endParaRPr/>
          </a:p>
          <a:p>
            <a:pPr indent="-228600" lvl="1" marL="685800" rtl="0" algn="l">
              <a:lnSpc>
                <a:spcPct val="90000"/>
              </a:lnSpc>
              <a:spcBef>
                <a:spcPts val="500"/>
              </a:spcBef>
              <a:spcAft>
                <a:spcPts val="0"/>
              </a:spcAft>
              <a:buClr>
                <a:schemeClr val="dk1"/>
              </a:buClr>
              <a:buSzPts val="2400"/>
              <a:buChar char="•"/>
            </a:pPr>
            <a:r>
              <a:rPr b="1" lang="en-US"/>
              <a:t>Content-Based Image Retrieval </a:t>
            </a:r>
            <a:r>
              <a:rPr lang="en-US"/>
              <a:t>- Allows for efficient searching and indexing of large image databases based on content rather than metadata alone.</a:t>
            </a:r>
            <a:endParaRPr/>
          </a:p>
        </p:txBody>
      </p:sp>
      <p:pic>
        <p:nvPicPr>
          <p:cNvPr id="134" name="Google Shape;134;p5"/>
          <p:cNvPicPr preferRelativeResize="0"/>
          <p:nvPr/>
        </p:nvPicPr>
        <p:blipFill rotWithShape="1">
          <a:blip r:embed="rId3">
            <a:alphaModFix/>
          </a:blip>
          <a:srcRect b="0" l="0" r="0" t="0"/>
          <a:stretch/>
        </p:blipFill>
        <p:spPr>
          <a:xfrm>
            <a:off x="471808" y="3429000"/>
            <a:ext cx="5248275" cy="1981200"/>
          </a:xfrm>
          <a:prstGeom prst="rect">
            <a:avLst/>
          </a:prstGeom>
          <a:noFill/>
          <a:ln>
            <a:noFill/>
          </a:ln>
        </p:spPr>
      </p:pic>
      <p:pic>
        <p:nvPicPr>
          <p:cNvPr id="135" name="Google Shape;135;p5"/>
          <p:cNvPicPr preferRelativeResize="0"/>
          <p:nvPr/>
        </p:nvPicPr>
        <p:blipFill rotWithShape="1">
          <a:blip r:embed="rId4">
            <a:alphaModFix/>
          </a:blip>
          <a:srcRect b="0" l="0" r="0" t="0"/>
          <a:stretch/>
        </p:blipFill>
        <p:spPr>
          <a:xfrm>
            <a:off x="6385282" y="3230354"/>
            <a:ext cx="4958993" cy="2817058"/>
          </a:xfrm>
          <a:prstGeom prst="rect">
            <a:avLst/>
          </a:prstGeom>
          <a:noFill/>
          <a:ln>
            <a:noFill/>
          </a:ln>
        </p:spPr>
      </p:pic>
      <p:sp>
        <p:nvSpPr>
          <p:cNvPr id="136" name="Google Shape;136;p5"/>
          <p:cNvSpPr txBox="1"/>
          <p:nvPr/>
        </p:nvSpPr>
        <p:spPr>
          <a:xfrm>
            <a:off x="1458930" y="5856270"/>
            <a:ext cx="27123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Document processing</a:t>
            </a:r>
            <a:endParaRPr/>
          </a:p>
        </p:txBody>
      </p:sp>
      <p:sp>
        <p:nvSpPr>
          <p:cNvPr id="137" name="Google Shape;137;p5"/>
          <p:cNvSpPr txBox="1"/>
          <p:nvPr/>
        </p:nvSpPr>
        <p:spPr>
          <a:xfrm>
            <a:off x="7376844" y="6380252"/>
            <a:ext cx="38425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Content-based image retrieval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133565" y="149546"/>
            <a:ext cx="11907748" cy="8470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Significance of image processing - 4</a:t>
            </a:r>
            <a:endParaRPr/>
          </a:p>
        </p:txBody>
      </p:sp>
      <p:sp>
        <p:nvSpPr>
          <p:cNvPr id="143" name="Google Shape;143;p6"/>
          <p:cNvSpPr txBox="1"/>
          <p:nvPr>
            <p:ph idx="1" type="body"/>
          </p:nvPr>
        </p:nvSpPr>
        <p:spPr>
          <a:xfrm>
            <a:off x="150687" y="996594"/>
            <a:ext cx="11890626" cy="243240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Enabling New Technologies and Applications</a:t>
            </a:r>
            <a:endParaRPr/>
          </a:p>
          <a:p>
            <a:pPr indent="-228600" lvl="1" marL="685800" rtl="0" algn="l">
              <a:lnSpc>
                <a:spcPct val="90000"/>
              </a:lnSpc>
              <a:spcBef>
                <a:spcPts val="500"/>
              </a:spcBef>
              <a:spcAft>
                <a:spcPts val="0"/>
              </a:spcAft>
              <a:buClr>
                <a:schemeClr val="dk1"/>
              </a:buClr>
              <a:buSzPts val="2000"/>
              <a:buChar char="•"/>
            </a:pPr>
            <a:r>
              <a:rPr b="1" lang="en-US" sz="2000"/>
              <a:t>Medical Imaging </a:t>
            </a:r>
            <a:r>
              <a:rPr lang="en-US" sz="2000"/>
              <a:t>- Enhances the ability to diagnose and treat medical conditions by improving the quality of images from X-rays, MRI, and CT scans.</a:t>
            </a:r>
            <a:endParaRPr/>
          </a:p>
          <a:p>
            <a:pPr indent="-228600" lvl="1" marL="685800" rtl="0" algn="l">
              <a:lnSpc>
                <a:spcPct val="90000"/>
              </a:lnSpc>
              <a:spcBef>
                <a:spcPts val="500"/>
              </a:spcBef>
              <a:spcAft>
                <a:spcPts val="0"/>
              </a:spcAft>
              <a:buClr>
                <a:schemeClr val="dk1"/>
              </a:buClr>
              <a:buSzPts val="2000"/>
              <a:buChar char="•"/>
            </a:pPr>
            <a:r>
              <a:rPr b="1" lang="en-US" sz="2000"/>
              <a:t>Surveillance and Security </a:t>
            </a:r>
            <a:r>
              <a:rPr lang="en-US" sz="2000"/>
              <a:t>- Improves the effectiveness of monitoring systems through techniques like motion detection, face recognition, and anomaly detection.</a:t>
            </a:r>
            <a:endParaRPr/>
          </a:p>
          <a:p>
            <a:pPr indent="-228600" lvl="1" marL="685800" rtl="0" algn="l">
              <a:lnSpc>
                <a:spcPct val="90000"/>
              </a:lnSpc>
              <a:spcBef>
                <a:spcPts val="500"/>
              </a:spcBef>
              <a:spcAft>
                <a:spcPts val="0"/>
              </a:spcAft>
              <a:buClr>
                <a:schemeClr val="dk1"/>
              </a:buClr>
              <a:buSzPts val="2000"/>
              <a:buChar char="•"/>
            </a:pPr>
            <a:r>
              <a:rPr b="1" lang="en-US" sz="2000"/>
              <a:t>Entertainment and Media </a:t>
            </a:r>
            <a:r>
              <a:rPr lang="en-US" sz="2000"/>
              <a:t>- Enhances visual content in movies, video games, and virtual reality, creating more immersive and visually appealing experiences.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44" name="Google Shape;144;p6"/>
          <p:cNvPicPr preferRelativeResize="0"/>
          <p:nvPr/>
        </p:nvPicPr>
        <p:blipFill rotWithShape="1">
          <a:blip r:embed="rId3">
            <a:alphaModFix/>
          </a:blip>
          <a:srcRect b="0" l="0" r="0" t="0"/>
          <a:stretch/>
        </p:blipFill>
        <p:spPr>
          <a:xfrm>
            <a:off x="0" y="3792449"/>
            <a:ext cx="2752725" cy="1143000"/>
          </a:xfrm>
          <a:prstGeom prst="rect">
            <a:avLst/>
          </a:prstGeom>
          <a:noFill/>
          <a:ln>
            <a:noFill/>
          </a:ln>
        </p:spPr>
      </p:pic>
      <p:pic>
        <p:nvPicPr>
          <p:cNvPr id="145" name="Google Shape;145;p6"/>
          <p:cNvPicPr preferRelativeResize="0"/>
          <p:nvPr/>
        </p:nvPicPr>
        <p:blipFill rotWithShape="1">
          <a:blip r:embed="rId4">
            <a:alphaModFix/>
          </a:blip>
          <a:srcRect b="0" l="0" r="0" t="0"/>
          <a:stretch/>
        </p:blipFill>
        <p:spPr>
          <a:xfrm>
            <a:off x="2936431" y="3557647"/>
            <a:ext cx="3721222" cy="2511442"/>
          </a:xfrm>
          <a:prstGeom prst="rect">
            <a:avLst/>
          </a:prstGeom>
          <a:noFill/>
          <a:ln>
            <a:noFill/>
          </a:ln>
        </p:spPr>
      </p:pic>
      <p:pic>
        <p:nvPicPr>
          <p:cNvPr id="146" name="Google Shape;146;p6"/>
          <p:cNvPicPr preferRelativeResize="0"/>
          <p:nvPr/>
        </p:nvPicPr>
        <p:blipFill rotWithShape="1">
          <a:blip r:embed="rId5">
            <a:alphaModFix/>
          </a:blip>
          <a:srcRect b="0" l="0" r="0" t="0"/>
          <a:stretch/>
        </p:blipFill>
        <p:spPr>
          <a:xfrm>
            <a:off x="6912446" y="3557647"/>
            <a:ext cx="4686245" cy="2621120"/>
          </a:xfrm>
          <a:prstGeom prst="rect">
            <a:avLst/>
          </a:prstGeom>
          <a:noFill/>
          <a:ln>
            <a:noFill/>
          </a:ln>
        </p:spPr>
      </p:pic>
      <p:sp>
        <p:nvSpPr>
          <p:cNvPr id="147" name="Google Shape;147;p6"/>
          <p:cNvSpPr txBox="1"/>
          <p:nvPr/>
        </p:nvSpPr>
        <p:spPr>
          <a:xfrm>
            <a:off x="246580" y="5250094"/>
            <a:ext cx="22911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Medical imaging</a:t>
            </a:r>
            <a:endParaRPr/>
          </a:p>
        </p:txBody>
      </p:sp>
      <p:sp>
        <p:nvSpPr>
          <p:cNvPr id="148" name="Google Shape;148;p6"/>
          <p:cNvSpPr txBox="1"/>
          <p:nvPr/>
        </p:nvSpPr>
        <p:spPr>
          <a:xfrm>
            <a:off x="3691847" y="6339122"/>
            <a:ext cx="240415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Motion detection</a:t>
            </a:r>
            <a:endParaRPr/>
          </a:p>
        </p:txBody>
      </p:sp>
      <p:sp>
        <p:nvSpPr>
          <p:cNvPr id="149" name="Google Shape;149;p6"/>
          <p:cNvSpPr txBox="1"/>
          <p:nvPr/>
        </p:nvSpPr>
        <p:spPr>
          <a:xfrm>
            <a:off x="8363164" y="6421348"/>
            <a:ext cx="25479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Video games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7"/>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5" name="Google Shape;155;p7"/>
          <p:cNvSpPr/>
          <p:nvPr/>
        </p:nvSpPr>
        <p:spPr>
          <a:xfrm>
            <a:off x="0" y="0"/>
            <a:ext cx="2013557" cy="6858000"/>
          </a:xfrm>
          <a:prstGeom prst="rect">
            <a:avLst/>
          </a:prstGeom>
          <a:solidFill>
            <a:srgbClr val="719D8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6" name="Google Shape;156;p7"/>
          <p:cNvSpPr/>
          <p:nvPr>
            <p:ph type="title"/>
          </p:nvPr>
        </p:nvSpPr>
        <p:spPr>
          <a:xfrm>
            <a:off x="640080" y="2074363"/>
            <a:ext cx="2752354" cy="2709275"/>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Play"/>
              <a:buNone/>
            </a:pPr>
            <a:r>
              <a:rPr lang="en-US" sz="2600">
                <a:solidFill>
                  <a:srgbClr val="FFFFFF"/>
                </a:solidFill>
                <a:latin typeface="Play"/>
                <a:ea typeface="Play"/>
                <a:cs typeface="Play"/>
                <a:sym typeface="Play"/>
              </a:rPr>
              <a:t>Components of image processing system</a:t>
            </a:r>
            <a:endParaRPr/>
          </a:p>
        </p:txBody>
      </p:sp>
      <p:pic>
        <p:nvPicPr>
          <p:cNvPr descr="A diagram of a computer network&#10;&#10;Description automatically generated" id="157" name="Google Shape;157;p7"/>
          <p:cNvPicPr preferRelativeResize="0"/>
          <p:nvPr>
            <p:ph idx="1" type="body"/>
          </p:nvPr>
        </p:nvPicPr>
        <p:blipFill rotWithShape="1">
          <a:blip r:embed="rId3">
            <a:alphaModFix/>
          </a:blip>
          <a:srcRect b="0" l="0" r="0" t="0"/>
          <a:stretch/>
        </p:blipFill>
        <p:spPr>
          <a:xfrm>
            <a:off x="4038600" y="1091141"/>
            <a:ext cx="7188199" cy="467232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type="title"/>
          </p:nvPr>
        </p:nvSpPr>
        <p:spPr>
          <a:xfrm>
            <a:off x="265416" y="226601"/>
            <a:ext cx="11661168" cy="90887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Image sensors</a:t>
            </a:r>
            <a:endParaRPr/>
          </a:p>
        </p:txBody>
      </p:sp>
      <p:sp>
        <p:nvSpPr>
          <p:cNvPr id="163" name="Google Shape;163;p8"/>
          <p:cNvSpPr txBox="1"/>
          <p:nvPr>
            <p:ph idx="1" type="body"/>
          </p:nvPr>
        </p:nvSpPr>
        <p:spPr>
          <a:xfrm>
            <a:off x="265415" y="1135472"/>
            <a:ext cx="11661167" cy="504149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Devices such as digital cameras, webcams, scanners, and specialized imaging sensors capture images or video sequences.</a:t>
            </a:r>
            <a:endParaRPr/>
          </a:p>
          <a:p>
            <a:pPr indent="-228600" lvl="0" marL="228600" rtl="0" algn="l">
              <a:lnSpc>
                <a:spcPct val="90000"/>
              </a:lnSpc>
              <a:spcBef>
                <a:spcPts val="1000"/>
              </a:spcBef>
              <a:spcAft>
                <a:spcPts val="0"/>
              </a:spcAft>
              <a:buClr>
                <a:schemeClr val="dk1"/>
              </a:buClr>
              <a:buSzPts val="2400"/>
              <a:buChar char="•"/>
            </a:pPr>
            <a:r>
              <a:rPr lang="en-US" sz="2400"/>
              <a:t>Image sensors senses the intensity, amplitude, co-ordinates and other features of the images and passes the result to the image processing hardware.</a:t>
            </a:r>
            <a:endParaRPr/>
          </a:p>
        </p:txBody>
      </p:sp>
      <p:pic>
        <p:nvPicPr>
          <p:cNvPr id="164" name="Google Shape;164;p8"/>
          <p:cNvPicPr preferRelativeResize="0"/>
          <p:nvPr/>
        </p:nvPicPr>
        <p:blipFill rotWithShape="1">
          <a:blip r:embed="rId3">
            <a:alphaModFix/>
          </a:blip>
          <a:srcRect b="0" l="0" r="0" t="0"/>
          <a:stretch/>
        </p:blipFill>
        <p:spPr>
          <a:xfrm>
            <a:off x="6246902" y="2916946"/>
            <a:ext cx="3266968" cy="3478716"/>
          </a:xfrm>
          <a:prstGeom prst="rect">
            <a:avLst/>
          </a:prstGeom>
          <a:noFill/>
          <a:ln>
            <a:noFill/>
          </a:ln>
        </p:spPr>
      </p:pic>
      <p:pic>
        <p:nvPicPr>
          <p:cNvPr id="165" name="Google Shape;165;p8"/>
          <p:cNvPicPr preferRelativeResize="0"/>
          <p:nvPr/>
        </p:nvPicPr>
        <p:blipFill rotWithShape="1">
          <a:blip r:embed="rId4">
            <a:alphaModFix/>
          </a:blip>
          <a:srcRect b="0" l="0" r="0" t="0"/>
          <a:stretch/>
        </p:blipFill>
        <p:spPr>
          <a:xfrm>
            <a:off x="1701550" y="3235504"/>
            <a:ext cx="2686050" cy="2133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txBox="1"/>
          <p:nvPr>
            <p:ph type="title"/>
          </p:nvPr>
        </p:nvSpPr>
        <p:spPr>
          <a:xfrm>
            <a:off x="214045" y="118546"/>
            <a:ext cx="11763910" cy="10013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Image Processing Hardware</a:t>
            </a:r>
            <a:endParaRPr/>
          </a:p>
        </p:txBody>
      </p:sp>
      <p:sp>
        <p:nvSpPr>
          <p:cNvPr id="171" name="Google Shape;171;p9"/>
          <p:cNvSpPr txBox="1"/>
          <p:nvPr>
            <p:ph idx="1" type="body"/>
          </p:nvPr>
        </p:nvSpPr>
        <p:spPr>
          <a:xfrm>
            <a:off x="214045" y="1284271"/>
            <a:ext cx="11763910" cy="236305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Used to process the instructions obtained from the image sensors. It passes the result to general purpose computer.</a:t>
            </a:r>
            <a:endParaRPr/>
          </a:p>
          <a:p>
            <a:pPr indent="-228600" lvl="0" marL="228600" rtl="0" algn="l">
              <a:lnSpc>
                <a:spcPct val="90000"/>
              </a:lnSpc>
              <a:spcBef>
                <a:spcPts val="1000"/>
              </a:spcBef>
              <a:spcAft>
                <a:spcPts val="0"/>
              </a:spcAft>
              <a:buClr>
                <a:schemeClr val="dk1"/>
              </a:buClr>
              <a:buSzPts val="2400"/>
              <a:buChar char="•"/>
            </a:pPr>
            <a:r>
              <a:rPr lang="en-US" sz="2400"/>
              <a:t>CPUs (Central Processing Units) and GPUs (Graphics Processing Units) handle the computationally intensive tasks of image processing.</a:t>
            </a:r>
            <a:endParaRPr/>
          </a:p>
          <a:p>
            <a:pPr indent="-228600" lvl="0" marL="228600" rtl="0" algn="l">
              <a:lnSpc>
                <a:spcPct val="90000"/>
              </a:lnSpc>
              <a:spcBef>
                <a:spcPts val="1000"/>
              </a:spcBef>
              <a:spcAft>
                <a:spcPts val="0"/>
              </a:spcAft>
              <a:buClr>
                <a:schemeClr val="dk1"/>
              </a:buClr>
              <a:buSzPts val="2400"/>
              <a:buChar char="•"/>
            </a:pPr>
            <a:r>
              <a:rPr lang="en-US" sz="2400"/>
              <a:t>Dedicated image processors are specialized hardware designed for high-speed image processing tasks.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72" name="Google Shape;172;p9"/>
          <p:cNvPicPr preferRelativeResize="0"/>
          <p:nvPr/>
        </p:nvPicPr>
        <p:blipFill rotWithShape="1">
          <a:blip r:embed="rId3">
            <a:alphaModFix/>
          </a:blip>
          <a:srcRect b="0" l="0" r="0" t="0"/>
          <a:stretch/>
        </p:blipFill>
        <p:spPr>
          <a:xfrm>
            <a:off x="3686496" y="4178478"/>
            <a:ext cx="4305300" cy="2076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type="title"/>
          </p:nvPr>
        </p:nvSpPr>
        <p:spPr>
          <a:xfrm>
            <a:off x="297951" y="365125"/>
            <a:ext cx="1154815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Computer</a:t>
            </a:r>
            <a:endParaRPr/>
          </a:p>
        </p:txBody>
      </p:sp>
      <p:sp>
        <p:nvSpPr>
          <p:cNvPr id="178" name="Google Shape;178;p10"/>
          <p:cNvSpPr txBox="1"/>
          <p:nvPr>
            <p:ph idx="1" type="body"/>
          </p:nvPr>
        </p:nvSpPr>
        <p:spPr>
          <a:xfrm>
            <a:off x="297951" y="1825625"/>
            <a:ext cx="1154815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Computer used in the image processing system is the general purpose computer that is used by us in our daily life.</a:t>
            </a:r>
            <a:endParaRPr/>
          </a:p>
          <a:p>
            <a:pPr indent="-228600" lvl="0" marL="228600" rtl="0" algn="l">
              <a:lnSpc>
                <a:spcPct val="90000"/>
              </a:lnSpc>
              <a:spcBef>
                <a:spcPts val="1000"/>
              </a:spcBef>
              <a:spcAft>
                <a:spcPts val="0"/>
              </a:spcAft>
              <a:buClr>
                <a:schemeClr val="dk1"/>
              </a:buClr>
              <a:buSzPts val="2800"/>
              <a:buChar char="•"/>
            </a:pPr>
            <a:r>
              <a:rPr lang="en-US"/>
              <a:t>The computer plays a central role in an image processing system, serving as the hub for performing various operations and tasks.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ph type="title"/>
          </p:nvPr>
        </p:nvSpPr>
        <p:spPr>
          <a:xfrm>
            <a:off x="214045" y="118546"/>
            <a:ext cx="11763910" cy="87804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Image Processing Software</a:t>
            </a:r>
            <a:endParaRPr/>
          </a:p>
        </p:txBody>
      </p:sp>
      <p:sp>
        <p:nvSpPr>
          <p:cNvPr id="184" name="Google Shape;184;p11"/>
          <p:cNvSpPr txBox="1"/>
          <p:nvPr>
            <p:ph idx="1" type="body"/>
          </p:nvPr>
        </p:nvSpPr>
        <p:spPr>
          <a:xfrm>
            <a:off x="214045" y="996594"/>
            <a:ext cx="11763910" cy="2647504"/>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400"/>
              <a:buChar char="•"/>
            </a:pPr>
            <a:r>
              <a:rPr lang="en-US" sz="2400"/>
              <a:t>Includes all the mechanisms and algorithms that are used in image processing system.</a:t>
            </a:r>
            <a:endParaRPr/>
          </a:p>
          <a:p>
            <a:pPr indent="-228600" lvl="0" marL="228600" rtl="0" algn="just">
              <a:lnSpc>
                <a:spcPct val="90000"/>
              </a:lnSpc>
              <a:spcBef>
                <a:spcPts val="1000"/>
              </a:spcBef>
              <a:spcAft>
                <a:spcPts val="0"/>
              </a:spcAft>
              <a:buClr>
                <a:schemeClr val="dk1"/>
              </a:buClr>
              <a:buSzPts val="2400"/>
              <a:buChar char="•"/>
            </a:pPr>
            <a:r>
              <a:rPr b="1" lang="en-US" sz="2400"/>
              <a:t>Algorithms and Libraries </a:t>
            </a:r>
            <a:r>
              <a:rPr lang="en-US" sz="2400"/>
              <a:t>: Provide functions and algorithms for processing images. Examples include OpenCV, MATLAB Image Processing Toolbox, and proprietary software.</a:t>
            </a:r>
            <a:endParaRPr/>
          </a:p>
          <a:p>
            <a:pPr indent="-228600" lvl="0" marL="228600" rtl="0" algn="just">
              <a:lnSpc>
                <a:spcPct val="90000"/>
              </a:lnSpc>
              <a:spcBef>
                <a:spcPts val="1000"/>
              </a:spcBef>
              <a:spcAft>
                <a:spcPts val="0"/>
              </a:spcAft>
              <a:buClr>
                <a:schemeClr val="dk1"/>
              </a:buClr>
              <a:buSzPts val="2400"/>
              <a:buChar char="•"/>
            </a:pPr>
            <a:r>
              <a:rPr b="1" lang="en-US" sz="2400"/>
              <a:t>Development Environments</a:t>
            </a:r>
            <a:r>
              <a:rPr lang="en-US" sz="2400"/>
              <a:t>: Platforms and frameworks used to develop image processing applications, such as Python with OpenCV, MATLAB, and other programming environments.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85" name="Google Shape;185;p11"/>
          <p:cNvPicPr preferRelativeResize="0"/>
          <p:nvPr/>
        </p:nvPicPr>
        <p:blipFill rotWithShape="1">
          <a:blip r:embed="rId3">
            <a:alphaModFix/>
          </a:blip>
          <a:srcRect b="0" l="0" r="0" t="0"/>
          <a:stretch/>
        </p:blipFill>
        <p:spPr>
          <a:xfrm>
            <a:off x="3571901" y="3644097"/>
            <a:ext cx="5996076" cy="309535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txBox="1"/>
          <p:nvPr>
            <p:ph type="title"/>
          </p:nvPr>
        </p:nvSpPr>
        <p:spPr>
          <a:xfrm>
            <a:off x="215758" y="190466"/>
            <a:ext cx="11548152" cy="7239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Mass storage</a:t>
            </a:r>
            <a:endParaRPr/>
          </a:p>
        </p:txBody>
      </p:sp>
      <p:sp>
        <p:nvSpPr>
          <p:cNvPr id="191" name="Google Shape;191;p12"/>
          <p:cNvSpPr txBox="1"/>
          <p:nvPr>
            <p:ph idx="1" type="body"/>
          </p:nvPr>
        </p:nvSpPr>
        <p:spPr>
          <a:xfrm>
            <a:off x="297951" y="1119883"/>
            <a:ext cx="11774184" cy="505708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Mass storage stores the pixels of the images during the processing.</a:t>
            </a:r>
            <a:endParaRPr/>
          </a:p>
          <a:p>
            <a:pPr indent="-228600" lvl="0" marL="228600" rtl="0" algn="just">
              <a:lnSpc>
                <a:spcPct val="90000"/>
              </a:lnSpc>
              <a:spcBef>
                <a:spcPts val="1000"/>
              </a:spcBef>
              <a:spcAft>
                <a:spcPts val="0"/>
              </a:spcAft>
              <a:buClr>
                <a:schemeClr val="dk1"/>
              </a:buClr>
              <a:buSzPts val="2800"/>
              <a:buChar char="•"/>
            </a:pPr>
            <a:r>
              <a:rPr b="1" lang="en-US"/>
              <a:t>RAM (Random Access Memory): </a:t>
            </a:r>
            <a:r>
              <a:rPr lang="en-US"/>
              <a:t>Temporary storage for images during processing.</a:t>
            </a:r>
            <a:endParaRPr/>
          </a:p>
          <a:p>
            <a:pPr indent="-228600" lvl="0" marL="228600" rtl="0" algn="just">
              <a:lnSpc>
                <a:spcPct val="90000"/>
              </a:lnSpc>
              <a:spcBef>
                <a:spcPts val="1000"/>
              </a:spcBef>
              <a:spcAft>
                <a:spcPts val="0"/>
              </a:spcAft>
              <a:buClr>
                <a:schemeClr val="dk1"/>
              </a:buClr>
              <a:buSzPts val="2800"/>
              <a:buChar char="•"/>
            </a:pPr>
            <a:r>
              <a:rPr b="1" lang="en-US"/>
              <a:t>Hard Drives and SSDs (Solid State Drives): </a:t>
            </a:r>
            <a:r>
              <a:rPr lang="en-US"/>
              <a:t>Long-term storage for storing captured and processed images.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ph type="title"/>
          </p:nvPr>
        </p:nvSpPr>
        <p:spPr>
          <a:xfrm>
            <a:off x="215758" y="190466"/>
            <a:ext cx="11548152" cy="7239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Other components</a:t>
            </a:r>
            <a:endParaRPr/>
          </a:p>
        </p:txBody>
      </p:sp>
      <p:sp>
        <p:nvSpPr>
          <p:cNvPr id="197" name="Google Shape;197;p13"/>
          <p:cNvSpPr txBox="1"/>
          <p:nvPr>
            <p:ph idx="1" type="body"/>
          </p:nvPr>
        </p:nvSpPr>
        <p:spPr>
          <a:xfrm>
            <a:off x="297951" y="1119883"/>
            <a:ext cx="11774184" cy="505708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US"/>
              <a:t>Hard Copy Device </a:t>
            </a:r>
            <a:r>
              <a:rPr lang="en-US"/>
              <a:t>: Once the image is processed then it is stored in the hard copy device. It can be a pen drive or any external ROM device.</a:t>
            </a:r>
            <a:endParaRPr/>
          </a:p>
          <a:p>
            <a:pPr indent="-228600" lvl="0" marL="228600" rtl="0" algn="just">
              <a:lnSpc>
                <a:spcPct val="90000"/>
              </a:lnSpc>
              <a:spcBef>
                <a:spcPts val="1000"/>
              </a:spcBef>
              <a:spcAft>
                <a:spcPts val="0"/>
              </a:spcAft>
              <a:buClr>
                <a:schemeClr val="dk1"/>
              </a:buClr>
              <a:buSzPts val="2800"/>
              <a:buChar char="•"/>
            </a:pPr>
            <a:r>
              <a:rPr b="1" lang="en-US"/>
              <a:t>Image Display </a:t>
            </a:r>
            <a:r>
              <a:rPr lang="en-US"/>
              <a:t>: Monitors and Screens are used to display images and the results of image processing.</a:t>
            </a:r>
            <a:endParaRPr/>
          </a:p>
          <a:p>
            <a:pPr indent="-228600" lvl="0" marL="228600" rtl="0" algn="just">
              <a:lnSpc>
                <a:spcPct val="90000"/>
              </a:lnSpc>
              <a:spcBef>
                <a:spcPts val="1000"/>
              </a:spcBef>
              <a:spcAft>
                <a:spcPts val="0"/>
              </a:spcAft>
              <a:buClr>
                <a:schemeClr val="dk1"/>
              </a:buClr>
              <a:buSzPts val="2800"/>
              <a:buChar char="•"/>
            </a:pPr>
            <a:r>
              <a:rPr b="1" lang="en-US"/>
              <a:t>Network</a:t>
            </a:r>
            <a:r>
              <a:rPr lang="en-US"/>
              <a:t> : Networking Hardware and Protocols allow for the transmission of images and data between different parts of the system or between systems in a distributed environment.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1" name="Shape 201"/>
        <p:cNvGrpSpPr/>
        <p:nvPr/>
      </p:nvGrpSpPr>
      <p:grpSpPr>
        <a:xfrm>
          <a:off x="0" y="0"/>
          <a:ext cx="0" cy="0"/>
          <a:chOff x="0" y="0"/>
          <a:chExt cx="0" cy="0"/>
        </a:xfrm>
      </p:grpSpPr>
      <p:sp>
        <p:nvSpPr>
          <p:cNvPr id="202" name="Google Shape;202;p14"/>
          <p:cNvSpPr/>
          <p:nvPr/>
        </p:nvSpPr>
        <p:spPr>
          <a:xfrm>
            <a:off x="0" y="651752"/>
            <a:ext cx="12192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3" name="Google Shape;203;p14"/>
          <p:cNvSpPr txBox="1"/>
          <p:nvPr>
            <p:ph type="title"/>
          </p:nvPr>
        </p:nvSpPr>
        <p:spPr>
          <a:xfrm>
            <a:off x="556532" y="643467"/>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Play"/>
              <a:buNone/>
            </a:pPr>
            <a:r>
              <a:rPr lang="en-US" sz="3200">
                <a:solidFill>
                  <a:schemeClr val="lt1"/>
                </a:solidFill>
                <a:latin typeface="Play"/>
                <a:ea typeface="Play"/>
                <a:cs typeface="Play"/>
                <a:sym typeface="Play"/>
              </a:rPr>
              <a:t>Image Formation and Digitization Concepts</a:t>
            </a:r>
            <a:endParaRPr/>
          </a:p>
        </p:txBody>
      </p:sp>
      <p:pic>
        <p:nvPicPr>
          <p:cNvPr descr="A graphic of a computer and camera&#10;&#10;Description automatically generated with medium confidence" id="204" name="Google Shape;204;p14"/>
          <p:cNvPicPr preferRelativeResize="0"/>
          <p:nvPr>
            <p:ph idx="1" type="body"/>
          </p:nvPr>
        </p:nvPicPr>
        <p:blipFill rotWithShape="1">
          <a:blip r:embed="rId3">
            <a:alphaModFix/>
          </a:blip>
          <a:srcRect b="0" l="0" r="0" t="0"/>
          <a:stretch/>
        </p:blipFill>
        <p:spPr>
          <a:xfrm>
            <a:off x="2207328" y="1675227"/>
            <a:ext cx="7777343" cy="43941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FF7FC"/>
            </a:gs>
            <a:gs pos="74000">
              <a:srgbClr val="72C4E9"/>
            </a:gs>
            <a:gs pos="83000">
              <a:srgbClr val="72C4E9"/>
            </a:gs>
            <a:gs pos="100000">
              <a:srgbClr val="A1D6F0"/>
            </a:gs>
          </a:gsLst>
          <a:lin ang="5400000" scaled="0"/>
        </a:gradFill>
      </p:bgPr>
    </p:bg>
    <p:spTree>
      <p:nvGrpSpPr>
        <p:cNvPr id="208" name="Shape 208"/>
        <p:cNvGrpSpPr/>
        <p:nvPr/>
      </p:nvGrpSpPr>
      <p:grpSpPr>
        <a:xfrm>
          <a:off x="0" y="0"/>
          <a:ext cx="0" cy="0"/>
          <a:chOff x="0" y="0"/>
          <a:chExt cx="0" cy="0"/>
        </a:xfrm>
      </p:grpSpPr>
      <p:sp>
        <p:nvSpPr>
          <p:cNvPr id="209" name="Google Shape;209;p15"/>
          <p:cNvSpPr/>
          <p:nvPr/>
        </p:nvSpPr>
        <p:spPr>
          <a:xfrm>
            <a:off x="0" y="0"/>
            <a:ext cx="12192000" cy="6858000"/>
          </a:xfrm>
          <a:prstGeom prst="rect">
            <a:avLst/>
          </a:prstGeom>
          <a:gradFill>
            <a:gsLst>
              <a:gs pos="0">
                <a:srgbClr val="EFF7FC"/>
              </a:gs>
              <a:gs pos="74000">
                <a:srgbClr val="72C4E9"/>
              </a:gs>
              <a:gs pos="83000">
                <a:srgbClr val="72C4E9"/>
              </a:gs>
              <a:gs pos="100000">
                <a:srgbClr val="A1D6F0"/>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0" name="Google Shape;210;p15"/>
          <p:cNvSpPr/>
          <p:nvPr/>
        </p:nvSpPr>
        <p:spPr>
          <a:xfrm>
            <a:off x="0" y="-1"/>
            <a:ext cx="11766176" cy="2061837"/>
          </a:xfrm>
          <a:custGeom>
            <a:rect b="b" l="l" r="r" t="t"/>
            <a:pathLst>
              <a:path extrusionOk="0" h="1978172" w="10768629">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1" name="Google Shape;211;p15"/>
          <p:cNvSpPr txBox="1"/>
          <p:nvPr>
            <p:ph type="title"/>
          </p:nvPr>
        </p:nvSpPr>
        <p:spPr>
          <a:xfrm>
            <a:off x="253457" y="112214"/>
            <a:ext cx="9392421" cy="13308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Image formation</a:t>
            </a:r>
            <a:endParaRPr/>
          </a:p>
        </p:txBody>
      </p:sp>
      <p:sp>
        <p:nvSpPr>
          <p:cNvPr id="212" name="Google Shape;212;p15"/>
          <p:cNvSpPr txBox="1"/>
          <p:nvPr>
            <p:ph idx="1" type="body"/>
          </p:nvPr>
        </p:nvSpPr>
        <p:spPr>
          <a:xfrm>
            <a:off x="253457" y="1443056"/>
            <a:ext cx="6643124" cy="530273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The scene is illuminated by a single source.</a:t>
            </a:r>
            <a:endParaRPr/>
          </a:p>
          <a:p>
            <a:pPr indent="-228600" lvl="0" marL="228600" rtl="0" algn="l">
              <a:lnSpc>
                <a:spcPct val="90000"/>
              </a:lnSpc>
              <a:spcBef>
                <a:spcPts val="1000"/>
              </a:spcBef>
              <a:spcAft>
                <a:spcPts val="0"/>
              </a:spcAft>
              <a:buClr>
                <a:schemeClr val="dk1"/>
              </a:buClr>
              <a:buSzPts val="2000"/>
              <a:buChar char="•"/>
            </a:pPr>
            <a:r>
              <a:rPr lang="en-US" sz="2000"/>
              <a:t>The scene reflects radiation towards the camera.</a:t>
            </a:r>
            <a:endParaRPr/>
          </a:p>
          <a:p>
            <a:pPr indent="-228600" lvl="0" marL="228600" rtl="0" algn="l">
              <a:lnSpc>
                <a:spcPct val="90000"/>
              </a:lnSpc>
              <a:spcBef>
                <a:spcPts val="1000"/>
              </a:spcBef>
              <a:spcAft>
                <a:spcPts val="0"/>
              </a:spcAft>
              <a:buClr>
                <a:schemeClr val="dk1"/>
              </a:buClr>
              <a:buSzPts val="2000"/>
              <a:buChar char="•"/>
            </a:pPr>
            <a:r>
              <a:rPr lang="en-US" sz="2000"/>
              <a:t>The camera senses it via solid state cells (CCD cameras).</a:t>
            </a:r>
            <a:endParaRPr/>
          </a:p>
          <a:p>
            <a:pPr indent="-228600" lvl="1" marL="685800" rtl="0" algn="l">
              <a:lnSpc>
                <a:spcPct val="90000"/>
              </a:lnSpc>
              <a:spcBef>
                <a:spcPts val="500"/>
              </a:spcBef>
              <a:spcAft>
                <a:spcPts val="0"/>
              </a:spcAft>
              <a:buClr>
                <a:schemeClr val="dk1"/>
              </a:buClr>
              <a:buSzPts val="2000"/>
              <a:buChar char="•"/>
            </a:pPr>
            <a:r>
              <a:rPr lang="en-US" sz="2000"/>
              <a:t>A CCD camera, or Charge-Coupled Device camera, is a device that captures images by converting photons (light) into electrons. </a:t>
            </a:r>
            <a:endParaRPr/>
          </a:p>
          <a:p>
            <a:pPr indent="-228600" lvl="1" marL="685800" rtl="0" algn="l">
              <a:lnSpc>
                <a:spcPct val="90000"/>
              </a:lnSpc>
              <a:spcBef>
                <a:spcPts val="500"/>
              </a:spcBef>
              <a:spcAft>
                <a:spcPts val="0"/>
              </a:spcAft>
              <a:buClr>
                <a:schemeClr val="dk1"/>
              </a:buClr>
              <a:buSzPts val="2000"/>
              <a:buChar char="•"/>
            </a:pPr>
            <a:r>
              <a:rPr lang="en-US" sz="2000"/>
              <a:t>It utilizes a CCD sensor, which is a light-sensitive integrated circuit composed of pixels.</a:t>
            </a:r>
            <a:endParaRPr/>
          </a:p>
          <a:p>
            <a:pPr indent="-228600" lvl="1" marL="685800" rtl="0" algn="l">
              <a:lnSpc>
                <a:spcPct val="90000"/>
              </a:lnSpc>
              <a:spcBef>
                <a:spcPts val="500"/>
              </a:spcBef>
              <a:spcAft>
                <a:spcPts val="0"/>
              </a:spcAft>
              <a:buClr>
                <a:schemeClr val="dk1"/>
              </a:buClr>
              <a:buSzPts val="2000"/>
              <a:buChar char="•"/>
            </a:pPr>
            <a:r>
              <a:rPr lang="en-US" sz="2000"/>
              <a:t>Each pixel in the sensor converts light into an electrical charge, and these charges collectively form the image.</a:t>
            </a:r>
            <a:endParaRPr/>
          </a:p>
          <a:p>
            <a:pPr indent="-228600" lvl="1" marL="685800" rtl="0" algn="l">
              <a:lnSpc>
                <a:spcPct val="90000"/>
              </a:lnSpc>
              <a:spcBef>
                <a:spcPts val="500"/>
              </a:spcBef>
              <a:spcAft>
                <a:spcPts val="0"/>
              </a:spcAft>
              <a:buClr>
                <a:schemeClr val="dk1"/>
              </a:buClr>
              <a:buSzPts val="2000"/>
              <a:buChar char="•"/>
            </a:pPr>
            <a:r>
              <a:rPr lang="en-US" sz="2000"/>
              <a:t>CCD cameras are known for their high sensitivity, dynamic range, and uniformity.</a:t>
            </a:r>
            <a:endParaRPr/>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p:txBody>
      </p:sp>
      <p:pic>
        <p:nvPicPr>
          <p:cNvPr descr="image_formation" id="213" name="Google Shape;213;p15"/>
          <p:cNvPicPr preferRelativeResize="0"/>
          <p:nvPr/>
        </p:nvPicPr>
        <p:blipFill rotWithShape="1">
          <a:blip r:embed="rId3">
            <a:alphaModFix/>
          </a:blip>
          <a:srcRect b="0" l="0" r="0" t="0"/>
          <a:stretch/>
        </p:blipFill>
        <p:spPr>
          <a:xfrm>
            <a:off x="7150038" y="2478105"/>
            <a:ext cx="4788505" cy="3112528"/>
          </a:xfrm>
          <a:prstGeom prst="rect">
            <a:avLst/>
          </a:prstGeom>
          <a:noFill/>
          <a:ln>
            <a:noFill/>
          </a:ln>
        </p:spPr>
      </p:pic>
      <p:sp>
        <p:nvSpPr>
          <p:cNvPr id="214" name="Google Shape;214;p15"/>
          <p:cNvSpPr/>
          <p:nvPr/>
        </p:nvSpPr>
        <p:spPr>
          <a:xfrm rot="10800000">
            <a:off x="5381624" y="6209414"/>
            <a:ext cx="6810375" cy="648586"/>
          </a:xfrm>
          <a:custGeom>
            <a:rect b="b" l="l" r="r" t="t"/>
            <a:pathLst>
              <a:path extrusionOk="0" h="1027260" w="10753706">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6"/>
          <p:cNvSpPr txBox="1"/>
          <p:nvPr>
            <p:ph type="title"/>
          </p:nvPr>
        </p:nvSpPr>
        <p:spPr>
          <a:xfrm>
            <a:off x="297951" y="365125"/>
            <a:ext cx="1154815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Let’s design a camera</a:t>
            </a:r>
            <a:endParaRPr/>
          </a:p>
        </p:txBody>
      </p:sp>
      <p:sp>
        <p:nvSpPr>
          <p:cNvPr id="220" name="Google Shape;220;p16"/>
          <p:cNvSpPr txBox="1"/>
          <p:nvPr>
            <p:ph idx="1" type="body"/>
          </p:nvPr>
        </p:nvSpPr>
        <p:spPr>
          <a:xfrm>
            <a:off x="297951" y="1825625"/>
            <a:ext cx="11548152" cy="11641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Put a piece of film in front of an object - do we get a reasonable image?</a:t>
            </a:r>
            <a:endParaRPr/>
          </a:p>
          <a:p>
            <a:pPr indent="-228600" lvl="0" marL="228600" rtl="0" algn="l">
              <a:lnSpc>
                <a:spcPct val="90000"/>
              </a:lnSpc>
              <a:spcBef>
                <a:spcPts val="1000"/>
              </a:spcBef>
              <a:spcAft>
                <a:spcPts val="0"/>
              </a:spcAft>
              <a:buClr>
                <a:schemeClr val="dk1"/>
              </a:buClr>
              <a:buSzPts val="2800"/>
              <a:buChar char="•"/>
            </a:pPr>
            <a:r>
              <a:rPr lang="en-US"/>
              <a:t>Blurring - need to be more selective!</a:t>
            </a:r>
            <a:endParaRPr/>
          </a:p>
          <a:p>
            <a:pPr indent="0" lvl="0" marL="0" rtl="0" algn="l">
              <a:lnSpc>
                <a:spcPct val="90000"/>
              </a:lnSpc>
              <a:spcBef>
                <a:spcPts val="1000"/>
              </a:spcBef>
              <a:spcAft>
                <a:spcPts val="0"/>
              </a:spcAft>
              <a:buClr>
                <a:schemeClr val="dk1"/>
              </a:buClr>
              <a:buSzPts val="2800"/>
              <a:buNone/>
            </a:pPr>
            <a:r>
              <a:t/>
            </a:r>
            <a:endParaRPr/>
          </a:p>
        </p:txBody>
      </p:sp>
      <p:pic>
        <p:nvPicPr>
          <p:cNvPr id="221" name="Google Shape;221;p16"/>
          <p:cNvPicPr preferRelativeResize="0"/>
          <p:nvPr/>
        </p:nvPicPr>
        <p:blipFill rotWithShape="1">
          <a:blip r:embed="rId3">
            <a:alphaModFix/>
          </a:blip>
          <a:srcRect b="0" l="0" r="0" t="0"/>
          <a:stretch/>
        </p:blipFill>
        <p:spPr>
          <a:xfrm>
            <a:off x="3657011" y="3761464"/>
            <a:ext cx="5514975" cy="2314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7"/>
          <p:cNvSpPr txBox="1"/>
          <p:nvPr>
            <p:ph type="title"/>
          </p:nvPr>
        </p:nvSpPr>
        <p:spPr>
          <a:xfrm>
            <a:off x="297951" y="365125"/>
            <a:ext cx="1154815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Let’s design a camera (cont.)</a:t>
            </a:r>
            <a:endParaRPr/>
          </a:p>
        </p:txBody>
      </p:sp>
      <p:sp>
        <p:nvSpPr>
          <p:cNvPr id="227" name="Google Shape;227;p17"/>
          <p:cNvSpPr txBox="1"/>
          <p:nvPr>
            <p:ph idx="1" type="body"/>
          </p:nvPr>
        </p:nvSpPr>
        <p:spPr>
          <a:xfrm>
            <a:off x="297951" y="1825625"/>
            <a:ext cx="11548152" cy="132556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Add a barrier with a small opening (i.e. aperture) to block off most of the rays.</a:t>
            </a:r>
            <a:endParaRPr/>
          </a:p>
          <a:p>
            <a:pPr indent="-228600" lvl="0" marL="228600" rtl="0" algn="l">
              <a:lnSpc>
                <a:spcPct val="90000"/>
              </a:lnSpc>
              <a:spcBef>
                <a:spcPts val="1000"/>
              </a:spcBef>
              <a:spcAft>
                <a:spcPts val="0"/>
              </a:spcAft>
              <a:buClr>
                <a:schemeClr val="dk1"/>
              </a:buClr>
              <a:buSzPts val="2800"/>
              <a:buChar char="•"/>
            </a:pPr>
            <a:r>
              <a:rPr lang="en-US"/>
              <a:t>Reduces blurring.</a:t>
            </a:r>
            <a:endParaRPr/>
          </a:p>
          <a:p>
            <a:pPr indent="0" lvl="0" marL="0" rtl="0" algn="l">
              <a:lnSpc>
                <a:spcPct val="90000"/>
              </a:lnSpc>
              <a:spcBef>
                <a:spcPts val="1000"/>
              </a:spcBef>
              <a:spcAft>
                <a:spcPts val="0"/>
              </a:spcAft>
              <a:buClr>
                <a:schemeClr val="dk1"/>
              </a:buClr>
              <a:buSzPts val="2800"/>
              <a:buNone/>
            </a:pPr>
            <a:r>
              <a:t/>
            </a:r>
            <a:endParaRPr/>
          </a:p>
        </p:txBody>
      </p:sp>
      <p:pic>
        <p:nvPicPr>
          <p:cNvPr id="228" name="Google Shape;228;p17"/>
          <p:cNvPicPr preferRelativeResize="0"/>
          <p:nvPr/>
        </p:nvPicPr>
        <p:blipFill rotWithShape="1">
          <a:blip r:embed="rId3">
            <a:alphaModFix/>
          </a:blip>
          <a:srcRect b="0" l="0" r="0" t="0"/>
          <a:stretch/>
        </p:blipFill>
        <p:spPr>
          <a:xfrm>
            <a:off x="3506644" y="3429000"/>
            <a:ext cx="5610225" cy="2305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8"/>
          <p:cNvSpPr txBox="1"/>
          <p:nvPr>
            <p:ph type="title"/>
          </p:nvPr>
        </p:nvSpPr>
        <p:spPr>
          <a:xfrm>
            <a:off x="297951" y="159642"/>
            <a:ext cx="11548152" cy="79585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Pinhole camera model</a:t>
            </a:r>
            <a:endParaRPr/>
          </a:p>
        </p:txBody>
      </p:sp>
      <p:sp>
        <p:nvSpPr>
          <p:cNvPr id="234" name="Google Shape;234;p18"/>
          <p:cNvSpPr txBox="1"/>
          <p:nvPr>
            <p:ph idx="1" type="body"/>
          </p:nvPr>
        </p:nvSpPr>
        <p:spPr>
          <a:xfrm>
            <a:off x="92467" y="955498"/>
            <a:ext cx="12020764" cy="356513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000"/>
              <a:buChar char="•"/>
            </a:pPr>
            <a:r>
              <a:rPr lang="en-US" sz="2000"/>
              <a:t>This camera system can be designed by placing a barrier with a small aperture between the 3D object and a photographic film or sensor.</a:t>
            </a:r>
            <a:endParaRPr/>
          </a:p>
          <a:p>
            <a:pPr indent="-228600" lvl="0" marL="228600" rtl="0" algn="just">
              <a:lnSpc>
                <a:spcPct val="90000"/>
              </a:lnSpc>
              <a:spcBef>
                <a:spcPts val="1000"/>
              </a:spcBef>
              <a:spcAft>
                <a:spcPts val="0"/>
              </a:spcAft>
              <a:buClr>
                <a:schemeClr val="dk1"/>
              </a:buClr>
              <a:buSzPts val="2000"/>
              <a:buChar char="•"/>
            </a:pPr>
            <a:r>
              <a:rPr lang="en-US" sz="2000"/>
              <a:t>Each point on the 3D object emits multiple rays of light outwards.</a:t>
            </a:r>
            <a:endParaRPr/>
          </a:p>
          <a:p>
            <a:pPr indent="-228600" lvl="0" marL="228600" rtl="0" algn="just">
              <a:lnSpc>
                <a:spcPct val="90000"/>
              </a:lnSpc>
              <a:spcBef>
                <a:spcPts val="1000"/>
              </a:spcBef>
              <a:spcAft>
                <a:spcPts val="0"/>
              </a:spcAft>
              <a:buClr>
                <a:schemeClr val="dk1"/>
              </a:buClr>
              <a:buSzPts val="2000"/>
              <a:buChar char="•"/>
            </a:pPr>
            <a:r>
              <a:rPr lang="en-US" sz="2000"/>
              <a:t>Without a barrier in place, every point on the film will be influenced by light rays emitted from every point on the 3D object.</a:t>
            </a:r>
            <a:endParaRPr/>
          </a:p>
          <a:p>
            <a:pPr indent="-228600" lvl="0" marL="228600" rtl="0" algn="just">
              <a:lnSpc>
                <a:spcPct val="90000"/>
              </a:lnSpc>
              <a:spcBef>
                <a:spcPts val="1000"/>
              </a:spcBef>
              <a:spcAft>
                <a:spcPts val="0"/>
              </a:spcAft>
              <a:buClr>
                <a:schemeClr val="dk1"/>
              </a:buClr>
              <a:buSzPts val="2000"/>
              <a:buChar char="•"/>
            </a:pPr>
            <a:r>
              <a:rPr lang="en-US" sz="2000"/>
              <a:t>Due to the barrier, only one (or a few) of these rays of light passes through the aperture and hits the film.</a:t>
            </a:r>
            <a:endParaRPr/>
          </a:p>
          <a:p>
            <a:pPr indent="-228600" lvl="0" marL="228600" rtl="0" algn="just">
              <a:lnSpc>
                <a:spcPct val="90000"/>
              </a:lnSpc>
              <a:spcBef>
                <a:spcPts val="1000"/>
              </a:spcBef>
              <a:spcAft>
                <a:spcPts val="0"/>
              </a:spcAft>
              <a:buClr>
                <a:schemeClr val="dk1"/>
              </a:buClr>
              <a:buSzPts val="2000"/>
              <a:buChar char="•"/>
            </a:pPr>
            <a:r>
              <a:rPr lang="en-US" sz="2000"/>
              <a:t>Therefore, we can establish a one-to-one mapping between points on the 3D object and the film.</a:t>
            </a:r>
            <a:endParaRPr/>
          </a:p>
          <a:p>
            <a:pPr indent="-228600" lvl="0" marL="228600" rtl="0" algn="just">
              <a:lnSpc>
                <a:spcPct val="90000"/>
              </a:lnSpc>
              <a:spcBef>
                <a:spcPts val="1000"/>
              </a:spcBef>
              <a:spcAft>
                <a:spcPts val="0"/>
              </a:spcAft>
              <a:buClr>
                <a:schemeClr val="dk1"/>
              </a:buClr>
              <a:buSzPts val="2000"/>
              <a:buChar char="•"/>
            </a:pPr>
            <a:r>
              <a:rPr lang="en-US" sz="2000"/>
              <a:t>The result is that the film gets exposed by an “image” of the 3D object by means of this mapping. </a:t>
            </a:r>
            <a:endParaRPr/>
          </a:p>
          <a:p>
            <a:pPr indent="0" lvl="0" marL="0" rtl="0" algn="l">
              <a:lnSpc>
                <a:spcPct val="90000"/>
              </a:lnSpc>
              <a:spcBef>
                <a:spcPts val="1000"/>
              </a:spcBef>
              <a:spcAft>
                <a:spcPts val="0"/>
              </a:spcAft>
              <a:buClr>
                <a:schemeClr val="dk1"/>
              </a:buClr>
              <a:buSzPts val="2800"/>
              <a:buNone/>
            </a:pPr>
            <a:r>
              <a:t/>
            </a:r>
            <a:endParaRPr/>
          </a:p>
        </p:txBody>
      </p:sp>
      <p:pic>
        <p:nvPicPr>
          <p:cNvPr id="235" name="Google Shape;235;p18"/>
          <p:cNvPicPr preferRelativeResize="0"/>
          <p:nvPr/>
        </p:nvPicPr>
        <p:blipFill rotWithShape="1">
          <a:blip r:embed="rId3">
            <a:alphaModFix/>
          </a:blip>
          <a:srcRect b="0" l="0" r="0" t="0"/>
          <a:stretch/>
        </p:blipFill>
        <p:spPr>
          <a:xfrm>
            <a:off x="2790664" y="4070956"/>
            <a:ext cx="6562725" cy="2552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FF7FC"/>
            </a:gs>
            <a:gs pos="74000">
              <a:srgbClr val="72C4E9"/>
            </a:gs>
            <a:gs pos="83000">
              <a:srgbClr val="72C4E9"/>
            </a:gs>
            <a:gs pos="100000">
              <a:srgbClr val="A1D6F0"/>
            </a:gs>
          </a:gsLst>
          <a:lin ang="5400000" scaled="0"/>
        </a:gradFill>
      </p:bgPr>
    </p:bg>
    <p:spTree>
      <p:nvGrpSpPr>
        <p:cNvPr id="239" name="Shape 239"/>
        <p:cNvGrpSpPr/>
        <p:nvPr/>
      </p:nvGrpSpPr>
      <p:grpSpPr>
        <a:xfrm>
          <a:off x="0" y="0"/>
          <a:ext cx="0" cy="0"/>
          <a:chOff x="0" y="0"/>
          <a:chExt cx="0" cy="0"/>
        </a:xfrm>
      </p:grpSpPr>
      <p:sp>
        <p:nvSpPr>
          <p:cNvPr id="240" name="Google Shape;240;p19"/>
          <p:cNvSpPr txBox="1"/>
          <p:nvPr>
            <p:ph type="title"/>
          </p:nvPr>
        </p:nvSpPr>
        <p:spPr>
          <a:xfrm>
            <a:off x="297951" y="365125"/>
            <a:ext cx="1154815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Effect of aperture size</a:t>
            </a:r>
            <a:endParaRPr/>
          </a:p>
        </p:txBody>
      </p:sp>
      <p:sp>
        <p:nvSpPr>
          <p:cNvPr id="241" name="Google Shape;241;p19"/>
          <p:cNvSpPr txBox="1"/>
          <p:nvPr>
            <p:ph idx="1" type="body"/>
          </p:nvPr>
        </p:nvSpPr>
        <p:spPr>
          <a:xfrm>
            <a:off x="297951" y="1690688"/>
            <a:ext cx="5619964" cy="44862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Large aperture: light from the source spreads across the image (i.e., not properly focused), making it blurry!</a:t>
            </a:r>
            <a:endParaRPr/>
          </a:p>
          <a:p>
            <a:pPr indent="-228600" lvl="0" marL="228600" rtl="0" algn="l">
              <a:lnSpc>
                <a:spcPct val="90000"/>
              </a:lnSpc>
              <a:spcBef>
                <a:spcPts val="1000"/>
              </a:spcBef>
              <a:spcAft>
                <a:spcPts val="0"/>
              </a:spcAft>
              <a:buClr>
                <a:schemeClr val="dk1"/>
              </a:buClr>
              <a:buSzPts val="2800"/>
              <a:buChar char="•"/>
            </a:pPr>
            <a:r>
              <a:rPr lang="en-US"/>
              <a:t>Small aperture: reduces blurring but (i) it limits the amount of light entering the camera and (ii) causes light diffraction.</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42" name="Google Shape;242;p19"/>
          <p:cNvPicPr preferRelativeResize="0"/>
          <p:nvPr/>
        </p:nvPicPr>
        <p:blipFill rotWithShape="1">
          <a:blip r:embed="rId3">
            <a:alphaModFix/>
          </a:blip>
          <a:srcRect b="0" l="0" r="0" t="0"/>
          <a:stretch/>
        </p:blipFill>
        <p:spPr>
          <a:xfrm>
            <a:off x="6705600" y="1608762"/>
            <a:ext cx="3505200" cy="2200275"/>
          </a:xfrm>
          <a:prstGeom prst="rect">
            <a:avLst/>
          </a:prstGeom>
          <a:noFill/>
          <a:ln>
            <a:noFill/>
          </a:ln>
        </p:spPr>
      </p:pic>
      <p:pic>
        <p:nvPicPr>
          <p:cNvPr id="243" name="Google Shape;243;p19"/>
          <p:cNvPicPr preferRelativeResize="0"/>
          <p:nvPr/>
        </p:nvPicPr>
        <p:blipFill rotWithShape="1">
          <a:blip r:embed="rId4">
            <a:alphaModFix/>
          </a:blip>
          <a:srcRect b="0" l="0" r="0" t="0"/>
          <a:stretch/>
        </p:blipFill>
        <p:spPr>
          <a:xfrm>
            <a:off x="6705600" y="4267200"/>
            <a:ext cx="3435350" cy="2286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0"/>
          <p:cNvSpPr txBox="1"/>
          <p:nvPr>
            <p:ph type="title"/>
          </p:nvPr>
        </p:nvSpPr>
        <p:spPr>
          <a:xfrm>
            <a:off x="297951" y="365125"/>
            <a:ext cx="1154815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Varying aperture size example</a:t>
            </a:r>
            <a:endParaRPr/>
          </a:p>
        </p:txBody>
      </p:sp>
      <p:pic>
        <p:nvPicPr>
          <p:cNvPr descr="pinhole_diff2" id="249" name="Google Shape;249;p20"/>
          <p:cNvPicPr preferRelativeResize="0"/>
          <p:nvPr>
            <p:ph idx="1" type="body"/>
          </p:nvPr>
        </p:nvPicPr>
        <p:blipFill rotWithShape="1">
          <a:blip r:embed="rId3">
            <a:alphaModFix/>
          </a:blip>
          <a:srcRect b="32307" l="0" r="0" t="0"/>
          <a:stretch/>
        </p:blipFill>
        <p:spPr>
          <a:xfrm>
            <a:off x="3614737" y="2102429"/>
            <a:ext cx="4914900" cy="379773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1"/>
          <p:cNvSpPr txBox="1"/>
          <p:nvPr>
            <p:ph type="title"/>
          </p:nvPr>
        </p:nvSpPr>
        <p:spPr>
          <a:xfrm>
            <a:off x="328773" y="241837"/>
            <a:ext cx="11722814" cy="111435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Example: varying aperture size (cont’d)</a:t>
            </a:r>
            <a:endParaRPr/>
          </a:p>
        </p:txBody>
      </p:sp>
      <p:sp>
        <p:nvSpPr>
          <p:cNvPr id="255" name="Google Shape;255;p21"/>
          <p:cNvSpPr txBox="1"/>
          <p:nvPr>
            <p:ph idx="1" type="body"/>
          </p:nvPr>
        </p:nvSpPr>
        <p:spPr>
          <a:xfrm>
            <a:off x="328773" y="1825624"/>
            <a:ext cx="5424755" cy="467791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happens if we keep decreasing aperture size?</a:t>
            </a:r>
            <a:endParaRPr/>
          </a:p>
          <a:p>
            <a:pPr indent="-228600" lvl="0" marL="228600" rtl="0" algn="l">
              <a:lnSpc>
                <a:spcPct val="90000"/>
              </a:lnSpc>
              <a:spcBef>
                <a:spcPts val="1000"/>
              </a:spcBef>
              <a:spcAft>
                <a:spcPts val="0"/>
              </a:spcAft>
              <a:buClr>
                <a:schemeClr val="dk1"/>
              </a:buClr>
              <a:buSzPts val="2800"/>
              <a:buChar char="•"/>
            </a:pPr>
            <a:r>
              <a:rPr lang="en-US"/>
              <a:t>When light passes through a small hole, it does not travel in a straight line and is scattered in many directions (i.e., diffraction)</a:t>
            </a:r>
            <a:endParaRPr/>
          </a:p>
        </p:txBody>
      </p:sp>
      <p:pic>
        <p:nvPicPr>
          <p:cNvPr descr="pinhole_diff2" id="256" name="Google Shape;256;p21"/>
          <p:cNvPicPr preferRelativeResize="0"/>
          <p:nvPr/>
        </p:nvPicPr>
        <p:blipFill rotWithShape="1">
          <a:blip r:embed="rId3">
            <a:alphaModFix/>
          </a:blip>
          <a:srcRect b="0" l="0" r="0" t="33845"/>
          <a:stretch/>
        </p:blipFill>
        <p:spPr>
          <a:xfrm>
            <a:off x="6622051" y="1825624"/>
            <a:ext cx="4343400" cy="32162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2"/>
          <p:cNvSpPr txBox="1"/>
          <p:nvPr>
            <p:ph type="title"/>
          </p:nvPr>
        </p:nvSpPr>
        <p:spPr>
          <a:xfrm>
            <a:off x="133564" y="221288"/>
            <a:ext cx="11815281" cy="7444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Lens</a:t>
            </a:r>
            <a:endParaRPr/>
          </a:p>
        </p:txBody>
      </p:sp>
      <p:sp>
        <p:nvSpPr>
          <p:cNvPr id="262" name="Google Shape;262;p22"/>
          <p:cNvSpPr txBox="1"/>
          <p:nvPr>
            <p:ph idx="1" type="body"/>
          </p:nvPr>
        </p:nvSpPr>
        <p:spPr>
          <a:xfrm>
            <a:off x="133564" y="1109609"/>
            <a:ext cx="11887200" cy="239387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Lens duplicates pinhole  geometry without resorting to undesirably small apertures.</a:t>
            </a:r>
            <a:endParaRPr/>
          </a:p>
          <a:p>
            <a:pPr indent="-228600" lvl="0" marL="228600" rtl="0" algn="l">
              <a:lnSpc>
                <a:spcPct val="90000"/>
              </a:lnSpc>
              <a:spcBef>
                <a:spcPts val="1000"/>
              </a:spcBef>
              <a:spcAft>
                <a:spcPts val="0"/>
              </a:spcAft>
              <a:buClr>
                <a:schemeClr val="dk1"/>
              </a:buClr>
              <a:buSzPts val="2800"/>
              <a:buChar char="•"/>
            </a:pPr>
            <a:r>
              <a:rPr lang="en-US"/>
              <a:t>Gathers all the light radiating  from an object point towards the  lens’s finite aperture.</a:t>
            </a:r>
            <a:endParaRPr/>
          </a:p>
          <a:p>
            <a:pPr indent="-228600" lvl="0" marL="228600" rtl="0" algn="l">
              <a:lnSpc>
                <a:spcPct val="90000"/>
              </a:lnSpc>
              <a:spcBef>
                <a:spcPts val="1000"/>
              </a:spcBef>
              <a:spcAft>
                <a:spcPts val="0"/>
              </a:spcAft>
              <a:buClr>
                <a:schemeClr val="dk1"/>
              </a:buClr>
              <a:buSzPts val="2800"/>
              <a:buChar char="•"/>
            </a:pPr>
            <a:r>
              <a:rPr lang="en-US"/>
              <a:t>Brings light into focus at a single  distinct image point.</a:t>
            </a:r>
            <a:endParaRPr/>
          </a:p>
        </p:txBody>
      </p:sp>
      <p:pic>
        <p:nvPicPr>
          <p:cNvPr id="263" name="Google Shape;263;p22"/>
          <p:cNvPicPr preferRelativeResize="0"/>
          <p:nvPr/>
        </p:nvPicPr>
        <p:blipFill rotWithShape="1">
          <a:blip r:embed="rId3">
            <a:alphaModFix/>
          </a:blip>
          <a:srcRect b="0" l="0" r="0" t="0"/>
          <a:stretch/>
        </p:blipFill>
        <p:spPr>
          <a:xfrm>
            <a:off x="2559977" y="3503488"/>
            <a:ext cx="7572375" cy="3352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FF7FC"/>
            </a:gs>
            <a:gs pos="74000">
              <a:srgbClr val="72C4E9"/>
            </a:gs>
            <a:gs pos="83000">
              <a:srgbClr val="72C4E9"/>
            </a:gs>
            <a:gs pos="100000">
              <a:srgbClr val="A1D6F0"/>
            </a:gs>
          </a:gsLst>
          <a:lin ang="5400000" scaled="0"/>
        </a:gradFill>
      </p:bgPr>
    </p:bg>
    <p:spTree>
      <p:nvGrpSpPr>
        <p:cNvPr id="267" name="Shape 267"/>
        <p:cNvGrpSpPr/>
        <p:nvPr/>
      </p:nvGrpSpPr>
      <p:grpSpPr>
        <a:xfrm>
          <a:off x="0" y="0"/>
          <a:ext cx="0" cy="0"/>
          <a:chOff x="0" y="0"/>
          <a:chExt cx="0" cy="0"/>
        </a:xfrm>
      </p:grpSpPr>
      <p:sp>
        <p:nvSpPr>
          <p:cNvPr id="268" name="Google Shape;268;p23"/>
          <p:cNvSpPr txBox="1"/>
          <p:nvPr>
            <p:ph type="title"/>
          </p:nvPr>
        </p:nvSpPr>
        <p:spPr>
          <a:xfrm>
            <a:off x="92466" y="180191"/>
            <a:ext cx="11825555" cy="7650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Lens (cont.)</a:t>
            </a:r>
            <a:endParaRPr/>
          </a:p>
        </p:txBody>
      </p:sp>
      <p:sp>
        <p:nvSpPr>
          <p:cNvPr id="269" name="Google Shape;269;p23"/>
          <p:cNvSpPr txBox="1"/>
          <p:nvPr>
            <p:ph idx="1" type="body"/>
          </p:nvPr>
        </p:nvSpPr>
        <p:spPr>
          <a:xfrm>
            <a:off x="92466" y="1109609"/>
            <a:ext cx="6082303" cy="506735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1" lang="en-US" sz="2000"/>
              <a:t>Brightness</a:t>
            </a:r>
            <a:r>
              <a:rPr lang="en-US" sz="2000"/>
              <a:t> : A lens allows more light to enter the camera which results in a brighter image.</a:t>
            </a:r>
            <a:endParaRPr/>
          </a:p>
          <a:p>
            <a:pPr indent="-228600" lvl="0" marL="228600" rtl="0" algn="l">
              <a:lnSpc>
                <a:spcPct val="90000"/>
              </a:lnSpc>
              <a:spcBef>
                <a:spcPts val="1000"/>
              </a:spcBef>
              <a:spcAft>
                <a:spcPts val="0"/>
              </a:spcAft>
              <a:buClr>
                <a:schemeClr val="dk1"/>
              </a:buClr>
              <a:buSzPts val="2000"/>
              <a:buChar char="•"/>
            </a:pPr>
            <a:r>
              <a:rPr b="1" lang="en-US" sz="2000"/>
              <a:t>Aperture size </a:t>
            </a:r>
            <a:r>
              <a:rPr lang="en-US" sz="2000"/>
              <a:t>: Lenses can have larger apertures, which means they can capture more light without the need for a long exposure time.</a:t>
            </a:r>
            <a:endParaRPr/>
          </a:p>
          <a:p>
            <a:pPr indent="-228600" lvl="0" marL="228600" rtl="0" algn="l">
              <a:lnSpc>
                <a:spcPct val="90000"/>
              </a:lnSpc>
              <a:spcBef>
                <a:spcPts val="1000"/>
              </a:spcBef>
              <a:spcAft>
                <a:spcPts val="0"/>
              </a:spcAft>
              <a:buClr>
                <a:schemeClr val="dk1"/>
              </a:buClr>
              <a:buSzPts val="2000"/>
              <a:buChar char="•"/>
            </a:pPr>
            <a:r>
              <a:rPr b="1" lang="en-US" sz="2000"/>
              <a:t>Focus mechanism </a:t>
            </a:r>
            <a:r>
              <a:rPr lang="en-US" sz="2000"/>
              <a:t>: Lenses can be moved to adjust the focus, allowing for clear images of objects at various distances from the camera.</a:t>
            </a:r>
            <a:endParaRPr/>
          </a:p>
          <a:p>
            <a:pPr indent="-228600" lvl="0" marL="228600" rtl="0" algn="l">
              <a:lnSpc>
                <a:spcPct val="90000"/>
              </a:lnSpc>
              <a:spcBef>
                <a:spcPts val="1000"/>
              </a:spcBef>
              <a:spcAft>
                <a:spcPts val="0"/>
              </a:spcAft>
              <a:buClr>
                <a:schemeClr val="dk1"/>
              </a:buClr>
              <a:buSzPts val="2000"/>
              <a:buChar char="•"/>
            </a:pPr>
            <a:r>
              <a:rPr b="1" lang="en-US" sz="2000"/>
              <a:t>Depth of field </a:t>
            </a:r>
            <a:r>
              <a:rPr lang="en-US" sz="2000"/>
              <a:t>: Lenses can control the depth of field, enabling photographers to focus on specific parts of a scene while blurring out the background or foreground, adding artistic effects and enhancing image clarity.</a:t>
            </a:r>
            <a:endParaRPr sz="2000"/>
          </a:p>
        </p:txBody>
      </p:sp>
      <p:pic>
        <p:nvPicPr>
          <p:cNvPr id="270" name="Google Shape;270;p23"/>
          <p:cNvPicPr preferRelativeResize="0"/>
          <p:nvPr/>
        </p:nvPicPr>
        <p:blipFill rotWithShape="1">
          <a:blip r:embed="rId3">
            <a:alphaModFix/>
          </a:blip>
          <a:srcRect b="0" l="0" r="0" t="0"/>
          <a:stretch/>
        </p:blipFill>
        <p:spPr>
          <a:xfrm>
            <a:off x="7229154" y="1109609"/>
            <a:ext cx="3352800" cy="2282825"/>
          </a:xfrm>
          <a:prstGeom prst="rect">
            <a:avLst/>
          </a:prstGeom>
          <a:noFill/>
          <a:ln>
            <a:noFill/>
          </a:ln>
        </p:spPr>
      </p:pic>
      <p:pic>
        <p:nvPicPr>
          <p:cNvPr id="271" name="Google Shape;271;p23"/>
          <p:cNvPicPr preferRelativeResize="0"/>
          <p:nvPr/>
        </p:nvPicPr>
        <p:blipFill rotWithShape="1">
          <a:blip r:embed="rId4">
            <a:alphaModFix/>
          </a:blip>
          <a:srcRect b="0" l="0" r="0" t="0"/>
          <a:stretch/>
        </p:blipFill>
        <p:spPr>
          <a:xfrm>
            <a:off x="7229154" y="3556820"/>
            <a:ext cx="3390900" cy="2286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4"/>
          <p:cNvSpPr txBox="1"/>
          <p:nvPr>
            <p:ph type="title"/>
          </p:nvPr>
        </p:nvSpPr>
        <p:spPr>
          <a:xfrm>
            <a:off x="316786" y="242013"/>
            <a:ext cx="11558427" cy="8780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Depth of Field</a:t>
            </a:r>
            <a:endParaRPr/>
          </a:p>
        </p:txBody>
      </p:sp>
      <p:sp>
        <p:nvSpPr>
          <p:cNvPr id="277" name="Google Shape;277;p24"/>
          <p:cNvSpPr txBox="1"/>
          <p:nvPr>
            <p:ph idx="1" type="body"/>
          </p:nvPr>
        </p:nvSpPr>
        <p:spPr>
          <a:xfrm>
            <a:off x="102743" y="1243173"/>
            <a:ext cx="11948844" cy="178770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The range of depths over which the world is approximately sharp (i.e., in focus). </a:t>
            </a:r>
            <a:endParaRPr/>
          </a:p>
          <a:p>
            <a:pPr indent="-228600" lvl="0" marL="228600" rtl="0" algn="l">
              <a:lnSpc>
                <a:spcPct val="90000"/>
              </a:lnSpc>
              <a:spcBef>
                <a:spcPts val="1000"/>
              </a:spcBef>
              <a:spcAft>
                <a:spcPts val="0"/>
              </a:spcAft>
              <a:buClr>
                <a:schemeClr val="dk1"/>
              </a:buClr>
              <a:buSzPts val="2400"/>
              <a:buChar char="•"/>
            </a:pPr>
            <a:r>
              <a:rPr lang="en-US" sz="2400"/>
              <a:t>It is the zone of sharpness in front of and behind the subject where the image remains in focus.</a:t>
            </a:r>
            <a:endParaRPr/>
          </a:p>
          <a:p>
            <a:pPr indent="-228600" lvl="0" marL="228600" rtl="0" algn="l">
              <a:lnSpc>
                <a:spcPct val="90000"/>
              </a:lnSpc>
              <a:spcBef>
                <a:spcPts val="1000"/>
              </a:spcBef>
              <a:spcAft>
                <a:spcPts val="0"/>
              </a:spcAft>
              <a:buClr>
                <a:schemeClr val="dk1"/>
              </a:buClr>
              <a:buSzPts val="2400"/>
              <a:buChar char="•"/>
            </a:pPr>
            <a:r>
              <a:rPr lang="en-US" sz="2400"/>
              <a:t>Outside of this zone, the image gradually becomes blurry.</a:t>
            </a:r>
            <a:endParaRPr/>
          </a:p>
        </p:txBody>
      </p:sp>
      <p:pic>
        <p:nvPicPr>
          <p:cNvPr id="278" name="Google Shape;278;p24"/>
          <p:cNvPicPr preferRelativeResize="0"/>
          <p:nvPr/>
        </p:nvPicPr>
        <p:blipFill rotWithShape="1">
          <a:blip r:embed="rId3">
            <a:alphaModFix/>
          </a:blip>
          <a:srcRect b="0" l="0" r="0" t="0"/>
          <a:stretch/>
        </p:blipFill>
        <p:spPr>
          <a:xfrm>
            <a:off x="881349" y="3314522"/>
            <a:ext cx="4537075" cy="3346450"/>
          </a:xfrm>
          <a:prstGeom prst="rect">
            <a:avLst/>
          </a:prstGeom>
          <a:noFill/>
          <a:ln>
            <a:noFill/>
          </a:ln>
        </p:spPr>
      </p:pic>
      <p:pic>
        <p:nvPicPr>
          <p:cNvPr id="279" name="Google Shape;279;p24"/>
          <p:cNvPicPr preferRelativeResize="0"/>
          <p:nvPr/>
        </p:nvPicPr>
        <p:blipFill rotWithShape="1">
          <a:blip r:embed="rId4">
            <a:alphaModFix/>
          </a:blip>
          <a:srcRect b="0" l="0" r="0" t="0"/>
          <a:stretch/>
        </p:blipFill>
        <p:spPr>
          <a:xfrm>
            <a:off x="7149957" y="3314522"/>
            <a:ext cx="1887538" cy="3352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sp>
        <p:nvSpPr>
          <p:cNvPr id="284" name="Google Shape;284;p2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 name="Google Shape;285;p25"/>
          <p:cNvSpPr/>
          <p:nvPr/>
        </p:nvSpPr>
        <p:spPr>
          <a:xfrm>
            <a:off x="0" y="1"/>
            <a:ext cx="4775791" cy="6857999"/>
          </a:xfrm>
          <a:prstGeom prst="rect">
            <a:avLst/>
          </a:prstGeom>
          <a:solidFill>
            <a:srgbClr val="FAE2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 name="Google Shape;286;p25"/>
          <p:cNvSpPr txBox="1"/>
          <p:nvPr>
            <p:ph type="title"/>
          </p:nvPr>
        </p:nvSpPr>
        <p:spPr>
          <a:xfrm>
            <a:off x="773526" y="685801"/>
            <a:ext cx="3228738" cy="145470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595959"/>
              </a:buClr>
              <a:buSzPts val="2800"/>
              <a:buFont typeface="Play"/>
              <a:buNone/>
            </a:pPr>
            <a:r>
              <a:rPr lang="en-US" sz="2800">
                <a:solidFill>
                  <a:srgbClr val="595959"/>
                </a:solidFill>
              </a:rPr>
              <a:t>Effect of aperture on Depth of Field (DoF)</a:t>
            </a:r>
            <a:endParaRPr/>
          </a:p>
        </p:txBody>
      </p:sp>
      <p:sp>
        <p:nvSpPr>
          <p:cNvPr id="287" name="Google Shape;287;p25"/>
          <p:cNvSpPr txBox="1"/>
          <p:nvPr>
            <p:ph idx="1" type="body"/>
          </p:nvPr>
        </p:nvSpPr>
        <p:spPr>
          <a:xfrm>
            <a:off x="773526" y="2427382"/>
            <a:ext cx="3228738" cy="3681023"/>
          </a:xfrm>
          <a:prstGeom prst="rect">
            <a:avLst/>
          </a:prstGeom>
          <a:noFill/>
          <a:ln>
            <a:noFill/>
          </a:ln>
        </p:spPr>
        <p:txBody>
          <a:bodyPr anchorCtr="0" anchor="t" bIns="45700" lIns="91425" spcFirstLastPara="1" rIns="91425" wrap="square" tIns="45700">
            <a:normAutofit/>
          </a:bodyPr>
          <a:lstStyle/>
          <a:p>
            <a:pPr indent="-228600" lvl="0" marL="228600" rtl="0" algn="ctr">
              <a:lnSpc>
                <a:spcPct val="90000"/>
              </a:lnSpc>
              <a:spcBef>
                <a:spcPts val="0"/>
              </a:spcBef>
              <a:spcAft>
                <a:spcPts val="0"/>
              </a:spcAft>
              <a:buClr>
                <a:srgbClr val="595959"/>
              </a:buClr>
              <a:buSzPts val="1900"/>
              <a:buChar char="•"/>
            </a:pPr>
            <a:r>
              <a:rPr lang="en-US" sz="1900">
                <a:solidFill>
                  <a:srgbClr val="595959"/>
                </a:solidFill>
              </a:rPr>
              <a:t>A larger aperture results in a shallow depth of field, meaning only a small portion of the image will be in focus, and the background and foreground will be blurred.</a:t>
            </a:r>
            <a:endParaRPr/>
          </a:p>
          <a:p>
            <a:pPr indent="-228600" lvl="0" marL="228600" rtl="0" algn="ctr">
              <a:lnSpc>
                <a:spcPct val="90000"/>
              </a:lnSpc>
              <a:spcBef>
                <a:spcPts val="1000"/>
              </a:spcBef>
              <a:spcAft>
                <a:spcPts val="0"/>
              </a:spcAft>
              <a:buClr>
                <a:srgbClr val="595959"/>
              </a:buClr>
              <a:buSzPts val="1900"/>
              <a:buChar char="•"/>
            </a:pPr>
            <a:r>
              <a:rPr lang="en-US" sz="1900">
                <a:solidFill>
                  <a:srgbClr val="595959"/>
                </a:solidFill>
              </a:rPr>
              <a:t>A smaller aperture results in a deeper depth of field, meaning a larger portion of the image will be in focus, with less background and foreground blur.</a:t>
            </a:r>
            <a:endParaRPr/>
          </a:p>
        </p:txBody>
      </p:sp>
      <p:pic>
        <p:nvPicPr>
          <p:cNvPr id="288" name="Google Shape;288;p25"/>
          <p:cNvPicPr preferRelativeResize="0"/>
          <p:nvPr/>
        </p:nvPicPr>
        <p:blipFill rotWithShape="1">
          <a:blip r:embed="rId3">
            <a:alphaModFix/>
          </a:blip>
          <a:srcRect b="0" l="0" r="0" t="0"/>
          <a:stretch/>
        </p:blipFill>
        <p:spPr>
          <a:xfrm>
            <a:off x="5129373" y="94180"/>
            <a:ext cx="2960688" cy="4440238"/>
          </a:xfrm>
          <a:prstGeom prst="rect">
            <a:avLst/>
          </a:prstGeom>
          <a:noFill/>
          <a:ln>
            <a:noFill/>
          </a:ln>
        </p:spPr>
      </p:pic>
      <p:sp>
        <p:nvSpPr>
          <p:cNvPr id="289" name="Google Shape;289;p25"/>
          <p:cNvSpPr txBox="1"/>
          <p:nvPr/>
        </p:nvSpPr>
        <p:spPr>
          <a:xfrm>
            <a:off x="4709488" y="4598640"/>
            <a:ext cx="3638550" cy="708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000">
              <a:solidFill>
                <a:schemeClr val="dk1"/>
              </a:solidFill>
              <a:latin typeface="Arial"/>
              <a:ea typeface="Arial"/>
              <a:cs typeface="Arial"/>
              <a:sym typeface="Arial"/>
            </a:endParaRPr>
          </a:p>
          <a:p>
            <a:pPr indent="0" lvl="0" marL="0" marR="0" rtl="0" algn="ctr">
              <a:spcBef>
                <a:spcPts val="0"/>
              </a:spcBef>
              <a:spcAft>
                <a:spcPts val="0"/>
              </a:spcAft>
              <a:buNone/>
            </a:pPr>
            <a:r>
              <a:rPr lang="en-US" sz="2000">
                <a:solidFill>
                  <a:schemeClr val="dk1"/>
                </a:solidFill>
                <a:latin typeface="Play"/>
                <a:ea typeface="Play"/>
                <a:cs typeface="Play"/>
                <a:sym typeface="Play"/>
              </a:rPr>
              <a:t>Large aperture  = small DOF</a:t>
            </a:r>
            <a:endParaRPr/>
          </a:p>
        </p:txBody>
      </p:sp>
      <p:pic>
        <p:nvPicPr>
          <p:cNvPr id="290" name="Google Shape;290;p25"/>
          <p:cNvPicPr preferRelativeResize="0"/>
          <p:nvPr/>
        </p:nvPicPr>
        <p:blipFill rotWithShape="1">
          <a:blip r:embed="rId4">
            <a:alphaModFix/>
          </a:blip>
          <a:srcRect b="0" l="0" r="0" t="0"/>
          <a:stretch/>
        </p:blipFill>
        <p:spPr>
          <a:xfrm>
            <a:off x="8747588" y="94180"/>
            <a:ext cx="2960688" cy="4440238"/>
          </a:xfrm>
          <a:prstGeom prst="rect">
            <a:avLst/>
          </a:prstGeom>
          <a:noFill/>
          <a:ln>
            <a:noFill/>
          </a:ln>
        </p:spPr>
      </p:pic>
      <p:sp>
        <p:nvSpPr>
          <p:cNvPr id="291" name="Google Shape;291;p25"/>
          <p:cNvSpPr txBox="1"/>
          <p:nvPr/>
        </p:nvSpPr>
        <p:spPr>
          <a:xfrm>
            <a:off x="8506306" y="4598640"/>
            <a:ext cx="3527425" cy="708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000">
              <a:solidFill>
                <a:schemeClr val="dk1"/>
              </a:solidFill>
              <a:latin typeface="Arial"/>
              <a:ea typeface="Arial"/>
              <a:cs typeface="Arial"/>
              <a:sym typeface="Arial"/>
            </a:endParaRPr>
          </a:p>
          <a:p>
            <a:pPr indent="0" lvl="0" marL="0" marR="0" rtl="0" algn="ctr">
              <a:spcBef>
                <a:spcPts val="0"/>
              </a:spcBef>
              <a:spcAft>
                <a:spcPts val="0"/>
              </a:spcAft>
              <a:buNone/>
            </a:pPr>
            <a:r>
              <a:rPr lang="en-US" sz="2000">
                <a:solidFill>
                  <a:schemeClr val="dk1"/>
                </a:solidFill>
                <a:latin typeface="Play"/>
                <a:ea typeface="Play"/>
                <a:cs typeface="Play"/>
                <a:sym typeface="Play"/>
              </a:rPr>
              <a:t>Small aperture = large DOF</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6"/>
          <p:cNvSpPr txBox="1"/>
          <p:nvPr>
            <p:ph type="title"/>
          </p:nvPr>
        </p:nvSpPr>
        <p:spPr>
          <a:xfrm>
            <a:off x="255141" y="231739"/>
            <a:ext cx="11681717" cy="8985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Effect of focal length on Depth of Field</a:t>
            </a:r>
            <a:endParaRPr/>
          </a:p>
        </p:txBody>
      </p:sp>
      <p:sp>
        <p:nvSpPr>
          <p:cNvPr id="297" name="Google Shape;297;p26"/>
          <p:cNvSpPr txBox="1"/>
          <p:nvPr>
            <p:ph idx="1" type="body"/>
          </p:nvPr>
        </p:nvSpPr>
        <p:spPr>
          <a:xfrm>
            <a:off x="255141" y="1325367"/>
            <a:ext cx="11775897" cy="257881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Lenses with longer focal lengths (e.g., telephoto lenses) tend to have a shallower depth of field. Hence the subject will be in focus and background will be blurry.</a:t>
            </a:r>
            <a:endParaRPr/>
          </a:p>
          <a:p>
            <a:pPr indent="-228600" lvl="0" marL="228600" rtl="0" algn="l">
              <a:lnSpc>
                <a:spcPct val="90000"/>
              </a:lnSpc>
              <a:spcBef>
                <a:spcPts val="1000"/>
              </a:spcBef>
              <a:spcAft>
                <a:spcPts val="0"/>
              </a:spcAft>
              <a:buClr>
                <a:schemeClr val="dk1"/>
              </a:buClr>
              <a:buSzPts val="2800"/>
              <a:buChar char="•"/>
            </a:pPr>
            <a:r>
              <a:rPr lang="en-US"/>
              <a:t>Lenses with shorter focal lengths (e.g., wide-angle lenses) tend to have a deeper depth of field. Hence both the subject and background will be focused.</a:t>
            </a:r>
            <a:endParaRPr/>
          </a:p>
        </p:txBody>
      </p:sp>
      <p:pic>
        <p:nvPicPr>
          <p:cNvPr id="298" name="Google Shape;298;p26"/>
          <p:cNvPicPr preferRelativeResize="0"/>
          <p:nvPr/>
        </p:nvPicPr>
        <p:blipFill rotWithShape="1">
          <a:blip r:embed="rId3">
            <a:alphaModFix/>
          </a:blip>
          <a:srcRect b="0" l="0" r="0" t="0"/>
          <a:stretch/>
        </p:blipFill>
        <p:spPr>
          <a:xfrm>
            <a:off x="2839199" y="3636226"/>
            <a:ext cx="7431534" cy="28891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7"/>
          <p:cNvSpPr txBox="1"/>
          <p:nvPr>
            <p:ph type="title"/>
          </p:nvPr>
        </p:nvSpPr>
        <p:spPr>
          <a:xfrm>
            <a:off x="236305" y="365125"/>
            <a:ext cx="1169199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Effect of camera focal length on faces</a:t>
            </a:r>
            <a:endParaRPr/>
          </a:p>
        </p:txBody>
      </p:sp>
      <p:pic>
        <p:nvPicPr>
          <p:cNvPr id="304" name="Google Shape;304;p27"/>
          <p:cNvPicPr preferRelativeResize="0"/>
          <p:nvPr>
            <p:ph idx="1" type="body"/>
          </p:nvPr>
        </p:nvPicPr>
        <p:blipFill rotWithShape="1">
          <a:blip r:embed="rId3">
            <a:alphaModFix/>
          </a:blip>
          <a:srcRect b="0" l="0" r="0" t="0"/>
          <a:stretch/>
        </p:blipFill>
        <p:spPr>
          <a:xfrm>
            <a:off x="2147094" y="2205831"/>
            <a:ext cx="7962900" cy="3590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8"/>
          <p:cNvSpPr txBox="1"/>
          <p:nvPr>
            <p:ph type="title"/>
          </p:nvPr>
        </p:nvSpPr>
        <p:spPr>
          <a:xfrm>
            <a:off x="157537" y="170094"/>
            <a:ext cx="11876926" cy="102188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Lens flaws : chromatic aberration</a:t>
            </a:r>
            <a:endParaRPr/>
          </a:p>
        </p:txBody>
      </p:sp>
      <p:sp>
        <p:nvSpPr>
          <p:cNvPr id="310" name="Google Shape;310;p28"/>
          <p:cNvSpPr txBox="1"/>
          <p:nvPr>
            <p:ph idx="1" type="body"/>
          </p:nvPr>
        </p:nvSpPr>
        <p:spPr>
          <a:xfrm>
            <a:off x="328773" y="1191980"/>
            <a:ext cx="11705690" cy="128409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Occurs when different wavelengths (colors) of light are not focused at the same point.</a:t>
            </a:r>
            <a:endParaRPr/>
          </a:p>
          <a:p>
            <a:pPr indent="-228600" lvl="0" marL="228600" rtl="0" algn="l">
              <a:lnSpc>
                <a:spcPct val="90000"/>
              </a:lnSpc>
              <a:spcBef>
                <a:spcPts val="1000"/>
              </a:spcBef>
              <a:spcAft>
                <a:spcPts val="0"/>
              </a:spcAft>
              <a:buClr>
                <a:schemeClr val="dk1"/>
              </a:buClr>
              <a:buSzPts val="2400"/>
              <a:buChar char="•"/>
            </a:pPr>
            <a:r>
              <a:rPr lang="en-US" sz="2400"/>
              <a:t>This results in a color fringing or blurring of the image, typically seen as colored edges around high-contrast areas.</a:t>
            </a:r>
            <a:endParaRPr/>
          </a:p>
        </p:txBody>
      </p:sp>
      <p:pic>
        <p:nvPicPr>
          <p:cNvPr descr="chrom" id="311" name="Google Shape;311;p28"/>
          <p:cNvPicPr preferRelativeResize="0"/>
          <p:nvPr/>
        </p:nvPicPr>
        <p:blipFill rotWithShape="1">
          <a:blip r:embed="rId3">
            <a:alphaModFix/>
          </a:blip>
          <a:srcRect b="0" l="0" r="0" t="0"/>
          <a:stretch/>
        </p:blipFill>
        <p:spPr>
          <a:xfrm>
            <a:off x="157537" y="3429000"/>
            <a:ext cx="6019800" cy="2840038"/>
          </a:xfrm>
          <a:prstGeom prst="rect">
            <a:avLst/>
          </a:prstGeom>
          <a:noFill/>
          <a:ln>
            <a:noFill/>
          </a:ln>
        </p:spPr>
      </p:pic>
      <p:pic>
        <p:nvPicPr>
          <p:cNvPr id="312" name="Google Shape;312;p28"/>
          <p:cNvPicPr preferRelativeResize="0"/>
          <p:nvPr/>
        </p:nvPicPr>
        <p:blipFill rotWithShape="1">
          <a:blip r:embed="rId4">
            <a:alphaModFix/>
          </a:blip>
          <a:srcRect b="0" l="0" r="0" t="0"/>
          <a:stretch/>
        </p:blipFill>
        <p:spPr>
          <a:xfrm>
            <a:off x="7090774" y="2348341"/>
            <a:ext cx="4133850" cy="40671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9"/>
          <p:cNvSpPr txBox="1"/>
          <p:nvPr>
            <p:ph type="title"/>
          </p:nvPr>
        </p:nvSpPr>
        <p:spPr>
          <a:xfrm>
            <a:off x="193496" y="226601"/>
            <a:ext cx="11805007" cy="90887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Correcting chromatic aberration</a:t>
            </a:r>
            <a:endParaRPr/>
          </a:p>
        </p:txBody>
      </p:sp>
      <p:sp>
        <p:nvSpPr>
          <p:cNvPr id="318" name="Google Shape;318;p29"/>
          <p:cNvSpPr txBox="1"/>
          <p:nvPr>
            <p:ph idx="1" type="body"/>
          </p:nvPr>
        </p:nvSpPr>
        <p:spPr>
          <a:xfrm>
            <a:off x="277401" y="1135473"/>
            <a:ext cx="11445411" cy="382694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Anti-reflective coatings </a:t>
            </a:r>
            <a:r>
              <a:rPr lang="en-US"/>
              <a:t>on lens elements help to minimize the dispersion of light and reduce chromatic aberration.</a:t>
            </a:r>
            <a:endParaRPr/>
          </a:p>
          <a:p>
            <a:pPr indent="-228600" lvl="0" marL="228600" rtl="0" algn="l">
              <a:lnSpc>
                <a:spcPct val="90000"/>
              </a:lnSpc>
              <a:spcBef>
                <a:spcPts val="1000"/>
              </a:spcBef>
              <a:spcAft>
                <a:spcPts val="0"/>
              </a:spcAft>
              <a:buClr>
                <a:schemeClr val="dk1"/>
              </a:buClr>
              <a:buSzPts val="2800"/>
              <a:buChar char="•"/>
            </a:pPr>
            <a:r>
              <a:rPr b="1" lang="en-US"/>
              <a:t>Achromatic Lenses</a:t>
            </a:r>
            <a:r>
              <a:rPr lang="en-US"/>
              <a:t>: Combine two types of glass with different dispersion properties to bring two wavelengths (typically red and blue) into the same focus.</a:t>
            </a:r>
            <a:endParaRPr/>
          </a:p>
          <a:p>
            <a:pPr indent="-228600" lvl="0" marL="228600" rtl="0" algn="l">
              <a:lnSpc>
                <a:spcPct val="90000"/>
              </a:lnSpc>
              <a:spcBef>
                <a:spcPts val="1000"/>
              </a:spcBef>
              <a:spcAft>
                <a:spcPts val="0"/>
              </a:spcAft>
              <a:buClr>
                <a:schemeClr val="dk1"/>
              </a:buClr>
              <a:buSzPts val="2800"/>
              <a:buChar char="•"/>
            </a:pPr>
            <a:r>
              <a:rPr b="1" lang="en-US"/>
              <a:t>Digital Correction </a:t>
            </a:r>
            <a:r>
              <a:rPr lang="en-US"/>
              <a:t>: Modern cameras and image processing software can correct chromatic aberration during post-processing by realigning the color channels.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0"/>
          <p:cNvSpPr txBox="1"/>
          <p:nvPr>
            <p:ph type="title"/>
          </p:nvPr>
        </p:nvSpPr>
        <p:spPr>
          <a:xfrm>
            <a:off x="157537" y="170094"/>
            <a:ext cx="11876926" cy="102188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Lens flaws : radial distortion</a:t>
            </a:r>
            <a:endParaRPr/>
          </a:p>
        </p:txBody>
      </p:sp>
      <p:sp>
        <p:nvSpPr>
          <p:cNvPr id="324" name="Google Shape;324;p30"/>
          <p:cNvSpPr txBox="1"/>
          <p:nvPr>
            <p:ph idx="1" type="body"/>
          </p:nvPr>
        </p:nvSpPr>
        <p:spPr>
          <a:xfrm>
            <a:off x="157537" y="1191980"/>
            <a:ext cx="11876926" cy="22370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A type of lens distortion that causes straight lines to appear curved in an image. </a:t>
            </a:r>
            <a:endParaRPr/>
          </a:p>
          <a:p>
            <a:pPr indent="-228600" lvl="0" marL="228600" rtl="0" algn="l">
              <a:lnSpc>
                <a:spcPct val="90000"/>
              </a:lnSpc>
              <a:spcBef>
                <a:spcPts val="1000"/>
              </a:spcBef>
              <a:spcAft>
                <a:spcPts val="0"/>
              </a:spcAft>
              <a:buClr>
                <a:schemeClr val="dk1"/>
              </a:buClr>
              <a:buSzPts val="2400"/>
              <a:buChar char="•"/>
            </a:pPr>
            <a:r>
              <a:rPr lang="en-US" sz="2400"/>
              <a:t>Occurs because the magnification of the lens decreases or increases with the distance from the optical axis.</a:t>
            </a:r>
            <a:endParaRPr/>
          </a:p>
          <a:p>
            <a:pPr indent="-228600" lvl="0" marL="228600" rtl="0" algn="l">
              <a:lnSpc>
                <a:spcPct val="90000"/>
              </a:lnSpc>
              <a:spcBef>
                <a:spcPts val="1000"/>
              </a:spcBef>
              <a:spcAft>
                <a:spcPts val="0"/>
              </a:spcAft>
              <a:buClr>
                <a:schemeClr val="dk1"/>
              </a:buClr>
              <a:buSzPts val="2400"/>
              <a:buChar char="•"/>
            </a:pPr>
            <a:r>
              <a:rPr lang="en-US" sz="2400"/>
              <a:t>Deviations are most noticeable for rays that pass through the edge of the lens.</a:t>
            </a:r>
            <a:endParaRPr/>
          </a:p>
          <a:p>
            <a:pPr indent="-228600" lvl="0" marL="228600" rtl="0" algn="l">
              <a:lnSpc>
                <a:spcPct val="90000"/>
              </a:lnSpc>
              <a:spcBef>
                <a:spcPts val="1000"/>
              </a:spcBef>
              <a:spcAft>
                <a:spcPts val="0"/>
              </a:spcAft>
              <a:buClr>
                <a:schemeClr val="dk1"/>
              </a:buClr>
              <a:buSzPts val="2400"/>
              <a:buChar char="•"/>
            </a:pPr>
            <a:r>
              <a:rPr lang="en-US" sz="2400"/>
              <a:t>Radial distortion is particularly noticeable in wide-angle and fisheye lenses.</a:t>
            </a:r>
            <a:endParaRPr/>
          </a:p>
        </p:txBody>
      </p:sp>
      <p:pic>
        <p:nvPicPr>
          <p:cNvPr id="325" name="Google Shape;325;p30"/>
          <p:cNvPicPr preferRelativeResize="0"/>
          <p:nvPr/>
        </p:nvPicPr>
        <p:blipFill rotWithShape="1">
          <a:blip r:embed="rId3">
            <a:alphaModFix/>
          </a:blip>
          <a:srcRect b="0" l="0" r="0" t="0"/>
          <a:stretch/>
        </p:blipFill>
        <p:spPr>
          <a:xfrm>
            <a:off x="2264328" y="3583754"/>
            <a:ext cx="8505825" cy="2628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1"/>
          <p:cNvSpPr txBox="1"/>
          <p:nvPr>
            <p:ph type="title"/>
          </p:nvPr>
        </p:nvSpPr>
        <p:spPr>
          <a:xfrm>
            <a:off x="147263" y="190642"/>
            <a:ext cx="11897474" cy="98079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Correcting radial distortion</a:t>
            </a:r>
            <a:endParaRPr/>
          </a:p>
        </p:txBody>
      </p:sp>
      <p:sp>
        <p:nvSpPr>
          <p:cNvPr id="331" name="Google Shape;331;p31"/>
          <p:cNvSpPr txBox="1"/>
          <p:nvPr>
            <p:ph idx="1" type="body"/>
          </p:nvPr>
        </p:nvSpPr>
        <p:spPr>
          <a:xfrm>
            <a:off x="147263" y="1263721"/>
            <a:ext cx="11897473" cy="49132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Lens Design Improvements</a:t>
            </a:r>
            <a:r>
              <a:rPr lang="en-US"/>
              <a:t>: Modern lens designs incorporate aspherical elements and other advanced technologies to minimize radial distortion.</a:t>
            </a:r>
            <a:endParaRPr/>
          </a:p>
          <a:p>
            <a:pPr indent="-228600" lvl="0" marL="228600" rtl="0" algn="l">
              <a:lnSpc>
                <a:spcPct val="90000"/>
              </a:lnSpc>
              <a:spcBef>
                <a:spcPts val="1000"/>
              </a:spcBef>
              <a:spcAft>
                <a:spcPts val="0"/>
              </a:spcAft>
              <a:buClr>
                <a:schemeClr val="dk1"/>
              </a:buClr>
              <a:buSzPts val="2800"/>
              <a:buChar char="•"/>
            </a:pPr>
            <a:r>
              <a:rPr b="1" lang="en-US"/>
              <a:t>Camera Firmware</a:t>
            </a:r>
            <a:r>
              <a:rPr lang="en-US"/>
              <a:t>: Many modern cameras have built-in firmware that automatically corrects radial distortion based on lens profiles.</a:t>
            </a:r>
            <a:endParaRPr/>
          </a:p>
          <a:p>
            <a:pPr indent="-228600" lvl="0" marL="228600" rtl="0" algn="l">
              <a:lnSpc>
                <a:spcPct val="90000"/>
              </a:lnSpc>
              <a:spcBef>
                <a:spcPts val="1000"/>
              </a:spcBef>
              <a:spcAft>
                <a:spcPts val="0"/>
              </a:spcAft>
              <a:buClr>
                <a:schemeClr val="dk1"/>
              </a:buClr>
              <a:buSzPts val="2800"/>
              <a:buChar char="•"/>
            </a:pPr>
            <a:r>
              <a:rPr b="1" lang="en-US"/>
              <a:t>Software Tools</a:t>
            </a:r>
            <a:r>
              <a:rPr lang="en-US"/>
              <a:t>: Image processing software like Adobe Photoshop, Lightroom, and specialized lens correction software can correct radial distortion by adjusting the curvature of lines in the image.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2"/>
          <p:cNvSpPr txBox="1"/>
          <p:nvPr>
            <p:ph type="title"/>
          </p:nvPr>
        </p:nvSpPr>
        <p:spPr>
          <a:xfrm>
            <a:off x="239730" y="236876"/>
            <a:ext cx="11712539" cy="8883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Image digitization</a:t>
            </a:r>
            <a:endParaRPr/>
          </a:p>
        </p:txBody>
      </p:sp>
      <p:sp>
        <p:nvSpPr>
          <p:cNvPr id="337" name="Google Shape;337;p32"/>
          <p:cNvSpPr txBox="1"/>
          <p:nvPr>
            <p:ph idx="1" type="body"/>
          </p:nvPr>
        </p:nvSpPr>
        <p:spPr>
          <a:xfrm>
            <a:off x="239729" y="1125198"/>
            <a:ext cx="11832406" cy="537834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Sampling : Measures the value of an image at a finite number of discrete points.</a:t>
            </a:r>
            <a:endParaRPr/>
          </a:p>
          <a:p>
            <a:pPr indent="-228600" lvl="0" marL="228600" rtl="0" algn="l">
              <a:lnSpc>
                <a:spcPct val="90000"/>
              </a:lnSpc>
              <a:spcBef>
                <a:spcPts val="1000"/>
              </a:spcBef>
              <a:spcAft>
                <a:spcPts val="0"/>
              </a:spcAft>
              <a:buClr>
                <a:schemeClr val="dk1"/>
              </a:buClr>
              <a:buSzPts val="2800"/>
              <a:buChar char="•"/>
            </a:pPr>
            <a:r>
              <a:rPr lang="en-US"/>
              <a:t>Quantization : Represents the measured values (e.g., voltage) at the sampled points by discrete integers. </a:t>
            </a:r>
            <a:endParaRPr/>
          </a:p>
        </p:txBody>
      </p:sp>
      <p:pic>
        <p:nvPicPr>
          <p:cNvPr descr="fund_fig2" id="338" name="Google Shape;338;p32"/>
          <p:cNvPicPr preferRelativeResize="0"/>
          <p:nvPr/>
        </p:nvPicPr>
        <p:blipFill rotWithShape="1">
          <a:blip r:embed="rId3">
            <a:alphaModFix/>
          </a:blip>
          <a:srcRect b="0" l="0" r="0" t="0"/>
          <a:stretch/>
        </p:blipFill>
        <p:spPr>
          <a:xfrm>
            <a:off x="1341634" y="3311703"/>
            <a:ext cx="4343400" cy="2292350"/>
          </a:xfrm>
          <a:prstGeom prst="rect">
            <a:avLst/>
          </a:prstGeom>
          <a:noFill/>
          <a:ln>
            <a:noFill/>
          </a:ln>
        </p:spPr>
      </p:pic>
      <p:pic>
        <p:nvPicPr>
          <p:cNvPr id="339" name="Google Shape;339;p32"/>
          <p:cNvPicPr preferRelativeResize="0"/>
          <p:nvPr/>
        </p:nvPicPr>
        <p:blipFill rotWithShape="1">
          <a:blip r:embed="rId4">
            <a:alphaModFix/>
          </a:blip>
          <a:srcRect b="17713" l="0" r="0" t="0"/>
          <a:stretch/>
        </p:blipFill>
        <p:spPr>
          <a:xfrm>
            <a:off x="7221021" y="3327578"/>
            <a:ext cx="3886200" cy="2276475"/>
          </a:xfrm>
          <a:prstGeom prst="rect">
            <a:avLst/>
          </a:prstGeom>
          <a:noFill/>
          <a:ln>
            <a:noFill/>
          </a:ln>
        </p:spPr>
      </p:pic>
      <p:sp>
        <p:nvSpPr>
          <p:cNvPr id="340" name="Google Shape;340;p32"/>
          <p:cNvSpPr txBox="1"/>
          <p:nvPr/>
        </p:nvSpPr>
        <p:spPr>
          <a:xfrm>
            <a:off x="7582327" y="5763801"/>
            <a:ext cx="368842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 Continuous image projected onto a sensor array (b) Result of image sampling and quantization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3"/>
          <p:cNvSpPr txBox="1"/>
          <p:nvPr>
            <p:ph type="title"/>
          </p:nvPr>
        </p:nvSpPr>
        <p:spPr>
          <a:xfrm>
            <a:off x="193496" y="267698"/>
            <a:ext cx="11805007"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Sampling</a:t>
            </a:r>
            <a:endParaRPr/>
          </a:p>
        </p:txBody>
      </p:sp>
      <p:sp>
        <p:nvSpPr>
          <p:cNvPr id="346" name="Google Shape;346;p33"/>
          <p:cNvSpPr txBox="1"/>
          <p:nvPr>
            <p:ph idx="1" type="body"/>
          </p:nvPr>
        </p:nvSpPr>
        <p:spPr>
          <a:xfrm>
            <a:off x="82193" y="1094374"/>
            <a:ext cx="12000215" cy="5495927"/>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Sampling involves taking measurements of the image's intensity (brightness or color) at specific, evenly spaced intervals across the image. These measurements are taken at discrete points that correspond to the pixels in a digital image grid.</a:t>
            </a:r>
            <a:endParaRPr/>
          </a:p>
          <a:p>
            <a:pPr indent="-228600" lvl="0" marL="228600" rtl="0" algn="just">
              <a:lnSpc>
                <a:spcPct val="90000"/>
              </a:lnSpc>
              <a:spcBef>
                <a:spcPts val="1000"/>
              </a:spcBef>
              <a:spcAft>
                <a:spcPts val="0"/>
              </a:spcAft>
              <a:buClr>
                <a:schemeClr val="dk1"/>
              </a:buClr>
              <a:buSzPts val="2800"/>
              <a:buChar char="•"/>
            </a:pPr>
            <a:r>
              <a:rPr lang="en-US"/>
              <a:t>Sampling reduces a continuous image to a set of values at discrete locations (pixels).</a:t>
            </a:r>
            <a:endParaRPr/>
          </a:p>
          <a:p>
            <a:pPr indent="-228600" lvl="0" marL="228600" rtl="0" algn="just">
              <a:lnSpc>
                <a:spcPct val="90000"/>
              </a:lnSpc>
              <a:spcBef>
                <a:spcPts val="1000"/>
              </a:spcBef>
              <a:spcAft>
                <a:spcPts val="0"/>
              </a:spcAft>
              <a:buClr>
                <a:schemeClr val="dk1"/>
              </a:buClr>
              <a:buSzPts val="2800"/>
              <a:buChar char="•"/>
            </a:pPr>
            <a:r>
              <a:rPr b="1" lang="en-US"/>
              <a:t>Spatial resolution </a:t>
            </a:r>
            <a:r>
              <a:rPr lang="en-US"/>
              <a:t>: The density of these points (pixels per unit area) determines the image's spatial resolution, with higher resolution providing more detail.</a:t>
            </a:r>
            <a:endParaRPr/>
          </a:p>
          <a:p>
            <a:pPr indent="-228600" lvl="0" marL="228600" rtl="0" algn="just">
              <a:lnSpc>
                <a:spcPct val="90000"/>
              </a:lnSpc>
              <a:spcBef>
                <a:spcPts val="1000"/>
              </a:spcBef>
              <a:spcAft>
                <a:spcPts val="0"/>
              </a:spcAft>
              <a:buClr>
                <a:schemeClr val="dk1"/>
              </a:buClr>
              <a:buSzPts val="2800"/>
              <a:buChar char="•"/>
            </a:pPr>
            <a:r>
              <a:rPr b="1" lang="en-US"/>
              <a:t>Example</a:t>
            </a:r>
            <a:r>
              <a:rPr lang="en-US"/>
              <a:t> : If an analog image is sampled at 300 pixels per inch (PPI), it means that the image's intensity is measured at 300 evenly spaced points per inch in both the horizontal and vertical directions.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4"/>
          <p:cNvSpPr txBox="1"/>
          <p:nvPr>
            <p:ph type="title"/>
          </p:nvPr>
        </p:nvSpPr>
        <p:spPr>
          <a:xfrm>
            <a:off x="277402" y="365126"/>
            <a:ext cx="11465960" cy="73421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Image Sampling</a:t>
            </a:r>
            <a:endParaRPr/>
          </a:p>
        </p:txBody>
      </p:sp>
      <p:sp>
        <p:nvSpPr>
          <p:cNvPr id="352" name="Google Shape;352;p34"/>
          <p:cNvSpPr txBox="1"/>
          <p:nvPr>
            <p:ph idx="1" type="body"/>
          </p:nvPr>
        </p:nvSpPr>
        <p:spPr>
          <a:xfrm>
            <a:off x="780836" y="2712377"/>
            <a:ext cx="4274049" cy="39555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Times New Roman"/>
              <a:buNone/>
            </a:pPr>
            <a:r>
              <a:rPr lang="en-US" sz="2800">
                <a:latin typeface="Times New Roman"/>
                <a:ea typeface="Times New Roman"/>
                <a:cs typeface="Times New Roman"/>
                <a:sym typeface="Times New Roman"/>
              </a:rPr>
              <a:t>Images have been resized </a:t>
            </a:r>
            <a:endParaRPr/>
          </a:p>
          <a:p>
            <a:pPr indent="-228600" lvl="0" marL="228600" rtl="0" algn="l">
              <a:lnSpc>
                <a:spcPct val="90000"/>
              </a:lnSpc>
              <a:spcBef>
                <a:spcPts val="0"/>
              </a:spcBef>
              <a:spcAft>
                <a:spcPts val="0"/>
              </a:spcAft>
              <a:buClr>
                <a:schemeClr val="dk1"/>
              </a:buClr>
              <a:buSzPts val="2800"/>
              <a:buFont typeface="Times New Roman"/>
              <a:buNone/>
            </a:pPr>
            <a:r>
              <a:rPr lang="en-US" sz="2800">
                <a:latin typeface="Times New Roman"/>
                <a:ea typeface="Times New Roman"/>
                <a:cs typeface="Times New Roman"/>
                <a:sym typeface="Times New Roman"/>
              </a:rPr>
              <a:t>for easier comparison.</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53" name="Google Shape;353;p34"/>
          <p:cNvPicPr preferRelativeResize="0"/>
          <p:nvPr/>
        </p:nvPicPr>
        <p:blipFill rotWithShape="1">
          <a:blip r:embed="rId3">
            <a:alphaModFix/>
          </a:blip>
          <a:srcRect b="0" l="0" r="0" t="0"/>
          <a:stretch/>
        </p:blipFill>
        <p:spPr>
          <a:xfrm>
            <a:off x="5876819" y="1613042"/>
            <a:ext cx="5712431" cy="443038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5"/>
          <p:cNvSpPr txBox="1"/>
          <p:nvPr>
            <p:ph type="title"/>
          </p:nvPr>
        </p:nvSpPr>
        <p:spPr>
          <a:xfrm>
            <a:off x="193496" y="267698"/>
            <a:ext cx="11805007" cy="82667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Quantization</a:t>
            </a:r>
            <a:endParaRPr/>
          </a:p>
        </p:txBody>
      </p:sp>
      <p:sp>
        <p:nvSpPr>
          <p:cNvPr id="359" name="Google Shape;359;p35"/>
          <p:cNvSpPr txBox="1"/>
          <p:nvPr>
            <p:ph idx="1" type="body"/>
          </p:nvPr>
        </p:nvSpPr>
        <p:spPr>
          <a:xfrm>
            <a:off x="82193" y="1094374"/>
            <a:ext cx="12000215" cy="5495927"/>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After the image has been sampled, each sampled value (which could initially be a continuous range of values, such as a voltage) is mapped to the nearest value within a finite set of discrete levels.</a:t>
            </a:r>
            <a:endParaRPr/>
          </a:p>
          <a:p>
            <a:pPr indent="-228600" lvl="0" marL="228600" rtl="0" algn="just">
              <a:lnSpc>
                <a:spcPct val="90000"/>
              </a:lnSpc>
              <a:spcBef>
                <a:spcPts val="1000"/>
              </a:spcBef>
              <a:spcAft>
                <a:spcPts val="0"/>
              </a:spcAft>
              <a:buClr>
                <a:schemeClr val="dk1"/>
              </a:buClr>
              <a:buSzPts val="2400"/>
              <a:buChar char="•"/>
            </a:pPr>
            <a:r>
              <a:rPr lang="en-US" sz="2400"/>
              <a:t>This process assigns an integer value to each sampled point, thereby converting the continuous range of intensities into a finite number of levels that can be stored and processed digitally. </a:t>
            </a:r>
            <a:endParaRPr/>
          </a:p>
          <a:p>
            <a:pPr indent="-228600" lvl="0" marL="228600" rtl="0" algn="just">
              <a:lnSpc>
                <a:spcPct val="90000"/>
              </a:lnSpc>
              <a:spcBef>
                <a:spcPts val="1000"/>
              </a:spcBef>
              <a:spcAft>
                <a:spcPts val="0"/>
              </a:spcAft>
              <a:buClr>
                <a:schemeClr val="dk1"/>
              </a:buClr>
              <a:buSzPts val="2400"/>
              <a:buChar char="•"/>
            </a:pPr>
            <a:r>
              <a:rPr b="1" lang="en-US" sz="2400"/>
              <a:t>Discrete Levels</a:t>
            </a:r>
            <a:r>
              <a:rPr lang="en-US" sz="2400"/>
              <a:t>: Quantization converts continuous intensity values into a finite set of discrete levels.</a:t>
            </a:r>
            <a:endParaRPr/>
          </a:p>
          <a:p>
            <a:pPr indent="-228600" lvl="0" marL="228600" rtl="0" algn="just">
              <a:lnSpc>
                <a:spcPct val="90000"/>
              </a:lnSpc>
              <a:spcBef>
                <a:spcPts val="1000"/>
              </a:spcBef>
              <a:spcAft>
                <a:spcPts val="0"/>
              </a:spcAft>
              <a:buClr>
                <a:schemeClr val="dk1"/>
              </a:buClr>
              <a:buSzPts val="2400"/>
              <a:buChar char="•"/>
            </a:pPr>
            <a:r>
              <a:rPr b="1" lang="en-US" sz="2400"/>
              <a:t>Bit Depth</a:t>
            </a:r>
            <a:r>
              <a:rPr lang="en-US" sz="2400"/>
              <a:t>: The number of discrete levels is determined by the bit depth. For example, an 8-bit system can represent 256 (2^8) discrete levels.</a:t>
            </a:r>
            <a:endParaRPr/>
          </a:p>
          <a:p>
            <a:pPr indent="-228600" lvl="0" marL="228600" rtl="0" algn="just">
              <a:lnSpc>
                <a:spcPct val="90000"/>
              </a:lnSpc>
              <a:spcBef>
                <a:spcPts val="1000"/>
              </a:spcBef>
              <a:spcAft>
                <a:spcPts val="0"/>
              </a:spcAft>
              <a:buClr>
                <a:schemeClr val="dk1"/>
              </a:buClr>
              <a:buSzPts val="2400"/>
              <a:buChar char="•"/>
            </a:pPr>
            <a:r>
              <a:rPr b="1" lang="en-US" sz="2400"/>
              <a:t>Example</a:t>
            </a:r>
            <a:r>
              <a:rPr lang="en-US" sz="2400"/>
              <a:t> : If the intensity of a pixel is measured and found to be 123.7 (on a continuous scale), in an 8-bit quantization system, this might be represented by the nearest integer value of 124.</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6"/>
          <p:cNvSpPr txBox="1"/>
          <p:nvPr>
            <p:ph type="title"/>
          </p:nvPr>
        </p:nvSpPr>
        <p:spPr>
          <a:xfrm>
            <a:off x="277401" y="226032"/>
            <a:ext cx="11691991" cy="85275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Sampling vs Quantization</a:t>
            </a:r>
            <a:endParaRPr/>
          </a:p>
        </p:txBody>
      </p:sp>
      <p:sp>
        <p:nvSpPr>
          <p:cNvPr id="365" name="Google Shape;365;p36"/>
          <p:cNvSpPr txBox="1"/>
          <p:nvPr>
            <p:ph idx="1" type="body"/>
          </p:nvPr>
        </p:nvSpPr>
        <p:spPr>
          <a:xfrm>
            <a:off x="277401" y="1376737"/>
            <a:ext cx="11691991" cy="147948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Sampling</a:t>
            </a:r>
            <a:r>
              <a:rPr lang="en-US"/>
              <a:t>: Converts continuous spatial coordinates into discrete pixels.</a:t>
            </a:r>
            <a:endParaRPr/>
          </a:p>
          <a:p>
            <a:pPr indent="-228600" lvl="0" marL="228600" rtl="0" algn="l">
              <a:lnSpc>
                <a:spcPct val="90000"/>
              </a:lnSpc>
              <a:spcBef>
                <a:spcPts val="1000"/>
              </a:spcBef>
              <a:spcAft>
                <a:spcPts val="0"/>
              </a:spcAft>
              <a:buClr>
                <a:schemeClr val="dk1"/>
              </a:buClr>
              <a:buSzPts val="2800"/>
              <a:buChar char="•"/>
            </a:pPr>
            <a:r>
              <a:rPr b="1" lang="en-US"/>
              <a:t>Quantization</a:t>
            </a:r>
            <a:r>
              <a:rPr lang="en-US"/>
              <a:t>: Converts continuous intensity values at those pixels into discrete integer levels.</a:t>
            </a:r>
            <a:endParaRPr/>
          </a:p>
        </p:txBody>
      </p:sp>
      <p:pic>
        <p:nvPicPr>
          <p:cNvPr id="366" name="Google Shape;366;p36"/>
          <p:cNvPicPr preferRelativeResize="0"/>
          <p:nvPr/>
        </p:nvPicPr>
        <p:blipFill rotWithShape="1">
          <a:blip r:embed="rId3">
            <a:alphaModFix/>
          </a:blip>
          <a:srcRect b="0" l="0" r="0" t="0"/>
          <a:stretch/>
        </p:blipFill>
        <p:spPr>
          <a:xfrm>
            <a:off x="672851" y="2856217"/>
            <a:ext cx="2914650" cy="3429000"/>
          </a:xfrm>
          <a:prstGeom prst="rect">
            <a:avLst/>
          </a:prstGeom>
          <a:noFill/>
          <a:ln>
            <a:noFill/>
          </a:ln>
        </p:spPr>
      </p:pic>
      <p:pic>
        <p:nvPicPr>
          <p:cNvPr id="367" name="Google Shape;367;p36"/>
          <p:cNvPicPr preferRelativeResize="0"/>
          <p:nvPr/>
        </p:nvPicPr>
        <p:blipFill rotWithShape="1">
          <a:blip r:embed="rId4">
            <a:alphaModFix/>
          </a:blip>
          <a:srcRect b="3279" l="0" r="57303" t="59016"/>
          <a:stretch/>
        </p:blipFill>
        <p:spPr>
          <a:xfrm>
            <a:off x="4395627" y="3429000"/>
            <a:ext cx="2895600" cy="1752600"/>
          </a:xfrm>
          <a:prstGeom prst="rect">
            <a:avLst/>
          </a:prstGeom>
          <a:noFill/>
          <a:ln>
            <a:noFill/>
          </a:ln>
        </p:spPr>
      </p:pic>
      <p:pic>
        <p:nvPicPr>
          <p:cNvPr id="368" name="Google Shape;368;p36"/>
          <p:cNvPicPr preferRelativeResize="0"/>
          <p:nvPr/>
        </p:nvPicPr>
        <p:blipFill rotWithShape="1">
          <a:blip r:embed="rId5">
            <a:alphaModFix/>
          </a:blip>
          <a:srcRect b="0" l="41573" r="0" t="59016"/>
          <a:stretch/>
        </p:blipFill>
        <p:spPr>
          <a:xfrm>
            <a:off x="8102670" y="3429000"/>
            <a:ext cx="3962400" cy="1905000"/>
          </a:xfrm>
          <a:prstGeom prst="rect">
            <a:avLst/>
          </a:prstGeom>
          <a:noFill/>
          <a:ln>
            <a:noFill/>
          </a:ln>
        </p:spPr>
      </p:pic>
      <p:sp>
        <p:nvSpPr>
          <p:cNvPr id="369" name="Google Shape;369;p36"/>
          <p:cNvSpPr txBox="1"/>
          <p:nvPr/>
        </p:nvSpPr>
        <p:spPr>
          <a:xfrm>
            <a:off x="873304" y="6447302"/>
            <a:ext cx="2914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Continuous Image</a:t>
            </a:r>
            <a:endParaRPr/>
          </a:p>
        </p:txBody>
      </p:sp>
      <p:sp>
        <p:nvSpPr>
          <p:cNvPr id="370" name="Google Shape;370;p36"/>
          <p:cNvSpPr txBox="1"/>
          <p:nvPr/>
        </p:nvSpPr>
        <p:spPr>
          <a:xfrm>
            <a:off x="4633645" y="5548045"/>
            <a:ext cx="24349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            Sampling</a:t>
            </a:r>
            <a:endParaRPr/>
          </a:p>
        </p:txBody>
      </p:sp>
      <p:sp>
        <p:nvSpPr>
          <p:cNvPr id="371" name="Google Shape;371;p36"/>
          <p:cNvSpPr txBox="1"/>
          <p:nvPr/>
        </p:nvSpPr>
        <p:spPr>
          <a:xfrm>
            <a:off x="9084174" y="5481263"/>
            <a:ext cx="24349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Quantization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2024-07-10T11:04:39Z</dcterms:created>
  <dc:creator>Shatabdi Basu [MU - Jaipur]</dc:creator>
</cp:coreProperties>
</file>